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DEA7BE-C219-4BAD-8175-BFE907D6A8CD}" v="4" dt="2026-09-11T00:31:06.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3" d="2"/>
        <a:sy n="3" d="2"/>
      </p:scale>
      <p:origin x="0" y="-5"/>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houd Shahid" userId="3c9cab93-14e5-4819-b0da-9c888b27567f" providerId="ADAL" clId="{F3DB6A94-22EA-4126-B191-698C38F207E8}"/>
    <pc:docChg chg="modSld">
      <pc:chgData name="Shahoud Shahid" userId="3c9cab93-14e5-4819-b0da-9c888b27567f" providerId="ADAL" clId="{F3DB6A94-22EA-4126-B191-698C38F207E8}" dt="2026-09-11T00:29:26.015" v="1" actId="20577"/>
      <pc:docMkLst>
        <pc:docMk/>
      </pc:docMkLst>
      <pc:sldChg chg="modNotesTx">
        <pc:chgData name="Shahoud Shahid" userId="3c9cab93-14e5-4819-b0da-9c888b27567f" providerId="ADAL" clId="{F3DB6A94-22EA-4126-B191-698C38F207E8}" dt="2026-09-11T00:28:49.319" v="0" actId="20577"/>
        <pc:sldMkLst>
          <pc:docMk/>
          <pc:sldMk cId="0" sldId="256"/>
        </pc:sldMkLst>
      </pc:sldChg>
      <pc:sldChg chg="modNotesTx">
        <pc:chgData name="Shahoud Shahid" userId="3c9cab93-14e5-4819-b0da-9c888b27567f" providerId="ADAL" clId="{F3DB6A94-22EA-4126-B191-698C38F207E8}" dt="2026-09-11T00:29:26.015" v="1" actId="20577"/>
        <pc:sldMkLst>
          <pc:docMk/>
          <pc:sldMk cId="0" sldId="257"/>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Step accuracy</c:v>
                </c:pt>
              </c:strCache>
            </c:strRef>
          </c:tx>
          <c:spPr>
            <a:solidFill>
              <a:srgbClr val="C89B3C"/>
            </a:solidFill>
            <a:effectLst/>
          </c:spPr>
          <c:invertIfNegative val="0"/>
          <c:dLbls>
            <c:numFmt formatCode="0.0" sourceLinked="0"/>
            <c:spPr>
              <a:noFill/>
              <a:ln>
                <a:noFill/>
              </a:ln>
              <a:effectLst/>
            </c:spPr>
            <c:txPr>
              <a:bodyPr/>
              <a:lstStyle/>
              <a:p>
                <a:pPr>
                  <a:defRPr sz="1400" b="1" i="0" u="none" strike="noStrike">
                    <a:solidFill>
                      <a:srgbClr val="1B202A"/>
                    </a:solidFill>
                    <a:latin typeface="Arial"/>
                  </a:defRPr>
                </a:pPr>
                <a:endParaRPr lang="en-PK"/>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Who&amp;When
(single-LLM)</c:v>
                </c:pt>
                <c:pt idx="1">
                  <c:v>AgenTracer
(midpoint of range)</c:v>
                </c:pt>
                <c:pt idx="2">
                  <c:v>ErrorProbe
(baseline)</c:v>
                </c:pt>
              </c:strCache>
            </c:strRef>
          </c:cat>
          <c:val>
            <c:numRef>
              <c:f>Sheet1!$B$2:$B$4</c:f>
              <c:numCache>
                <c:formatCode>General</c:formatCode>
                <c:ptCount val="3"/>
                <c:pt idx="0">
                  <c:v>14.2</c:v>
                </c:pt>
                <c:pt idx="1">
                  <c:v>40</c:v>
                </c:pt>
                <c:pt idx="2">
                  <c:v>59.5</c:v>
                </c:pt>
              </c:numCache>
            </c:numRef>
          </c:val>
          <c:extLst>
            <c:ext xmlns:c16="http://schemas.microsoft.com/office/drawing/2014/chart" uri="{C3380CC4-5D6E-409C-BE32-E72D297353CC}">
              <c16:uniqueId val="{00000000-E062-48CE-8BAC-2A77A862582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6273"/>
                </a:solidFill>
                <a:latin typeface="Calibri"/>
              </a:defRPr>
            </a:pPr>
            <a:endParaRPr lang="en-US"/>
          </a:p>
        </c:txPr>
        <c:crossAx val="2094734552"/>
        <c:crosses val="autoZero"/>
        <c:auto val="1"/>
        <c:lblAlgn val="ctr"/>
        <c:lblOffset val="100"/>
        <c:noMultiLvlLbl val="1"/>
      </c:catAx>
      <c:valAx>
        <c:axId val="2094734552"/>
        <c:scaling>
          <c:orientation val="minMax"/>
          <c:max val="70"/>
          <c:min val="0"/>
        </c:scaling>
        <c:delete val="0"/>
        <c:axPos val="l"/>
        <c:majorGridlines>
          <c:spPr>
            <a:ln w="6350" cap="flat">
              <a:solidFill>
                <a:srgbClr val="D9DC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6273"/>
                </a:solidFill>
                <a:latin typeface="Arial"/>
              </a:defRPr>
            </a:pPr>
            <a:endParaRPr lang="en-US"/>
          </a:p>
        </c:txPr>
        <c:crossAx val="2094734554"/>
        <c:crosses val="autoZero"/>
        <c:crossBetween val="between"/>
      </c:valAx>
      <c:spPr>
        <a:solidFill>
          <a:srgbClr val="FBFBFC"/>
        </a:solid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0921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K" dirty="0"/>
              <a:t>The most dangerous kind of AI failure is the one that looks completely right. That's the problem Granite solves. I'm Shahoud — with me are Noor and Saif — and our project builds directly on published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K" dirty="0"/>
              <a:t>"Today, teams run several AI agents together — one plans, one searches, one writes. When that team gets something wrong, the fix today is weak: capture a trace, and have a human read it and guess which agent broke. No measured accuracy. No check for a confident answer that's quietly wrong. No way to test a fix before shipping. The field's baseline for reading a trace is about fourteen percent — and when it fails, the wrong answer just ships. No crash, no error, no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K" dirty="0"/>
              <a:t>"So — has anyone solved this? </a:t>
            </a:r>
            <a:r>
              <a:rPr lang="en-PK" dirty="0" err="1"/>
              <a:t>ErrorProbe</a:t>
            </a:r>
            <a:r>
              <a:rPr lang="en-PK" dirty="0"/>
              <a:t>, the strongest research method, hits just under sixty percent at finding the faulty step — but it admits it can't catch silent failures, and it's only tested on two frameworks. Commercial tools don't publish accuracy at all. We even checked six hundred and sixty past final-year projects — the closest does one of our four stages. The gap isn't a missing feature — it's that nobody combines all four in one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K" dirty="0"/>
              <a:t>"And every design choice we made came from that literature. We committed to two frameworks no paper has tested — that's the real generalization test. We chose rule-based checking over an AI judge, because an AI judge scores barely above a coin flip here. </a:t>
            </a:r>
            <a:r>
              <a:rPr lang="en-PK"/>
              <a:t>And where models differ between papers, we hold ours fixed and report both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panel uses to decide whether the project deserves capstone status. Concede up front that a trace-capture-plus-LLM-guess wrapper is a weekend's work, then name precisely what such a version would get wrong: no benchmark on unseen architectures, no way to tell a silent failure from a correct answer, no measured false-positive rate on clean controls, no evidence its fix works. Only the 5 strongest characteristics are on-slide, renumbered 1-5 with no gaps. Badge 5 (Ill-defined cause) has three unknowns stacked — read its resolution aloud if pressed: whether/which/what's-correct, each resolved by a distinct pipeline stage. The other 4 (Unfamiliar issues, Significant consequences, Interdependence, Diverse stakeholders) are held back — full reasoning and likely panel questions for all 9 are in markdowns/05-deliverables/defense-prep/CCP_and_Spikes_Full_Reasoning.md, cover them only if asked directly. Citations: 02_Panel_Defense_Question_Bank.md Q8a · plan §1 (three-tier CCP) · §2 (9-characteristic rating).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unprompted: 'controlled, not deterministic' — the replay protocol is deterministic, LLM-step variance is measured over N replays, never assumed away (R25). Say unprompted: the Semantic Error Diagnostic abstains where no checkable constraint exists, and the abstention rate is reported as a metric, not hidden. If asked about scope: in scope is 10 committed mechanisms; out of scope is message queues, Kubernetes, full RBAC, DR infra, multi-tenant billing; deployment target is Docker + a pip-installable SDK, operable by someone who didn't build it. Full traceable spec behind this diagram: Use Case Model + diagram, 3 System Sequence Diagrams, SRS, Test Plan, Software Development Plan, Traceability Matrix, 16-screen wireframes — architecture atlas, tab 'Requirements &amp; Design'. Citations: Software_Design_Specification.md §2–§6 · plan §7.0 (frozen scope) · architecture-sketch.md.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Spike 7's negative result and Spike 8's failure analysis — quote the guide's own words on this directly: a POC that disproved an assumption is more valuable than one that confirmed it. Every number on this slide is real and recomputable from files in the repository; offer to open one. In progress: full 3-stage reproduction, top FYP-1 priority. Planned: Recovery Controller + Verified Repair Memory Tier-2 gates, pre-registered Mid-1 criteria, not yet run. Prototype: 5 screens, mocked backend, dist-static/index.html. On spike 4, state both halves before being asked, because they are two different runs. The LIVE n=3 task run produced zero natural silent failures — the model got all three right — so detector recall in the wild is UNMEASURED, not high. The near-miss result ($20.00 against a true $19.75, zero false positives) comes from the SEEDED mechanism test, spike 4b, which feeds known-wrong values straight to the rule-based checker: 3 of 3 wrong values caught, 0 of 3 correct values flagged, including one differing only by legitimate rounding. The mechanism works; its hit rate on natural failures does not yet have a number, and getting one needs injected near-misses at scale. Citations: dev/spikes/poc/ (9 scripts + output JSONs on disk, incl. poc_spike4b_mechanism_output.json) · markdowns/04-poc-evidence/POC_Spike_Outputs_Full.md · risk-register.md R10.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false-positive-rate-on-clean-controls metric is absent from every paper in the reviewed corpus and every platform checked — say this is the field's gap, not just ours. The abstention rate is on this list deliberately: the Semantic Error Diagnostic abstains where no checkable constraint exists, and we report how often rather than hiding it. On the acceptance band, stress the words 'pre-registered' and 'before any result exists' — that is what separates this from choosing a threshold after seeing the numbers. Risks and fallbacks are the next slide; do not pre-empt them here. Citations: plan §11 (acceptance band, pre-registered) · §13 (metric definitions).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column as confidence, not confession: each of these decision rules was written down before any result exists, which is the opposite of explaining away a bad number afterwards. Outside the acceptance band, both numbers are reported transparently — declared before the run, not after. The backbone-confound row is the one to volunteer unprompted; it is the objection a methodologically-minded panelist reaches for, and answering it first is worth more than answering it correctly later. On the GenAI boundary, the load-bearing claim is the last clause: the contribution survives swapping the LLM, because the diagnosis lane makes no model calls at all. Citations: risk-register.md (R4/R25/R37) · plan §11 · §0.08 (backbone confound).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 states their own subsystem in one sentence, aloud — the panel is applying the guide's four ownership questions (explain / justify against an alternative / predict what breaks / modify under questioning), and hearing three distinct voices here sets that tone early. The 'if removed' line under each card is the guide's own scope test, answered honestly rather than asserted. If pressed on effort/capacity: 490h (FYP-1) + 640h (FYP-2) = 1,130h against 1,130h capacity (3 × ~15h/wk × ~28 wks), balanced depth not identical tasks. Citations: plan §3 (ownership) · §7.0 (frozen scope) · §12 (effort) · cost-estimate.md · 06_Expanded_Scope_and_Feasibility_Plan.md.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DEI line is a real, checkable commitment, not a decorative label — say the access-equity sentence in your own words. Ownership per lane and the FYP-1/FYP-2 milestone gates are both on slide 10; this slide is deliberately just the three compliance statements the guide names. Every CCP-relevant component has a member who can defend it live — offer to demonstrate that on any component they pick. Citations: plan §3 (ownership) · AI_Usage_Log.md · risk-register R30/R38.</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219"/>
        </a:solidFill>
        <a:effectLst/>
      </p:bgPr>
    </p:bg>
    <p:spTree>
      <p:nvGrpSpPr>
        <p:cNvPr id="1" name=""/>
        <p:cNvGrpSpPr/>
        <p:nvPr/>
      </p:nvGrpSpPr>
      <p:grpSpPr>
        <a:xfrm>
          <a:off x="0" y="0"/>
          <a:ext cx="0" cy="0"/>
          <a:chOff x="0" y="0"/>
          <a:chExt cx="0" cy="0"/>
        </a:xfrm>
      </p:grpSpPr>
      <p:sp>
        <p:nvSpPr>
          <p:cNvPr id="2" name="Shape 0"/>
          <p:cNvSpPr/>
          <p:nvPr/>
        </p:nvSpPr>
        <p:spPr>
          <a:xfrm rot="2700000">
            <a:off x="9448495" y="1051560"/>
            <a:ext cx="1371600" cy="1371600"/>
          </a:xfrm>
          <a:prstGeom prst="rect">
            <a:avLst/>
          </a:prstGeom>
          <a:solidFill>
            <a:srgbClr val="171C26"/>
          </a:solidFill>
          <a:ln w="12700">
            <a:solidFill>
              <a:srgbClr val="8E6A1F"/>
            </a:solidFill>
            <a:prstDash val="solid"/>
          </a:ln>
        </p:spPr>
        <p:txBody>
          <a:bodyPr/>
          <a:lstStyle/>
          <a:p>
            <a:endParaRPr lang="en-PK"/>
          </a:p>
        </p:txBody>
      </p:sp>
      <p:sp>
        <p:nvSpPr>
          <p:cNvPr id="3" name="Shape 1"/>
          <p:cNvSpPr/>
          <p:nvPr/>
        </p:nvSpPr>
        <p:spPr>
          <a:xfrm rot="2700000">
            <a:off x="9686239" y="1289304"/>
            <a:ext cx="896112" cy="896112"/>
          </a:xfrm>
          <a:prstGeom prst="rect">
            <a:avLst/>
          </a:prstGeom>
          <a:solidFill>
            <a:srgbClr val="C89B3C"/>
          </a:solidFill>
          <a:ln/>
        </p:spPr>
        <p:txBody>
          <a:bodyPr/>
          <a:lstStyle/>
          <a:p>
            <a:endParaRPr lang="en-PK"/>
          </a:p>
        </p:txBody>
      </p:sp>
      <p:sp>
        <p:nvSpPr>
          <p:cNvPr id="4" name="Shape 2"/>
          <p:cNvSpPr/>
          <p:nvPr/>
        </p:nvSpPr>
        <p:spPr>
          <a:xfrm rot="2700000">
            <a:off x="9905695" y="1508760"/>
            <a:ext cx="457200" cy="457200"/>
          </a:xfrm>
          <a:prstGeom prst="rect">
            <a:avLst/>
          </a:prstGeom>
          <a:solidFill>
            <a:srgbClr val="0F1219"/>
          </a:solidFill>
          <a:ln w="12700">
            <a:solidFill>
              <a:srgbClr val="E3BC6E"/>
            </a:solidFill>
            <a:prstDash val="solid"/>
          </a:ln>
        </p:spPr>
        <p:txBody>
          <a:bodyPr/>
          <a:lstStyle/>
          <a:p>
            <a:endParaRPr lang="en-PK"/>
          </a:p>
        </p:txBody>
      </p:sp>
      <p:sp>
        <p:nvSpPr>
          <p:cNvPr id="5" name="Shape 3"/>
          <p:cNvSpPr/>
          <p:nvPr/>
        </p:nvSpPr>
        <p:spPr>
          <a:xfrm>
            <a:off x="0" y="0"/>
            <a:ext cx="80467" cy="6858000"/>
          </a:xfrm>
          <a:prstGeom prst="rect">
            <a:avLst/>
          </a:prstGeom>
          <a:solidFill>
            <a:srgbClr val="C89B3C"/>
          </a:solidFill>
          <a:ln/>
        </p:spPr>
        <p:txBody>
          <a:bodyPr/>
          <a:lstStyle/>
          <a:p>
            <a:endParaRPr lang="en-PK"/>
          </a:p>
        </p:txBody>
      </p:sp>
      <p:sp>
        <p:nvSpPr>
          <p:cNvPr id="6" name="Text 4"/>
          <p:cNvSpPr txBox="1"/>
          <p:nvPr/>
        </p:nvSpPr>
        <p:spPr>
          <a:xfrm>
            <a:off x="566928" y="1325880"/>
            <a:ext cx="8412480" cy="274320"/>
          </a:xfrm>
          <a:prstGeom prst="rect">
            <a:avLst/>
          </a:prstGeom>
          <a:noFill/>
          <a:ln/>
        </p:spPr>
        <p:txBody>
          <a:bodyPr wrap="square" lIns="0" tIns="0" rIns="0" bIns="0" rtlCol="0" anchor="ctr"/>
          <a:lstStyle/>
          <a:p>
            <a:pPr marL="0" indent="0">
              <a:buNone/>
            </a:pPr>
            <a:r>
              <a:rPr lang="en-US" sz="1650" b="1" kern="0" spc="140" dirty="0">
                <a:solidFill>
                  <a:srgbClr val="E3BC6E"/>
                </a:solidFill>
                <a:latin typeface="Consolas" pitchFamily="34" charset="0"/>
                <a:ea typeface="Consolas" pitchFamily="34" charset="-122"/>
                <a:cs typeface="Consolas" pitchFamily="34" charset="-120"/>
              </a:rPr>
              <a:t>F26-060  ·  PROPOSAL DEFENSE  ·  STREAM A — RESEARCH-DERIVED</a:t>
            </a:r>
            <a:endParaRPr lang="en-US" sz="1650" dirty="0"/>
          </a:p>
        </p:txBody>
      </p:sp>
      <p:sp>
        <p:nvSpPr>
          <p:cNvPr id="7" name="Text 5"/>
          <p:cNvSpPr txBox="1"/>
          <p:nvPr/>
        </p:nvSpPr>
        <p:spPr>
          <a:xfrm>
            <a:off x="566928" y="1645920"/>
            <a:ext cx="8412480" cy="1051560"/>
          </a:xfrm>
          <a:prstGeom prst="rect">
            <a:avLst/>
          </a:prstGeom>
          <a:noFill/>
          <a:ln/>
        </p:spPr>
        <p:txBody>
          <a:bodyPr wrap="square" lIns="0" tIns="0" rIns="0" bIns="0" rtlCol="0" anchor="ctr"/>
          <a:lstStyle/>
          <a:p>
            <a:pPr marL="0" indent="0">
              <a:buNone/>
            </a:pPr>
            <a:r>
              <a:rPr lang="en-US" sz="6950" b="1" dirty="0">
                <a:solidFill>
                  <a:srgbClr val="F5F6F8"/>
                </a:solidFill>
                <a:latin typeface="Georgia" pitchFamily="34" charset="0"/>
                <a:ea typeface="Georgia" pitchFamily="34" charset="-122"/>
                <a:cs typeface="Georgia" pitchFamily="34" charset="-120"/>
              </a:rPr>
              <a:t>Granite</a:t>
            </a:r>
            <a:endParaRPr lang="en-US" sz="6950" dirty="0"/>
          </a:p>
        </p:txBody>
      </p:sp>
      <p:sp>
        <p:nvSpPr>
          <p:cNvPr id="8" name="Text 6"/>
          <p:cNvSpPr txBox="1"/>
          <p:nvPr/>
        </p:nvSpPr>
        <p:spPr>
          <a:xfrm>
            <a:off x="566928" y="2724912"/>
            <a:ext cx="7680960" cy="566928"/>
          </a:xfrm>
          <a:prstGeom prst="rect">
            <a:avLst/>
          </a:prstGeom>
          <a:noFill/>
          <a:ln/>
        </p:spPr>
        <p:txBody>
          <a:bodyPr wrap="square" lIns="0" tIns="0" rIns="0" bIns="0" rtlCol="0" anchor="ctr"/>
          <a:lstStyle/>
          <a:p>
            <a:pPr marL="0" indent="0">
              <a:buNone/>
            </a:pPr>
            <a:r>
              <a:rPr lang="en-US" sz="2100" i="1" dirty="0">
                <a:solidFill>
                  <a:srgbClr val="A9B0BE"/>
                </a:solidFill>
                <a:latin typeface="Calibri" pitchFamily="34" charset="0"/>
                <a:ea typeface="Calibri" pitchFamily="34" charset="-122"/>
                <a:cs typeface="Calibri" pitchFamily="34" charset="-120"/>
              </a:rPr>
              <a:t>A Self-Healing Multi-Agent System for Semantic Error Diagnosis, Verified Repair and Recovery</a:t>
            </a:r>
            <a:endParaRPr lang="en-US" sz="2100" dirty="0"/>
          </a:p>
        </p:txBody>
      </p:sp>
      <p:sp>
        <p:nvSpPr>
          <p:cNvPr id="9" name="Shape 7"/>
          <p:cNvSpPr/>
          <p:nvPr/>
        </p:nvSpPr>
        <p:spPr>
          <a:xfrm>
            <a:off x="566928" y="3456432"/>
            <a:ext cx="1005840" cy="32004"/>
          </a:xfrm>
          <a:prstGeom prst="rect">
            <a:avLst/>
          </a:prstGeom>
          <a:solidFill>
            <a:srgbClr val="C89B3C"/>
          </a:solidFill>
          <a:ln/>
        </p:spPr>
        <p:txBody>
          <a:bodyPr/>
          <a:lstStyle/>
          <a:p>
            <a:endParaRPr lang="en-PK"/>
          </a:p>
        </p:txBody>
      </p:sp>
      <p:sp>
        <p:nvSpPr>
          <p:cNvPr id="10" name="Text 8"/>
          <p:cNvSpPr txBox="1"/>
          <p:nvPr/>
        </p:nvSpPr>
        <p:spPr>
          <a:xfrm>
            <a:off x="566928" y="3621024"/>
            <a:ext cx="8412480" cy="1188720"/>
          </a:xfrm>
          <a:prstGeom prst="rect">
            <a:avLst/>
          </a:prstGeom>
          <a:noFill/>
          <a:ln/>
        </p:spPr>
        <p:txBody>
          <a:bodyPr wrap="square" lIns="0" tIns="0" rIns="0" bIns="0" rtlCol="0" anchor="ctr"/>
          <a:lstStyle/>
          <a:p>
            <a:pPr marL="0" indent="0">
              <a:buNone/>
            </a:pPr>
            <a:r>
              <a:rPr lang="en-US" sz="2300" i="1" dirty="0">
                <a:solidFill>
                  <a:srgbClr val="F5F6F8"/>
                </a:solidFill>
                <a:latin typeface="Georgia" pitchFamily="34" charset="0"/>
                <a:ea typeface="Georgia" pitchFamily="34" charset="-122"/>
                <a:cs typeface="Georgia" pitchFamily="34" charset="-120"/>
              </a:rPr>
              <a:t>When a multi-agent AI system fails — including when the wrong answer looks completely right — no published method can reliably say which agent caused it, and none can verify a fix before trusting it.</a:t>
            </a:r>
            <a:endParaRPr lang="en-US" sz="2300" dirty="0"/>
          </a:p>
        </p:txBody>
      </p:sp>
      <p:sp>
        <p:nvSpPr>
          <p:cNvPr id="11" name="Shape 9"/>
          <p:cNvSpPr/>
          <p:nvPr/>
        </p:nvSpPr>
        <p:spPr>
          <a:xfrm>
            <a:off x="566928" y="5029200"/>
            <a:ext cx="7680960" cy="0"/>
          </a:xfrm>
          <a:prstGeom prst="line">
            <a:avLst/>
          </a:prstGeom>
          <a:noFill/>
          <a:ln w="12700">
            <a:solidFill>
              <a:srgbClr val="2C3340"/>
            </a:solidFill>
            <a:prstDash val="solid"/>
          </a:ln>
        </p:spPr>
        <p:txBody>
          <a:bodyPr/>
          <a:lstStyle/>
          <a:p>
            <a:endParaRPr lang="en-PK"/>
          </a:p>
        </p:txBody>
      </p:sp>
      <p:sp>
        <p:nvSpPr>
          <p:cNvPr id="12" name="Text 10"/>
          <p:cNvSpPr txBox="1"/>
          <p:nvPr/>
        </p:nvSpPr>
        <p:spPr>
          <a:xfrm>
            <a:off x="566928" y="5157216"/>
            <a:ext cx="2560320" cy="658368"/>
          </a:xfrm>
          <a:prstGeom prst="rect">
            <a:avLst/>
          </a:prstGeom>
          <a:noFill/>
          <a:ln/>
        </p:spPr>
        <p:txBody>
          <a:bodyPr wrap="square" lIns="0" tIns="0" rIns="0" bIns="0" rtlCol="0" anchor="ctr"/>
          <a:lstStyle/>
          <a:p>
            <a:pPr marL="0" indent="0">
              <a:buNone/>
            </a:pPr>
            <a:r>
              <a:rPr lang="en-US" sz="1800" b="1" dirty="0">
                <a:solidFill>
                  <a:srgbClr val="F5F6F8"/>
                </a:solidFill>
                <a:latin typeface="Calibri" pitchFamily="34" charset="0"/>
                <a:ea typeface="Calibri" pitchFamily="34" charset="-122"/>
                <a:cs typeface="Calibri" pitchFamily="34" charset="-120"/>
              </a:rPr>
              <a:t>Shahoud Shahid</a:t>
            </a:r>
            <a:endParaRPr lang="en-US" sz="1800" dirty="0"/>
          </a:p>
          <a:p>
            <a:pPr marL="0" indent="0">
              <a:buNone/>
            </a:pPr>
            <a:r>
              <a:rPr lang="en-US" sz="1500" dirty="0">
                <a:solidFill>
                  <a:srgbClr val="A9B0BE"/>
                </a:solidFill>
                <a:latin typeface="Calibri" pitchFamily="34" charset="0"/>
                <a:ea typeface="Calibri" pitchFamily="34" charset="-122"/>
                <a:cs typeface="Calibri" pitchFamily="34" charset="-120"/>
              </a:rPr>
              <a:t>23i-2515</a:t>
            </a:r>
            <a:endParaRPr lang="en-US" sz="1800" dirty="0"/>
          </a:p>
        </p:txBody>
      </p:sp>
      <p:sp>
        <p:nvSpPr>
          <p:cNvPr id="13" name="Text 11"/>
          <p:cNvSpPr txBox="1"/>
          <p:nvPr/>
        </p:nvSpPr>
        <p:spPr>
          <a:xfrm>
            <a:off x="3172968" y="5157216"/>
            <a:ext cx="2560320" cy="658368"/>
          </a:xfrm>
          <a:prstGeom prst="rect">
            <a:avLst/>
          </a:prstGeom>
          <a:noFill/>
          <a:ln/>
        </p:spPr>
        <p:txBody>
          <a:bodyPr wrap="square" lIns="0" tIns="0" rIns="0" bIns="0" rtlCol="0" anchor="ctr"/>
          <a:lstStyle/>
          <a:p>
            <a:pPr marL="0" indent="0">
              <a:buNone/>
            </a:pPr>
            <a:r>
              <a:rPr lang="en-US" sz="1800" b="1" dirty="0">
                <a:solidFill>
                  <a:srgbClr val="F5F6F8"/>
                </a:solidFill>
                <a:latin typeface="Calibri" pitchFamily="34" charset="0"/>
                <a:ea typeface="Calibri" pitchFamily="34" charset="-122"/>
                <a:cs typeface="Calibri" pitchFamily="34" charset="-120"/>
              </a:rPr>
              <a:t>Muhammad Noor</a:t>
            </a:r>
            <a:endParaRPr lang="en-US" sz="1800" dirty="0"/>
          </a:p>
          <a:p>
            <a:pPr marL="0" indent="0">
              <a:buNone/>
            </a:pPr>
            <a:r>
              <a:rPr lang="en-US" sz="1500" dirty="0">
                <a:solidFill>
                  <a:srgbClr val="A9B0BE"/>
                </a:solidFill>
                <a:latin typeface="Calibri" pitchFamily="34" charset="0"/>
                <a:ea typeface="Calibri" pitchFamily="34" charset="-122"/>
                <a:cs typeface="Calibri" pitchFamily="34" charset="-120"/>
              </a:rPr>
              <a:t>23i-2520</a:t>
            </a:r>
            <a:endParaRPr lang="en-US" sz="1800" dirty="0"/>
          </a:p>
        </p:txBody>
      </p:sp>
      <p:sp>
        <p:nvSpPr>
          <p:cNvPr id="14" name="Text 12"/>
          <p:cNvSpPr txBox="1"/>
          <p:nvPr/>
        </p:nvSpPr>
        <p:spPr>
          <a:xfrm>
            <a:off x="5779008" y="5157216"/>
            <a:ext cx="2560320" cy="658368"/>
          </a:xfrm>
          <a:prstGeom prst="rect">
            <a:avLst/>
          </a:prstGeom>
          <a:noFill/>
          <a:ln/>
        </p:spPr>
        <p:txBody>
          <a:bodyPr wrap="square" lIns="0" tIns="0" rIns="0" bIns="0" rtlCol="0" anchor="ctr"/>
          <a:lstStyle/>
          <a:p>
            <a:pPr marL="0" indent="0">
              <a:buNone/>
            </a:pPr>
            <a:r>
              <a:rPr lang="en-US" sz="1800" b="1" dirty="0">
                <a:solidFill>
                  <a:srgbClr val="F5F6F8"/>
                </a:solidFill>
                <a:latin typeface="Calibri" pitchFamily="34" charset="0"/>
                <a:ea typeface="Calibri" pitchFamily="34" charset="-122"/>
                <a:cs typeface="Calibri" pitchFamily="34" charset="-120"/>
              </a:rPr>
              <a:t>Saif Shahzad</a:t>
            </a:r>
            <a:endParaRPr lang="en-US" sz="1800" dirty="0"/>
          </a:p>
          <a:p>
            <a:pPr marL="0" indent="0">
              <a:buNone/>
            </a:pPr>
            <a:r>
              <a:rPr lang="en-US" sz="1500" dirty="0">
                <a:solidFill>
                  <a:srgbClr val="A9B0BE"/>
                </a:solidFill>
                <a:latin typeface="Calibri" pitchFamily="34" charset="0"/>
                <a:ea typeface="Calibri" pitchFamily="34" charset="-122"/>
                <a:cs typeface="Calibri" pitchFamily="34" charset="-120"/>
              </a:rPr>
              <a:t>23i-2634</a:t>
            </a:r>
            <a:endParaRPr lang="en-US" sz="1800" dirty="0"/>
          </a:p>
        </p:txBody>
      </p:sp>
      <p:sp>
        <p:nvSpPr>
          <p:cNvPr id="15" name="Text 13"/>
          <p:cNvSpPr txBox="1"/>
          <p:nvPr/>
        </p:nvSpPr>
        <p:spPr>
          <a:xfrm>
            <a:off x="566928" y="5907024"/>
            <a:ext cx="6400800" cy="658368"/>
          </a:xfrm>
          <a:prstGeom prst="rect">
            <a:avLst/>
          </a:prstGeom>
          <a:noFill/>
          <a:ln/>
        </p:spPr>
        <p:txBody>
          <a:bodyPr wrap="square" lIns="0" tIns="0" rIns="0" bIns="0" rtlCol="0" anchor="ctr"/>
          <a:lstStyle/>
          <a:p>
            <a:pPr marL="0" indent="0">
              <a:buNone/>
            </a:pPr>
            <a:r>
              <a:rPr lang="en-US" sz="1500" dirty="0">
                <a:solidFill>
                  <a:srgbClr val="A9B0BE"/>
                </a:solidFill>
                <a:latin typeface="Calibri" pitchFamily="34" charset="0"/>
                <a:ea typeface="Calibri" pitchFamily="34" charset="-122"/>
                <a:cs typeface="Calibri" pitchFamily="34" charset="-120"/>
              </a:rPr>
              <a:t>Supervisor   </a:t>
            </a:r>
            <a:r>
              <a:rPr lang="en-US" sz="1800" b="1" dirty="0">
                <a:solidFill>
                  <a:srgbClr val="F5F6F8"/>
                </a:solidFill>
                <a:latin typeface="Calibri" pitchFamily="34" charset="0"/>
                <a:ea typeface="Calibri" pitchFamily="34" charset="-122"/>
                <a:cs typeface="Calibri" pitchFamily="34" charset="-120"/>
              </a:rPr>
              <a:t>Dr. Adil Majeed</a:t>
            </a:r>
            <a:endParaRPr lang="en-US" sz="1500" dirty="0"/>
          </a:p>
          <a:p>
            <a:pPr marL="0" indent="0">
              <a:buNone/>
            </a:pPr>
            <a:r>
              <a:rPr lang="en-US" sz="1500" dirty="0">
                <a:solidFill>
                  <a:srgbClr val="A9B0BE"/>
                </a:solidFill>
                <a:latin typeface="Calibri" pitchFamily="34" charset="0"/>
                <a:ea typeface="Calibri" pitchFamily="34" charset="-122"/>
                <a:cs typeface="Calibri" pitchFamily="34" charset="-120"/>
              </a:rPr>
              <a:t>FAST School of Computing, NUCES Islamabad</a:t>
            </a:r>
            <a:endParaRPr lang="en-US" sz="1500" dirty="0"/>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C"/>
        </a:solidFill>
        <a:effectLst/>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txBody>
          <a:bodyPr/>
          <a:lstStyle/>
          <a:p>
            <a:endParaRPr lang="en-PK"/>
          </a:p>
        </p:txBody>
      </p:sp>
      <p:sp>
        <p:nvSpPr>
          <p:cNvPr id="3" name="Shape 1"/>
          <p:cNvSpPr/>
          <p:nvPr/>
        </p:nvSpPr>
        <p:spPr>
          <a:xfrm rot="2700000">
            <a:off x="10618927" y="5285232"/>
            <a:ext cx="1005840" cy="1005840"/>
          </a:xfrm>
          <a:prstGeom prst="rect">
            <a:avLst/>
          </a:prstGeom>
          <a:ln w="12700">
            <a:solidFill>
              <a:srgbClr val="F4F5F7"/>
            </a:solidFill>
            <a:prstDash val="solid"/>
          </a:ln>
        </p:spPr>
        <p:txBody>
          <a:bodyPr/>
          <a:lstStyle/>
          <a:p>
            <a:endParaRPr lang="en-PK"/>
          </a:p>
        </p:txBody>
      </p:sp>
      <p:sp>
        <p:nvSpPr>
          <p:cNvPr id="4" name="Shape 2"/>
          <p:cNvSpPr/>
          <p:nvPr/>
        </p:nvSpPr>
        <p:spPr>
          <a:xfrm rot="2700000">
            <a:off x="10856671" y="5522976"/>
            <a:ext cx="530352" cy="530352"/>
          </a:xfrm>
          <a:prstGeom prst="rect">
            <a:avLst/>
          </a:prstGeom>
          <a:ln w="12700">
            <a:solidFill>
              <a:srgbClr val="F7F4ED"/>
            </a:solidFill>
            <a:prstDash val="solid"/>
          </a:ln>
        </p:spPr>
        <p:txBody>
          <a:bodyPr/>
          <a:lstStyle/>
          <a:p>
            <a:endParaRPr lang="en-PK"/>
          </a:p>
        </p:txBody>
      </p:sp>
      <p:sp>
        <p:nvSpPr>
          <p:cNvPr id="5" name="Text 3"/>
          <p:cNvSpPr txBox="1"/>
          <p:nvPr/>
        </p:nvSpPr>
        <p:spPr>
          <a:xfrm>
            <a:off x="566928" y="365760"/>
            <a:ext cx="11057839" cy="731520"/>
          </a:xfrm>
          <a:prstGeom prst="rect">
            <a:avLst/>
          </a:prstGeom>
          <a:noFill/>
          <a:ln/>
        </p:spPr>
        <p:txBody>
          <a:bodyPr wrap="square" lIns="0" tIns="0" rIns="0" bIns="0" rtlCol="0" anchor="ctr"/>
          <a:lstStyle/>
          <a:p>
            <a:pPr marL="0" indent="0">
              <a:buNone/>
            </a:pPr>
            <a:r>
              <a:rPr lang="en-US" sz="3200" b="1" dirty="0">
                <a:solidFill>
                  <a:srgbClr val="1B202A"/>
                </a:solidFill>
                <a:latin typeface="Georgia" pitchFamily="34" charset="0"/>
                <a:ea typeface="Georgia" pitchFamily="34" charset="-122"/>
                <a:cs typeface="Georgia" pitchFamily="34" charset="-120"/>
              </a:rPr>
              <a:t>Problem &amp; Users</a:t>
            </a:r>
            <a:endParaRPr lang="en-US" sz="3200" dirty="0"/>
          </a:p>
        </p:txBody>
      </p:sp>
      <p:sp>
        <p:nvSpPr>
          <p:cNvPr id="6" name="Shape 4"/>
          <p:cNvSpPr/>
          <p:nvPr/>
        </p:nvSpPr>
        <p:spPr>
          <a:xfrm>
            <a:off x="566928" y="1152144"/>
            <a:ext cx="566928" cy="36576"/>
          </a:xfrm>
          <a:prstGeom prst="rect">
            <a:avLst/>
          </a:prstGeom>
          <a:solidFill>
            <a:srgbClr val="C89B3C"/>
          </a:solidFill>
          <a:ln/>
        </p:spPr>
        <p:txBody>
          <a:bodyPr/>
          <a:lstStyle/>
          <a:p>
            <a:endParaRPr lang="en-PK"/>
          </a:p>
        </p:txBody>
      </p:sp>
      <p:sp>
        <p:nvSpPr>
          <p:cNvPr id="7" name="Shape 5"/>
          <p:cNvSpPr/>
          <p:nvPr/>
        </p:nvSpPr>
        <p:spPr>
          <a:xfrm>
            <a:off x="566928" y="6437376"/>
            <a:ext cx="11057839" cy="0"/>
          </a:xfrm>
          <a:prstGeom prst="line">
            <a:avLst/>
          </a:prstGeom>
          <a:noFill/>
          <a:ln w="9525">
            <a:solidFill>
              <a:srgbClr val="D9DCE3"/>
            </a:solidFill>
            <a:prstDash val="solid"/>
          </a:ln>
        </p:spPr>
        <p:txBody>
          <a:bodyPr/>
          <a:lstStyle/>
          <a:p>
            <a:endParaRPr lang="en-PK"/>
          </a:p>
        </p:txBody>
      </p:sp>
      <p:sp>
        <p:nvSpPr>
          <p:cNvPr id="8" name="Text 6"/>
          <p:cNvSpPr txBox="1"/>
          <p:nvPr/>
        </p:nvSpPr>
        <p:spPr>
          <a:xfrm>
            <a:off x="566928" y="6510528"/>
            <a:ext cx="5943600" cy="237744"/>
          </a:xfrm>
          <a:prstGeom prst="rect">
            <a:avLst/>
          </a:prstGeom>
          <a:noFill/>
          <a:ln/>
        </p:spPr>
        <p:txBody>
          <a:bodyPr wrap="square" lIns="0" tIns="0" rIns="0" bIns="0" rtlCol="0" anchor="ctr"/>
          <a:lstStyle/>
          <a:p>
            <a:pPr marL="0" indent="0">
              <a:buNone/>
            </a:pPr>
            <a:r>
              <a:rPr lang="en-US" sz="1300" kern="0" spc="50" dirty="0">
                <a:solidFill>
                  <a:srgbClr val="8B92A2"/>
                </a:solidFill>
                <a:latin typeface="Consolas" pitchFamily="34" charset="0"/>
                <a:ea typeface="Consolas" pitchFamily="34" charset="-122"/>
                <a:cs typeface="Consolas" pitchFamily="34" charset="-120"/>
              </a:rPr>
              <a:t>F26-060-GRANITE  ·  PROPOSAL DEFENSE  ·  STREAM A</a:t>
            </a:r>
            <a:endParaRPr lang="en-US" sz="130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marL="0" indent="0" algn="r">
              <a:buNone/>
            </a:pPr>
            <a:r>
              <a:rPr lang="en-US" sz="1300" b="1" dirty="0">
                <a:solidFill>
                  <a:srgbClr val="8E6A1F"/>
                </a:solidFill>
                <a:latin typeface="Consolas" pitchFamily="34" charset="0"/>
                <a:ea typeface="Consolas" pitchFamily="34" charset="-122"/>
                <a:cs typeface="Consolas" pitchFamily="34" charset="-120"/>
              </a:rPr>
              <a:t>2 / 11</a:t>
            </a:r>
            <a:endParaRPr lang="en-US" sz="1300" dirty="0"/>
          </a:p>
        </p:txBody>
      </p:sp>
      <p:sp>
        <p:nvSpPr>
          <p:cNvPr id="10" name="Shape 8"/>
          <p:cNvSpPr/>
          <p:nvPr/>
        </p:nvSpPr>
        <p:spPr>
          <a:xfrm>
            <a:off x="587045" y="1360627"/>
            <a:ext cx="4983480" cy="2487168"/>
          </a:xfrm>
          <a:prstGeom prst="roundRect">
            <a:avLst>
              <a:gd name="adj" fmla="val 2206"/>
            </a:avLst>
          </a:prstGeom>
          <a:solidFill>
            <a:srgbClr val="E4E6EB"/>
          </a:solidFill>
          <a:ln/>
        </p:spPr>
        <p:txBody>
          <a:bodyPr/>
          <a:lstStyle/>
          <a:p>
            <a:endParaRPr lang="en-PK"/>
          </a:p>
        </p:txBody>
      </p:sp>
      <p:sp>
        <p:nvSpPr>
          <p:cNvPr id="11" name="Shape 9"/>
          <p:cNvSpPr/>
          <p:nvPr/>
        </p:nvSpPr>
        <p:spPr>
          <a:xfrm>
            <a:off x="566928" y="1335024"/>
            <a:ext cx="4983480" cy="2487168"/>
          </a:xfrm>
          <a:prstGeom prst="roundRect">
            <a:avLst>
              <a:gd name="adj" fmla="val 2206"/>
            </a:avLst>
          </a:prstGeom>
          <a:solidFill>
            <a:srgbClr val="F1F2F5"/>
          </a:solidFill>
          <a:ln w="9525">
            <a:solidFill>
              <a:srgbClr val="D9DCE3"/>
            </a:solidFill>
            <a:prstDash val="solid"/>
          </a:ln>
        </p:spPr>
        <p:txBody>
          <a:bodyPr/>
          <a:lstStyle/>
          <a:p>
            <a:endParaRPr lang="en-PK"/>
          </a:p>
        </p:txBody>
      </p:sp>
      <p:sp>
        <p:nvSpPr>
          <p:cNvPr id="12" name="Shape 10"/>
          <p:cNvSpPr/>
          <p:nvPr/>
        </p:nvSpPr>
        <p:spPr>
          <a:xfrm>
            <a:off x="566928" y="1389888"/>
            <a:ext cx="41148" cy="2377440"/>
          </a:xfrm>
          <a:prstGeom prst="rect">
            <a:avLst/>
          </a:prstGeom>
          <a:solidFill>
            <a:srgbClr val="15707A"/>
          </a:solidFill>
          <a:ln/>
        </p:spPr>
        <p:txBody>
          <a:bodyPr/>
          <a:lstStyle/>
          <a:p>
            <a:endParaRPr lang="en-PK"/>
          </a:p>
        </p:txBody>
      </p:sp>
      <p:sp>
        <p:nvSpPr>
          <p:cNvPr id="13" name="Text 11"/>
          <p:cNvSpPr txBox="1"/>
          <p:nvPr/>
        </p:nvSpPr>
        <p:spPr>
          <a:xfrm>
            <a:off x="822960" y="1481328"/>
            <a:ext cx="4572000" cy="310896"/>
          </a:xfrm>
          <a:prstGeom prst="rect">
            <a:avLst/>
          </a:prstGeom>
          <a:noFill/>
          <a:ln/>
        </p:spPr>
        <p:txBody>
          <a:bodyPr wrap="square" lIns="0" tIns="0" rIns="0" bIns="0" rtlCol="0" anchor="ctr"/>
          <a:lstStyle/>
          <a:p>
            <a:pPr marL="0" indent="0">
              <a:buNone/>
            </a:pPr>
            <a:r>
              <a:rPr lang="en-US" sz="1800" b="1" kern="0" spc="60" dirty="0">
                <a:solidFill>
                  <a:srgbClr val="8E6A1F"/>
                </a:solidFill>
                <a:latin typeface="Consolas" pitchFamily="34" charset="0"/>
                <a:ea typeface="Consolas" pitchFamily="34" charset="-122"/>
                <a:cs typeface="Consolas" pitchFamily="34" charset="-120"/>
              </a:rPr>
              <a:t>STAKEHOLDERS</a:t>
            </a:r>
            <a:endParaRPr lang="en-US" sz="1800" dirty="0"/>
          </a:p>
        </p:txBody>
      </p:sp>
      <p:sp>
        <p:nvSpPr>
          <p:cNvPr id="14" name="Text 12"/>
          <p:cNvSpPr txBox="1"/>
          <p:nvPr/>
        </p:nvSpPr>
        <p:spPr>
          <a:xfrm>
            <a:off x="822960" y="1828800"/>
            <a:ext cx="4526280" cy="1920240"/>
          </a:xfrm>
          <a:prstGeom prst="rect">
            <a:avLst/>
          </a:prstGeom>
          <a:noFill/>
          <a:ln/>
        </p:spPr>
        <p:txBody>
          <a:bodyPr wrap="square" lIns="0" tIns="0" rIns="0" bIns="0" rtlCol="0" anchor="t"/>
          <a:lstStyle/>
          <a:p>
            <a:pPr marL="190500" indent="-190500">
              <a:spcAft>
                <a:spcPts val="700"/>
              </a:spcAft>
              <a:buSzPct val="100000"/>
              <a:buChar char="▪"/>
            </a:pPr>
            <a:r>
              <a:rPr lang="en-US" sz="2000" dirty="0">
                <a:solidFill>
                  <a:srgbClr val="1B202A"/>
                </a:solidFill>
                <a:latin typeface="Calibri" pitchFamily="34" charset="0"/>
                <a:ea typeface="Calibri" pitchFamily="34" charset="-122"/>
                <a:cs typeface="Calibri" pitchFamily="34" charset="-120"/>
              </a:rPr>
              <a:t>Primary — an engineering team running multi-agent AI in production</a:t>
            </a:r>
            <a:endParaRPr lang="en-US" sz="2000" dirty="0"/>
          </a:p>
          <a:p>
            <a:pPr marL="190500" indent="-190500">
              <a:spcAft>
                <a:spcPts val="700"/>
              </a:spcAft>
              <a:buSzPct val="100000"/>
              <a:buChar char="▪"/>
            </a:pPr>
            <a:r>
              <a:rPr lang="en-US" sz="2000" dirty="0">
                <a:solidFill>
                  <a:srgbClr val="1B202A"/>
                </a:solidFill>
                <a:latin typeface="Calibri" pitchFamily="34" charset="0"/>
                <a:ea typeface="Calibri" pitchFamily="34" charset="-122"/>
                <a:cs typeface="Calibri" pitchFamily="34" charset="-120"/>
              </a:rPr>
              <a:t>Secondary — downstream product teams</a:t>
            </a:r>
            <a:endParaRPr lang="en-US" sz="2000" dirty="0"/>
          </a:p>
          <a:p>
            <a:pPr marL="190500" indent="-190500">
              <a:spcAft>
                <a:spcPts val="700"/>
              </a:spcAft>
              <a:buSzPct val="100000"/>
              <a:buChar char="▪"/>
            </a:pPr>
            <a:r>
              <a:rPr lang="en-US" sz="2000" dirty="0">
                <a:solidFill>
                  <a:srgbClr val="1B202A"/>
                </a:solidFill>
                <a:latin typeface="Calibri" pitchFamily="34" charset="0"/>
                <a:ea typeface="Calibri" pitchFamily="34" charset="-122"/>
                <a:cs typeface="Calibri" pitchFamily="34" charset="-120"/>
              </a:rPr>
              <a:t>Secondary — auditors needing traceable evidence</a:t>
            </a:r>
            <a:endParaRPr lang="en-US" sz="2000" dirty="0"/>
          </a:p>
        </p:txBody>
      </p:sp>
      <p:sp>
        <p:nvSpPr>
          <p:cNvPr id="15" name="Shape 13"/>
          <p:cNvSpPr/>
          <p:nvPr/>
        </p:nvSpPr>
        <p:spPr>
          <a:xfrm>
            <a:off x="587045" y="3975811"/>
            <a:ext cx="4983480" cy="841248"/>
          </a:xfrm>
          <a:prstGeom prst="roundRect">
            <a:avLst>
              <a:gd name="adj" fmla="val 6522"/>
            </a:avLst>
          </a:prstGeom>
          <a:solidFill>
            <a:srgbClr val="E4E6EB"/>
          </a:solidFill>
          <a:ln/>
        </p:spPr>
        <p:txBody>
          <a:bodyPr/>
          <a:lstStyle/>
          <a:p>
            <a:endParaRPr lang="en-PK"/>
          </a:p>
        </p:txBody>
      </p:sp>
      <p:sp>
        <p:nvSpPr>
          <p:cNvPr id="16" name="Shape 14"/>
          <p:cNvSpPr/>
          <p:nvPr/>
        </p:nvSpPr>
        <p:spPr>
          <a:xfrm>
            <a:off x="566928" y="3950208"/>
            <a:ext cx="4983480" cy="841248"/>
          </a:xfrm>
          <a:prstGeom prst="roundRect">
            <a:avLst>
              <a:gd name="adj" fmla="val 6522"/>
            </a:avLst>
          </a:prstGeom>
          <a:solidFill>
            <a:srgbClr val="E3EFF1"/>
          </a:solidFill>
          <a:ln w="9525">
            <a:solidFill>
              <a:srgbClr val="D9DCE3"/>
            </a:solidFill>
            <a:prstDash val="solid"/>
          </a:ln>
        </p:spPr>
        <p:txBody>
          <a:bodyPr/>
          <a:lstStyle/>
          <a:p>
            <a:endParaRPr lang="en-PK"/>
          </a:p>
        </p:txBody>
      </p:sp>
      <p:sp>
        <p:nvSpPr>
          <p:cNvPr id="17" name="Text 15"/>
          <p:cNvSpPr txBox="1"/>
          <p:nvPr/>
        </p:nvSpPr>
        <p:spPr>
          <a:xfrm>
            <a:off x="822960" y="3950208"/>
            <a:ext cx="4526280" cy="841248"/>
          </a:xfrm>
          <a:prstGeom prst="rect">
            <a:avLst/>
          </a:prstGeom>
          <a:noFill/>
          <a:ln/>
        </p:spPr>
        <p:txBody>
          <a:bodyPr wrap="square" lIns="0" tIns="0" rIns="0" bIns="0" rtlCol="0" anchor="ctr"/>
          <a:lstStyle/>
          <a:p>
            <a:pPr marL="0" indent="0">
              <a:buNone/>
            </a:pPr>
            <a:r>
              <a:rPr lang="en-US" sz="2000" b="1" dirty="0">
                <a:solidFill>
                  <a:srgbClr val="15707A"/>
                </a:solidFill>
                <a:latin typeface="Calibri" pitchFamily="34" charset="0"/>
                <a:ea typeface="Calibri" pitchFamily="34" charset="-122"/>
                <a:cs typeface="Calibri" pitchFamily="34" charset="-120"/>
              </a:rPr>
              <a:t>SDG 9  </a:t>
            </a:r>
            <a:r>
              <a:rPr lang="en-US" sz="1700" dirty="0">
                <a:solidFill>
                  <a:srgbClr val="1B202A"/>
                </a:solidFill>
                <a:latin typeface="Calibri" pitchFamily="34" charset="0"/>
                <a:ea typeface="Calibri" pitchFamily="34" charset="-122"/>
                <a:cs typeface="Calibri" pitchFamily="34" charset="-120"/>
              </a:rPr>
              <a:t>Industry, Innovation &amp; Infrastructure — reliability tooling</a:t>
            </a:r>
            <a:endParaRPr lang="en-US" sz="2000" dirty="0"/>
          </a:p>
        </p:txBody>
      </p:sp>
      <p:sp>
        <p:nvSpPr>
          <p:cNvPr id="18" name="Shape 16"/>
          <p:cNvSpPr/>
          <p:nvPr/>
        </p:nvSpPr>
        <p:spPr>
          <a:xfrm>
            <a:off x="587045" y="4963363"/>
            <a:ext cx="4983480" cy="1280160"/>
          </a:xfrm>
          <a:prstGeom prst="roundRect">
            <a:avLst>
              <a:gd name="adj" fmla="val 4286"/>
            </a:avLst>
          </a:prstGeom>
          <a:solidFill>
            <a:srgbClr val="E4E6EB"/>
          </a:solidFill>
          <a:ln/>
        </p:spPr>
        <p:txBody>
          <a:bodyPr/>
          <a:lstStyle/>
          <a:p>
            <a:endParaRPr lang="en-PK"/>
          </a:p>
        </p:txBody>
      </p:sp>
      <p:sp>
        <p:nvSpPr>
          <p:cNvPr id="19" name="Shape 17"/>
          <p:cNvSpPr/>
          <p:nvPr/>
        </p:nvSpPr>
        <p:spPr>
          <a:xfrm>
            <a:off x="566928" y="4937760"/>
            <a:ext cx="4983480" cy="1280160"/>
          </a:xfrm>
          <a:prstGeom prst="roundRect">
            <a:avLst>
              <a:gd name="adj" fmla="val 4286"/>
            </a:avLst>
          </a:prstGeom>
          <a:solidFill>
            <a:srgbClr val="F6E6E3"/>
          </a:solidFill>
          <a:ln w="9525">
            <a:solidFill>
              <a:srgbClr val="D9DCE3"/>
            </a:solidFill>
            <a:prstDash val="solid"/>
          </a:ln>
        </p:spPr>
        <p:txBody>
          <a:bodyPr/>
          <a:lstStyle/>
          <a:p>
            <a:endParaRPr lang="en-PK"/>
          </a:p>
        </p:txBody>
      </p:sp>
      <p:sp>
        <p:nvSpPr>
          <p:cNvPr id="20" name="Shape 18"/>
          <p:cNvSpPr/>
          <p:nvPr/>
        </p:nvSpPr>
        <p:spPr>
          <a:xfrm>
            <a:off x="566928" y="4992624"/>
            <a:ext cx="41148" cy="1170432"/>
          </a:xfrm>
          <a:prstGeom prst="rect">
            <a:avLst/>
          </a:prstGeom>
          <a:solidFill>
            <a:srgbClr val="A83A30"/>
          </a:solidFill>
          <a:ln/>
        </p:spPr>
        <p:txBody>
          <a:bodyPr/>
          <a:lstStyle/>
          <a:p>
            <a:endParaRPr lang="en-PK"/>
          </a:p>
        </p:txBody>
      </p:sp>
      <p:sp>
        <p:nvSpPr>
          <p:cNvPr id="21" name="Text 19"/>
          <p:cNvSpPr txBox="1"/>
          <p:nvPr/>
        </p:nvSpPr>
        <p:spPr>
          <a:xfrm>
            <a:off x="822960" y="5065776"/>
            <a:ext cx="4572000" cy="310896"/>
          </a:xfrm>
          <a:prstGeom prst="rect">
            <a:avLst/>
          </a:prstGeom>
          <a:noFill/>
          <a:ln/>
        </p:spPr>
        <p:txBody>
          <a:bodyPr wrap="square" lIns="0" tIns="0" rIns="0" bIns="0" rtlCol="0" anchor="ctr"/>
          <a:lstStyle/>
          <a:p>
            <a:pPr marL="0" indent="0">
              <a:buNone/>
            </a:pPr>
            <a:r>
              <a:rPr lang="en-US" sz="1800" b="1" kern="0" spc="60" dirty="0">
                <a:solidFill>
                  <a:srgbClr val="A83A30"/>
                </a:solidFill>
                <a:latin typeface="Consolas" pitchFamily="34" charset="0"/>
                <a:ea typeface="Consolas" pitchFamily="34" charset="-122"/>
                <a:cs typeface="Consolas" pitchFamily="34" charset="-120"/>
              </a:rPr>
              <a:t>CONSEQUENCE OF FAILURE</a:t>
            </a:r>
            <a:endParaRPr lang="en-US" sz="1800" dirty="0"/>
          </a:p>
        </p:txBody>
      </p:sp>
      <p:sp>
        <p:nvSpPr>
          <p:cNvPr id="22" name="Text 20"/>
          <p:cNvSpPr txBox="1"/>
          <p:nvPr/>
        </p:nvSpPr>
        <p:spPr>
          <a:xfrm>
            <a:off x="822960" y="5431536"/>
            <a:ext cx="4526280" cy="694944"/>
          </a:xfrm>
          <a:prstGeom prst="rect">
            <a:avLst/>
          </a:prstGeom>
          <a:noFill/>
          <a:ln/>
        </p:spPr>
        <p:txBody>
          <a:bodyPr wrap="square" lIns="0" tIns="0" rIns="0" bIns="0" rtlCol="0" anchor="ctr"/>
          <a:lstStyle/>
          <a:p>
            <a:pPr marL="0" indent="0">
              <a:buNone/>
            </a:pPr>
            <a:r>
              <a:rPr lang="en-US" sz="2000" i="1" dirty="0">
                <a:solidFill>
                  <a:srgbClr val="1B202A"/>
                </a:solidFill>
                <a:latin typeface="Calibri" pitchFamily="34" charset="0"/>
                <a:ea typeface="Calibri" pitchFamily="34" charset="-122"/>
                <a:cs typeface="Calibri" pitchFamily="34" charset="-120"/>
              </a:rPr>
              <a:t>Ships a confident, wrong answer — no crash, no error, no signal.</a:t>
            </a:r>
            <a:endParaRPr lang="en-US" sz="2000" dirty="0"/>
          </a:p>
        </p:txBody>
      </p:sp>
      <p:sp>
        <p:nvSpPr>
          <p:cNvPr id="23" name="Text 21"/>
          <p:cNvSpPr txBox="1"/>
          <p:nvPr/>
        </p:nvSpPr>
        <p:spPr>
          <a:xfrm>
            <a:off x="5870448" y="1389888"/>
            <a:ext cx="5754319" cy="310896"/>
          </a:xfrm>
          <a:prstGeom prst="rect">
            <a:avLst/>
          </a:prstGeom>
          <a:noFill/>
          <a:ln/>
        </p:spPr>
        <p:txBody>
          <a:bodyPr wrap="square" lIns="0" tIns="0" rIns="0" bIns="0" rtlCol="0" anchor="ctr"/>
          <a:lstStyle/>
          <a:p>
            <a:pPr marL="0" indent="0">
              <a:buNone/>
            </a:pPr>
            <a:r>
              <a:rPr lang="en-US" sz="1800" b="1" kern="0" spc="60" dirty="0">
                <a:solidFill>
                  <a:srgbClr val="596273"/>
                </a:solidFill>
                <a:latin typeface="Consolas" pitchFamily="34" charset="0"/>
                <a:ea typeface="Consolas" pitchFamily="34" charset="-122"/>
                <a:cs typeface="Consolas" pitchFamily="34" charset="-120"/>
              </a:rPr>
              <a:t>CURRENT WORKFLOW — WITHOUT GRANITE</a:t>
            </a:r>
            <a:endParaRPr lang="en-US" sz="1800" dirty="0"/>
          </a:p>
        </p:txBody>
      </p:sp>
      <p:sp>
        <p:nvSpPr>
          <p:cNvPr id="24" name="Shape 22"/>
          <p:cNvSpPr/>
          <p:nvPr/>
        </p:nvSpPr>
        <p:spPr>
          <a:xfrm>
            <a:off x="5870448" y="1792224"/>
            <a:ext cx="457200" cy="457200"/>
          </a:xfrm>
          <a:prstGeom prst="ellipse">
            <a:avLst/>
          </a:prstGeom>
          <a:solidFill>
            <a:srgbClr val="E4E9F2"/>
          </a:solidFill>
          <a:ln/>
        </p:spPr>
        <p:txBody>
          <a:bodyPr/>
          <a:lstStyle/>
          <a:p>
            <a:endParaRPr lang="en-PK"/>
          </a:p>
        </p:txBody>
      </p:sp>
      <p:sp>
        <p:nvSpPr>
          <p:cNvPr id="25" name="Text 23"/>
          <p:cNvSpPr txBox="1"/>
          <p:nvPr/>
        </p:nvSpPr>
        <p:spPr>
          <a:xfrm>
            <a:off x="5870448" y="1792224"/>
            <a:ext cx="457200" cy="457200"/>
          </a:xfrm>
          <a:prstGeom prst="rect">
            <a:avLst/>
          </a:prstGeom>
          <a:noFill/>
          <a:ln/>
        </p:spPr>
        <p:txBody>
          <a:bodyPr wrap="square" lIns="0" tIns="0" rIns="0" bIns="0" rtlCol="0" anchor="ctr"/>
          <a:lstStyle/>
          <a:p>
            <a:pPr marL="0" indent="0" algn="ctr">
              <a:buNone/>
            </a:pPr>
            <a:r>
              <a:rPr lang="en-US" sz="1650" b="1" dirty="0">
                <a:solidFill>
                  <a:srgbClr val="31558F"/>
                </a:solidFill>
                <a:latin typeface="Georgia" pitchFamily="34" charset="0"/>
                <a:ea typeface="Georgia" pitchFamily="34" charset="-122"/>
                <a:cs typeface="Georgia" pitchFamily="34" charset="-120"/>
              </a:rPr>
              <a:t>1</a:t>
            </a:r>
            <a:endParaRPr lang="en-US" sz="1650" dirty="0"/>
          </a:p>
        </p:txBody>
      </p:sp>
      <p:sp>
        <p:nvSpPr>
          <p:cNvPr id="26" name="Text 24"/>
          <p:cNvSpPr txBox="1"/>
          <p:nvPr/>
        </p:nvSpPr>
        <p:spPr>
          <a:xfrm>
            <a:off x="6473952" y="1719072"/>
            <a:ext cx="5132527" cy="877824"/>
          </a:xfrm>
          <a:prstGeom prst="rect">
            <a:avLst/>
          </a:prstGeom>
          <a:noFill/>
          <a:ln/>
        </p:spPr>
        <p:txBody>
          <a:bodyPr wrap="square" lIns="0" tIns="0" rIns="0" bIns="0" rtlCol="0" anchor="ctr"/>
          <a:lstStyle/>
          <a:p>
            <a:pPr marL="0" indent="0">
              <a:buNone/>
            </a:pPr>
            <a:r>
              <a:rPr lang="en-US" sz="2000" b="1" dirty="0">
                <a:solidFill>
                  <a:srgbClr val="1B202A"/>
                </a:solidFill>
                <a:latin typeface="Calibri" pitchFamily="34" charset="0"/>
                <a:ea typeface="Calibri" pitchFamily="34" charset="-122"/>
                <a:cs typeface="Calibri" pitchFamily="34" charset="-120"/>
              </a:rPr>
              <a:t>Trace captured</a:t>
            </a:r>
            <a:endParaRPr lang="en-US" sz="2000" dirty="0"/>
          </a:p>
          <a:p>
            <a:pPr marL="0" indent="0">
              <a:buNone/>
            </a:pPr>
            <a:r>
              <a:rPr lang="en-US" sz="1700" dirty="0">
                <a:solidFill>
                  <a:srgbClr val="596273"/>
                </a:solidFill>
                <a:latin typeface="Calibri" pitchFamily="34" charset="0"/>
                <a:ea typeface="Calibri" pitchFamily="34" charset="-122"/>
                <a:cs typeface="Calibri" pitchFamily="34" charset="-120"/>
              </a:rPr>
              <a:t>LangSmith / Langfuse / Braintrust / Arize</a:t>
            </a:r>
            <a:endParaRPr lang="en-US" sz="2000" dirty="0"/>
          </a:p>
        </p:txBody>
      </p:sp>
      <p:sp>
        <p:nvSpPr>
          <p:cNvPr id="27" name="Shape 25"/>
          <p:cNvSpPr/>
          <p:nvPr/>
        </p:nvSpPr>
        <p:spPr>
          <a:xfrm>
            <a:off x="6099048" y="2249424"/>
            <a:ext cx="0" cy="329184"/>
          </a:xfrm>
          <a:prstGeom prst="line">
            <a:avLst/>
          </a:prstGeom>
          <a:noFill/>
          <a:ln w="19050">
            <a:solidFill>
              <a:srgbClr val="D9DCE3"/>
            </a:solidFill>
            <a:prstDash val="dash"/>
          </a:ln>
        </p:spPr>
        <p:txBody>
          <a:bodyPr/>
          <a:lstStyle/>
          <a:p>
            <a:endParaRPr lang="en-PK"/>
          </a:p>
        </p:txBody>
      </p:sp>
      <p:sp>
        <p:nvSpPr>
          <p:cNvPr id="28" name="Shape 26"/>
          <p:cNvSpPr/>
          <p:nvPr/>
        </p:nvSpPr>
        <p:spPr>
          <a:xfrm>
            <a:off x="5870448" y="2834640"/>
            <a:ext cx="457200" cy="457200"/>
          </a:xfrm>
          <a:prstGeom prst="ellipse">
            <a:avLst/>
          </a:prstGeom>
          <a:solidFill>
            <a:srgbClr val="F6EADD"/>
          </a:solidFill>
          <a:ln/>
        </p:spPr>
        <p:txBody>
          <a:bodyPr/>
          <a:lstStyle/>
          <a:p>
            <a:endParaRPr lang="en-PK"/>
          </a:p>
        </p:txBody>
      </p:sp>
      <p:sp>
        <p:nvSpPr>
          <p:cNvPr id="29" name="Text 27"/>
          <p:cNvSpPr txBox="1"/>
          <p:nvPr/>
        </p:nvSpPr>
        <p:spPr>
          <a:xfrm>
            <a:off x="5870448" y="2834640"/>
            <a:ext cx="457200" cy="457200"/>
          </a:xfrm>
          <a:prstGeom prst="rect">
            <a:avLst/>
          </a:prstGeom>
          <a:noFill/>
          <a:ln/>
        </p:spPr>
        <p:txBody>
          <a:bodyPr wrap="square" lIns="0" tIns="0" rIns="0" bIns="0" rtlCol="0" anchor="ctr"/>
          <a:lstStyle/>
          <a:p>
            <a:pPr marL="0" indent="0" algn="ctr">
              <a:buNone/>
            </a:pPr>
            <a:r>
              <a:rPr lang="en-US" sz="1650" b="1" dirty="0">
                <a:solidFill>
                  <a:srgbClr val="B05C1C"/>
                </a:solidFill>
                <a:latin typeface="Georgia" pitchFamily="34" charset="0"/>
                <a:ea typeface="Georgia" pitchFamily="34" charset="-122"/>
                <a:cs typeface="Georgia" pitchFamily="34" charset="-120"/>
              </a:rPr>
              <a:t>2</a:t>
            </a:r>
            <a:endParaRPr lang="en-US" sz="1650" dirty="0"/>
          </a:p>
        </p:txBody>
      </p:sp>
      <p:sp>
        <p:nvSpPr>
          <p:cNvPr id="30" name="Text 28"/>
          <p:cNvSpPr txBox="1"/>
          <p:nvPr/>
        </p:nvSpPr>
        <p:spPr>
          <a:xfrm>
            <a:off x="6473952" y="2761488"/>
            <a:ext cx="5132527" cy="877824"/>
          </a:xfrm>
          <a:prstGeom prst="rect">
            <a:avLst/>
          </a:prstGeom>
          <a:noFill/>
          <a:ln/>
        </p:spPr>
        <p:txBody>
          <a:bodyPr wrap="square" lIns="0" tIns="0" rIns="0" bIns="0" rtlCol="0" anchor="ctr"/>
          <a:lstStyle/>
          <a:p>
            <a:pPr marL="0" indent="0">
              <a:buNone/>
            </a:pPr>
            <a:r>
              <a:rPr lang="en-US" sz="2000" b="1" dirty="0">
                <a:solidFill>
                  <a:srgbClr val="1B202A"/>
                </a:solidFill>
                <a:latin typeface="Calibri" pitchFamily="34" charset="0"/>
                <a:ea typeface="Calibri" pitchFamily="34" charset="-122"/>
                <a:cs typeface="Calibri" pitchFamily="34" charset="-120"/>
              </a:rPr>
              <a:t>Human guesses the root cause</a:t>
            </a:r>
            <a:endParaRPr lang="en-US" sz="2000" dirty="0"/>
          </a:p>
          <a:p>
            <a:pPr marL="0" indent="0">
              <a:buNone/>
            </a:pPr>
            <a:r>
              <a:rPr lang="en-US" sz="1700" dirty="0">
                <a:solidFill>
                  <a:srgbClr val="596273"/>
                </a:solidFill>
                <a:latin typeface="Calibri" pitchFamily="34" charset="0"/>
                <a:ea typeface="Calibri" pitchFamily="34" charset="-122"/>
                <a:cs typeface="Calibri" pitchFamily="34" charset="-120"/>
              </a:rPr>
              <a:t>no published accuracy</a:t>
            </a:r>
            <a:endParaRPr lang="en-US" sz="2000" dirty="0"/>
          </a:p>
        </p:txBody>
      </p:sp>
      <p:sp>
        <p:nvSpPr>
          <p:cNvPr id="31" name="Shape 29"/>
          <p:cNvSpPr/>
          <p:nvPr/>
        </p:nvSpPr>
        <p:spPr>
          <a:xfrm>
            <a:off x="6099048" y="3291840"/>
            <a:ext cx="0" cy="329184"/>
          </a:xfrm>
          <a:prstGeom prst="line">
            <a:avLst/>
          </a:prstGeom>
          <a:noFill/>
          <a:ln w="19050">
            <a:solidFill>
              <a:srgbClr val="D9DCE3"/>
            </a:solidFill>
            <a:prstDash val="dash"/>
          </a:ln>
        </p:spPr>
        <p:txBody>
          <a:bodyPr/>
          <a:lstStyle/>
          <a:p>
            <a:endParaRPr lang="en-PK"/>
          </a:p>
        </p:txBody>
      </p:sp>
      <p:sp>
        <p:nvSpPr>
          <p:cNvPr id="32" name="Shape 30"/>
          <p:cNvSpPr/>
          <p:nvPr/>
        </p:nvSpPr>
        <p:spPr>
          <a:xfrm>
            <a:off x="5870448" y="3877056"/>
            <a:ext cx="457200" cy="457200"/>
          </a:xfrm>
          <a:prstGeom prst="ellipse">
            <a:avLst/>
          </a:prstGeom>
          <a:solidFill>
            <a:srgbClr val="F6E6E3"/>
          </a:solidFill>
          <a:ln/>
        </p:spPr>
        <p:txBody>
          <a:bodyPr/>
          <a:lstStyle/>
          <a:p>
            <a:endParaRPr lang="en-PK"/>
          </a:p>
        </p:txBody>
      </p:sp>
      <p:sp>
        <p:nvSpPr>
          <p:cNvPr id="33" name="Text 31"/>
          <p:cNvSpPr txBox="1"/>
          <p:nvPr/>
        </p:nvSpPr>
        <p:spPr>
          <a:xfrm>
            <a:off x="5870448" y="3877056"/>
            <a:ext cx="457200" cy="457200"/>
          </a:xfrm>
          <a:prstGeom prst="rect">
            <a:avLst/>
          </a:prstGeom>
          <a:noFill/>
          <a:ln/>
        </p:spPr>
        <p:txBody>
          <a:bodyPr wrap="square" lIns="0" tIns="0" rIns="0" bIns="0" rtlCol="0" anchor="ctr"/>
          <a:lstStyle/>
          <a:p>
            <a:pPr marL="0" indent="0" algn="ctr">
              <a:buNone/>
            </a:pPr>
            <a:r>
              <a:rPr lang="en-US" sz="1650" b="1" dirty="0">
                <a:solidFill>
                  <a:srgbClr val="A83A30"/>
                </a:solidFill>
                <a:latin typeface="Georgia" pitchFamily="34" charset="0"/>
                <a:ea typeface="Georgia" pitchFamily="34" charset="-122"/>
                <a:cs typeface="Georgia" pitchFamily="34" charset="-120"/>
              </a:rPr>
              <a:t>3</a:t>
            </a:r>
            <a:endParaRPr lang="en-US" sz="1650" dirty="0"/>
          </a:p>
        </p:txBody>
      </p:sp>
      <p:sp>
        <p:nvSpPr>
          <p:cNvPr id="34" name="Text 32"/>
          <p:cNvSpPr txBox="1"/>
          <p:nvPr/>
        </p:nvSpPr>
        <p:spPr>
          <a:xfrm>
            <a:off x="6473952" y="3803904"/>
            <a:ext cx="5132527" cy="877824"/>
          </a:xfrm>
          <a:prstGeom prst="rect">
            <a:avLst/>
          </a:prstGeom>
          <a:noFill/>
          <a:ln/>
        </p:spPr>
        <p:txBody>
          <a:bodyPr wrap="square" lIns="0" tIns="0" rIns="0" bIns="0" rtlCol="0" anchor="ctr"/>
          <a:lstStyle/>
          <a:p>
            <a:pPr marL="0" indent="0">
              <a:buNone/>
            </a:pPr>
            <a:r>
              <a:rPr lang="en-US" sz="2000" b="1" dirty="0">
                <a:solidFill>
                  <a:srgbClr val="1B202A"/>
                </a:solidFill>
                <a:latin typeface="Calibri" pitchFamily="34" charset="0"/>
                <a:ea typeface="Calibri" pitchFamily="34" charset="-122"/>
                <a:cs typeface="Calibri" pitchFamily="34" charset="-120"/>
              </a:rPr>
              <a:t>No silent-failure check</a:t>
            </a:r>
            <a:endParaRPr lang="en-US" sz="2000" dirty="0"/>
          </a:p>
          <a:p>
            <a:pPr marL="0" indent="0">
              <a:buNone/>
            </a:pPr>
            <a:r>
              <a:rPr lang="en-US" sz="1700" dirty="0">
                <a:solidFill>
                  <a:srgbClr val="596273"/>
                </a:solidFill>
                <a:latin typeface="Calibri" pitchFamily="34" charset="0"/>
                <a:ea typeface="Calibri" pitchFamily="34" charset="-122"/>
                <a:cs typeface="Calibri" pitchFamily="34" charset="-120"/>
              </a:rPr>
              <a:t>a confident, wrong answer passes unnoticed</a:t>
            </a:r>
            <a:endParaRPr lang="en-US" sz="2000" dirty="0"/>
          </a:p>
        </p:txBody>
      </p:sp>
      <p:sp>
        <p:nvSpPr>
          <p:cNvPr id="35" name="Shape 33"/>
          <p:cNvSpPr/>
          <p:nvPr/>
        </p:nvSpPr>
        <p:spPr>
          <a:xfrm>
            <a:off x="6099048" y="4334256"/>
            <a:ext cx="0" cy="329184"/>
          </a:xfrm>
          <a:prstGeom prst="line">
            <a:avLst/>
          </a:prstGeom>
          <a:noFill/>
          <a:ln w="19050">
            <a:solidFill>
              <a:srgbClr val="D9DCE3"/>
            </a:solidFill>
            <a:prstDash val="dash"/>
          </a:ln>
        </p:spPr>
        <p:txBody>
          <a:bodyPr/>
          <a:lstStyle/>
          <a:p>
            <a:endParaRPr lang="en-PK"/>
          </a:p>
        </p:txBody>
      </p:sp>
      <p:sp>
        <p:nvSpPr>
          <p:cNvPr id="36" name="Shape 34"/>
          <p:cNvSpPr/>
          <p:nvPr/>
        </p:nvSpPr>
        <p:spPr>
          <a:xfrm>
            <a:off x="5870448" y="4919472"/>
            <a:ext cx="457200" cy="457200"/>
          </a:xfrm>
          <a:prstGeom prst="ellipse">
            <a:avLst/>
          </a:prstGeom>
          <a:solidFill>
            <a:srgbClr val="F6E6E3"/>
          </a:solidFill>
          <a:ln/>
        </p:spPr>
        <p:txBody>
          <a:bodyPr/>
          <a:lstStyle/>
          <a:p>
            <a:endParaRPr lang="en-PK"/>
          </a:p>
        </p:txBody>
      </p:sp>
      <p:sp>
        <p:nvSpPr>
          <p:cNvPr id="37" name="Text 35"/>
          <p:cNvSpPr txBox="1"/>
          <p:nvPr/>
        </p:nvSpPr>
        <p:spPr>
          <a:xfrm>
            <a:off x="5870448" y="4919472"/>
            <a:ext cx="457200" cy="457200"/>
          </a:xfrm>
          <a:prstGeom prst="rect">
            <a:avLst/>
          </a:prstGeom>
          <a:noFill/>
          <a:ln/>
        </p:spPr>
        <p:txBody>
          <a:bodyPr wrap="square" lIns="0" tIns="0" rIns="0" bIns="0" rtlCol="0" anchor="ctr"/>
          <a:lstStyle/>
          <a:p>
            <a:pPr marL="0" indent="0" algn="ctr">
              <a:buNone/>
            </a:pPr>
            <a:r>
              <a:rPr lang="en-US" sz="1650" b="1" dirty="0">
                <a:solidFill>
                  <a:srgbClr val="A83A30"/>
                </a:solidFill>
                <a:latin typeface="Georgia" pitchFamily="34" charset="0"/>
                <a:ea typeface="Georgia" pitchFamily="34" charset="-122"/>
                <a:cs typeface="Georgia" pitchFamily="34" charset="-120"/>
              </a:rPr>
              <a:t>4</a:t>
            </a:r>
            <a:endParaRPr lang="en-US" sz="1650" dirty="0"/>
          </a:p>
        </p:txBody>
      </p:sp>
      <p:sp>
        <p:nvSpPr>
          <p:cNvPr id="38" name="Text 36"/>
          <p:cNvSpPr txBox="1"/>
          <p:nvPr/>
        </p:nvSpPr>
        <p:spPr>
          <a:xfrm>
            <a:off x="6473952" y="4846320"/>
            <a:ext cx="5132527" cy="877824"/>
          </a:xfrm>
          <a:prstGeom prst="rect">
            <a:avLst/>
          </a:prstGeom>
          <a:noFill/>
          <a:ln/>
        </p:spPr>
        <p:txBody>
          <a:bodyPr wrap="square" lIns="0" tIns="0" rIns="0" bIns="0" rtlCol="0" anchor="ctr"/>
          <a:lstStyle/>
          <a:p>
            <a:pPr marL="0" indent="0">
              <a:buNone/>
            </a:pPr>
            <a:r>
              <a:rPr lang="en-US" sz="2000" b="1" dirty="0">
                <a:solidFill>
                  <a:srgbClr val="1B202A"/>
                </a:solidFill>
                <a:latin typeface="Calibri" pitchFamily="34" charset="0"/>
                <a:ea typeface="Calibri" pitchFamily="34" charset="-122"/>
                <a:cs typeface="Calibri" pitchFamily="34" charset="-120"/>
              </a:rPr>
              <a:t>No way to test a fix first</a:t>
            </a:r>
            <a:endParaRPr lang="en-US" sz="2000" dirty="0"/>
          </a:p>
          <a:p>
            <a:pPr marL="0" indent="0">
              <a:buNone/>
            </a:pPr>
            <a:r>
              <a:rPr lang="en-US" sz="1700" dirty="0">
                <a:solidFill>
                  <a:srgbClr val="596273"/>
                </a:solidFill>
                <a:latin typeface="Calibri" pitchFamily="34" charset="0"/>
                <a:ea typeface="Calibri" pitchFamily="34" charset="-122"/>
                <a:cs typeface="Calibri" pitchFamily="34" charset="-120"/>
              </a:rPr>
              <a:t>field baseline: 14.2% step accuracy (Who&amp;When)</a:t>
            </a:r>
            <a:endParaRPr lang="en-US" sz="2000" dirty="0"/>
          </a:p>
        </p:txBody>
      </p:sp>
      <p:sp>
        <p:nvSpPr>
          <p:cNvPr id="39" name="Shape 37"/>
          <p:cNvSpPr/>
          <p:nvPr/>
        </p:nvSpPr>
        <p:spPr>
          <a:xfrm>
            <a:off x="5890565" y="5768035"/>
            <a:ext cx="5754319" cy="548640"/>
          </a:xfrm>
          <a:prstGeom prst="roundRect">
            <a:avLst>
              <a:gd name="adj" fmla="val 10000"/>
            </a:avLst>
          </a:prstGeom>
          <a:solidFill>
            <a:srgbClr val="E4E6EB"/>
          </a:solidFill>
          <a:ln/>
        </p:spPr>
        <p:txBody>
          <a:bodyPr/>
          <a:lstStyle/>
          <a:p>
            <a:endParaRPr lang="en-PK"/>
          </a:p>
        </p:txBody>
      </p:sp>
      <p:sp>
        <p:nvSpPr>
          <p:cNvPr id="40" name="Shape 38"/>
          <p:cNvSpPr/>
          <p:nvPr/>
        </p:nvSpPr>
        <p:spPr>
          <a:xfrm>
            <a:off x="5870448" y="5742432"/>
            <a:ext cx="5754319" cy="548640"/>
          </a:xfrm>
          <a:prstGeom prst="roundRect">
            <a:avLst>
              <a:gd name="adj" fmla="val 10000"/>
            </a:avLst>
          </a:prstGeom>
          <a:solidFill>
            <a:srgbClr val="F7EFDC"/>
          </a:solidFill>
          <a:ln w="9525">
            <a:solidFill>
              <a:srgbClr val="D9DCE3"/>
            </a:solidFill>
            <a:prstDash val="solid"/>
          </a:ln>
        </p:spPr>
        <p:txBody>
          <a:bodyPr/>
          <a:lstStyle/>
          <a:p>
            <a:endParaRPr lang="en-PK"/>
          </a:p>
        </p:txBody>
      </p:sp>
      <p:sp>
        <p:nvSpPr>
          <p:cNvPr id="41" name="Text 39"/>
          <p:cNvSpPr txBox="1"/>
          <p:nvPr/>
        </p:nvSpPr>
        <p:spPr>
          <a:xfrm>
            <a:off x="6053328" y="5742432"/>
            <a:ext cx="5388559" cy="548640"/>
          </a:xfrm>
          <a:prstGeom prst="rect">
            <a:avLst/>
          </a:prstGeom>
          <a:noFill/>
          <a:ln/>
        </p:spPr>
        <p:txBody>
          <a:bodyPr wrap="square" lIns="0" tIns="0" rIns="0" bIns="0" rtlCol="0" anchor="ctr"/>
          <a:lstStyle/>
          <a:p>
            <a:pPr marL="0" indent="0">
              <a:buNone/>
            </a:pPr>
            <a:r>
              <a:rPr lang="en-US" sz="1700" b="1" dirty="0">
                <a:solidFill>
                  <a:srgbClr val="A8760F"/>
                </a:solidFill>
                <a:latin typeface="Calibri" pitchFamily="34" charset="0"/>
                <a:ea typeface="Calibri" pitchFamily="34" charset="-122"/>
                <a:cs typeface="Calibri" pitchFamily="34" charset="-120"/>
              </a:rPr>
              <a:t>Stakeholder evidence today:  </a:t>
            </a:r>
            <a:r>
              <a:rPr lang="en-US" sz="1700" dirty="0">
                <a:solidFill>
                  <a:srgbClr val="1B202A"/>
                </a:solidFill>
                <a:latin typeface="Calibri" pitchFamily="34" charset="0"/>
                <a:ea typeface="Calibri" pitchFamily="34" charset="-122"/>
                <a:cs typeface="Calibri" pitchFamily="34" charset="-120"/>
              </a:rPr>
              <a:t>literature + 7 commercial vendors</a:t>
            </a:r>
            <a:endParaRPr lang="en-US" sz="17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C"/>
        </a:solidFill>
        <a:effectLst/>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txBody>
          <a:bodyPr/>
          <a:lstStyle/>
          <a:p>
            <a:endParaRPr lang="en-PK"/>
          </a:p>
        </p:txBody>
      </p:sp>
      <p:sp>
        <p:nvSpPr>
          <p:cNvPr id="3" name="Shape 1"/>
          <p:cNvSpPr/>
          <p:nvPr/>
        </p:nvSpPr>
        <p:spPr>
          <a:xfrm rot="2700000">
            <a:off x="10618927" y="5285232"/>
            <a:ext cx="1005840" cy="1005840"/>
          </a:xfrm>
          <a:prstGeom prst="rect">
            <a:avLst/>
          </a:prstGeom>
          <a:ln w="12700">
            <a:solidFill>
              <a:srgbClr val="F4F5F7"/>
            </a:solidFill>
            <a:prstDash val="solid"/>
          </a:ln>
        </p:spPr>
        <p:txBody>
          <a:bodyPr/>
          <a:lstStyle/>
          <a:p>
            <a:endParaRPr lang="en-PK"/>
          </a:p>
        </p:txBody>
      </p:sp>
      <p:sp>
        <p:nvSpPr>
          <p:cNvPr id="4" name="Shape 2"/>
          <p:cNvSpPr/>
          <p:nvPr/>
        </p:nvSpPr>
        <p:spPr>
          <a:xfrm rot="2700000">
            <a:off x="10856671" y="5522976"/>
            <a:ext cx="530352" cy="530352"/>
          </a:xfrm>
          <a:prstGeom prst="rect">
            <a:avLst/>
          </a:prstGeom>
          <a:ln w="12700">
            <a:solidFill>
              <a:srgbClr val="F7F4ED"/>
            </a:solidFill>
            <a:prstDash val="solid"/>
          </a:ln>
        </p:spPr>
        <p:txBody>
          <a:bodyPr/>
          <a:lstStyle/>
          <a:p>
            <a:endParaRPr lang="en-PK"/>
          </a:p>
        </p:txBody>
      </p:sp>
      <p:sp>
        <p:nvSpPr>
          <p:cNvPr id="5" name="Text 3"/>
          <p:cNvSpPr txBox="1"/>
          <p:nvPr/>
        </p:nvSpPr>
        <p:spPr>
          <a:xfrm>
            <a:off x="566928" y="365760"/>
            <a:ext cx="11057839" cy="731520"/>
          </a:xfrm>
          <a:prstGeom prst="rect">
            <a:avLst/>
          </a:prstGeom>
          <a:noFill/>
          <a:ln/>
        </p:spPr>
        <p:txBody>
          <a:bodyPr wrap="square" lIns="0" tIns="0" rIns="0" bIns="0" rtlCol="0" anchor="ctr"/>
          <a:lstStyle/>
          <a:p>
            <a:pPr marL="0" indent="0">
              <a:buNone/>
            </a:pPr>
            <a:r>
              <a:rPr lang="en-US" sz="3200" b="1" dirty="0">
                <a:solidFill>
                  <a:srgbClr val="1B202A"/>
                </a:solidFill>
                <a:latin typeface="Georgia" pitchFamily="34" charset="0"/>
                <a:ea typeface="Georgia" pitchFamily="34" charset="-122"/>
                <a:cs typeface="Georgia" pitchFamily="34" charset="-120"/>
              </a:rPr>
              <a:t>Existing Solutions &amp; Prior FYP Comparison</a:t>
            </a:r>
            <a:endParaRPr lang="en-US" sz="3200" dirty="0"/>
          </a:p>
        </p:txBody>
      </p:sp>
      <p:sp>
        <p:nvSpPr>
          <p:cNvPr id="6" name="Shape 4"/>
          <p:cNvSpPr/>
          <p:nvPr/>
        </p:nvSpPr>
        <p:spPr>
          <a:xfrm>
            <a:off x="566928" y="1152144"/>
            <a:ext cx="566928" cy="36576"/>
          </a:xfrm>
          <a:prstGeom prst="rect">
            <a:avLst/>
          </a:prstGeom>
          <a:solidFill>
            <a:srgbClr val="C89B3C"/>
          </a:solidFill>
          <a:ln/>
        </p:spPr>
        <p:txBody>
          <a:bodyPr/>
          <a:lstStyle/>
          <a:p>
            <a:endParaRPr lang="en-PK"/>
          </a:p>
        </p:txBody>
      </p:sp>
      <p:sp>
        <p:nvSpPr>
          <p:cNvPr id="7" name="Shape 5"/>
          <p:cNvSpPr/>
          <p:nvPr/>
        </p:nvSpPr>
        <p:spPr>
          <a:xfrm>
            <a:off x="566928" y="6437376"/>
            <a:ext cx="11057839" cy="0"/>
          </a:xfrm>
          <a:prstGeom prst="line">
            <a:avLst/>
          </a:prstGeom>
          <a:noFill/>
          <a:ln w="9525">
            <a:solidFill>
              <a:srgbClr val="D9DCE3"/>
            </a:solidFill>
            <a:prstDash val="solid"/>
          </a:ln>
        </p:spPr>
        <p:txBody>
          <a:bodyPr/>
          <a:lstStyle/>
          <a:p>
            <a:endParaRPr lang="en-PK"/>
          </a:p>
        </p:txBody>
      </p:sp>
      <p:sp>
        <p:nvSpPr>
          <p:cNvPr id="8" name="Text 6"/>
          <p:cNvSpPr txBox="1"/>
          <p:nvPr/>
        </p:nvSpPr>
        <p:spPr>
          <a:xfrm>
            <a:off x="566928" y="6510528"/>
            <a:ext cx="5943600" cy="237744"/>
          </a:xfrm>
          <a:prstGeom prst="rect">
            <a:avLst/>
          </a:prstGeom>
          <a:noFill/>
          <a:ln/>
        </p:spPr>
        <p:txBody>
          <a:bodyPr wrap="square" lIns="0" tIns="0" rIns="0" bIns="0" rtlCol="0" anchor="ctr"/>
          <a:lstStyle/>
          <a:p>
            <a:pPr marL="0" indent="0">
              <a:buNone/>
            </a:pPr>
            <a:r>
              <a:rPr lang="en-US" sz="1300" kern="0" spc="50" dirty="0">
                <a:solidFill>
                  <a:srgbClr val="8B92A2"/>
                </a:solidFill>
                <a:latin typeface="Consolas" pitchFamily="34" charset="0"/>
                <a:ea typeface="Consolas" pitchFamily="34" charset="-122"/>
                <a:cs typeface="Consolas" pitchFamily="34" charset="-120"/>
              </a:rPr>
              <a:t>F26-060-GRANITE  ·  PROPOSAL DEFENSE  ·  STREAM A</a:t>
            </a:r>
            <a:endParaRPr lang="en-US" sz="130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marL="0" indent="0" algn="r">
              <a:buNone/>
            </a:pPr>
            <a:r>
              <a:rPr lang="en-US" sz="1300" b="1" dirty="0">
                <a:solidFill>
                  <a:srgbClr val="8E6A1F"/>
                </a:solidFill>
                <a:latin typeface="Consolas" pitchFamily="34" charset="0"/>
                <a:ea typeface="Consolas" pitchFamily="34" charset="-122"/>
                <a:cs typeface="Consolas" pitchFamily="34" charset="-120"/>
              </a:rPr>
              <a:t>3 / 11</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335024"/>
          <a:ext cx="11039551" cy="3639314"/>
        </p:xfrm>
        <a:graphic>
          <a:graphicData uri="http://schemas.openxmlformats.org/drawingml/2006/table">
            <a:tbl>
              <a:tblPr/>
              <a:tblGrid>
                <a:gridCol w="210312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gridCol w="2352751">
                  <a:extLst>
                    <a:ext uri="{9D8B030D-6E8A-4147-A177-3AD203B41FA5}">
                      <a16:colId xmlns:a16="http://schemas.microsoft.com/office/drawing/2014/main" val="20004"/>
                    </a:ext>
                  </a:extLst>
                </a:gridCol>
              </a:tblGrid>
              <a:tr h="519902">
                <a:tc>
                  <a:txBody>
                    <a:bodyPr/>
                    <a:lstStyle/>
                    <a:p>
                      <a:pPr marL="0" indent="0" algn="ctr">
                        <a:buNone/>
                      </a:pP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c>
                  <a:txBody>
                    <a:bodyPr/>
                    <a:lstStyle/>
                    <a:p>
                      <a:pPr marL="0" indent="0" algn="ctr">
                        <a:buNone/>
                      </a:pPr>
                      <a:r>
                        <a:rPr lang="en-US" sz="1400" b="1" dirty="0">
                          <a:solidFill>
                            <a:srgbClr val="F5F6F8"/>
                          </a:solidFill>
                          <a:latin typeface="Calibri" pitchFamily="34" charset="0"/>
                          <a:ea typeface="Calibri" pitchFamily="34" charset="-122"/>
                          <a:cs typeface="Calibri" pitchFamily="34" charset="-120"/>
                        </a:rPr>
                        <a:t>Step-level attribution</a:t>
                      </a:r>
                      <a:endParaRPr lang="en-US" sz="1400" dirty="0">
                        <a:latin typeface="Calibri" charset="0"/>
                        <a:ea typeface="Calibri" charset="0"/>
                        <a:cs typeface="Calibri" charset="0"/>
                      </a:endParaRPr>
                    </a:p>
                    <a:p>
                      <a:pPr marL="0" indent="0" algn="ctr">
                        <a:buNone/>
                      </a:pPr>
                      <a:r>
                        <a:rPr lang="en-US" sz="1400" b="1" dirty="0">
                          <a:solidFill>
                            <a:srgbClr val="F5F6F8"/>
                          </a:solidFill>
                          <a:latin typeface="Calibri" pitchFamily="34" charset="0"/>
                          <a:ea typeface="Calibri" pitchFamily="34" charset="-122"/>
                          <a:cs typeface="Calibri" pitchFamily="34" charset="-120"/>
                        </a:rPr>
                        <a:t>(published accuracy)</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c>
                  <a:txBody>
                    <a:bodyPr/>
                    <a:lstStyle/>
                    <a:p>
                      <a:pPr marL="0" indent="0" algn="ctr">
                        <a:buNone/>
                      </a:pPr>
                      <a:r>
                        <a:rPr lang="en-US" sz="1400" b="1" dirty="0">
                          <a:solidFill>
                            <a:srgbClr val="F5F6F8"/>
                          </a:solidFill>
                          <a:latin typeface="Calibri" pitchFamily="34" charset="0"/>
                          <a:ea typeface="Calibri" pitchFamily="34" charset="-122"/>
                          <a:cs typeface="Calibri" pitchFamily="34" charset="-120"/>
                        </a:rPr>
                        <a:t>Silent-failure</a:t>
                      </a:r>
                      <a:endParaRPr lang="en-US" sz="1400" dirty="0">
                        <a:latin typeface="Calibri" charset="0"/>
                        <a:ea typeface="Calibri" charset="0"/>
                        <a:cs typeface="Calibri" charset="0"/>
                      </a:endParaRPr>
                    </a:p>
                    <a:p>
                      <a:pPr marL="0" indent="0" algn="ctr">
                        <a:buNone/>
                      </a:pPr>
                      <a:r>
                        <a:rPr lang="en-US" sz="1400" b="1" dirty="0">
                          <a:solidFill>
                            <a:srgbClr val="F5F6F8"/>
                          </a:solidFill>
                          <a:latin typeface="Calibri" pitchFamily="34" charset="0"/>
                          <a:ea typeface="Calibri" pitchFamily="34" charset="-122"/>
                          <a:cs typeface="Calibri" pitchFamily="34" charset="-120"/>
                        </a:rPr>
                        <a:t>detection</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c>
                  <a:txBody>
                    <a:bodyPr/>
                    <a:lstStyle/>
                    <a:p>
                      <a:pPr marL="0" indent="0" algn="ctr">
                        <a:buNone/>
                      </a:pPr>
                      <a:r>
                        <a:rPr lang="en-US" sz="1400" b="1" dirty="0">
                          <a:solidFill>
                            <a:srgbClr val="F5F6F8"/>
                          </a:solidFill>
                          <a:latin typeface="Calibri" pitchFamily="34" charset="0"/>
                          <a:ea typeface="Calibri" pitchFamily="34" charset="-122"/>
                          <a:cs typeface="Calibri" pitchFamily="34" charset="-120"/>
                        </a:rPr>
                        <a:t>Counterfactual fix-</a:t>
                      </a:r>
                      <a:endParaRPr lang="en-US" sz="1400" dirty="0">
                        <a:latin typeface="Calibri" charset="0"/>
                        <a:ea typeface="Calibri" charset="0"/>
                        <a:cs typeface="Calibri" charset="0"/>
                      </a:endParaRPr>
                    </a:p>
                    <a:p>
                      <a:pPr marL="0" indent="0" algn="ctr">
                        <a:buNone/>
                      </a:pPr>
                      <a:r>
                        <a:rPr lang="en-US" sz="1400" b="1" dirty="0">
                          <a:solidFill>
                            <a:srgbClr val="F5F6F8"/>
                          </a:solidFill>
                          <a:latin typeface="Calibri" pitchFamily="34" charset="0"/>
                          <a:ea typeface="Calibri" pitchFamily="34" charset="-122"/>
                          <a:cs typeface="Calibri" pitchFamily="34" charset="-120"/>
                        </a:rPr>
                        <a:t>testing, measured</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c>
                  <a:txBody>
                    <a:bodyPr/>
                    <a:lstStyle/>
                    <a:p>
                      <a:pPr marL="0" indent="0" algn="ctr">
                        <a:buNone/>
                      </a:pPr>
                      <a:r>
                        <a:rPr lang="en-US" sz="1400" b="1" dirty="0">
                          <a:solidFill>
                            <a:srgbClr val="F5F6F8"/>
                          </a:solidFill>
                          <a:latin typeface="Calibri" pitchFamily="34" charset="0"/>
                          <a:ea typeface="Calibri" pitchFamily="34" charset="-122"/>
                          <a:cs typeface="Calibri" pitchFamily="34" charset="-120"/>
                        </a:rPr>
                        <a:t>Framework-</a:t>
                      </a:r>
                      <a:endParaRPr lang="en-US" sz="1400" dirty="0">
                        <a:latin typeface="Calibri" charset="0"/>
                        <a:ea typeface="Calibri" charset="0"/>
                        <a:cs typeface="Calibri" charset="0"/>
                      </a:endParaRPr>
                    </a:p>
                    <a:p>
                      <a:pPr marL="0" indent="0" algn="ctr">
                        <a:buNone/>
                      </a:pPr>
                      <a:r>
                        <a:rPr lang="en-US" sz="1400" b="1" dirty="0">
                          <a:solidFill>
                            <a:srgbClr val="F5F6F8"/>
                          </a:solidFill>
                          <a:latin typeface="Calibri" pitchFamily="34" charset="0"/>
                          <a:ea typeface="Calibri" pitchFamily="34" charset="-122"/>
                          <a:cs typeface="Calibri" pitchFamily="34" charset="-120"/>
                        </a:rPr>
                        <a:t>agnostic</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extLst>
                  <a:ext uri="{0D108BD9-81ED-4DB2-BD59-A6C34878D82A}">
                    <a16:rowId xmlns:a16="http://schemas.microsoft.com/office/drawing/2014/main" val="10000"/>
                  </a:ext>
                </a:extLst>
              </a:tr>
              <a:tr h="519902">
                <a:tc>
                  <a:txBody>
                    <a:bodyPr/>
                    <a:lstStyle/>
                    <a:p>
                      <a:pPr marL="0" indent="0" algn="l">
                        <a:buNone/>
                      </a:pPr>
                      <a:r>
                        <a:rPr lang="en-US" sz="1400" b="1" dirty="0">
                          <a:solidFill>
                            <a:srgbClr val="1B202A"/>
                          </a:solidFill>
                          <a:latin typeface="Calibri" pitchFamily="34" charset="0"/>
                          <a:ea typeface="Calibri" pitchFamily="34" charset="-122"/>
                          <a:cs typeface="Calibri" pitchFamily="34" charset="-120"/>
                        </a:rPr>
                        <a:t>ErrorProbe</a:t>
                      </a:r>
                      <a:endParaRPr lang="en-US" sz="1400" dirty="0">
                        <a:latin typeface="Calibri" charset="0"/>
                        <a:ea typeface="Calibri" charset="0"/>
                        <a:cs typeface="Calibri" charset="0"/>
                      </a:endParaRPr>
                    </a:p>
                    <a:p>
                      <a:pPr marL="0" indent="0" algn="l">
                        <a:buNone/>
                      </a:pPr>
                      <a:r>
                        <a:rPr lang="en-US" sz="1400" b="1" dirty="0">
                          <a:solidFill>
                            <a:srgbClr val="1B202A"/>
                          </a:solidFill>
                          <a:latin typeface="Calibri" pitchFamily="34" charset="0"/>
                          <a:ea typeface="Calibri" pitchFamily="34" charset="-122"/>
                          <a:cs typeface="Calibri" pitchFamily="34" charset="-120"/>
                        </a:rPr>
                        <a:t>(ACL 2026)</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59.5%</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 admits</a:t>
                      </a:r>
                      <a:endParaRPr lang="en-US" sz="1400" dirty="0">
                        <a:latin typeface="Calibri" charset="0"/>
                        <a:ea typeface="Calibri" charset="0"/>
                        <a:cs typeface="Calibri" charset="0"/>
                      </a:endParaRPr>
                    </a:p>
                    <a:p>
                      <a:pPr marL="0" indent="0" algn="ctr">
                        <a:buNone/>
                      </a:pPr>
                      <a:r>
                        <a:rPr lang="en-US" sz="1400" dirty="0">
                          <a:solidFill>
                            <a:srgbClr val="1B202A"/>
                          </a:solidFill>
                          <a:latin typeface="Calibri" pitchFamily="34" charset="0"/>
                          <a:ea typeface="Calibri" pitchFamily="34" charset="-122"/>
                          <a:cs typeface="Calibri" pitchFamily="34" charset="-120"/>
                        </a:rPr>
                        <a:t>it cannot</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 2 archs only</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extLst>
                  <a:ext uri="{0D108BD9-81ED-4DB2-BD59-A6C34878D82A}">
                    <a16:rowId xmlns:a16="http://schemas.microsoft.com/office/drawing/2014/main" val="10001"/>
                  </a:ext>
                </a:extLst>
              </a:tr>
              <a:tr h="519902">
                <a:tc>
                  <a:txBody>
                    <a:bodyPr/>
                    <a:lstStyle/>
                    <a:p>
                      <a:pPr marL="0" indent="0" algn="l">
                        <a:buNone/>
                      </a:pPr>
                      <a:r>
                        <a:rPr lang="en-US" sz="1400" b="1" dirty="0">
                          <a:solidFill>
                            <a:srgbClr val="1B202A"/>
                          </a:solidFill>
                          <a:latin typeface="Calibri" pitchFamily="34" charset="0"/>
                          <a:ea typeface="Calibri" pitchFamily="34" charset="-122"/>
                          <a:cs typeface="Calibri" pitchFamily="34" charset="-120"/>
                        </a:rPr>
                        <a:t>LangSmith Engine /</a:t>
                      </a:r>
                      <a:endParaRPr lang="en-US" sz="1400" dirty="0">
                        <a:latin typeface="Calibri" charset="0"/>
                        <a:ea typeface="Calibri" charset="0"/>
                        <a:cs typeface="Calibri" charset="0"/>
                      </a:endParaRPr>
                    </a:p>
                    <a:p>
                      <a:pPr marL="0" indent="0" algn="l">
                        <a:buNone/>
                      </a:pPr>
                      <a:r>
                        <a:rPr lang="en-US" sz="1400" b="1" dirty="0">
                          <a:solidFill>
                            <a:srgbClr val="1B202A"/>
                          </a:solidFill>
                          <a:latin typeface="Calibri" pitchFamily="34" charset="0"/>
                          <a:ea typeface="Calibri" pitchFamily="34" charset="-122"/>
                          <a:cs typeface="Calibri" pitchFamily="34" charset="-120"/>
                        </a:rPr>
                        <a:t>Arize Alyx (2026)</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not published</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 stack-locked</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extLst>
                  <a:ext uri="{0D108BD9-81ED-4DB2-BD59-A6C34878D82A}">
                    <a16:rowId xmlns:a16="http://schemas.microsoft.com/office/drawing/2014/main" val="10002"/>
                  </a:ext>
                </a:extLst>
              </a:tr>
              <a:tr h="519902">
                <a:tc>
                  <a:txBody>
                    <a:bodyPr/>
                    <a:lstStyle/>
                    <a:p>
                      <a:pPr marL="0" indent="0" algn="l">
                        <a:buNone/>
                      </a:pPr>
                      <a:r>
                        <a:rPr lang="en-US" sz="1400" b="1" dirty="0">
                          <a:solidFill>
                            <a:srgbClr val="1B202A"/>
                          </a:solidFill>
                          <a:latin typeface="Calibri" pitchFamily="34" charset="0"/>
                          <a:ea typeface="Calibri" pitchFamily="34" charset="-122"/>
                          <a:cs typeface="Calibri" pitchFamily="34" charset="-120"/>
                        </a:rPr>
                        <a:t>Langfuse / Braintrust /</a:t>
                      </a:r>
                      <a:endParaRPr lang="en-US" sz="1400" dirty="0">
                        <a:latin typeface="Calibri" charset="0"/>
                        <a:ea typeface="Calibri" charset="0"/>
                        <a:cs typeface="Calibri" charset="0"/>
                      </a:endParaRPr>
                    </a:p>
                    <a:p>
                      <a:pPr marL="0" indent="0" algn="l">
                        <a:buNone/>
                      </a:pPr>
                      <a:r>
                        <a:rPr lang="en-US" sz="1400" b="1" dirty="0">
                          <a:solidFill>
                            <a:srgbClr val="1B202A"/>
                          </a:solidFill>
                          <a:latin typeface="Calibri" pitchFamily="34" charset="0"/>
                          <a:ea typeface="Calibri" pitchFamily="34" charset="-122"/>
                          <a:cs typeface="Calibri" pitchFamily="34" charset="-120"/>
                        </a:rPr>
                        <a:t>Phoenix / Maxim / Opik</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human-driven</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RAG only</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extLst>
                  <a:ext uri="{0D108BD9-81ED-4DB2-BD59-A6C34878D82A}">
                    <a16:rowId xmlns:a16="http://schemas.microsoft.com/office/drawing/2014/main" val="10003"/>
                  </a:ext>
                </a:extLst>
              </a:tr>
              <a:tr h="519902">
                <a:tc>
                  <a:txBody>
                    <a:bodyPr/>
                    <a:lstStyle/>
                    <a:p>
                      <a:pPr marL="0" indent="0" algn="l">
                        <a:buNone/>
                      </a:pPr>
                      <a:r>
                        <a:rPr lang="en-US" sz="1400" b="1" dirty="0">
                          <a:solidFill>
                            <a:srgbClr val="1B202A"/>
                          </a:solidFill>
                          <a:latin typeface="Calibri" pitchFamily="34" charset="0"/>
                          <a:ea typeface="Calibri" pitchFamily="34" charset="-122"/>
                          <a:cs typeface="Calibri" pitchFamily="34" charset="-120"/>
                        </a:rPr>
                        <a:t>Closest prior FYP</a:t>
                      </a:r>
                      <a:endParaRPr lang="en-US" sz="1400" dirty="0">
                        <a:latin typeface="Calibri" charset="0"/>
                        <a:ea typeface="Calibri" charset="0"/>
                        <a:cs typeface="Calibri" charset="0"/>
                      </a:endParaRPr>
                    </a:p>
                    <a:p>
                      <a:pPr marL="0" indent="0" algn="l">
                        <a:buNone/>
                      </a:pPr>
                      <a:r>
                        <a:rPr lang="en-US" sz="1400" b="1" dirty="0">
                          <a:solidFill>
                            <a:srgbClr val="1B202A"/>
                          </a:solidFill>
                          <a:latin typeface="Calibri" pitchFamily="34" charset="0"/>
                          <a:ea typeface="Calibri" pitchFamily="34" charset="-122"/>
                          <a:cs typeface="Calibri" pitchFamily="34" charset="-120"/>
                        </a:rPr>
                        <a:t>S24-011-D-HDLM</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6F1EB"/>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 none</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6F1EB"/>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partial — text only</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6F1EB"/>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 no replay step</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6F1EB"/>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N/A — single LLM</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6F1EB"/>
                    </a:solidFill>
                  </a:tcPr>
                </a:tc>
                <a:extLst>
                  <a:ext uri="{0D108BD9-81ED-4DB2-BD59-A6C34878D82A}">
                    <a16:rowId xmlns:a16="http://schemas.microsoft.com/office/drawing/2014/main" val="10004"/>
                  </a:ext>
                </a:extLst>
              </a:tr>
              <a:tr h="519902">
                <a:tc>
                  <a:txBody>
                    <a:bodyPr/>
                    <a:lstStyle/>
                    <a:p>
                      <a:pPr marL="0" indent="0" algn="l">
                        <a:buNone/>
                      </a:pPr>
                      <a:r>
                        <a:rPr lang="en-US" sz="1400" b="1" dirty="0">
                          <a:solidFill>
                            <a:srgbClr val="1B202A"/>
                          </a:solidFill>
                          <a:latin typeface="Calibri" pitchFamily="34" charset="0"/>
                          <a:ea typeface="Calibri" pitchFamily="34" charset="-122"/>
                          <a:cs typeface="Calibri" pitchFamily="34" charset="-120"/>
                        </a:rPr>
                        <a:t>Current manual</a:t>
                      </a:r>
                      <a:endParaRPr lang="en-US" sz="1400" dirty="0">
                        <a:latin typeface="Calibri" charset="0"/>
                        <a:ea typeface="Calibri" charset="0"/>
                        <a:cs typeface="Calibri" charset="0"/>
                      </a:endParaRPr>
                    </a:p>
                    <a:p>
                      <a:pPr marL="0" indent="0" algn="l">
                        <a:buNone/>
                      </a:pPr>
                      <a:r>
                        <a:rPr lang="en-US" sz="1400" b="1" dirty="0">
                          <a:solidFill>
                            <a:srgbClr val="1B202A"/>
                          </a:solidFill>
                          <a:latin typeface="Calibri" pitchFamily="34" charset="0"/>
                          <a:ea typeface="Calibri" pitchFamily="34" charset="-122"/>
                          <a:cs typeface="Calibri" pitchFamily="34" charset="-120"/>
                        </a:rPr>
                        <a:t>workflow</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14.2%</a:t>
                      </a:r>
                      <a:endParaRPr lang="en-US" sz="1400" dirty="0">
                        <a:latin typeface="Calibri" charset="0"/>
                        <a:ea typeface="Calibri" charset="0"/>
                        <a:cs typeface="Calibri" charset="0"/>
                      </a:endParaRPr>
                    </a:p>
                    <a:p>
                      <a:pPr marL="0" indent="0" algn="ctr">
                        <a:buNone/>
                      </a:pPr>
                      <a:r>
                        <a:rPr lang="en-US" sz="1400" dirty="0">
                          <a:solidFill>
                            <a:srgbClr val="1B202A"/>
                          </a:solidFill>
                          <a:latin typeface="Calibri" pitchFamily="34" charset="0"/>
                          <a:ea typeface="Calibri" pitchFamily="34" charset="-122"/>
                          <a:cs typeface="Calibri" pitchFamily="34" charset="-120"/>
                        </a:rPr>
                        <a:t>(Who&amp;When)</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ctr">
                        <a:buNone/>
                      </a:pPr>
                      <a:r>
                        <a:rPr lang="en-US" sz="1400" dirty="0">
                          <a:solidFill>
                            <a:srgbClr val="1B202A"/>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extLst>
                  <a:ext uri="{0D108BD9-81ED-4DB2-BD59-A6C34878D82A}">
                    <a16:rowId xmlns:a16="http://schemas.microsoft.com/office/drawing/2014/main" val="10005"/>
                  </a:ext>
                </a:extLst>
              </a:tr>
              <a:tr h="519902">
                <a:tc>
                  <a:txBody>
                    <a:bodyPr/>
                    <a:lstStyle/>
                    <a:p>
                      <a:pPr marL="0" indent="0" algn="l">
                        <a:buNone/>
                      </a:pPr>
                      <a:r>
                        <a:rPr lang="en-US" sz="1400" b="1" dirty="0">
                          <a:solidFill>
                            <a:srgbClr val="1B202A"/>
                          </a:solidFill>
                          <a:latin typeface="Calibri" pitchFamily="34" charset="0"/>
                          <a:ea typeface="Calibri" pitchFamily="34" charset="-122"/>
                          <a:cs typeface="Calibri" pitchFamily="34" charset="-120"/>
                        </a:rPr>
                        <a:t>Granite</a:t>
                      </a:r>
                      <a:endParaRPr lang="en-US" sz="1400" dirty="0">
                        <a:latin typeface="Calibri" charset="0"/>
                        <a:ea typeface="Calibri" charset="0"/>
                        <a:cs typeface="Calibri" charset="0"/>
                      </a:endParaRPr>
                    </a:p>
                    <a:p>
                      <a:pPr marL="0" indent="0" algn="l">
                        <a:buNone/>
                      </a:pPr>
                      <a:r>
                        <a:rPr lang="en-US" sz="1400" b="1" dirty="0">
                          <a:solidFill>
                            <a:srgbClr val="1B202A"/>
                          </a:solidFill>
                          <a:latin typeface="Calibri" pitchFamily="34" charset="0"/>
                          <a:ea typeface="Calibri" pitchFamily="34" charset="-122"/>
                          <a:cs typeface="Calibri" pitchFamily="34" charset="-120"/>
                        </a:rPr>
                        <a:t>(proposed)</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EFF1"/>
                    </a:solidFill>
                  </a:tcPr>
                </a:tc>
                <a:tc>
                  <a:txBody>
                    <a:bodyPr/>
                    <a:lstStyle/>
                    <a:p>
                      <a:pPr marL="0" indent="0" algn="ctr">
                        <a:buNone/>
                      </a:pPr>
                      <a:r>
                        <a:rPr lang="en-US" sz="1400" b="1" dirty="0">
                          <a:solidFill>
                            <a:srgbClr val="1B202A"/>
                          </a:solidFill>
                          <a:latin typeface="Calibri" pitchFamily="34" charset="0"/>
                          <a:ea typeface="Calibri" pitchFamily="34" charset="-122"/>
                          <a:cs typeface="Calibri" pitchFamily="34" charset="-120"/>
                        </a:rPr>
                        <a:t>building on</a:t>
                      </a:r>
                      <a:endParaRPr lang="en-US" sz="1400" dirty="0">
                        <a:latin typeface="Calibri" charset="0"/>
                        <a:ea typeface="Calibri" charset="0"/>
                        <a:cs typeface="Calibri" charset="0"/>
                      </a:endParaRPr>
                    </a:p>
                    <a:p>
                      <a:pPr marL="0" indent="0" algn="ctr">
                        <a:buNone/>
                      </a:pPr>
                      <a:r>
                        <a:rPr lang="en-US" sz="1400" b="1" dirty="0">
                          <a:solidFill>
                            <a:srgbClr val="1B202A"/>
                          </a:solidFill>
                          <a:latin typeface="Calibri" pitchFamily="34" charset="0"/>
                          <a:ea typeface="Calibri" pitchFamily="34" charset="-122"/>
                          <a:cs typeface="Calibri" pitchFamily="34" charset="-120"/>
                        </a:rPr>
                        <a:t>ErrorProbe</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EFF1"/>
                    </a:solidFill>
                  </a:tcPr>
                </a:tc>
                <a:tc>
                  <a:txBody>
                    <a:bodyPr/>
                    <a:lstStyle/>
                    <a:p>
                      <a:pPr marL="0" indent="0" algn="ctr">
                        <a:buNone/>
                      </a:pPr>
                      <a:r>
                        <a:rPr lang="en-US" sz="1400" b="1" dirty="0">
                          <a:solidFill>
                            <a:srgbClr val="1B202A"/>
                          </a:solidFill>
                          <a:latin typeface="Calibri" pitchFamily="34" charset="0"/>
                          <a:ea typeface="Calibri" pitchFamily="34" charset="-122"/>
                          <a:cs typeface="Calibri" pitchFamily="34" charset="-120"/>
                        </a:rPr>
                        <a:t>✓ scoped &amp;</a:t>
                      </a:r>
                      <a:endParaRPr lang="en-US" sz="1400" dirty="0">
                        <a:latin typeface="Calibri" charset="0"/>
                        <a:ea typeface="Calibri" charset="0"/>
                        <a:cs typeface="Calibri" charset="0"/>
                      </a:endParaRPr>
                    </a:p>
                    <a:p>
                      <a:pPr marL="0" indent="0" algn="ctr">
                        <a:buNone/>
                      </a:pPr>
                      <a:r>
                        <a:rPr lang="en-US" sz="1400" b="1" dirty="0">
                          <a:solidFill>
                            <a:srgbClr val="1B202A"/>
                          </a:solidFill>
                          <a:latin typeface="Calibri" pitchFamily="34" charset="0"/>
                          <a:ea typeface="Calibri" pitchFamily="34" charset="-122"/>
                          <a:cs typeface="Calibri" pitchFamily="34" charset="-120"/>
                        </a:rPr>
                        <a:t>measured</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EFF1"/>
                    </a:solidFill>
                  </a:tcPr>
                </a:tc>
                <a:tc>
                  <a:txBody>
                    <a:bodyPr/>
                    <a:lstStyle/>
                    <a:p>
                      <a:pPr marL="0" indent="0" algn="ctr">
                        <a:buNone/>
                      </a:pPr>
                      <a:r>
                        <a:rPr lang="en-US" sz="1400" b="1" dirty="0">
                          <a:solidFill>
                            <a:srgbClr val="1B202A"/>
                          </a:solidFill>
                          <a:latin typeface="Calibri" pitchFamily="34" charset="0"/>
                          <a:ea typeface="Calibri" pitchFamily="34" charset="-122"/>
                          <a:cs typeface="Calibri" pitchFamily="34" charset="-120"/>
                        </a:rPr>
                        <a:t>✓ recovery rate</a:t>
                      </a:r>
                      <a:endParaRPr lang="en-US" sz="1400" dirty="0">
                        <a:latin typeface="Calibri" charset="0"/>
                        <a:ea typeface="Calibri" charset="0"/>
                        <a:cs typeface="Calibri" charset="0"/>
                      </a:endParaRPr>
                    </a:p>
                    <a:p>
                      <a:pPr marL="0" indent="0" algn="ctr">
                        <a:buNone/>
                      </a:pPr>
                      <a:r>
                        <a:rPr lang="en-US" sz="1400" b="1" dirty="0">
                          <a:solidFill>
                            <a:srgbClr val="1B202A"/>
                          </a:solidFill>
                          <a:latin typeface="Calibri" pitchFamily="34" charset="0"/>
                          <a:ea typeface="Calibri" pitchFamily="34" charset="-122"/>
                          <a:cs typeface="Calibri" pitchFamily="34" charset="-120"/>
                        </a:rPr>
                        <a:t>measured</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EFF1"/>
                    </a:solidFill>
                  </a:tcPr>
                </a:tc>
                <a:tc>
                  <a:txBody>
                    <a:bodyPr/>
                    <a:lstStyle/>
                    <a:p>
                      <a:pPr marL="0" indent="0" algn="ctr">
                        <a:buNone/>
                      </a:pPr>
                      <a:r>
                        <a:rPr lang="en-US" sz="1400" b="1" dirty="0">
                          <a:solidFill>
                            <a:srgbClr val="1B202A"/>
                          </a:solidFill>
                          <a:latin typeface="Calibri" pitchFamily="34" charset="0"/>
                          <a:ea typeface="Calibri" pitchFamily="34" charset="-122"/>
                          <a:cs typeface="Calibri" pitchFamily="34" charset="-120"/>
                        </a:rPr>
                        <a:t>✓ CrewAI +</a:t>
                      </a:r>
                      <a:endParaRPr lang="en-US" sz="1400" dirty="0">
                        <a:latin typeface="Calibri" charset="0"/>
                        <a:ea typeface="Calibri" charset="0"/>
                        <a:cs typeface="Calibri" charset="0"/>
                      </a:endParaRPr>
                    </a:p>
                    <a:p>
                      <a:pPr marL="0" indent="0" algn="ctr">
                        <a:buNone/>
                      </a:pPr>
                      <a:r>
                        <a:rPr lang="en-US" sz="1400" b="1" dirty="0">
                          <a:solidFill>
                            <a:srgbClr val="1B202A"/>
                          </a:solidFill>
                          <a:latin typeface="Calibri" pitchFamily="34" charset="0"/>
                          <a:ea typeface="Calibri" pitchFamily="34" charset="-122"/>
                          <a:cs typeface="Calibri" pitchFamily="34" charset="-120"/>
                        </a:rPr>
                        <a:t>LangGraph</a:t>
                      </a:r>
                      <a:endParaRPr lang="en-US" sz="140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E3EFF1"/>
                    </a:solidFill>
                  </a:tcPr>
                </a:tc>
                <a:extLst>
                  <a:ext uri="{0D108BD9-81ED-4DB2-BD59-A6C34878D82A}">
                    <a16:rowId xmlns:a16="http://schemas.microsoft.com/office/drawing/2014/main" val="10006"/>
                  </a:ext>
                </a:extLst>
              </a:tr>
            </a:tbl>
          </a:graphicData>
        </a:graphic>
      </p:graphicFrame>
      <p:sp>
        <p:nvSpPr>
          <p:cNvPr id="11" name="Shape 8"/>
          <p:cNvSpPr/>
          <p:nvPr/>
        </p:nvSpPr>
        <p:spPr>
          <a:xfrm>
            <a:off x="587045" y="5073091"/>
            <a:ext cx="5532120" cy="1298448"/>
          </a:xfrm>
          <a:prstGeom prst="roundRect">
            <a:avLst>
              <a:gd name="adj" fmla="val 4225"/>
            </a:avLst>
          </a:prstGeom>
          <a:solidFill>
            <a:srgbClr val="E4E6EB"/>
          </a:solidFill>
          <a:ln/>
        </p:spPr>
        <p:txBody>
          <a:bodyPr/>
          <a:lstStyle/>
          <a:p>
            <a:endParaRPr lang="en-PK"/>
          </a:p>
        </p:txBody>
      </p:sp>
      <p:sp>
        <p:nvSpPr>
          <p:cNvPr id="12" name="Shape 9"/>
          <p:cNvSpPr/>
          <p:nvPr/>
        </p:nvSpPr>
        <p:spPr>
          <a:xfrm>
            <a:off x="566928" y="5047488"/>
            <a:ext cx="5532120" cy="1298448"/>
          </a:xfrm>
          <a:prstGeom prst="roundRect">
            <a:avLst>
              <a:gd name="adj" fmla="val 4225"/>
            </a:avLst>
          </a:prstGeom>
          <a:solidFill>
            <a:srgbClr val="E6F1EB"/>
          </a:solidFill>
          <a:ln w="9525">
            <a:solidFill>
              <a:srgbClr val="D9DCE3"/>
            </a:solidFill>
            <a:prstDash val="solid"/>
          </a:ln>
        </p:spPr>
        <p:txBody>
          <a:bodyPr/>
          <a:lstStyle/>
          <a:p>
            <a:endParaRPr lang="en-PK"/>
          </a:p>
        </p:txBody>
      </p:sp>
      <p:sp>
        <p:nvSpPr>
          <p:cNvPr id="13" name="Shape 10"/>
          <p:cNvSpPr/>
          <p:nvPr/>
        </p:nvSpPr>
        <p:spPr>
          <a:xfrm>
            <a:off x="566928" y="5102352"/>
            <a:ext cx="41148" cy="1188720"/>
          </a:xfrm>
          <a:prstGeom prst="rect">
            <a:avLst/>
          </a:prstGeom>
          <a:solidFill>
            <a:srgbClr val="1E7A52"/>
          </a:solidFill>
          <a:ln/>
        </p:spPr>
        <p:txBody>
          <a:bodyPr/>
          <a:lstStyle/>
          <a:p>
            <a:endParaRPr lang="en-PK"/>
          </a:p>
        </p:txBody>
      </p:sp>
      <p:sp>
        <p:nvSpPr>
          <p:cNvPr id="14" name="Text 11"/>
          <p:cNvSpPr txBox="1"/>
          <p:nvPr/>
        </p:nvSpPr>
        <p:spPr>
          <a:xfrm>
            <a:off x="768096" y="5138928"/>
            <a:ext cx="5120640" cy="310896"/>
          </a:xfrm>
          <a:prstGeom prst="rect">
            <a:avLst/>
          </a:prstGeom>
          <a:noFill/>
          <a:ln/>
        </p:spPr>
        <p:txBody>
          <a:bodyPr wrap="square" lIns="0" tIns="0" rIns="0" bIns="0" rtlCol="0" anchor="ctr"/>
          <a:lstStyle/>
          <a:p>
            <a:pPr marL="0" indent="0">
              <a:buNone/>
            </a:pPr>
            <a:r>
              <a:rPr lang="en-US" sz="1800" b="1" kern="0" spc="60" dirty="0">
                <a:solidFill>
                  <a:srgbClr val="1E7A52"/>
                </a:solidFill>
                <a:latin typeface="Consolas" pitchFamily="34" charset="0"/>
                <a:ea typeface="Consolas" pitchFamily="34" charset="-122"/>
                <a:cs typeface="Consolas" pitchFamily="34" charset="-120"/>
              </a:rPr>
              <a:t>PRIOR-FYP CHECK — CLOSED</a:t>
            </a:r>
            <a:endParaRPr lang="en-US" sz="1800" dirty="0"/>
          </a:p>
        </p:txBody>
      </p:sp>
      <p:sp>
        <p:nvSpPr>
          <p:cNvPr id="15" name="Text 12"/>
          <p:cNvSpPr txBox="1"/>
          <p:nvPr/>
        </p:nvSpPr>
        <p:spPr>
          <a:xfrm>
            <a:off x="768096" y="5486400"/>
            <a:ext cx="5166360" cy="804672"/>
          </a:xfrm>
          <a:prstGeom prst="rect">
            <a:avLst/>
          </a:prstGeom>
          <a:noFill/>
          <a:ln/>
        </p:spPr>
        <p:txBody>
          <a:bodyPr wrap="square" lIns="0" tIns="0" rIns="0" bIns="0" rtlCol="0" anchor="ctr"/>
          <a:lstStyle/>
          <a:p>
            <a:pPr marL="0" indent="0">
              <a:buNone/>
            </a:pPr>
            <a:r>
              <a:rPr lang="en-US" sz="1700" dirty="0">
                <a:solidFill>
                  <a:srgbClr val="1B202A"/>
                </a:solidFill>
                <a:latin typeface="Calibri" pitchFamily="34" charset="0"/>
                <a:ea typeface="Calibri" pitchFamily="34" charset="-122"/>
                <a:cs typeface="Calibri" pitchFamily="34" charset="-120"/>
              </a:rPr>
              <a:t>660 titles, 12 cohorts since 2019. Closest: </a:t>
            </a:r>
            <a:r>
              <a:rPr lang="en-US" sz="1700" b="1" dirty="0">
                <a:solidFill>
                  <a:srgbClr val="1E7A52"/>
                </a:solidFill>
                <a:latin typeface="Calibri" pitchFamily="34" charset="0"/>
                <a:ea typeface="Calibri" pitchFamily="34" charset="-122"/>
                <a:cs typeface="Calibri" pitchFamily="34" charset="-120"/>
              </a:rPr>
              <a:t>S24-011-D-HDLM</a:t>
            </a:r>
            <a:r>
              <a:rPr lang="en-US" sz="1700" dirty="0">
                <a:solidFill>
                  <a:srgbClr val="1B202A"/>
                </a:solidFill>
                <a:latin typeface="Calibri" pitchFamily="34" charset="0"/>
                <a:ea typeface="Calibri" pitchFamily="34" charset="-122"/>
                <a:cs typeface="Calibri" pitchFamily="34" charset="-120"/>
              </a:rPr>
              <a:t> — hallucination detection in single-LLM text, ~1 of our 4 stages.</a:t>
            </a:r>
            <a:endParaRPr lang="en-US" sz="1700" dirty="0"/>
          </a:p>
        </p:txBody>
      </p:sp>
      <p:sp>
        <p:nvSpPr>
          <p:cNvPr id="16" name="Shape 13"/>
          <p:cNvSpPr/>
          <p:nvPr/>
        </p:nvSpPr>
        <p:spPr>
          <a:xfrm>
            <a:off x="6302045" y="5073091"/>
            <a:ext cx="5342839" cy="1298448"/>
          </a:xfrm>
          <a:prstGeom prst="roundRect">
            <a:avLst>
              <a:gd name="adj" fmla="val 4225"/>
            </a:avLst>
          </a:prstGeom>
          <a:solidFill>
            <a:srgbClr val="E4E6EB"/>
          </a:solidFill>
          <a:ln/>
        </p:spPr>
        <p:txBody>
          <a:bodyPr/>
          <a:lstStyle/>
          <a:p>
            <a:endParaRPr lang="en-PK"/>
          </a:p>
        </p:txBody>
      </p:sp>
      <p:sp>
        <p:nvSpPr>
          <p:cNvPr id="17" name="Shape 14"/>
          <p:cNvSpPr/>
          <p:nvPr/>
        </p:nvSpPr>
        <p:spPr>
          <a:xfrm>
            <a:off x="6281928" y="5047488"/>
            <a:ext cx="5342839" cy="1298448"/>
          </a:xfrm>
          <a:prstGeom prst="roundRect">
            <a:avLst>
              <a:gd name="adj" fmla="val 4225"/>
            </a:avLst>
          </a:prstGeom>
          <a:solidFill>
            <a:srgbClr val="F7EFDC"/>
          </a:solidFill>
          <a:ln w="9525">
            <a:solidFill>
              <a:srgbClr val="D9DCE3"/>
            </a:solidFill>
            <a:prstDash val="solid"/>
          </a:ln>
        </p:spPr>
        <p:txBody>
          <a:bodyPr/>
          <a:lstStyle/>
          <a:p>
            <a:endParaRPr lang="en-PK"/>
          </a:p>
        </p:txBody>
      </p:sp>
      <p:sp>
        <p:nvSpPr>
          <p:cNvPr id="18" name="Shape 15"/>
          <p:cNvSpPr/>
          <p:nvPr/>
        </p:nvSpPr>
        <p:spPr>
          <a:xfrm>
            <a:off x="6281928" y="5102352"/>
            <a:ext cx="41148" cy="1188720"/>
          </a:xfrm>
          <a:prstGeom prst="rect">
            <a:avLst/>
          </a:prstGeom>
          <a:solidFill>
            <a:srgbClr val="A8760F"/>
          </a:solidFill>
          <a:ln/>
        </p:spPr>
        <p:txBody>
          <a:bodyPr/>
          <a:lstStyle/>
          <a:p>
            <a:endParaRPr lang="en-PK"/>
          </a:p>
        </p:txBody>
      </p:sp>
      <p:sp>
        <p:nvSpPr>
          <p:cNvPr id="19" name="Text 16"/>
          <p:cNvSpPr txBox="1"/>
          <p:nvPr/>
        </p:nvSpPr>
        <p:spPr>
          <a:xfrm>
            <a:off x="6483096" y="5138928"/>
            <a:ext cx="4937760" cy="310896"/>
          </a:xfrm>
          <a:prstGeom prst="rect">
            <a:avLst/>
          </a:prstGeom>
          <a:noFill/>
          <a:ln/>
        </p:spPr>
        <p:txBody>
          <a:bodyPr wrap="square" lIns="0" tIns="0" rIns="0" bIns="0" rtlCol="0" anchor="ctr"/>
          <a:lstStyle/>
          <a:p>
            <a:pPr marL="0" indent="0">
              <a:buNone/>
            </a:pPr>
            <a:r>
              <a:rPr lang="en-US" sz="1800" b="1" kern="0" spc="60" dirty="0">
                <a:solidFill>
                  <a:srgbClr val="A8760F"/>
                </a:solidFill>
                <a:latin typeface="Consolas" pitchFamily="34" charset="0"/>
                <a:ea typeface="Consolas" pitchFamily="34" charset="-122"/>
                <a:cs typeface="Consolas" pitchFamily="34" charset="-120"/>
              </a:rPr>
              <a:t>THE REAL GAP</a:t>
            </a:r>
            <a:endParaRPr lang="en-US" sz="1800" dirty="0"/>
          </a:p>
        </p:txBody>
      </p:sp>
      <p:sp>
        <p:nvSpPr>
          <p:cNvPr id="20" name="Text 17"/>
          <p:cNvSpPr txBox="1"/>
          <p:nvPr/>
        </p:nvSpPr>
        <p:spPr>
          <a:xfrm>
            <a:off x="6483096" y="5486400"/>
            <a:ext cx="4931359" cy="804672"/>
          </a:xfrm>
          <a:prstGeom prst="rect">
            <a:avLst/>
          </a:prstGeom>
          <a:noFill/>
          <a:ln/>
        </p:spPr>
        <p:txBody>
          <a:bodyPr wrap="square" lIns="0" tIns="0" rIns="0" bIns="0" rtlCol="0" anchor="ctr"/>
          <a:lstStyle/>
          <a:p>
            <a:pPr marL="0" indent="0">
              <a:buNone/>
            </a:pPr>
            <a:r>
              <a:rPr lang="en-US" sz="1700" dirty="0">
                <a:solidFill>
                  <a:srgbClr val="1B202A"/>
                </a:solidFill>
                <a:latin typeface="Calibri" pitchFamily="34" charset="0"/>
                <a:ea typeface="Calibri" pitchFamily="34" charset="-122"/>
                <a:cs typeface="Calibri" pitchFamily="34" charset="-120"/>
              </a:rPr>
              <a:t>No system combines attribution + silent-failure detection + verified repair + cross-arch generalization in one pipeline.</a:t>
            </a:r>
            <a:endParaRPr lang="en-US" sz="17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C"/>
        </a:solidFill>
        <a:effectLst/>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txBody>
          <a:bodyPr/>
          <a:lstStyle/>
          <a:p>
            <a:endParaRPr lang="en-PK"/>
          </a:p>
        </p:txBody>
      </p:sp>
      <p:sp>
        <p:nvSpPr>
          <p:cNvPr id="3" name="Shape 1"/>
          <p:cNvSpPr/>
          <p:nvPr/>
        </p:nvSpPr>
        <p:spPr>
          <a:xfrm rot="2700000">
            <a:off x="10618927" y="5285232"/>
            <a:ext cx="1005840" cy="1005840"/>
          </a:xfrm>
          <a:prstGeom prst="rect">
            <a:avLst/>
          </a:prstGeom>
          <a:ln w="12700">
            <a:solidFill>
              <a:srgbClr val="F4F5F7"/>
            </a:solidFill>
            <a:prstDash val="solid"/>
          </a:ln>
        </p:spPr>
        <p:txBody>
          <a:bodyPr/>
          <a:lstStyle/>
          <a:p>
            <a:endParaRPr lang="en-PK"/>
          </a:p>
        </p:txBody>
      </p:sp>
      <p:sp>
        <p:nvSpPr>
          <p:cNvPr id="4" name="Shape 2"/>
          <p:cNvSpPr/>
          <p:nvPr/>
        </p:nvSpPr>
        <p:spPr>
          <a:xfrm rot="2700000">
            <a:off x="10856671" y="5522976"/>
            <a:ext cx="530352" cy="530352"/>
          </a:xfrm>
          <a:prstGeom prst="rect">
            <a:avLst/>
          </a:prstGeom>
          <a:ln w="12700">
            <a:solidFill>
              <a:srgbClr val="F7F4ED"/>
            </a:solidFill>
            <a:prstDash val="solid"/>
          </a:ln>
        </p:spPr>
        <p:txBody>
          <a:bodyPr/>
          <a:lstStyle/>
          <a:p>
            <a:endParaRPr lang="en-PK"/>
          </a:p>
        </p:txBody>
      </p:sp>
      <p:sp>
        <p:nvSpPr>
          <p:cNvPr id="5" name="Text 3"/>
          <p:cNvSpPr txBox="1"/>
          <p:nvPr/>
        </p:nvSpPr>
        <p:spPr>
          <a:xfrm>
            <a:off x="566928" y="365760"/>
            <a:ext cx="11057839" cy="731520"/>
          </a:xfrm>
          <a:prstGeom prst="rect">
            <a:avLst/>
          </a:prstGeom>
          <a:noFill/>
          <a:ln/>
        </p:spPr>
        <p:txBody>
          <a:bodyPr wrap="square" lIns="0" tIns="0" rIns="0" bIns="0" rtlCol="0" anchor="ctr"/>
          <a:lstStyle/>
          <a:p>
            <a:pPr marL="0" indent="0">
              <a:buNone/>
            </a:pPr>
            <a:r>
              <a:rPr lang="en-US" sz="3200" b="1" dirty="0">
                <a:solidFill>
                  <a:srgbClr val="1B202A"/>
                </a:solidFill>
                <a:latin typeface="Georgia" pitchFamily="34" charset="0"/>
                <a:ea typeface="Georgia" pitchFamily="34" charset="-122"/>
                <a:cs typeface="Georgia" pitchFamily="34" charset="-120"/>
              </a:rPr>
              <a:t>Research &amp; Technical Basis</a:t>
            </a:r>
            <a:endParaRPr lang="en-US" sz="3200" dirty="0"/>
          </a:p>
        </p:txBody>
      </p:sp>
      <p:sp>
        <p:nvSpPr>
          <p:cNvPr id="6" name="Shape 4"/>
          <p:cNvSpPr/>
          <p:nvPr/>
        </p:nvSpPr>
        <p:spPr>
          <a:xfrm>
            <a:off x="566928" y="1152144"/>
            <a:ext cx="566928" cy="36576"/>
          </a:xfrm>
          <a:prstGeom prst="rect">
            <a:avLst/>
          </a:prstGeom>
          <a:solidFill>
            <a:srgbClr val="C89B3C"/>
          </a:solidFill>
          <a:ln/>
        </p:spPr>
        <p:txBody>
          <a:bodyPr/>
          <a:lstStyle/>
          <a:p>
            <a:endParaRPr lang="en-PK"/>
          </a:p>
        </p:txBody>
      </p:sp>
      <p:sp>
        <p:nvSpPr>
          <p:cNvPr id="7" name="Shape 5"/>
          <p:cNvSpPr/>
          <p:nvPr/>
        </p:nvSpPr>
        <p:spPr>
          <a:xfrm>
            <a:off x="566928" y="6437376"/>
            <a:ext cx="11057839" cy="0"/>
          </a:xfrm>
          <a:prstGeom prst="line">
            <a:avLst/>
          </a:prstGeom>
          <a:noFill/>
          <a:ln w="9525">
            <a:solidFill>
              <a:srgbClr val="D9DCE3"/>
            </a:solidFill>
            <a:prstDash val="solid"/>
          </a:ln>
        </p:spPr>
        <p:txBody>
          <a:bodyPr/>
          <a:lstStyle/>
          <a:p>
            <a:endParaRPr lang="en-PK"/>
          </a:p>
        </p:txBody>
      </p:sp>
      <p:sp>
        <p:nvSpPr>
          <p:cNvPr id="8" name="Text 6"/>
          <p:cNvSpPr txBox="1"/>
          <p:nvPr/>
        </p:nvSpPr>
        <p:spPr>
          <a:xfrm>
            <a:off x="566928" y="6510528"/>
            <a:ext cx="5943600" cy="237744"/>
          </a:xfrm>
          <a:prstGeom prst="rect">
            <a:avLst/>
          </a:prstGeom>
          <a:noFill/>
          <a:ln/>
        </p:spPr>
        <p:txBody>
          <a:bodyPr wrap="square" lIns="0" tIns="0" rIns="0" bIns="0" rtlCol="0" anchor="ctr"/>
          <a:lstStyle/>
          <a:p>
            <a:pPr marL="0" indent="0">
              <a:buNone/>
            </a:pPr>
            <a:r>
              <a:rPr lang="en-US" sz="1300" kern="0" spc="50" dirty="0">
                <a:solidFill>
                  <a:srgbClr val="8B92A2"/>
                </a:solidFill>
                <a:latin typeface="Consolas" pitchFamily="34" charset="0"/>
                <a:ea typeface="Consolas" pitchFamily="34" charset="-122"/>
                <a:cs typeface="Consolas" pitchFamily="34" charset="-120"/>
              </a:rPr>
              <a:t>F26-060-GRANITE  ·  PROPOSAL DEFENSE  ·  STREAM A</a:t>
            </a:r>
            <a:endParaRPr lang="en-US" sz="130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marL="0" indent="0" algn="r">
              <a:buNone/>
            </a:pPr>
            <a:r>
              <a:rPr lang="en-US" sz="1300" b="1" dirty="0">
                <a:solidFill>
                  <a:srgbClr val="8E6A1F"/>
                </a:solidFill>
                <a:latin typeface="Consolas" pitchFamily="34" charset="0"/>
                <a:ea typeface="Consolas" pitchFamily="34" charset="-122"/>
                <a:cs typeface="Consolas" pitchFamily="34" charset="-120"/>
              </a:rPr>
              <a:t>4 / 11</a:t>
            </a:r>
            <a:endParaRPr lang="en-US" sz="1300" dirty="0"/>
          </a:p>
        </p:txBody>
      </p:sp>
      <p:sp>
        <p:nvSpPr>
          <p:cNvPr id="10" name="Text 8"/>
          <p:cNvSpPr txBox="1"/>
          <p:nvPr/>
        </p:nvSpPr>
        <p:spPr>
          <a:xfrm>
            <a:off x="566928" y="1389888"/>
            <a:ext cx="5943600" cy="310896"/>
          </a:xfrm>
          <a:prstGeom prst="rect">
            <a:avLst/>
          </a:prstGeom>
          <a:noFill/>
          <a:ln/>
        </p:spPr>
        <p:txBody>
          <a:bodyPr wrap="square" lIns="0" tIns="0" rIns="0" bIns="0" rtlCol="0" anchor="ctr"/>
          <a:lstStyle/>
          <a:p>
            <a:pPr marL="0" indent="0">
              <a:buNone/>
            </a:pPr>
            <a:r>
              <a:rPr lang="en-US" sz="1800" b="1" kern="0" spc="60" dirty="0">
                <a:solidFill>
                  <a:srgbClr val="8E6A1F"/>
                </a:solidFill>
                <a:latin typeface="Consolas" pitchFamily="34" charset="0"/>
                <a:ea typeface="Consolas" pitchFamily="34" charset="-122"/>
                <a:cs typeface="Consolas" pitchFamily="34" charset="-120"/>
              </a:rPr>
              <a:t>DECISIONS THE LITERATURE ACTUALLY CHANGED</a:t>
            </a:r>
            <a:endParaRPr lang="en-US" sz="1800" dirty="0"/>
          </a:p>
        </p:txBody>
      </p:sp>
      <p:sp>
        <p:nvSpPr>
          <p:cNvPr id="11" name="Shape 9"/>
          <p:cNvSpPr/>
          <p:nvPr/>
        </p:nvSpPr>
        <p:spPr>
          <a:xfrm>
            <a:off x="566928" y="1737360"/>
            <a:ext cx="365760" cy="365760"/>
          </a:xfrm>
          <a:prstGeom prst="ellipse">
            <a:avLst/>
          </a:prstGeom>
          <a:solidFill>
            <a:srgbClr val="E3BC6E"/>
          </a:solidFill>
          <a:ln/>
        </p:spPr>
        <p:txBody>
          <a:bodyPr/>
          <a:lstStyle/>
          <a:p>
            <a:endParaRPr lang="en-PK"/>
          </a:p>
        </p:txBody>
      </p:sp>
      <p:sp>
        <p:nvSpPr>
          <p:cNvPr id="12" name="Text 10"/>
          <p:cNvSpPr txBox="1"/>
          <p:nvPr/>
        </p:nvSpPr>
        <p:spPr>
          <a:xfrm>
            <a:off x="566928" y="1737360"/>
            <a:ext cx="365760" cy="365760"/>
          </a:xfrm>
          <a:prstGeom prst="rect">
            <a:avLst/>
          </a:prstGeom>
          <a:noFill/>
          <a:ln/>
        </p:spPr>
        <p:txBody>
          <a:bodyPr wrap="square" lIns="0" tIns="0" rIns="0" bIns="0" rtlCol="0" anchor="ctr"/>
          <a:lstStyle/>
          <a:p>
            <a:pPr marL="0" indent="0" algn="ctr">
              <a:buNone/>
            </a:pPr>
            <a:r>
              <a:rPr lang="en-US" sz="1650" b="1" dirty="0">
                <a:solidFill>
                  <a:srgbClr val="0F1219"/>
                </a:solidFill>
                <a:latin typeface="Georgia" pitchFamily="34" charset="0"/>
                <a:ea typeface="Georgia" pitchFamily="34" charset="-122"/>
                <a:cs typeface="Georgia" pitchFamily="34" charset="-120"/>
              </a:rPr>
              <a:t>✓</a:t>
            </a:r>
            <a:endParaRPr lang="en-US" sz="1650" dirty="0"/>
          </a:p>
        </p:txBody>
      </p:sp>
      <p:sp>
        <p:nvSpPr>
          <p:cNvPr id="13" name="Text 11"/>
          <p:cNvSpPr txBox="1"/>
          <p:nvPr/>
        </p:nvSpPr>
        <p:spPr>
          <a:xfrm>
            <a:off x="1078992" y="1655064"/>
            <a:ext cx="5394960" cy="932688"/>
          </a:xfrm>
          <a:prstGeom prst="rect">
            <a:avLst/>
          </a:prstGeom>
          <a:noFill/>
          <a:ln/>
        </p:spPr>
        <p:txBody>
          <a:bodyPr wrap="square" lIns="0" tIns="0" rIns="0" bIns="0" rtlCol="0" anchor="ctr"/>
          <a:lstStyle/>
          <a:p>
            <a:pPr marL="0" indent="0">
              <a:buNone/>
            </a:pPr>
            <a:r>
              <a:rPr lang="en-US" sz="2000" b="1" dirty="0">
                <a:solidFill>
                  <a:srgbClr val="1B202A"/>
                </a:solidFill>
                <a:latin typeface="Calibri" pitchFamily="34" charset="0"/>
                <a:ea typeface="Calibri" pitchFamily="34" charset="-122"/>
                <a:cs typeface="Calibri" pitchFamily="34" charset="-120"/>
              </a:rPr>
              <a:t>ErrorProbe chosen as baseline</a:t>
            </a:r>
            <a:endParaRPr lang="en-US" sz="2000" dirty="0"/>
          </a:p>
          <a:p>
            <a:pPr marL="0" indent="0">
              <a:buNone/>
            </a:pPr>
            <a:r>
              <a:rPr lang="en-US" sz="1700" dirty="0">
                <a:solidFill>
                  <a:srgbClr val="596273"/>
                </a:solidFill>
                <a:latin typeface="Calibri" pitchFamily="34" charset="0"/>
                <a:ea typeface="Calibri" pitchFamily="34" charset="-122"/>
                <a:cs typeface="Calibri" pitchFamily="34" charset="-120"/>
              </a:rPr>
              <a:t>On performance (59.5%), not recency</a:t>
            </a:r>
            <a:endParaRPr lang="en-US" sz="2000" dirty="0"/>
          </a:p>
        </p:txBody>
      </p:sp>
      <p:sp>
        <p:nvSpPr>
          <p:cNvPr id="14" name="Shape 12"/>
          <p:cNvSpPr/>
          <p:nvPr/>
        </p:nvSpPr>
        <p:spPr>
          <a:xfrm>
            <a:off x="566928" y="2798064"/>
            <a:ext cx="365760" cy="365760"/>
          </a:xfrm>
          <a:prstGeom prst="ellipse">
            <a:avLst/>
          </a:prstGeom>
          <a:solidFill>
            <a:srgbClr val="E3BC6E"/>
          </a:solidFill>
          <a:ln/>
        </p:spPr>
        <p:txBody>
          <a:bodyPr/>
          <a:lstStyle/>
          <a:p>
            <a:endParaRPr lang="en-PK"/>
          </a:p>
        </p:txBody>
      </p:sp>
      <p:sp>
        <p:nvSpPr>
          <p:cNvPr id="15" name="Text 13"/>
          <p:cNvSpPr txBox="1"/>
          <p:nvPr/>
        </p:nvSpPr>
        <p:spPr>
          <a:xfrm>
            <a:off x="566928" y="2798064"/>
            <a:ext cx="365760" cy="365760"/>
          </a:xfrm>
          <a:prstGeom prst="rect">
            <a:avLst/>
          </a:prstGeom>
          <a:noFill/>
          <a:ln/>
        </p:spPr>
        <p:txBody>
          <a:bodyPr wrap="square" lIns="0" tIns="0" rIns="0" bIns="0" rtlCol="0" anchor="ctr"/>
          <a:lstStyle/>
          <a:p>
            <a:pPr marL="0" indent="0" algn="ctr">
              <a:buNone/>
            </a:pPr>
            <a:r>
              <a:rPr lang="en-US" sz="1650" b="1" dirty="0">
                <a:solidFill>
                  <a:srgbClr val="0F1219"/>
                </a:solidFill>
                <a:latin typeface="Georgia" pitchFamily="34" charset="0"/>
                <a:ea typeface="Georgia" pitchFamily="34" charset="-122"/>
                <a:cs typeface="Georgia" pitchFamily="34" charset="-120"/>
              </a:rPr>
              <a:t>✓</a:t>
            </a:r>
            <a:endParaRPr lang="en-US" sz="1650" dirty="0"/>
          </a:p>
        </p:txBody>
      </p:sp>
      <p:sp>
        <p:nvSpPr>
          <p:cNvPr id="16" name="Text 14"/>
          <p:cNvSpPr txBox="1"/>
          <p:nvPr/>
        </p:nvSpPr>
        <p:spPr>
          <a:xfrm>
            <a:off x="1078992" y="2715768"/>
            <a:ext cx="5394960" cy="932688"/>
          </a:xfrm>
          <a:prstGeom prst="rect">
            <a:avLst/>
          </a:prstGeom>
          <a:noFill/>
          <a:ln/>
        </p:spPr>
        <p:txBody>
          <a:bodyPr wrap="square" lIns="0" tIns="0" rIns="0" bIns="0" rtlCol="0" anchor="ctr"/>
          <a:lstStyle/>
          <a:p>
            <a:pPr marL="0" indent="0">
              <a:buNone/>
            </a:pPr>
            <a:r>
              <a:rPr lang="en-US" sz="2000" b="1" dirty="0">
                <a:solidFill>
                  <a:srgbClr val="1B202A"/>
                </a:solidFill>
                <a:latin typeface="Calibri" pitchFamily="34" charset="0"/>
                <a:ea typeface="Calibri" pitchFamily="34" charset="-122"/>
                <a:cs typeface="Calibri" pitchFamily="34" charset="-120"/>
              </a:rPr>
              <a:t>CrewAI + LangGraph committed</a:t>
            </a:r>
            <a:endParaRPr lang="en-US" sz="2000" dirty="0"/>
          </a:p>
          <a:p>
            <a:pPr marL="0" indent="0">
              <a:buNone/>
            </a:pPr>
            <a:r>
              <a:rPr lang="en-US" sz="1700" dirty="0">
                <a:solidFill>
                  <a:srgbClr val="596273"/>
                </a:solidFill>
                <a:latin typeface="Calibri" pitchFamily="34" charset="0"/>
                <a:ea typeface="Calibri" pitchFamily="34" charset="-122"/>
                <a:cs typeface="Calibri" pitchFamily="34" charset="-120"/>
              </a:rPr>
              <a:t>Unused by all 9 papers reviewed</a:t>
            </a:r>
            <a:endParaRPr lang="en-US" sz="2000" dirty="0"/>
          </a:p>
        </p:txBody>
      </p:sp>
      <p:sp>
        <p:nvSpPr>
          <p:cNvPr id="17" name="Shape 15"/>
          <p:cNvSpPr/>
          <p:nvPr/>
        </p:nvSpPr>
        <p:spPr>
          <a:xfrm>
            <a:off x="566928" y="3858768"/>
            <a:ext cx="365760" cy="365760"/>
          </a:xfrm>
          <a:prstGeom prst="ellipse">
            <a:avLst/>
          </a:prstGeom>
          <a:solidFill>
            <a:srgbClr val="E3BC6E"/>
          </a:solidFill>
          <a:ln/>
        </p:spPr>
        <p:txBody>
          <a:bodyPr/>
          <a:lstStyle/>
          <a:p>
            <a:endParaRPr lang="en-PK"/>
          </a:p>
        </p:txBody>
      </p:sp>
      <p:sp>
        <p:nvSpPr>
          <p:cNvPr id="18" name="Text 16"/>
          <p:cNvSpPr txBox="1"/>
          <p:nvPr/>
        </p:nvSpPr>
        <p:spPr>
          <a:xfrm>
            <a:off x="566928" y="3858768"/>
            <a:ext cx="365760" cy="365760"/>
          </a:xfrm>
          <a:prstGeom prst="rect">
            <a:avLst/>
          </a:prstGeom>
          <a:noFill/>
          <a:ln/>
        </p:spPr>
        <p:txBody>
          <a:bodyPr wrap="square" lIns="0" tIns="0" rIns="0" bIns="0" rtlCol="0" anchor="ctr"/>
          <a:lstStyle/>
          <a:p>
            <a:pPr marL="0" indent="0" algn="ctr">
              <a:buNone/>
            </a:pPr>
            <a:r>
              <a:rPr lang="en-US" sz="1650" b="1" dirty="0">
                <a:solidFill>
                  <a:srgbClr val="0F1219"/>
                </a:solidFill>
                <a:latin typeface="Georgia" pitchFamily="34" charset="0"/>
                <a:ea typeface="Georgia" pitchFamily="34" charset="-122"/>
                <a:cs typeface="Georgia" pitchFamily="34" charset="-120"/>
              </a:rPr>
              <a:t>✓</a:t>
            </a:r>
            <a:endParaRPr lang="en-US" sz="1650" dirty="0"/>
          </a:p>
        </p:txBody>
      </p:sp>
      <p:sp>
        <p:nvSpPr>
          <p:cNvPr id="19" name="Text 17"/>
          <p:cNvSpPr txBox="1"/>
          <p:nvPr/>
        </p:nvSpPr>
        <p:spPr>
          <a:xfrm>
            <a:off x="1078992" y="3776472"/>
            <a:ext cx="5394960" cy="932688"/>
          </a:xfrm>
          <a:prstGeom prst="rect">
            <a:avLst/>
          </a:prstGeom>
          <a:noFill/>
          <a:ln/>
        </p:spPr>
        <p:txBody>
          <a:bodyPr wrap="square" lIns="0" tIns="0" rIns="0" bIns="0" rtlCol="0" anchor="ctr"/>
          <a:lstStyle/>
          <a:p>
            <a:pPr marL="0" indent="0">
              <a:buNone/>
            </a:pPr>
            <a:r>
              <a:rPr lang="en-US" sz="2000" b="1" dirty="0">
                <a:solidFill>
                  <a:srgbClr val="1B202A"/>
                </a:solidFill>
                <a:latin typeface="Calibri" pitchFamily="34" charset="0"/>
                <a:ea typeface="Calibri" pitchFamily="34" charset="-122"/>
                <a:cs typeface="Calibri" pitchFamily="34" charset="-120"/>
              </a:rPr>
              <a:t>Constraint-based SED, not LLM-judge</a:t>
            </a:r>
            <a:endParaRPr lang="en-US" sz="2000" dirty="0"/>
          </a:p>
          <a:p>
            <a:pPr marL="0" indent="0">
              <a:buNone/>
            </a:pPr>
            <a:r>
              <a:rPr lang="en-US" sz="1700" dirty="0">
                <a:solidFill>
                  <a:srgbClr val="596273"/>
                </a:solidFill>
                <a:latin typeface="Calibri" pitchFamily="34" charset="0"/>
                <a:ea typeface="Calibri" pitchFamily="34" charset="-122"/>
                <a:cs typeface="Calibri" pitchFamily="34" charset="-120"/>
              </a:rPr>
              <a:t>LLM-judge AUROC ≤ 0.65 — barely above chance</a:t>
            </a:r>
            <a:endParaRPr lang="en-US" sz="2000" dirty="0"/>
          </a:p>
        </p:txBody>
      </p:sp>
      <p:sp>
        <p:nvSpPr>
          <p:cNvPr id="20" name="Shape 18"/>
          <p:cNvSpPr/>
          <p:nvPr/>
        </p:nvSpPr>
        <p:spPr>
          <a:xfrm>
            <a:off x="566928" y="4919472"/>
            <a:ext cx="365760" cy="365760"/>
          </a:xfrm>
          <a:prstGeom prst="ellipse">
            <a:avLst/>
          </a:prstGeom>
          <a:solidFill>
            <a:srgbClr val="E3BC6E"/>
          </a:solidFill>
          <a:ln/>
        </p:spPr>
        <p:txBody>
          <a:bodyPr/>
          <a:lstStyle/>
          <a:p>
            <a:endParaRPr lang="en-PK"/>
          </a:p>
        </p:txBody>
      </p:sp>
      <p:sp>
        <p:nvSpPr>
          <p:cNvPr id="21" name="Text 19"/>
          <p:cNvSpPr txBox="1"/>
          <p:nvPr/>
        </p:nvSpPr>
        <p:spPr>
          <a:xfrm>
            <a:off x="566928" y="4919472"/>
            <a:ext cx="365760" cy="365760"/>
          </a:xfrm>
          <a:prstGeom prst="rect">
            <a:avLst/>
          </a:prstGeom>
          <a:noFill/>
          <a:ln/>
        </p:spPr>
        <p:txBody>
          <a:bodyPr wrap="square" lIns="0" tIns="0" rIns="0" bIns="0" rtlCol="0" anchor="ctr"/>
          <a:lstStyle/>
          <a:p>
            <a:pPr marL="0" indent="0" algn="ctr">
              <a:buNone/>
            </a:pPr>
            <a:r>
              <a:rPr lang="en-US" sz="1650" b="1" dirty="0">
                <a:solidFill>
                  <a:srgbClr val="0F1219"/>
                </a:solidFill>
                <a:latin typeface="Georgia" pitchFamily="34" charset="0"/>
                <a:ea typeface="Georgia" pitchFamily="34" charset="-122"/>
                <a:cs typeface="Georgia" pitchFamily="34" charset="-120"/>
              </a:rPr>
              <a:t>✓</a:t>
            </a:r>
            <a:endParaRPr lang="en-US" sz="1650" dirty="0"/>
          </a:p>
        </p:txBody>
      </p:sp>
      <p:sp>
        <p:nvSpPr>
          <p:cNvPr id="22" name="Text 20"/>
          <p:cNvSpPr txBox="1"/>
          <p:nvPr/>
        </p:nvSpPr>
        <p:spPr>
          <a:xfrm>
            <a:off x="1078992" y="4837176"/>
            <a:ext cx="5394960" cy="932688"/>
          </a:xfrm>
          <a:prstGeom prst="rect">
            <a:avLst/>
          </a:prstGeom>
          <a:noFill/>
          <a:ln/>
        </p:spPr>
        <p:txBody>
          <a:bodyPr wrap="square" lIns="0" tIns="0" rIns="0" bIns="0" rtlCol="0" anchor="ctr"/>
          <a:lstStyle/>
          <a:p>
            <a:pPr marL="0" indent="0">
              <a:buNone/>
            </a:pPr>
            <a:r>
              <a:rPr lang="en-US" sz="2000" b="1" dirty="0">
                <a:solidFill>
                  <a:srgbClr val="1B202A"/>
                </a:solidFill>
                <a:latin typeface="Calibri" pitchFamily="34" charset="0"/>
                <a:ea typeface="Calibri" pitchFamily="34" charset="-122"/>
                <a:cs typeface="Calibri" pitchFamily="34" charset="-120"/>
              </a:rPr>
              <a:t>Single-framework narrowing rejected</a:t>
            </a:r>
            <a:endParaRPr lang="en-US" sz="2000" dirty="0"/>
          </a:p>
          <a:p>
            <a:pPr marL="0" indent="0">
              <a:buNone/>
            </a:pPr>
            <a:r>
              <a:rPr lang="en-US" sz="1700" dirty="0">
                <a:solidFill>
                  <a:srgbClr val="596273"/>
                </a:solidFill>
                <a:latin typeface="Calibri" pitchFamily="34" charset="0"/>
                <a:ea typeface="Calibri" pitchFamily="34" charset="-122"/>
                <a:cs typeface="Calibri" pitchFamily="34" charset="-120"/>
              </a:rPr>
              <a:t>Market survey's own advice, declined (R19)</a:t>
            </a:r>
            <a:endParaRPr lang="en-US" sz="2000" dirty="0"/>
          </a:p>
        </p:txBody>
      </p:sp>
      <p:sp>
        <p:nvSpPr>
          <p:cNvPr id="23" name="Text 21"/>
          <p:cNvSpPr txBox="1"/>
          <p:nvPr/>
        </p:nvSpPr>
        <p:spPr>
          <a:xfrm>
            <a:off x="6784848" y="1389888"/>
            <a:ext cx="4839919" cy="310896"/>
          </a:xfrm>
          <a:prstGeom prst="rect">
            <a:avLst/>
          </a:prstGeom>
          <a:noFill/>
          <a:ln/>
        </p:spPr>
        <p:txBody>
          <a:bodyPr wrap="square" lIns="0" tIns="0" rIns="0" bIns="0" rtlCol="0" anchor="ctr"/>
          <a:lstStyle/>
          <a:p>
            <a:pPr marL="0" indent="0">
              <a:buNone/>
            </a:pPr>
            <a:r>
              <a:rPr lang="en-US" sz="1800" b="1" kern="0" spc="60" dirty="0">
                <a:solidFill>
                  <a:srgbClr val="8E6A1F"/>
                </a:solidFill>
                <a:latin typeface="Consolas" pitchFamily="34" charset="0"/>
                <a:ea typeface="Consolas" pitchFamily="34" charset="-122"/>
                <a:cs typeface="Consolas" pitchFamily="34" charset="-120"/>
              </a:rPr>
              <a:t>PUBLISHED STEP-ACCURACY LINEAGE</a:t>
            </a:r>
            <a:endParaRPr lang="en-US" sz="1800" dirty="0"/>
          </a:p>
        </p:txBody>
      </p:sp>
      <p:graphicFrame>
        <p:nvGraphicFramePr>
          <p:cNvPr id="24" name="Chart 0"/>
          <p:cNvGraphicFramePr/>
          <p:nvPr/>
        </p:nvGraphicFramePr>
        <p:xfrm>
          <a:off x="6784848" y="1700784"/>
          <a:ext cx="4839919" cy="1956816"/>
        </p:xfrm>
        <a:graphic>
          <a:graphicData uri="http://schemas.openxmlformats.org/drawingml/2006/chart">
            <c:chart xmlns:c="http://schemas.openxmlformats.org/drawingml/2006/chart" xmlns:r="http://schemas.openxmlformats.org/officeDocument/2006/relationships" r:id="rId3"/>
          </a:graphicData>
        </a:graphic>
      </p:graphicFrame>
      <p:sp>
        <p:nvSpPr>
          <p:cNvPr id="25" name="Text 22"/>
          <p:cNvSpPr txBox="1"/>
          <p:nvPr/>
        </p:nvSpPr>
        <p:spPr>
          <a:xfrm>
            <a:off x="6784848" y="3712464"/>
            <a:ext cx="4839919" cy="420624"/>
          </a:xfrm>
          <a:prstGeom prst="rect">
            <a:avLst/>
          </a:prstGeom>
          <a:noFill/>
          <a:ln/>
        </p:spPr>
        <p:txBody>
          <a:bodyPr wrap="square" lIns="0" tIns="0" rIns="0" bIns="0" rtlCol="0" anchor="ctr"/>
          <a:lstStyle/>
          <a:p>
            <a:pPr marL="0" indent="0">
              <a:buNone/>
            </a:pPr>
            <a:r>
              <a:rPr lang="en-US" sz="1500" i="1" dirty="0">
                <a:solidFill>
                  <a:srgbClr val="596273"/>
                </a:solidFill>
                <a:latin typeface="Calibri" pitchFamily="34" charset="0"/>
                <a:ea typeface="Calibri" pitchFamily="34" charset="-122"/>
                <a:cs typeface="Calibri" pitchFamily="34" charset="-120"/>
              </a:rPr>
              <a:t>Step accuracy on Who&amp;When, % · AgenTracer is a published 37–43% range — midpoint plotted.</a:t>
            </a:r>
            <a:endParaRPr lang="en-US" sz="1500" dirty="0"/>
          </a:p>
        </p:txBody>
      </p:sp>
      <p:sp>
        <p:nvSpPr>
          <p:cNvPr id="26" name="Shape 23"/>
          <p:cNvSpPr/>
          <p:nvPr/>
        </p:nvSpPr>
        <p:spPr>
          <a:xfrm>
            <a:off x="6804965" y="4195267"/>
            <a:ext cx="4839919" cy="1005840"/>
          </a:xfrm>
          <a:prstGeom prst="roundRect">
            <a:avLst>
              <a:gd name="adj" fmla="val 5455"/>
            </a:avLst>
          </a:prstGeom>
          <a:solidFill>
            <a:srgbClr val="E4E6EB"/>
          </a:solidFill>
          <a:ln/>
        </p:spPr>
        <p:txBody>
          <a:bodyPr/>
          <a:lstStyle/>
          <a:p>
            <a:endParaRPr lang="en-PK"/>
          </a:p>
        </p:txBody>
      </p:sp>
      <p:sp>
        <p:nvSpPr>
          <p:cNvPr id="27" name="Shape 24"/>
          <p:cNvSpPr/>
          <p:nvPr/>
        </p:nvSpPr>
        <p:spPr>
          <a:xfrm>
            <a:off x="6784848" y="4169664"/>
            <a:ext cx="4839919" cy="1005840"/>
          </a:xfrm>
          <a:prstGeom prst="roundRect">
            <a:avLst>
              <a:gd name="adj" fmla="val 5455"/>
            </a:avLst>
          </a:prstGeom>
          <a:solidFill>
            <a:srgbClr val="F6E6E3"/>
          </a:solidFill>
          <a:ln w="9525">
            <a:solidFill>
              <a:srgbClr val="D9DCE3"/>
            </a:solidFill>
            <a:prstDash val="solid"/>
          </a:ln>
        </p:spPr>
        <p:txBody>
          <a:bodyPr/>
          <a:lstStyle/>
          <a:p>
            <a:endParaRPr lang="en-PK"/>
          </a:p>
        </p:txBody>
      </p:sp>
      <p:sp>
        <p:nvSpPr>
          <p:cNvPr id="28" name="Shape 25"/>
          <p:cNvSpPr/>
          <p:nvPr/>
        </p:nvSpPr>
        <p:spPr>
          <a:xfrm>
            <a:off x="6784848" y="4224528"/>
            <a:ext cx="41148" cy="896112"/>
          </a:xfrm>
          <a:prstGeom prst="rect">
            <a:avLst/>
          </a:prstGeom>
          <a:solidFill>
            <a:srgbClr val="A83A30"/>
          </a:solidFill>
          <a:ln/>
        </p:spPr>
        <p:txBody>
          <a:bodyPr/>
          <a:lstStyle/>
          <a:p>
            <a:endParaRPr lang="en-PK"/>
          </a:p>
        </p:txBody>
      </p:sp>
      <p:sp>
        <p:nvSpPr>
          <p:cNvPr id="29" name="Text 26"/>
          <p:cNvSpPr txBox="1"/>
          <p:nvPr/>
        </p:nvSpPr>
        <p:spPr>
          <a:xfrm>
            <a:off x="6986016" y="4169664"/>
            <a:ext cx="4437583" cy="1005840"/>
          </a:xfrm>
          <a:prstGeom prst="rect">
            <a:avLst/>
          </a:prstGeom>
          <a:noFill/>
          <a:ln/>
        </p:spPr>
        <p:txBody>
          <a:bodyPr wrap="square" lIns="0" tIns="0" rIns="0" bIns="0" rtlCol="0" anchor="ctr"/>
          <a:lstStyle/>
          <a:p>
            <a:pPr marL="0" indent="0">
              <a:buNone/>
            </a:pPr>
            <a:r>
              <a:rPr lang="en-US" sz="2000" b="1" dirty="0">
                <a:solidFill>
                  <a:srgbClr val="A83A30"/>
                </a:solidFill>
                <a:latin typeface="Calibri" pitchFamily="34" charset="0"/>
                <a:ea typeface="Calibri" pitchFamily="34" charset="-122"/>
                <a:cs typeface="Calibri" pitchFamily="34" charset="-120"/>
              </a:rPr>
              <a:t>40.5 points still wrong  </a:t>
            </a:r>
            <a:r>
              <a:rPr lang="en-US" sz="2000" dirty="0">
                <a:solidFill>
                  <a:srgbClr val="1B202A"/>
                </a:solidFill>
                <a:latin typeface="Calibri" pitchFamily="34" charset="0"/>
                <a:ea typeface="Calibri" pitchFamily="34" charset="-122"/>
                <a:cs typeface="Calibri" pitchFamily="34" charset="-120"/>
              </a:rPr>
              <a:t>— misattributes 4 of 10 steps; cannot see silent failures.</a:t>
            </a:r>
            <a:endParaRPr lang="en-US" sz="2000" dirty="0"/>
          </a:p>
        </p:txBody>
      </p:sp>
      <p:sp>
        <p:nvSpPr>
          <p:cNvPr id="30" name="Shape 27"/>
          <p:cNvSpPr/>
          <p:nvPr/>
        </p:nvSpPr>
        <p:spPr>
          <a:xfrm>
            <a:off x="6804965" y="5310835"/>
            <a:ext cx="4839919" cy="1005840"/>
          </a:xfrm>
          <a:prstGeom prst="roundRect">
            <a:avLst>
              <a:gd name="adj" fmla="val 5455"/>
            </a:avLst>
          </a:prstGeom>
          <a:solidFill>
            <a:srgbClr val="E4E6EB"/>
          </a:solidFill>
          <a:ln/>
        </p:spPr>
        <p:txBody>
          <a:bodyPr/>
          <a:lstStyle/>
          <a:p>
            <a:endParaRPr lang="en-PK"/>
          </a:p>
        </p:txBody>
      </p:sp>
      <p:sp>
        <p:nvSpPr>
          <p:cNvPr id="31" name="Shape 28"/>
          <p:cNvSpPr/>
          <p:nvPr/>
        </p:nvSpPr>
        <p:spPr>
          <a:xfrm>
            <a:off x="6784848" y="5285232"/>
            <a:ext cx="4839919" cy="1005840"/>
          </a:xfrm>
          <a:prstGeom prst="roundRect">
            <a:avLst>
              <a:gd name="adj" fmla="val 5455"/>
            </a:avLst>
          </a:prstGeom>
          <a:solidFill>
            <a:srgbClr val="F1F2F5"/>
          </a:solidFill>
          <a:ln w="9525">
            <a:solidFill>
              <a:srgbClr val="D9DCE3"/>
            </a:solidFill>
            <a:prstDash val="solid"/>
          </a:ln>
        </p:spPr>
        <p:txBody>
          <a:bodyPr/>
          <a:lstStyle/>
          <a:p>
            <a:endParaRPr lang="en-PK"/>
          </a:p>
        </p:txBody>
      </p:sp>
      <p:sp>
        <p:nvSpPr>
          <p:cNvPr id="32" name="Text 29"/>
          <p:cNvSpPr txBox="1"/>
          <p:nvPr/>
        </p:nvSpPr>
        <p:spPr>
          <a:xfrm>
            <a:off x="6986016" y="5394960"/>
            <a:ext cx="4437583" cy="310896"/>
          </a:xfrm>
          <a:prstGeom prst="rect">
            <a:avLst/>
          </a:prstGeom>
          <a:noFill/>
          <a:ln/>
        </p:spPr>
        <p:txBody>
          <a:bodyPr wrap="square" lIns="0" tIns="0" rIns="0" bIns="0" rtlCol="0" anchor="ctr"/>
          <a:lstStyle/>
          <a:p>
            <a:pPr marL="0" indent="0">
              <a:buNone/>
            </a:pPr>
            <a:r>
              <a:rPr lang="en-US" sz="1800" b="1" kern="0" spc="60" dirty="0">
                <a:solidFill>
                  <a:srgbClr val="596273"/>
                </a:solidFill>
                <a:latin typeface="Consolas" pitchFamily="34" charset="0"/>
                <a:ea typeface="Consolas" pitchFamily="34" charset="-122"/>
                <a:cs typeface="Consolas" pitchFamily="34" charset="-120"/>
              </a:rPr>
              <a:t>BACKBONE-CONFOUND CAVEAT</a:t>
            </a:r>
            <a:endParaRPr lang="en-US" sz="1800" dirty="0"/>
          </a:p>
        </p:txBody>
      </p:sp>
      <p:sp>
        <p:nvSpPr>
          <p:cNvPr id="33" name="Text 30"/>
          <p:cNvSpPr txBox="1"/>
          <p:nvPr/>
        </p:nvSpPr>
        <p:spPr>
          <a:xfrm>
            <a:off x="6986016" y="5705856"/>
            <a:ext cx="4437583" cy="548640"/>
          </a:xfrm>
          <a:prstGeom prst="rect">
            <a:avLst/>
          </a:prstGeom>
          <a:noFill/>
          <a:ln/>
        </p:spPr>
        <p:txBody>
          <a:bodyPr wrap="square" lIns="0" tIns="0" rIns="0" bIns="0" rtlCol="0" anchor="ctr"/>
          <a:lstStyle/>
          <a:p>
            <a:pPr marL="0" indent="0">
              <a:buNone/>
            </a:pPr>
            <a:r>
              <a:rPr lang="en-US" sz="1700" dirty="0">
                <a:solidFill>
                  <a:srgbClr val="1B202A"/>
                </a:solidFill>
                <a:latin typeface="Calibri" pitchFamily="34" charset="0"/>
                <a:ea typeface="Calibri" pitchFamily="34" charset="-122"/>
                <a:cs typeface="Calibri" pitchFamily="34" charset="-120"/>
              </a:rPr>
              <a:t>Cross-paper backbones differ — controlled within our own experiments.</a:t>
            </a:r>
            <a:endParaRPr lang="en-US" sz="17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C"/>
        </a:solidFill>
        <a:effectLst/>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txBody>
          <a:bodyPr/>
          <a:lstStyle/>
          <a:p>
            <a:endParaRPr lang="en-PK"/>
          </a:p>
        </p:txBody>
      </p:sp>
      <p:sp>
        <p:nvSpPr>
          <p:cNvPr id="3" name="Shape 1"/>
          <p:cNvSpPr/>
          <p:nvPr/>
        </p:nvSpPr>
        <p:spPr>
          <a:xfrm rot="2700000">
            <a:off x="10618927" y="5285232"/>
            <a:ext cx="1005840" cy="1005840"/>
          </a:xfrm>
          <a:prstGeom prst="rect">
            <a:avLst/>
          </a:prstGeom>
          <a:ln w="12700">
            <a:solidFill>
              <a:srgbClr val="F4F5F7"/>
            </a:solidFill>
            <a:prstDash val="solid"/>
          </a:ln>
        </p:spPr>
        <p:txBody>
          <a:bodyPr/>
          <a:lstStyle/>
          <a:p>
            <a:endParaRPr lang="en-PK"/>
          </a:p>
        </p:txBody>
      </p:sp>
      <p:sp>
        <p:nvSpPr>
          <p:cNvPr id="4" name="Shape 2"/>
          <p:cNvSpPr/>
          <p:nvPr/>
        </p:nvSpPr>
        <p:spPr>
          <a:xfrm rot="2700000">
            <a:off x="10856671" y="5522976"/>
            <a:ext cx="530352" cy="530352"/>
          </a:xfrm>
          <a:prstGeom prst="rect">
            <a:avLst/>
          </a:prstGeom>
          <a:ln w="12700">
            <a:solidFill>
              <a:srgbClr val="F7F4ED"/>
            </a:solidFill>
            <a:prstDash val="solid"/>
          </a:ln>
        </p:spPr>
        <p:txBody>
          <a:bodyPr/>
          <a:lstStyle/>
          <a:p>
            <a:endParaRPr lang="en-PK"/>
          </a:p>
        </p:txBody>
      </p:sp>
      <p:sp>
        <p:nvSpPr>
          <p:cNvPr id="5" name="Text 3"/>
          <p:cNvSpPr txBox="1"/>
          <p:nvPr/>
        </p:nvSpPr>
        <p:spPr>
          <a:xfrm>
            <a:off x="566928" y="365760"/>
            <a:ext cx="11057839" cy="731520"/>
          </a:xfrm>
          <a:prstGeom prst="rect">
            <a:avLst/>
          </a:prstGeom>
          <a:noFill/>
          <a:ln/>
        </p:spPr>
        <p:txBody>
          <a:bodyPr wrap="square" lIns="0" tIns="0" rIns="0" bIns="0" rtlCol="0" anchor="ctr"/>
          <a:lstStyle/>
          <a:p>
            <a:pPr marL="0" indent="0">
              <a:buNone/>
            </a:pPr>
            <a:r>
              <a:rPr lang="en-US" sz="3200" b="1" dirty="0">
                <a:solidFill>
                  <a:srgbClr val="1B202A"/>
                </a:solidFill>
                <a:latin typeface="Georgia" pitchFamily="34" charset="0"/>
                <a:ea typeface="Georgia" pitchFamily="34" charset="-122"/>
                <a:cs typeface="Georgia" pitchFamily="34" charset="-120"/>
              </a:rPr>
              <a:t>Complex Computing Challenge</a:t>
            </a:r>
            <a:endParaRPr lang="en-US" sz="3200" dirty="0"/>
          </a:p>
        </p:txBody>
      </p:sp>
      <p:sp>
        <p:nvSpPr>
          <p:cNvPr id="6" name="Shape 4"/>
          <p:cNvSpPr/>
          <p:nvPr/>
        </p:nvSpPr>
        <p:spPr>
          <a:xfrm>
            <a:off x="566928" y="1152144"/>
            <a:ext cx="566928" cy="36576"/>
          </a:xfrm>
          <a:prstGeom prst="rect">
            <a:avLst/>
          </a:prstGeom>
          <a:solidFill>
            <a:srgbClr val="C89B3C"/>
          </a:solidFill>
          <a:ln/>
        </p:spPr>
        <p:txBody>
          <a:bodyPr/>
          <a:lstStyle/>
          <a:p>
            <a:endParaRPr lang="en-PK"/>
          </a:p>
        </p:txBody>
      </p:sp>
      <p:sp>
        <p:nvSpPr>
          <p:cNvPr id="7" name="Shape 5"/>
          <p:cNvSpPr/>
          <p:nvPr/>
        </p:nvSpPr>
        <p:spPr>
          <a:xfrm>
            <a:off x="566928" y="6437376"/>
            <a:ext cx="11057839" cy="0"/>
          </a:xfrm>
          <a:prstGeom prst="line">
            <a:avLst/>
          </a:prstGeom>
          <a:noFill/>
          <a:ln w="9525">
            <a:solidFill>
              <a:srgbClr val="D9DCE3"/>
            </a:solidFill>
            <a:prstDash val="solid"/>
          </a:ln>
        </p:spPr>
        <p:txBody>
          <a:bodyPr/>
          <a:lstStyle/>
          <a:p>
            <a:endParaRPr lang="en-PK"/>
          </a:p>
        </p:txBody>
      </p:sp>
      <p:sp>
        <p:nvSpPr>
          <p:cNvPr id="8" name="Text 6"/>
          <p:cNvSpPr txBox="1"/>
          <p:nvPr/>
        </p:nvSpPr>
        <p:spPr>
          <a:xfrm>
            <a:off x="566928" y="6510528"/>
            <a:ext cx="5943600" cy="237744"/>
          </a:xfrm>
          <a:prstGeom prst="rect">
            <a:avLst/>
          </a:prstGeom>
          <a:noFill/>
          <a:ln/>
        </p:spPr>
        <p:txBody>
          <a:bodyPr wrap="square" lIns="0" tIns="0" rIns="0" bIns="0" rtlCol="0" anchor="ctr"/>
          <a:lstStyle/>
          <a:p>
            <a:pPr marL="0" indent="0">
              <a:buNone/>
            </a:pPr>
            <a:r>
              <a:rPr lang="en-US" sz="1300" kern="0" spc="50" dirty="0">
                <a:solidFill>
                  <a:srgbClr val="8B92A2"/>
                </a:solidFill>
                <a:latin typeface="Consolas" pitchFamily="34" charset="0"/>
                <a:ea typeface="Consolas" pitchFamily="34" charset="-122"/>
                <a:cs typeface="Consolas" pitchFamily="34" charset="-120"/>
              </a:rPr>
              <a:t>F26-060-GRANITE  ·  PROPOSAL DEFENSE  ·  STREAM A</a:t>
            </a:r>
            <a:endParaRPr lang="en-US" sz="130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marL="0" indent="0" algn="r">
              <a:buNone/>
            </a:pPr>
            <a:r>
              <a:rPr lang="en-US" sz="1300" b="1" dirty="0">
                <a:solidFill>
                  <a:srgbClr val="8E6A1F"/>
                </a:solidFill>
                <a:latin typeface="Consolas" pitchFamily="34" charset="0"/>
                <a:ea typeface="Consolas" pitchFamily="34" charset="-122"/>
                <a:cs typeface="Consolas" pitchFamily="34" charset="-120"/>
              </a:rPr>
              <a:t>5 / 11</a:t>
            </a:r>
            <a:endParaRPr lang="en-US" sz="1300" dirty="0"/>
          </a:p>
        </p:txBody>
      </p:sp>
      <p:sp>
        <p:nvSpPr>
          <p:cNvPr id="10" name="Shape 8"/>
          <p:cNvSpPr/>
          <p:nvPr/>
        </p:nvSpPr>
        <p:spPr>
          <a:xfrm>
            <a:off x="566928" y="1353312"/>
            <a:ext cx="11057839" cy="877824"/>
          </a:xfrm>
          <a:prstGeom prst="roundRect">
            <a:avLst>
              <a:gd name="adj" fmla="val 5208"/>
            </a:avLst>
          </a:prstGeom>
          <a:solidFill>
            <a:srgbClr val="E6F1EB"/>
          </a:solidFill>
          <a:ln w="12700">
            <a:solidFill>
              <a:srgbClr val="1E7A52"/>
            </a:solidFill>
            <a:prstDash val="solid"/>
          </a:ln>
        </p:spPr>
        <p:txBody>
          <a:bodyPr/>
          <a:lstStyle/>
          <a:p>
            <a:endParaRPr lang="en-PK"/>
          </a:p>
        </p:txBody>
      </p:sp>
      <p:sp>
        <p:nvSpPr>
          <p:cNvPr id="11" name="Shape 9"/>
          <p:cNvSpPr/>
          <p:nvPr/>
        </p:nvSpPr>
        <p:spPr>
          <a:xfrm>
            <a:off x="731520" y="1600200"/>
            <a:ext cx="384048" cy="384048"/>
          </a:xfrm>
          <a:prstGeom prst="ellipse">
            <a:avLst/>
          </a:prstGeom>
          <a:solidFill>
            <a:srgbClr val="1E7A52"/>
          </a:solidFill>
          <a:ln/>
        </p:spPr>
        <p:txBody>
          <a:bodyPr/>
          <a:lstStyle/>
          <a:p>
            <a:endParaRPr lang="en-PK"/>
          </a:p>
        </p:txBody>
      </p:sp>
      <p:sp>
        <p:nvSpPr>
          <p:cNvPr id="12" name="Text 10"/>
          <p:cNvSpPr txBox="1"/>
          <p:nvPr/>
        </p:nvSpPr>
        <p:spPr>
          <a:xfrm>
            <a:off x="731520" y="1600200"/>
            <a:ext cx="384048" cy="384048"/>
          </a:xfrm>
          <a:prstGeom prst="rect">
            <a:avLst/>
          </a:prstGeom>
          <a:noFill/>
          <a:ln/>
        </p:spPr>
        <p:txBody>
          <a:bodyPr wrap="square" lIns="0" tIns="0" rIns="0" bIns="0" rtlCol="0" anchor="ctr"/>
          <a:lstStyle/>
          <a:p>
            <a:pPr marL="0" indent="0" algn="ctr">
              <a:buNone/>
            </a:pPr>
            <a:r>
              <a:rPr lang="en-US" sz="1650" b="1" dirty="0">
                <a:solidFill>
                  <a:srgbClr val="F5F6F8"/>
                </a:solidFill>
                <a:latin typeface="Georgia" pitchFamily="34" charset="0"/>
                <a:ea typeface="Georgia" pitchFamily="34" charset="-122"/>
                <a:cs typeface="Georgia" pitchFamily="34" charset="-120"/>
              </a:rPr>
              <a:t>1</a:t>
            </a:r>
            <a:endParaRPr lang="en-US" sz="1650" dirty="0"/>
          </a:p>
        </p:txBody>
      </p:sp>
      <p:sp>
        <p:nvSpPr>
          <p:cNvPr id="13" name="Text 11"/>
          <p:cNvSpPr txBox="1"/>
          <p:nvPr/>
        </p:nvSpPr>
        <p:spPr>
          <a:xfrm>
            <a:off x="1261872" y="1353312"/>
            <a:ext cx="2505456" cy="877824"/>
          </a:xfrm>
          <a:prstGeom prst="rect">
            <a:avLst/>
          </a:prstGeom>
          <a:noFill/>
          <a:ln/>
        </p:spPr>
        <p:txBody>
          <a:bodyPr wrap="square" lIns="0" tIns="0" rIns="0" bIns="0" rtlCol="0" anchor="ctr"/>
          <a:lstStyle/>
          <a:p>
            <a:pPr marL="0" indent="0">
              <a:buNone/>
            </a:pPr>
            <a:r>
              <a:rPr lang="en-US" sz="2000" b="1" dirty="0">
                <a:solidFill>
                  <a:srgbClr val="1B202A"/>
                </a:solidFill>
                <a:latin typeface="Georgia" pitchFamily="34" charset="0"/>
                <a:ea typeface="Georgia" pitchFamily="34" charset="-122"/>
                <a:cs typeface="Georgia" pitchFamily="34" charset="-120"/>
              </a:rPr>
              <a:t>Conflicting requirements</a:t>
            </a:r>
            <a:endParaRPr lang="en-US" sz="2000" dirty="0"/>
          </a:p>
        </p:txBody>
      </p:sp>
      <p:sp>
        <p:nvSpPr>
          <p:cNvPr id="14" name="Shape 12"/>
          <p:cNvSpPr/>
          <p:nvPr/>
        </p:nvSpPr>
        <p:spPr>
          <a:xfrm>
            <a:off x="3858768" y="1499616"/>
            <a:ext cx="0" cy="585216"/>
          </a:xfrm>
          <a:prstGeom prst="line">
            <a:avLst/>
          </a:prstGeom>
          <a:noFill/>
          <a:ln w="12700">
            <a:solidFill>
              <a:srgbClr val="D9DCE3"/>
            </a:solidFill>
            <a:prstDash val="solid"/>
          </a:ln>
        </p:spPr>
        <p:txBody>
          <a:bodyPr/>
          <a:lstStyle/>
          <a:p>
            <a:endParaRPr lang="en-PK"/>
          </a:p>
        </p:txBody>
      </p:sp>
      <p:sp>
        <p:nvSpPr>
          <p:cNvPr id="15" name="Text 13"/>
          <p:cNvSpPr txBox="1"/>
          <p:nvPr/>
        </p:nvSpPr>
        <p:spPr>
          <a:xfrm>
            <a:off x="4059936" y="1353312"/>
            <a:ext cx="7381951" cy="877824"/>
          </a:xfrm>
          <a:prstGeom prst="rect">
            <a:avLst/>
          </a:prstGeom>
          <a:noFill/>
          <a:ln/>
        </p:spPr>
        <p:txBody>
          <a:bodyPr wrap="square" lIns="0" tIns="0" rIns="0" bIns="0" rtlCol="0" anchor="ctr"/>
          <a:lstStyle/>
          <a:p>
            <a:pPr marL="0" indent="0">
              <a:buNone/>
            </a:pPr>
            <a:r>
              <a:rPr lang="en-US" sz="1700" dirty="0">
                <a:solidFill>
                  <a:srgbClr val="596273"/>
                </a:solidFill>
                <a:latin typeface="Calibri" pitchFamily="34" charset="0"/>
                <a:ea typeface="Calibri" pitchFamily="34" charset="-122"/>
                <a:cs typeface="Calibri" pitchFamily="34" charset="-120"/>
              </a:rPr>
              <a:t>Depth vs. latency; privacy vs. completeness</a:t>
            </a:r>
            <a:endParaRPr lang="en-US" sz="1700" dirty="0"/>
          </a:p>
        </p:txBody>
      </p:sp>
      <p:sp>
        <p:nvSpPr>
          <p:cNvPr id="16" name="Shape 14"/>
          <p:cNvSpPr/>
          <p:nvPr/>
        </p:nvSpPr>
        <p:spPr>
          <a:xfrm>
            <a:off x="566928" y="2359152"/>
            <a:ext cx="11057839" cy="877824"/>
          </a:xfrm>
          <a:prstGeom prst="roundRect">
            <a:avLst>
              <a:gd name="adj" fmla="val 5208"/>
            </a:avLst>
          </a:prstGeom>
          <a:solidFill>
            <a:srgbClr val="E6F1EB"/>
          </a:solidFill>
          <a:ln w="12700">
            <a:solidFill>
              <a:srgbClr val="1E7A52"/>
            </a:solidFill>
            <a:prstDash val="solid"/>
          </a:ln>
        </p:spPr>
        <p:txBody>
          <a:bodyPr/>
          <a:lstStyle/>
          <a:p>
            <a:endParaRPr lang="en-PK"/>
          </a:p>
        </p:txBody>
      </p:sp>
      <p:sp>
        <p:nvSpPr>
          <p:cNvPr id="17" name="Shape 15"/>
          <p:cNvSpPr/>
          <p:nvPr/>
        </p:nvSpPr>
        <p:spPr>
          <a:xfrm>
            <a:off x="731520" y="2606040"/>
            <a:ext cx="384048" cy="384048"/>
          </a:xfrm>
          <a:prstGeom prst="ellipse">
            <a:avLst/>
          </a:prstGeom>
          <a:solidFill>
            <a:srgbClr val="1E7A52"/>
          </a:solidFill>
          <a:ln/>
        </p:spPr>
        <p:txBody>
          <a:bodyPr/>
          <a:lstStyle/>
          <a:p>
            <a:endParaRPr lang="en-PK"/>
          </a:p>
        </p:txBody>
      </p:sp>
      <p:sp>
        <p:nvSpPr>
          <p:cNvPr id="18" name="Text 16"/>
          <p:cNvSpPr txBox="1"/>
          <p:nvPr/>
        </p:nvSpPr>
        <p:spPr>
          <a:xfrm>
            <a:off x="731520" y="2606040"/>
            <a:ext cx="384048" cy="384048"/>
          </a:xfrm>
          <a:prstGeom prst="rect">
            <a:avLst/>
          </a:prstGeom>
          <a:noFill/>
          <a:ln/>
        </p:spPr>
        <p:txBody>
          <a:bodyPr wrap="square" lIns="0" tIns="0" rIns="0" bIns="0" rtlCol="0" anchor="ctr"/>
          <a:lstStyle/>
          <a:p>
            <a:pPr marL="0" indent="0" algn="ctr">
              <a:buNone/>
            </a:pPr>
            <a:r>
              <a:rPr lang="en-US" sz="1650" b="1" dirty="0">
                <a:solidFill>
                  <a:srgbClr val="F5F6F8"/>
                </a:solidFill>
                <a:latin typeface="Georgia" pitchFamily="34" charset="0"/>
                <a:ea typeface="Georgia" pitchFamily="34" charset="-122"/>
                <a:cs typeface="Georgia" pitchFamily="34" charset="-120"/>
              </a:rPr>
              <a:t>2</a:t>
            </a:r>
            <a:endParaRPr lang="en-US" sz="1650" dirty="0"/>
          </a:p>
        </p:txBody>
      </p:sp>
      <p:sp>
        <p:nvSpPr>
          <p:cNvPr id="19" name="Text 17"/>
          <p:cNvSpPr txBox="1"/>
          <p:nvPr/>
        </p:nvSpPr>
        <p:spPr>
          <a:xfrm>
            <a:off x="1261872" y="2359152"/>
            <a:ext cx="2505456" cy="877824"/>
          </a:xfrm>
          <a:prstGeom prst="rect">
            <a:avLst/>
          </a:prstGeom>
          <a:noFill/>
          <a:ln/>
        </p:spPr>
        <p:txBody>
          <a:bodyPr wrap="square" lIns="0" tIns="0" rIns="0" bIns="0" rtlCol="0" anchor="ctr"/>
          <a:lstStyle/>
          <a:p>
            <a:pPr marL="0" indent="0">
              <a:buNone/>
            </a:pPr>
            <a:r>
              <a:rPr lang="en-US" sz="2000" b="1" dirty="0">
                <a:solidFill>
                  <a:srgbClr val="1B202A"/>
                </a:solidFill>
                <a:latin typeface="Georgia" pitchFamily="34" charset="0"/>
                <a:ea typeface="Georgia" pitchFamily="34" charset="-122"/>
                <a:cs typeface="Georgia" pitchFamily="34" charset="-120"/>
              </a:rPr>
              <a:t>No obvious solution</a:t>
            </a:r>
            <a:endParaRPr lang="en-US" sz="2000" dirty="0"/>
          </a:p>
        </p:txBody>
      </p:sp>
      <p:sp>
        <p:nvSpPr>
          <p:cNvPr id="20" name="Shape 18"/>
          <p:cNvSpPr/>
          <p:nvPr/>
        </p:nvSpPr>
        <p:spPr>
          <a:xfrm>
            <a:off x="3858768" y="2505456"/>
            <a:ext cx="0" cy="585216"/>
          </a:xfrm>
          <a:prstGeom prst="line">
            <a:avLst/>
          </a:prstGeom>
          <a:noFill/>
          <a:ln w="12700">
            <a:solidFill>
              <a:srgbClr val="D9DCE3"/>
            </a:solidFill>
            <a:prstDash val="solid"/>
          </a:ln>
        </p:spPr>
        <p:txBody>
          <a:bodyPr/>
          <a:lstStyle/>
          <a:p>
            <a:endParaRPr lang="en-PK"/>
          </a:p>
        </p:txBody>
      </p:sp>
      <p:sp>
        <p:nvSpPr>
          <p:cNvPr id="21" name="Text 19"/>
          <p:cNvSpPr txBox="1"/>
          <p:nvPr/>
        </p:nvSpPr>
        <p:spPr>
          <a:xfrm>
            <a:off x="4059936" y="2359152"/>
            <a:ext cx="7381951" cy="877824"/>
          </a:xfrm>
          <a:prstGeom prst="rect">
            <a:avLst/>
          </a:prstGeom>
          <a:noFill/>
          <a:ln/>
        </p:spPr>
        <p:txBody>
          <a:bodyPr wrap="square" lIns="0" tIns="0" rIns="0" bIns="0" rtlCol="0" anchor="ctr"/>
          <a:lstStyle/>
          <a:p>
            <a:pPr marL="0" indent="0">
              <a:buNone/>
            </a:pPr>
            <a:r>
              <a:rPr lang="en-US" sz="1700" dirty="0">
                <a:solidFill>
                  <a:srgbClr val="596273"/>
                </a:solidFill>
                <a:latin typeface="Calibri" pitchFamily="34" charset="0"/>
                <a:ea typeface="Calibri" pitchFamily="34" charset="-122"/>
                <a:cs typeface="Calibri" pitchFamily="34" charset="-120"/>
              </a:rPr>
              <a:t>Best published: 59.5% after 15 months, 7 papers</a:t>
            </a:r>
            <a:endParaRPr lang="en-US" sz="1700" dirty="0"/>
          </a:p>
        </p:txBody>
      </p:sp>
      <p:sp>
        <p:nvSpPr>
          <p:cNvPr id="22" name="Shape 20"/>
          <p:cNvSpPr/>
          <p:nvPr/>
        </p:nvSpPr>
        <p:spPr>
          <a:xfrm>
            <a:off x="566928" y="3364992"/>
            <a:ext cx="11057839" cy="877824"/>
          </a:xfrm>
          <a:prstGeom prst="roundRect">
            <a:avLst>
              <a:gd name="adj" fmla="val 5208"/>
            </a:avLst>
          </a:prstGeom>
          <a:solidFill>
            <a:srgbClr val="E6F1EB"/>
          </a:solidFill>
          <a:ln w="12700">
            <a:solidFill>
              <a:srgbClr val="1E7A52"/>
            </a:solidFill>
            <a:prstDash val="solid"/>
          </a:ln>
        </p:spPr>
        <p:txBody>
          <a:bodyPr/>
          <a:lstStyle/>
          <a:p>
            <a:endParaRPr lang="en-PK"/>
          </a:p>
        </p:txBody>
      </p:sp>
      <p:sp>
        <p:nvSpPr>
          <p:cNvPr id="23" name="Shape 21"/>
          <p:cNvSpPr/>
          <p:nvPr/>
        </p:nvSpPr>
        <p:spPr>
          <a:xfrm>
            <a:off x="731520" y="3611880"/>
            <a:ext cx="384048" cy="384048"/>
          </a:xfrm>
          <a:prstGeom prst="ellipse">
            <a:avLst/>
          </a:prstGeom>
          <a:solidFill>
            <a:srgbClr val="1E7A52"/>
          </a:solidFill>
          <a:ln/>
        </p:spPr>
        <p:txBody>
          <a:bodyPr/>
          <a:lstStyle/>
          <a:p>
            <a:endParaRPr lang="en-PK"/>
          </a:p>
        </p:txBody>
      </p:sp>
      <p:sp>
        <p:nvSpPr>
          <p:cNvPr id="24" name="Text 22"/>
          <p:cNvSpPr txBox="1"/>
          <p:nvPr/>
        </p:nvSpPr>
        <p:spPr>
          <a:xfrm>
            <a:off x="731520" y="3611880"/>
            <a:ext cx="384048" cy="384048"/>
          </a:xfrm>
          <a:prstGeom prst="rect">
            <a:avLst/>
          </a:prstGeom>
          <a:noFill/>
          <a:ln/>
        </p:spPr>
        <p:txBody>
          <a:bodyPr wrap="square" lIns="0" tIns="0" rIns="0" bIns="0" rtlCol="0" anchor="ctr"/>
          <a:lstStyle/>
          <a:p>
            <a:pPr marL="0" indent="0" algn="ctr">
              <a:buNone/>
            </a:pPr>
            <a:r>
              <a:rPr lang="en-US" sz="1650" b="1" dirty="0">
                <a:solidFill>
                  <a:srgbClr val="F5F6F8"/>
                </a:solidFill>
                <a:latin typeface="Georgia" pitchFamily="34" charset="0"/>
                <a:ea typeface="Georgia" pitchFamily="34" charset="-122"/>
                <a:cs typeface="Georgia" pitchFamily="34" charset="-120"/>
              </a:rPr>
              <a:t>3</a:t>
            </a:r>
            <a:endParaRPr lang="en-US" sz="1650" dirty="0"/>
          </a:p>
        </p:txBody>
      </p:sp>
      <p:sp>
        <p:nvSpPr>
          <p:cNvPr id="25" name="Text 23"/>
          <p:cNvSpPr txBox="1"/>
          <p:nvPr/>
        </p:nvSpPr>
        <p:spPr>
          <a:xfrm>
            <a:off x="1261872" y="3364992"/>
            <a:ext cx="2505456" cy="877824"/>
          </a:xfrm>
          <a:prstGeom prst="rect">
            <a:avLst/>
          </a:prstGeom>
          <a:noFill/>
          <a:ln/>
        </p:spPr>
        <p:txBody>
          <a:bodyPr wrap="square" lIns="0" tIns="0" rIns="0" bIns="0" rtlCol="0" anchor="ctr"/>
          <a:lstStyle/>
          <a:p>
            <a:pPr marL="0" indent="0">
              <a:buNone/>
            </a:pPr>
            <a:r>
              <a:rPr lang="en-US" sz="2000" b="1" dirty="0">
                <a:solidFill>
                  <a:srgbClr val="1B202A"/>
                </a:solidFill>
                <a:latin typeface="Georgia" pitchFamily="34" charset="0"/>
                <a:ea typeface="Georgia" pitchFamily="34" charset="-122"/>
                <a:cs typeface="Georgia" pitchFamily="34" charset="-120"/>
              </a:rPr>
              <a:t>Depth of knowledge</a:t>
            </a:r>
            <a:endParaRPr lang="en-US" sz="2000" dirty="0"/>
          </a:p>
        </p:txBody>
      </p:sp>
      <p:sp>
        <p:nvSpPr>
          <p:cNvPr id="26" name="Shape 24"/>
          <p:cNvSpPr/>
          <p:nvPr/>
        </p:nvSpPr>
        <p:spPr>
          <a:xfrm>
            <a:off x="3858768" y="3511296"/>
            <a:ext cx="0" cy="585216"/>
          </a:xfrm>
          <a:prstGeom prst="line">
            <a:avLst/>
          </a:prstGeom>
          <a:noFill/>
          <a:ln w="12700">
            <a:solidFill>
              <a:srgbClr val="D9DCE3"/>
            </a:solidFill>
            <a:prstDash val="solid"/>
          </a:ln>
        </p:spPr>
        <p:txBody>
          <a:bodyPr/>
          <a:lstStyle/>
          <a:p>
            <a:endParaRPr lang="en-PK"/>
          </a:p>
        </p:txBody>
      </p:sp>
      <p:sp>
        <p:nvSpPr>
          <p:cNvPr id="27" name="Text 25"/>
          <p:cNvSpPr txBox="1"/>
          <p:nvPr/>
        </p:nvSpPr>
        <p:spPr>
          <a:xfrm>
            <a:off x="4059936" y="3364992"/>
            <a:ext cx="7381951" cy="877824"/>
          </a:xfrm>
          <a:prstGeom prst="rect">
            <a:avLst/>
          </a:prstGeom>
          <a:noFill/>
          <a:ln/>
        </p:spPr>
        <p:txBody>
          <a:bodyPr wrap="square" lIns="0" tIns="0" rIns="0" bIns="0" rtlCol="0" anchor="ctr"/>
          <a:lstStyle/>
          <a:p>
            <a:pPr marL="0" indent="0">
              <a:buNone/>
            </a:pPr>
            <a:r>
              <a:rPr lang="en-US" sz="1700" dirty="0">
                <a:solidFill>
                  <a:srgbClr val="596273"/>
                </a:solidFill>
                <a:latin typeface="Calibri" pitchFamily="34" charset="0"/>
                <a:ea typeface="Calibri" pitchFamily="34" charset="-122"/>
                <a:cs typeface="Calibri" pitchFamily="34" charset="-120"/>
              </a:rPr>
              <a:t>Graph modeling, causal reasoning, tracing</a:t>
            </a:r>
            <a:endParaRPr lang="en-US" sz="1700" dirty="0"/>
          </a:p>
        </p:txBody>
      </p:sp>
      <p:sp>
        <p:nvSpPr>
          <p:cNvPr id="28" name="Shape 26"/>
          <p:cNvSpPr/>
          <p:nvPr/>
        </p:nvSpPr>
        <p:spPr>
          <a:xfrm>
            <a:off x="566928" y="4370832"/>
            <a:ext cx="11057839" cy="877824"/>
          </a:xfrm>
          <a:prstGeom prst="roundRect">
            <a:avLst>
              <a:gd name="adj" fmla="val 5208"/>
            </a:avLst>
          </a:prstGeom>
          <a:solidFill>
            <a:srgbClr val="E6F1EB"/>
          </a:solidFill>
          <a:ln w="12700">
            <a:solidFill>
              <a:srgbClr val="1E7A52"/>
            </a:solidFill>
            <a:prstDash val="solid"/>
          </a:ln>
        </p:spPr>
        <p:txBody>
          <a:bodyPr/>
          <a:lstStyle/>
          <a:p>
            <a:endParaRPr lang="en-PK"/>
          </a:p>
        </p:txBody>
      </p:sp>
      <p:sp>
        <p:nvSpPr>
          <p:cNvPr id="29" name="Shape 27"/>
          <p:cNvSpPr/>
          <p:nvPr/>
        </p:nvSpPr>
        <p:spPr>
          <a:xfrm>
            <a:off x="731520" y="4617720"/>
            <a:ext cx="384048" cy="384048"/>
          </a:xfrm>
          <a:prstGeom prst="ellipse">
            <a:avLst/>
          </a:prstGeom>
          <a:solidFill>
            <a:srgbClr val="1E7A52"/>
          </a:solidFill>
          <a:ln/>
        </p:spPr>
        <p:txBody>
          <a:bodyPr/>
          <a:lstStyle/>
          <a:p>
            <a:endParaRPr lang="en-PK"/>
          </a:p>
        </p:txBody>
      </p:sp>
      <p:sp>
        <p:nvSpPr>
          <p:cNvPr id="30" name="Text 28"/>
          <p:cNvSpPr txBox="1"/>
          <p:nvPr/>
        </p:nvSpPr>
        <p:spPr>
          <a:xfrm>
            <a:off x="731520" y="4617720"/>
            <a:ext cx="384048" cy="384048"/>
          </a:xfrm>
          <a:prstGeom prst="rect">
            <a:avLst/>
          </a:prstGeom>
          <a:noFill/>
          <a:ln/>
        </p:spPr>
        <p:txBody>
          <a:bodyPr wrap="square" lIns="0" tIns="0" rIns="0" bIns="0" rtlCol="0" anchor="ctr"/>
          <a:lstStyle/>
          <a:p>
            <a:pPr marL="0" indent="0" algn="ctr">
              <a:buNone/>
            </a:pPr>
            <a:r>
              <a:rPr lang="en-US" sz="1650" b="1" dirty="0">
                <a:solidFill>
                  <a:srgbClr val="F5F6F8"/>
                </a:solidFill>
                <a:latin typeface="Georgia" pitchFamily="34" charset="0"/>
                <a:ea typeface="Georgia" pitchFamily="34" charset="-122"/>
                <a:cs typeface="Georgia" pitchFamily="34" charset="-120"/>
              </a:rPr>
              <a:t>4</a:t>
            </a:r>
            <a:endParaRPr lang="en-US" sz="1650" dirty="0"/>
          </a:p>
        </p:txBody>
      </p:sp>
      <p:sp>
        <p:nvSpPr>
          <p:cNvPr id="31" name="Text 29"/>
          <p:cNvSpPr txBox="1"/>
          <p:nvPr/>
        </p:nvSpPr>
        <p:spPr>
          <a:xfrm>
            <a:off x="1261872" y="4370832"/>
            <a:ext cx="2505456" cy="877824"/>
          </a:xfrm>
          <a:prstGeom prst="rect">
            <a:avLst/>
          </a:prstGeom>
          <a:noFill/>
          <a:ln/>
        </p:spPr>
        <p:txBody>
          <a:bodyPr wrap="square" lIns="0" tIns="0" rIns="0" bIns="0" rtlCol="0" anchor="ctr"/>
          <a:lstStyle/>
          <a:p>
            <a:pPr marL="0" indent="0">
              <a:buNone/>
            </a:pPr>
            <a:r>
              <a:rPr lang="en-US" sz="2000" b="1" dirty="0">
                <a:solidFill>
                  <a:srgbClr val="1B202A"/>
                </a:solidFill>
                <a:latin typeface="Georgia" pitchFamily="34" charset="0"/>
                <a:ea typeface="Georgia" pitchFamily="34" charset="-122"/>
                <a:cs typeface="Georgia" pitchFamily="34" charset="-120"/>
              </a:rPr>
              <a:t>Beyond standard practice</a:t>
            </a:r>
            <a:endParaRPr lang="en-US" sz="2000" dirty="0"/>
          </a:p>
        </p:txBody>
      </p:sp>
      <p:sp>
        <p:nvSpPr>
          <p:cNvPr id="32" name="Shape 30"/>
          <p:cNvSpPr/>
          <p:nvPr/>
        </p:nvSpPr>
        <p:spPr>
          <a:xfrm>
            <a:off x="3858768" y="4517136"/>
            <a:ext cx="0" cy="585216"/>
          </a:xfrm>
          <a:prstGeom prst="line">
            <a:avLst/>
          </a:prstGeom>
          <a:noFill/>
          <a:ln w="12700">
            <a:solidFill>
              <a:srgbClr val="D9DCE3"/>
            </a:solidFill>
            <a:prstDash val="solid"/>
          </a:ln>
        </p:spPr>
        <p:txBody>
          <a:bodyPr/>
          <a:lstStyle/>
          <a:p>
            <a:endParaRPr lang="en-PK"/>
          </a:p>
        </p:txBody>
      </p:sp>
      <p:sp>
        <p:nvSpPr>
          <p:cNvPr id="33" name="Text 31"/>
          <p:cNvSpPr txBox="1"/>
          <p:nvPr/>
        </p:nvSpPr>
        <p:spPr>
          <a:xfrm>
            <a:off x="4059936" y="4370832"/>
            <a:ext cx="7381951" cy="877824"/>
          </a:xfrm>
          <a:prstGeom prst="rect">
            <a:avLst/>
          </a:prstGeom>
          <a:noFill/>
          <a:ln/>
        </p:spPr>
        <p:txBody>
          <a:bodyPr wrap="square" lIns="0" tIns="0" rIns="0" bIns="0" rtlCol="0" anchor="ctr"/>
          <a:lstStyle/>
          <a:p>
            <a:pPr marL="0" indent="0">
              <a:buNone/>
            </a:pPr>
            <a:r>
              <a:rPr lang="en-US" sz="1700" dirty="0">
                <a:solidFill>
                  <a:srgbClr val="596273"/>
                </a:solidFill>
                <a:latin typeface="Calibri" pitchFamily="34" charset="0"/>
                <a:ea typeface="Calibri" pitchFamily="34" charset="-122"/>
                <a:cs typeface="Calibri" pitchFamily="34" charset="-120"/>
              </a:rPr>
              <a:t>No framework does attribution + detection + recovery</a:t>
            </a:r>
            <a:endParaRPr lang="en-US" sz="1700" dirty="0"/>
          </a:p>
        </p:txBody>
      </p:sp>
      <p:sp>
        <p:nvSpPr>
          <p:cNvPr id="34" name="Shape 32"/>
          <p:cNvSpPr/>
          <p:nvPr/>
        </p:nvSpPr>
        <p:spPr>
          <a:xfrm>
            <a:off x="566928" y="5376672"/>
            <a:ext cx="11057839" cy="877824"/>
          </a:xfrm>
          <a:prstGeom prst="roundRect">
            <a:avLst>
              <a:gd name="adj" fmla="val 5208"/>
            </a:avLst>
          </a:prstGeom>
          <a:solidFill>
            <a:srgbClr val="E6F1EB"/>
          </a:solidFill>
          <a:ln w="12700">
            <a:solidFill>
              <a:srgbClr val="1E7A52"/>
            </a:solidFill>
            <a:prstDash val="solid"/>
          </a:ln>
        </p:spPr>
        <p:txBody>
          <a:bodyPr/>
          <a:lstStyle/>
          <a:p>
            <a:endParaRPr lang="en-PK"/>
          </a:p>
        </p:txBody>
      </p:sp>
      <p:sp>
        <p:nvSpPr>
          <p:cNvPr id="35" name="Shape 33"/>
          <p:cNvSpPr/>
          <p:nvPr/>
        </p:nvSpPr>
        <p:spPr>
          <a:xfrm>
            <a:off x="731520" y="5623560"/>
            <a:ext cx="384048" cy="384048"/>
          </a:xfrm>
          <a:prstGeom prst="ellipse">
            <a:avLst/>
          </a:prstGeom>
          <a:solidFill>
            <a:srgbClr val="1E7A52"/>
          </a:solidFill>
          <a:ln/>
        </p:spPr>
        <p:txBody>
          <a:bodyPr/>
          <a:lstStyle/>
          <a:p>
            <a:endParaRPr lang="en-PK"/>
          </a:p>
        </p:txBody>
      </p:sp>
      <p:sp>
        <p:nvSpPr>
          <p:cNvPr id="36" name="Text 34"/>
          <p:cNvSpPr txBox="1"/>
          <p:nvPr/>
        </p:nvSpPr>
        <p:spPr>
          <a:xfrm>
            <a:off x="731520" y="5623560"/>
            <a:ext cx="384048" cy="384048"/>
          </a:xfrm>
          <a:prstGeom prst="rect">
            <a:avLst/>
          </a:prstGeom>
          <a:noFill/>
          <a:ln/>
        </p:spPr>
        <p:txBody>
          <a:bodyPr wrap="square" lIns="0" tIns="0" rIns="0" bIns="0" rtlCol="0" anchor="ctr"/>
          <a:lstStyle/>
          <a:p>
            <a:pPr marL="0" indent="0" algn="ctr">
              <a:buNone/>
            </a:pPr>
            <a:r>
              <a:rPr lang="en-US" sz="1650" b="1" dirty="0">
                <a:solidFill>
                  <a:srgbClr val="F5F6F8"/>
                </a:solidFill>
                <a:latin typeface="Georgia" pitchFamily="34" charset="0"/>
                <a:ea typeface="Georgia" pitchFamily="34" charset="-122"/>
                <a:cs typeface="Georgia" pitchFamily="34" charset="-120"/>
              </a:rPr>
              <a:t>5</a:t>
            </a:r>
            <a:endParaRPr lang="en-US" sz="1650" dirty="0"/>
          </a:p>
        </p:txBody>
      </p:sp>
      <p:sp>
        <p:nvSpPr>
          <p:cNvPr id="37" name="Text 35"/>
          <p:cNvSpPr txBox="1"/>
          <p:nvPr/>
        </p:nvSpPr>
        <p:spPr>
          <a:xfrm>
            <a:off x="1261872" y="5376672"/>
            <a:ext cx="2505456" cy="877824"/>
          </a:xfrm>
          <a:prstGeom prst="rect">
            <a:avLst/>
          </a:prstGeom>
          <a:noFill/>
          <a:ln/>
        </p:spPr>
        <p:txBody>
          <a:bodyPr wrap="square" lIns="0" tIns="0" rIns="0" bIns="0" rtlCol="0" anchor="ctr"/>
          <a:lstStyle/>
          <a:p>
            <a:pPr marL="0" indent="0">
              <a:buNone/>
            </a:pPr>
            <a:r>
              <a:rPr lang="en-US" sz="2000" b="1" dirty="0">
                <a:solidFill>
                  <a:srgbClr val="1B202A"/>
                </a:solidFill>
                <a:latin typeface="Georgia" pitchFamily="34" charset="0"/>
                <a:ea typeface="Georgia" pitchFamily="34" charset="-122"/>
                <a:cs typeface="Georgia" pitchFamily="34" charset="-120"/>
              </a:rPr>
              <a:t>Ill-defined cause</a:t>
            </a:r>
            <a:endParaRPr lang="en-US" sz="2000" dirty="0"/>
          </a:p>
        </p:txBody>
      </p:sp>
      <p:sp>
        <p:nvSpPr>
          <p:cNvPr id="38" name="Shape 36"/>
          <p:cNvSpPr/>
          <p:nvPr/>
        </p:nvSpPr>
        <p:spPr>
          <a:xfrm>
            <a:off x="3858768" y="5522976"/>
            <a:ext cx="0" cy="585216"/>
          </a:xfrm>
          <a:prstGeom prst="line">
            <a:avLst/>
          </a:prstGeom>
          <a:noFill/>
          <a:ln w="12700">
            <a:solidFill>
              <a:srgbClr val="D9DCE3"/>
            </a:solidFill>
            <a:prstDash val="solid"/>
          </a:ln>
        </p:spPr>
        <p:txBody>
          <a:bodyPr/>
          <a:lstStyle/>
          <a:p>
            <a:endParaRPr lang="en-PK"/>
          </a:p>
        </p:txBody>
      </p:sp>
      <p:sp>
        <p:nvSpPr>
          <p:cNvPr id="39" name="Text 37"/>
          <p:cNvSpPr txBox="1"/>
          <p:nvPr/>
        </p:nvSpPr>
        <p:spPr>
          <a:xfrm>
            <a:off x="4059936" y="5376672"/>
            <a:ext cx="7381951" cy="877824"/>
          </a:xfrm>
          <a:prstGeom prst="rect">
            <a:avLst/>
          </a:prstGeom>
          <a:noFill/>
          <a:ln/>
        </p:spPr>
        <p:txBody>
          <a:bodyPr wrap="square" lIns="0" tIns="0" rIns="0" bIns="0" rtlCol="0" anchor="ctr"/>
          <a:lstStyle/>
          <a:p>
            <a:pPr marL="0" indent="0">
              <a:buNone/>
            </a:pPr>
            <a:r>
              <a:rPr lang="en-US" sz="1700" dirty="0">
                <a:solidFill>
                  <a:srgbClr val="596273"/>
                </a:solidFill>
                <a:latin typeface="Calibri" pitchFamily="34" charset="0"/>
                <a:ea typeface="Calibri" pitchFamily="34" charset="-122"/>
                <a:cs typeface="Calibri" pitchFamily="34" charset="-120"/>
              </a:rPr>
              <a:t>3 unknowns: whether, which step, what's correct</a:t>
            </a:r>
            <a:endParaRPr lang="en-US" sz="17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C"/>
        </a:solidFill>
        <a:effectLst/>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txBody>
          <a:bodyPr/>
          <a:lstStyle/>
          <a:p>
            <a:endParaRPr lang="en-PK"/>
          </a:p>
        </p:txBody>
      </p:sp>
      <p:sp>
        <p:nvSpPr>
          <p:cNvPr id="3" name="Shape 1"/>
          <p:cNvSpPr/>
          <p:nvPr/>
        </p:nvSpPr>
        <p:spPr>
          <a:xfrm rot="2700000">
            <a:off x="10618927" y="5285232"/>
            <a:ext cx="1005840" cy="1005840"/>
          </a:xfrm>
          <a:prstGeom prst="rect">
            <a:avLst/>
          </a:prstGeom>
          <a:ln w="12700">
            <a:solidFill>
              <a:srgbClr val="F4F5F7"/>
            </a:solidFill>
            <a:prstDash val="solid"/>
          </a:ln>
        </p:spPr>
        <p:txBody>
          <a:bodyPr/>
          <a:lstStyle/>
          <a:p>
            <a:endParaRPr lang="en-PK"/>
          </a:p>
        </p:txBody>
      </p:sp>
      <p:sp>
        <p:nvSpPr>
          <p:cNvPr id="4" name="Shape 2"/>
          <p:cNvSpPr/>
          <p:nvPr/>
        </p:nvSpPr>
        <p:spPr>
          <a:xfrm rot="2700000">
            <a:off x="10856671" y="5522976"/>
            <a:ext cx="530352" cy="530352"/>
          </a:xfrm>
          <a:prstGeom prst="rect">
            <a:avLst/>
          </a:prstGeom>
          <a:ln w="12700">
            <a:solidFill>
              <a:srgbClr val="F7F4ED"/>
            </a:solidFill>
            <a:prstDash val="solid"/>
          </a:ln>
        </p:spPr>
        <p:txBody>
          <a:bodyPr/>
          <a:lstStyle/>
          <a:p>
            <a:endParaRPr lang="en-PK"/>
          </a:p>
        </p:txBody>
      </p:sp>
      <p:sp>
        <p:nvSpPr>
          <p:cNvPr id="5" name="Text 3"/>
          <p:cNvSpPr txBox="1"/>
          <p:nvPr/>
        </p:nvSpPr>
        <p:spPr>
          <a:xfrm>
            <a:off x="566928" y="365760"/>
            <a:ext cx="11057839" cy="731520"/>
          </a:xfrm>
          <a:prstGeom prst="rect">
            <a:avLst/>
          </a:prstGeom>
          <a:noFill/>
          <a:ln/>
        </p:spPr>
        <p:txBody>
          <a:bodyPr wrap="square" lIns="0" tIns="0" rIns="0" bIns="0" rtlCol="0" anchor="ctr"/>
          <a:lstStyle/>
          <a:p>
            <a:pPr marL="0" indent="0">
              <a:buNone/>
            </a:pPr>
            <a:r>
              <a:rPr lang="en-US" sz="3200" b="1" dirty="0">
                <a:solidFill>
                  <a:srgbClr val="1B202A"/>
                </a:solidFill>
                <a:latin typeface="Georgia" pitchFamily="34" charset="0"/>
                <a:ea typeface="Georgia" pitchFamily="34" charset="-122"/>
                <a:cs typeface="Georgia" pitchFamily="34" charset="-120"/>
              </a:rPr>
              <a:t>Proposed Solution &amp; Contribution</a:t>
            </a:r>
            <a:endParaRPr lang="en-US" sz="3200" dirty="0"/>
          </a:p>
        </p:txBody>
      </p:sp>
      <p:sp>
        <p:nvSpPr>
          <p:cNvPr id="6" name="Shape 4"/>
          <p:cNvSpPr/>
          <p:nvPr/>
        </p:nvSpPr>
        <p:spPr>
          <a:xfrm>
            <a:off x="566928" y="1152144"/>
            <a:ext cx="566928" cy="36576"/>
          </a:xfrm>
          <a:prstGeom prst="rect">
            <a:avLst/>
          </a:prstGeom>
          <a:solidFill>
            <a:srgbClr val="C89B3C"/>
          </a:solidFill>
          <a:ln/>
        </p:spPr>
        <p:txBody>
          <a:bodyPr/>
          <a:lstStyle/>
          <a:p>
            <a:endParaRPr lang="en-PK"/>
          </a:p>
        </p:txBody>
      </p:sp>
      <p:sp>
        <p:nvSpPr>
          <p:cNvPr id="7" name="Shape 5"/>
          <p:cNvSpPr/>
          <p:nvPr/>
        </p:nvSpPr>
        <p:spPr>
          <a:xfrm>
            <a:off x="566928" y="6437376"/>
            <a:ext cx="11057839" cy="0"/>
          </a:xfrm>
          <a:prstGeom prst="line">
            <a:avLst/>
          </a:prstGeom>
          <a:noFill/>
          <a:ln w="9525">
            <a:solidFill>
              <a:srgbClr val="D9DCE3"/>
            </a:solidFill>
            <a:prstDash val="solid"/>
          </a:ln>
        </p:spPr>
        <p:txBody>
          <a:bodyPr/>
          <a:lstStyle/>
          <a:p>
            <a:endParaRPr lang="en-PK"/>
          </a:p>
        </p:txBody>
      </p:sp>
      <p:sp>
        <p:nvSpPr>
          <p:cNvPr id="8" name="Text 6"/>
          <p:cNvSpPr txBox="1"/>
          <p:nvPr/>
        </p:nvSpPr>
        <p:spPr>
          <a:xfrm>
            <a:off x="566928" y="6510528"/>
            <a:ext cx="5943600" cy="237744"/>
          </a:xfrm>
          <a:prstGeom prst="rect">
            <a:avLst/>
          </a:prstGeom>
          <a:noFill/>
          <a:ln/>
        </p:spPr>
        <p:txBody>
          <a:bodyPr wrap="square" lIns="0" tIns="0" rIns="0" bIns="0" rtlCol="0" anchor="ctr"/>
          <a:lstStyle/>
          <a:p>
            <a:pPr marL="0" indent="0">
              <a:buNone/>
            </a:pPr>
            <a:r>
              <a:rPr lang="en-US" sz="1300" kern="0" spc="50" dirty="0">
                <a:solidFill>
                  <a:srgbClr val="8B92A2"/>
                </a:solidFill>
                <a:latin typeface="Consolas" pitchFamily="34" charset="0"/>
                <a:ea typeface="Consolas" pitchFamily="34" charset="-122"/>
                <a:cs typeface="Consolas" pitchFamily="34" charset="-120"/>
              </a:rPr>
              <a:t>F26-060-GRANITE  ·  PROPOSAL DEFENSE  ·  STREAM A</a:t>
            </a:r>
            <a:endParaRPr lang="en-US" sz="130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marL="0" indent="0" algn="r">
              <a:buNone/>
            </a:pPr>
            <a:r>
              <a:rPr lang="en-US" sz="1300" b="1" dirty="0">
                <a:solidFill>
                  <a:srgbClr val="8E6A1F"/>
                </a:solidFill>
                <a:latin typeface="Consolas" pitchFamily="34" charset="0"/>
                <a:ea typeface="Consolas" pitchFamily="34" charset="-122"/>
                <a:cs typeface="Consolas" pitchFamily="34" charset="-120"/>
              </a:rPr>
              <a:t>6 / 11</a:t>
            </a:r>
            <a:endParaRPr lang="en-US" sz="1300" dirty="0"/>
          </a:p>
        </p:txBody>
      </p:sp>
      <p:sp>
        <p:nvSpPr>
          <p:cNvPr id="10" name="Shape 8"/>
          <p:cNvSpPr/>
          <p:nvPr/>
        </p:nvSpPr>
        <p:spPr>
          <a:xfrm>
            <a:off x="587045" y="1324051"/>
            <a:ext cx="11057839" cy="914400"/>
          </a:xfrm>
          <a:prstGeom prst="roundRect">
            <a:avLst>
              <a:gd name="adj" fmla="val 6000"/>
            </a:avLst>
          </a:prstGeom>
          <a:solidFill>
            <a:srgbClr val="E4E6EB"/>
          </a:solidFill>
          <a:ln/>
        </p:spPr>
        <p:txBody>
          <a:bodyPr/>
          <a:lstStyle/>
          <a:p>
            <a:endParaRPr lang="en-PK"/>
          </a:p>
        </p:txBody>
      </p:sp>
      <p:sp>
        <p:nvSpPr>
          <p:cNvPr id="11" name="Shape 9"/>
          <p:cNvSpPr/>
          <p:nvPr/>
        </p:nvSpPr>
        <p:spPr>
          <a:xfrm>
            <a:off x="566928" y="1298448"/>
            <a:ext cx="11057839" cy="914400"/>
          </a:xfrm>
          <a:prstGeom prst="roundRect">
            <a:avLst>
              <a:gd name="adj" fmla="val 6000"/>
            </a:avLst>
          </a:prstGeom>
          <a:solidFill>
            <a:srgbClr val="F1F2F5"/>
          </a:solidFill>
          <a:ln w="9525">
            <a:solidFill>
              <a:srgbClr val="D9DCE3"/>
            </a:solidFill>
            <a:prstDash val="solid"/>
          </a:ln>
        </p:spPr>
        <p:txBody>
          <a:bodyPr/>
          <a:lstStyle/>
          <a:p>
            <a:endParaRPr lang="en-PK"/>
          </a:p>
        </p:txBody>
      </p:sp>
      <p:sp>
        <p:nvSpPr>
          <p:cNvPr id="12" name="Shape 10"/>
          <p:cNvSpPr/>
          <p:nvPr/>
        </p:nvSpPr>
        <p:spPr>
          <a:xfrm>
            <a:off x="566928" y="1353312"/>
            <a:ext cx="41148" cy="804672"/>
          </a:xfrm>
          <a:prstGeom prst="rect">
            <a:avLst/>
          </a:prstGeom>
          <a:solidFill>
            <a:srgbClr val="C89B3C"/>
          </a:solidFill>
          <a:ln/>
        </p:spPr>
        <p:txBody>
          <a:bodyPr/>
          <a:lstStyle/>
          <a:p>
            <a:endParaRPr lang="en-PK"/>
          </a:p>
        </p:txBody>
      </p:sp>
      <p:sp>
        <p:nvSpPr>
          <p:cNvPr id="13" name="Text 11"/>
          <p:cNvSpPr txBox="1"/>
          <p:nvPr/>
        </p:nvSpPr>
        <p:spPr>
          <a:xfrm>
            <a:off x="822960" y="1298448"/>
            <a:ext cx="10545775" cy="914400"/>
          </a:xfrm>
          <a:prstGeom prst="rect">
            <a:avLst/>
          </a:prstGeom>
          <a:noFill/>
          <a:ln/>
        </p:spPr>
        <p:txBody>
          <a:bodyPr wrap="square" lIns="0" tIns="0" rIns="0" bIns="0" rtlCol="0" anchor="ctr"/>
          <a:lstStyle/>
          <a:p>
            <a:pPr marL="0" indent="0">
              <a:buNone/>
            </a:pPr>
            <a:r>
              <a:rPr lang="en-US" sz="2000" b="1" dirty="0">
                <a:solidFill>
                  <a:srgbClr val="8E6A1F"/>
                </a:solidFill>
                <a:latin typeface="Calibri" pitchFamily="34" charset="0"/>
                <a:ea typeface="Calibri" pitchFamily="34" charset="-122"/>
                <a:cs typeface="Calibri" pitchFamily="34" charset="-120"/>
              </a:rPr>
              <a:t>Contribution.  </a:t>
            </a:r>
            <a:r>
              <a:rPr lang="en-US" sz="1700" dirty="0">
                <a:solidFill>
                  <a:srgbClr val="1B202A"/>
                </a:solidFill>
                <a:latin typeface="Calibri" pitchFamily="34" charset="0"/>
                <a:ea typeface="Calibri" pitchFamily="34" charset="-122"/>
                <a:cs typeface="Calibri" pitchFamily="34" charset="-120"/>
              </a:rPr>
              <a:t>Best published method: 59.5% — untested on unseen architectures, blind to silent failures. We build a cross-architecture benchmark and a diagnosis pipeline with constraint-based verification, as a framework-agnostic SDK.</a:t>
            </a:r>
            <a:endParaRPr lang="en-US" sz="2000" dirty="0"/>
          </a:p>
        </p:txBody>
      </p:sp>
      <p:sp>
        <p:nvSpPr>
          <p:cNvPr id="14" name="Shape 12"/>
          <p:cNvSpPr/>
          <p:nvPr/>
        </p:nvSpPr>
        <p:spPr>
          <a:xfrm>
            <a:off x="566928" y="2395728"/>
            <a:ext cx="1691640" cy="896112"/>
          </a:xfrm>
          <a:prstGeom prst="roundRect">
            <a:avLst>
              <a:gd name="adj" fmla="val 5102"/>
            </a:avLst>
          </a:prstGeom>
          <a:solidFill>
            <a:srgbClr val="FBFBFC"/>
          </a:solidFill>
          <a:ln w="13970">
            <a:solidFill>
              <a:srgbClr val="596273"/>
            </a:solidFill>
            <a:prstDash val="solid"/>
          </a:ln>
        </p:spPr>
        <p:txBody>
          <a:bodyPr/>
          <a:lstStyle/>
          <a:p>
            <a:endParaRPr lang="en-PK"/>
          </a:p>
        </p:txBody>
      </p:sp>
      <p:sp>
        <p:nvSpPr>
          <p:cNvPr id="15" name="Text 13"/>
          <p:cNvSpPr txBox="1"/>
          <p:nvPr/>
        </p:nvSpPr>
        <p:spPr>
          <a:xfrm>
            <a:off x="621792" y="2432304"/>
            <a:ext cx="1581912" cy="274320"/>
          </a:xfrm>
          <a:prstGeom prst="rect">
            <a:avLst/>
          </a:prstGeom>
          <a:noFill/>
          <a:ln/>
        </p:spPr>
        <p:txBody>
          <a:bodyPr wrap="square" lIns="0" tIns="0" rIns="0" bIns="0" rtlCol="0" anchor="t"/>
          <a:lstStyle/>
          <a:p>
            <a:pPr marL="0" indent="0" algn="ctr">
              <a:buNone/>
            </a:pPr>
            <a:r>
              <a:rPr lang="en-US" sz="1300" b="1" dirty="0">
                <a:solidFill>
                  <a:srgbClr val="1B202A"/>
                </a:solidFill>
                <a:latin typeface="Calibri" pitchFamily="34" charset="0"/>
                <a:ea typeface="Calibri" pitchFamily="34" charset="-122"/>
                <a:cs typeface="Calibri" pitchFamily="34" charset="-120"/>
              </a:rPr>
              <a:t>Target Multi-Agent System</a:t>
            </a:r>
            <a:endParaRPr lang="en-US" sz="1300" dirty="0"/>
          </a:p>
        </p:txBody>
      </p:sp>
      <p:sp>
        <p:nvSpPr>
          <p:cNvPr id="16" name="Text 14"/>
          <p:cNvSpPr txBox="1"/>
          <p:nvPr/>
        </p:nvSpPr>
        <p:spPr>
          <a:xfrm>
            <a:off x="621792" y="3054096"/>
            <a:ext cx="1581912" cy="201168"/>
          </a:xfrm>
          <a:prstGeom prst="rect">
            <a:avLst/>
          </a:prstGeom>
          <a:noFill/>
          <a:ln/>
        </p:spPr>
        <p:txBody>
          <a:bodyPr wrap="square" lIns="0" tIns="0" rIns="0" bIns="0" rtlCol="0" anchor="ctr"/>
          <a:lstStyle/>
          <a:p>
            <a:pPr marL="0" indent="0" algn="ctr">
              <a:buNone/>
            </a:pPr>
            <a:r>
              <a:rPr lang="en-US" sz="1050" dirty="0">
                <a:solidFill>
                  <a:srgbClr val="596273"/>
                </a:solidFill>
                <a:latin typeface="Consolas" pitchFamily="34" charset="0"/>
                <a:ea typeface="Consolas" pitchFamily="34" charset="-122"/>
                <a:cs typeface="Consolas" pitchFamily="34" charset="-120"/>
              </a:rPr>
              <a:t>CrewAI / LangGraph</a:t>
            </a:r>
            <a:endParaRPr lang="en-US" sz="1050" dirty="0"/>
          </a:p>
        </p:txBody>
      </p:sp>
      <p:sp>
        <p:nvSpPr>
          <p:cNvPr id="17" name="Shape 15"/>
          <p:cNvSpPr/>
          <p:nvPr/>
        </p:nvSpPr>
        <p:spPr>
          <a:xfrm>
            <a:off x="566928" y="5394960"/>
            <a:ext cx="1691640" cy="896112"/>
          </a:xfrm>
          <a:prstGeom prst="roundRect">
            <a:avLst>
              <a:gd name="adj" fmla="val 5102"/>
            </a:avLst>
          </a:prstGeom>
          <a:solidFill>
            <a:srgbClr val="FBFBFC"/>
          </a:solidFill>
          <a:ln w="13970">
            <a:solidFill>
              <a:srgbClr val="596273"/>
            </a:solidFill>
            <a:prstDash val="solid"/>
          </a:ln>
        </p:spPr>
        <p:txBody>
          <a:bodyPr/>
          <a:lstStyle/>
          <a:p>
            <a:endParaRPr lang="en-PK"/>
          </a:p>
        </p:txBody>
      </p:sp>
      <p:sp>
        <p:nvSpPr>
          <p:cNvPr id="18" name="Text 16"/>
          <p:cNvSpPr txBox="1"/>
          <p:nvPr/>
        </p:nvSpPr>
        <p:spPr>
          <a:xfrm>
            <a:off x="621792" y="5431536"/>
            <a:ext cx="1581912" cy="274320"/>
          </a:xfrm>
          <a:prstGeom prst="rect">
            <a:avLst/>
          </a:prstGeom>
          <a:noFill/>
          <a:ln/>
        </p:spPr>
        <p:txBody>
          <a:bodyPr wrap="square" lIns="0" tIns="0" rIns="0" bIns="0" rtlCol="0" anchor="t"/>
          <a:lstStyle/>
          <a:p>
            <a:pPr marL="0" indent="0" algn="ctr">
              <a:buNone/>
            </a:pPr>
            <a:r>
              <a:rPr lang="en-US" sz="1300" b="1" dirty="0">
                <a:solidFill>
                  <a:srgbClr val="1B202A"/>
                </a:solidFill>
                <a:latin typeface="Calibri" pitchFamily="34" charset="0"/>
                <a:ea typeface="Calibri" pitchFamily="34" charset="-122"/>
                <a:cs typeface="Calibri" pitchFamily="34" charset="-120"/>
              </a:rPr>
              <a:t>Operator</a:t>
            </a:r>
            <a:endParaRPr lang="en-US" sz="1300" dirty="0"/>
          </a:p>
        </p:txBody>
      </p:sp>
      <p:sp>
        <p:nvSpPr>
          <p:cNvPr id="19" name="Text 17"/>
          <p:cNvSpPr txBox="1"/>
          <p:nvPr/>
        </p:nvSpPr>
        <p:spPr>
          <a:xfrm>
            <a:off x="621792" y="6053328"/>
            <a:ext cx="1581912" cy="201168"/>
          </a:xfrm>
          <a:prstGeom prst="rect">
            <a:avLst/>
          </a:prstGeom>
          <a:noFill/>
          <a:ln/>
        </p:spPr>
        <p:txBody>
          <a:bodyPr wrap="square" lIns="0" tIns="0" rIns="0" bIns="0" rtlCol="0" anchor="ctr"/>
          <a:lstStyle/>
          <a:p>
            <a:pPr marL="0" indent="0" algn="ctr">
              <a:buNone/>
            </a:pPr>
            <a:r>
              <a:rPr lang="en-US" sz="1050" dirty="0">
                <a:solidFill>
                  <a:srgbClr val="596273"/>
                </a:solidFill>
                <a:latin typeface="Consolas" pitchFamily="34" charset="0"/>
                <a:ea typeface="Consolas" pitchFamily="34" charset="-122"/>
                <a:cs typeface="Consolas" pitchFamily="34" charset="-120"/>
              </a:rPr>
              <a:t>engineering team</a:t>
            </a:r>
            <a:endParaRPr lang="en-US" sz="1050" dirty="0"/>
          </a:p>
        </p:txBody>
      </p:sp>
      <p:sp>
        <p:nvSpPr>
          <p:cNvPr id="20" name="Shape 18"/>
          <p:cNvSpPr/>
          <p:nvPr/>
        </p:nvSpPr>
        <p:spPr>
          <a:xfrm>
            <a:off x="1412748" y="3291840"/>
            <a:ext cx="914" cy="2103120"/>
          </a:xfrm>
          <a:prstGeom prst="line">
            <a:avLst/>
          </a:prstGeom>
          <a:noFill/>
          <a:ln w="15875">
            <a:solidFill>
              <a:srgbClr val="596273"/>
            </a:solidFill>
            <a:prstDash val="solid"/>
            <a:tailEnd type="triangle"/>
          </a:ln>
        </p:spPr>
        <p:txBody>
          <a:bodyPr/>
          <a:lstStyle/>
          <a:p>
            <a:endParaRPr lang="en-PK"/>
          </a:p>
        </p:txBody>
      </p:sp>
      <p:sp>
        <p:nvSpPr>
          <p:cNvPr id="21" name="Shape 19"/>
          <p:cNvSpPr/>
          <p:nvPr/>
        </p:nvSpPr>
        <p:spPr>
          <a:xfrm>
            <a:off x="2514600" y="2286000"/>
            <a:ext cx="7601407" cy="4078224"/>
          </a:xfrm>
          <a:prstGeom prst="roundRect">
            <a:avLst>
              <a:gd name="adj" fmla="val 1794"/>
            </a:avLst>
          </a:prstGeom>
          <a:solidFill>
            <a:srgbClr val="FFFFFF"/>
          </a:solidFill>
          <a:ln w="22225">
            <a:solidFill>
              <a:srgbClr val="8E6A1F"/>
            </a:solidFill>
            <a:prstDash val="dash"/>
          </a:ln>
        </p:spPr>
        <p:txBody>
          <a:bodyPr/>
          <a:lstStyle/>
          <a:p>
            <a:endParaRPr lang="en-PK"/>
          </a:p>
        </p:txBody>
      </p:sp>
      <p:sp>
        <p:nvSpPr>
          <p:cNvPr id="22" name="Text 20"/>
          <p:cNvSpPr txBox="1"/>
          <p:nvPr/>
        </p:nvSpPr>
        <p:spPr>
          <a:xfrm>
            <a:off x="2660904" y="2331720"/>
            <a:ext cx="4023360" cy="237744"/>
          </a:xfrm>
          <a:prstGeom prst="rect">
            <a:avLst/>
          </a:prstGeom>
          <a:noFill/>
          <a:ln/>
        </p:spPr>
        <p:txBody>
          <a:bodyPr wrap="square" lIns="0" tIns="0" rIns="0" bIns="0" rtlCol="0" anchor="ctr"/>
          <a:lstStyle/>
          <a:p>
            <a:pPr marL="0" indent="0">
              <a:buNone/>
            </a:pPr>
            <a:r>
              <a:rPr lang="en-US" sz="1200" b="1" kern="0" spc="80" dirty="0">
                <a:solidFill>
                  <a:srgbClr val="8E6A1F"/>
                </a:solidFill>
                <a:latin typeface="Consolas" pitchFamily="34" charset="0"/>
                <a:ea typeface="Consolas" pitchFamily="34" charset="-122"/>
                <a:cs typeface="Consolas" pitchFamily="34" charset="-120"/>
              </a:rPr>
              <a:t>GRANITE — SYSTEM BOUNDARY</a:t>
            </a:r>
            <a:endParaRPr lang="en-US" sz="1200" dirty="0"/>
          </a:p>
        </p:txBody>
      </p:sp>
      <p:sp>
        <p:nvSpPr>
          <p:cNvPr id="23" name="Shape 21"/>
          <p:cNvSpPr/>
          <p:nvPr/>
        </p:nvSpPr>
        <p:spPr>
          <a:xfrm>
            <a:off x="2258568" y="2834640"/>
            <a:ext cx="256032" cy="914"/>
          </a:xfrm>
          <a:prstGeom prst="line">
            <a:avLst/>
          </a:prstGeom>
          <a:noFill/>
          <a:ln w="15875">
            <a:solidFill>
              <a:srgbClr val="596273"/>
            </a:solidFill>
            <a:prstDash val="solid"/>
            <a:tailEnd type="triangle"/>
          </a:ln>
        </p:spPr>
        <p:txBody>
          <a:bodyPr/>
          <a:lstStyle/>
          <a:p>
            <a:endParaRPr lang="en-PK"/>
          </a:p>
        </p:txBody>
      </p:sp>
      <p:sp>
        <p:nvSpPr>
          <p:cNvPr id="24" name="Shape 22"/>
          <p:cNvSpPr/>
          <p:nvPr/>
        </p:nvSpPr>
        <p:spPr>
          <a:xfrm>
            <a:off x="2651760" y="2560320"/>
            <a:ext cx="7327087" cy="914400"/>
          </a:xfrm>
          <a:prstGeom prst="roundRect">
            <a:avLst>
              <a:gd name="adj" fmla="val 6000"/>
            </a:avLst>
          </a:prstGeom>
          <a:solidFill>
            <a:srgbClr val="E3EFF1"/>
          </a:solidFill>
          <a:ln w="15240">
            <a:solidFill>
              <a:srgbClr val="15707A"/>
            </a:solidFill>
            <a:prstDash val="solid"/>
          </a:ln>
        </p:spPr>
        <p:txBody>
          <a:bodyPr/>
          <a:lstStyle/>
          <a:p>
            <a:endParaRPr lang="en-PK"/>
          </a:p>
        </p:txBody>
      </p:sp>
      <p:sp>
        <p:nvSpPr>
          <p:cNvPr id="25" name="Text 23"/>
          <p:cNvSpPr txBox="1"/>
          <p:nvPr/>
        </p:nvSpPr>
        <p:spPr>
          <a:xfrm>
            <a:off x="2779776" y="2596896"/>
            <a:ext cx="3657600" cy="219456"/>
          </a:xfrm>
          <a:prstGeom prst="rect">
            <a:avLst/>
          </a:prstGeom>
          <a:noFill/>
          <a:ln/>
        </p:spPr>
        <p:txBody>
          <a:bodyPr wrap="square" lIns="0" tIns="0" rIns="0" bIns="0" rtlCol="0" anchor="ctr"/>
          <a:lstStyle/>
          <a:p>
            <a:pPr marL="0" indent="0">
              <a:buNone/>
            </a:pPr>
            <a:r>
              <a:rPr lang="en-US" sz="1200" b="1" kern="0" spc="50" dirty="0">
                <a:solidFill>
                  <a:srgbClr val="15707A"/>
                </a:solidFill>
                <a:latin typeface="Consolas" pitchFamily="34" charset="0"/>
                <a:ea typeface="Consolas" pitchFamily="34" charset="-122"/>
                <a:cs typeface="Consolas" pitchFamily="34" charset="-120"/>
              </a:rPr>
              <a:t>LANE A — DATA / BENCHMARK</a:t>
            </a:r>
            <a:endParaRPr lang="en-US" sz="1200" dirty="0"/>
          </a:p>
        </p:txBody>
      </p:sp>
      <p:sp>
        <p:nvSpPr>
          <p:cNvPr id="26" name="Shape 24"/>
          <p:cNvSpPr/>
          <p:nvPr/>
        </p:nvSpPr>
        <p:spPr>
          <a:xfrm>
            <a:off x="2788920" y="2834640"/>
            <a:ext cx="2423160" cy="566928"/>
          </a:xfrm>
          <a:prstGeom prst="roundRect">
            <a:avLst>
              <a:gd name="adj" fmla="val 8065"/>
            </a:avLst>
          </a:prstGeom>
          <a:solidFill>
            <a:srgbClr val="FFFFFF"/>
          </a:solidFill>
          <a:ln w="13970">
            <a:solidFill>
              <a:srgbClr val="15707A"/>
            </a:solidFill>
            <a:prstDash val="solid"/>
          </a:ln>
        </p:spPr>
        <p:txBody>
          <a:bodyPr/>
          <a:lstStyle/>
          <a:p>
            <a:endParaRPr lang="en-PK"/>
          </a:p>
        </p:txBody>
      </p:sp>
      <p:sp>
        <p:nvSpPr>
          <p:cNvPr id="27" name="Text 25"/>
          <p:cNvSpPr txBox="1"/>
          <p:nvPr/>
        </p:nvSpPr>
        <p:spPr>
          <a:xfrm>
            <a:off x="2843784" y="2871216"/>
            <a:ext cx="2313432" cy="274320"/>
          </a:xfrm>
          <a:prstGeom prst="rect">
            <a:avLst/>
          </a:prstGeom>
          <a:noFill/>
          <a:ln/>
        </p:spPr>
        <p:txBody>
          <a:bodyPr wrap="square" lIns="0" tIns="0" rIns="0" bIns="0" rtlCol="0" anchor="t"/>
          <a:lstStyle/>
          <a:p>
            <a:pPr marL="0" indent="0" algn="ctr">
              <a:buNone/>
            </a:pPr>
            <a:r>
              <a:rPr lang="en-US" sz="1300" b="1" dirty="0">
                <a:solidFill>
                  <a:srgbClr val="1B202A"/>
                </a:solidFill>
                <a:latin typeface="Calibri" pitchFamily="34" charset="0"/>
                <a:ea typeface="Calibri" pitchFamily="34" charset="-122"/>
                <a:cs typeface="Calibri" pitchFamily="34" charset="-120"/>
              </a:rPr>
              <a:t>Framework Adapters</a:t>
            </a:r>
            <a:endParaRPr lang="en-US" sz="1300" dirty="0"/>
          </a:p>
        </p:txBody>
      </p:sp>
      <p:sp>
        <p:nvSpPr>
          <p:cNvPr id="28" name="Text 26"/>
          <p:cNvSpPr txBox="1"/>
          <p:nvPr/>
        </p:nvSpPr>
        <p:spPr>
          <a:xfrm>
            <a:off x="2843784" y="3163824"/>
            <a:ext cx="2313432" cy="201168"/>
          </a:xfrm>
          <a:prstGeom prst="rect">
            <a:avLst/>
          </a:prstGeom>
          <a:noFill/>
          <a:ln/>
        </p:spPr>
        <p:txBody>
          <a:bodyPr wrap="square" lIns="0" tIns="0" rIns="0" bIns="0" rtlCol="0" anchor="ctr"/>
          <a:lstStyle/>
          <a:p>
            <a:pPr marL="0" indent="0" algn="ctr">
              <a:buNone/>
            </a:pPr>
            <a:r>
              <a:rPr lang="en-US" sz="1050" dirty="0">
                <a:solidFill>
                  <a:srgbClr val="596273"/>
                </a:solidFill>
                <a:latin typeface="Consolas" pitchFamily="34" charset="0"/>
                <a:ea typeface="Consolas" pitchFamily="34" charset="-122"/>
                <a:cs typeface="Consolas" pitchFamily="34" charset="-120"/>
              </a:rPr>
              <a:t>CrewAI + LangGraph hooks</a:t>
            </a:r>
            <a:endParaRPr lang="en-US" sz="1050" dirty="0"/>
          </a:p>
        </p:txBody>
      </p:sp>
      <p:sp>
        <p:nvSpPr>
          <p:cNvPr id="29" name="Shape 27"/>
          <p:cNvSpPr/>
          <p:nvPr/>
        </p:nvSpPr>
        <p:spPr>
          <a:xfrm>
            <a:off x="5340096" y="2834640"/>
            <a:ext cx="2606040" cy="566928"/>
          </a:xfrm>
          <a:prstGeom prst="roundRect">
            <a:avLst>
              <a:gd name="adj" fmla="val 8065"/>
            </a:avLst>
          </a:prstGeom>
          <a:solidFill>
            <a:srgbClr val="FFFFFF"/>
          </a:solidFill>
          <a:ln w="13970">
            <a:solidFill>
              <a:srgbClr val="15707A"/>
            </a:solidFill>
            <a:prstDash val="solid"/>
          </a:ln>
        </p:spPr>
        <p:txBody>
          <a:bodyPr/>
          <a:lstStyle/>
          <a:p>
            <a:endParaRPr lang="en-PK"/>
          </a:p>
        </p:txBody>
      </p:sp>
      <p:sp>
        <p:nvSpPr>
          <p:cNvPr id="30" name="Text 28"/>
          <p:cNvSpPr txBox="1"/>
          <p:nvPr/>
        </p:nvSpPr>
        <p:spPr>
          <a:xfrm>
            <a:off x="5394960" y="2871216"/>
            <a:ext cx="2496312" cy="274320"/>
          </a:xfrm>
          <a:prstGeom prst="rect">
            <a:avLst/>
          </a:prstGeom>
          <a:noFill/>
          <a:ln/>
        </p:spPr>
        <p:txBody>
          <a:bodyPr wrap="square" lIns="0" tIns="0" rIns="0" bIns="0" rtlCol="0" anchor="t"/>
          <a:lstStyle/>
          <a:p>
            <a:pPr marL="0" indent="0" algn="ctr">
              <a:buNone/>
            </a:pPr>
            <a:r>
              <a:rPr lang="en-US" sz="1300" b="1" dirty="0">
                <a:solidFill>
                  <a:srgbClr val="1B202A"/>
                </a:solidFill>
                <a:latin typeface="Calibri" pitchFamily="34" charset="0"/>
                <a:ea typeface="Calibri" pitchFamily="34" charset="-122"/>
                <a:cs typeface="Calibri" pitchFamily="34" charset="-120"/>
              </a:rPr>
              <a:t>Fault Injection Operators</a:t>
            </a:r>
            <a:endParaRPr lang="en-US" sz="1300" dirty="0"/>
          </a:p>
        </p:txBody>
      </p:sp>
      <p:sp>
        <p:nvSpPr>
          <p:cNvPr id="31" name="Text 29"/>
          <p:cNvSpPr txBox="1"/>
          <p:nvPr/>
        </p:nvSpPr>
        <p:spPr>
          <a:xfrm>
            <a:off x="5394960" y="3163824"/>
            <a:ext cx="2496312" cy="201168"/>
          </a:xfrm>
          <a:prstGeom prst="rect">
            <a:avLst/>
          </a:prstGeom>
          <a:noFill/>
          <a:ln/>
        </p:spPr>
        <p:txBody>
          <a:bodyPr wrap="square" lIns="0" tIns="0" rIns="0" bIns="0" rtlCol="0" anchor="ctr"/>
          <a:lstStyle/>
          <a:p>
            <a:pPr marL="0" indent="0" algn="ctr">
              <a:buNone/>
            </a:pPr>
            <a:r>
              <a:rPr lang="en-US" sz="1050" dirty="0">
                <a:solidFill>
                  <a:srgbClr val="596273"/>
                </a:solidFill>
                <a:latin typeface="Consolas" pitchFamily="34" charset="0"/>
                <a:ea typeface="Consolas" pitchFamily="34" charset="-122"/>
                <a:cs typeface="Consolas" pitchFamily="34" charset="-120"/>
              </a:rPr>
              <a:t>rule-based · 0% API</a:t>
            </a:r>
            <a:endParaRPr lang="en-US" sz="1050" dirty="0"/>
          </a:p>
        </p:txBody>
      </p:sp>
      <p:sp>
        <p:nvSpPr>
          <p:cNvPr id="32" name="Shape 30"/>
          <p:cNvSpPr/>
          <p:nvPr/>
        </p:nvSpPr>
        <p:spPr>
          <a:xfrm>
            <a:off x="8074152" y="2907792"/>
            <a:ext cx="1691640" cy="493776"/>
          </a:xfrm>
          <a:prstGeom prst="roundRect">
            <a:avLst>
              <a:gd name="adj" fmla="val 7407"/>
            </a:avLst>
          </a:prstGeom>
          <a:solidFill>
            <a:srgbClr val="FFFFFF"/>
          </a:solidFill>
          <a:ln w="13970">
            <a:solidFill>
              <a:srgbClr val="15707A"/>
            </a:solidFill>
            <a:prstDash val="solid"/>
          </a:ln>
        </p:spPr>
        <p:txBody>
          <a:bodyPr/>
          <a:lstStyle/>
          <a:p>
            <a:endParaRPr lang="en-PK"/>
          </a:p>
        </p:txBody>
      </p:sp>
      <p:sp>
        <p:nvSpPr>
          <p:cNvPr id="33" name="Shape 31"/>
          <p:cNvSpPr/>
          <p:nvPr/>
        </p:nvSpPr>
        <p:spPr>
          <a:xfrm>
            <a:off x="8074152" y="2834640"/>
            <a:ext cx="1691640" cy="146304"/>
          </a:xfrm>
          <a:prstGeom prst="ellipse">
            <a:avLst/>
          </a:prstGeom>
          <a:solidFill>
            <a:srgbClr val="FFFFFF"/>
          </a:solidFill>
          <a:ln w="13970">
            <a:solidFill>
              <a:srgbClr val="15707A"/>
            </a:solidFill>
            <a:prstDash val="solid"/>
          </a:ln>
        </p:spPr>
        <p:txBody>
          <a:bodyPr/>
          <a:lstStyle/>
          <a:p>
            <a:endParaRPr lang="en-PK"/>
          </a:p>
        </p:txBody>
      </p:sp>
      <p:sp>
        <p:nvSpPr>
          <p:cNvPr id="34" name="Text 32"/>
          <p:cNvSpPr txBox="1"/>
          <p:nvPr/>
        </p:nvSpPr>
        <p:spPr>
          <a:xfrm>
            <a:off x="8110728" y="2999232"/>
            <a:ext cx="1618488" cy="274320"/>
          </a:xfrm>
          <a:prstGeom prst="rect">
            <a:avLst/>
          </a:prstGeom>
          <a:noFill/>
          <a:ln/>
        </p:spPr>
        <p:txBody>
          <a:bodyPr wrap="square" lIns="0" tIns="0" rIns="0" bIns="0" rtlCol="0" anchor="ctr"/>
          <a:lstStyle/>
          <a:p>
            <a:pPr marL="0" indent="0" algn="ctr">
              <a:buNone/>
            </a:pPr>
            <a:r>
              <a:rPr lang="en-US" sz="1250" b="1" dirty="0">
                <a:solidFill>
                  <a:srgbClr val="1B202A"/>
                </a:solidFill>
                <a:latin typeface="Calibri" pitchFamily="34" charset="0"/>
                <a:ea typeface="Calibri" pitchFamily="34" charset="-122"/>
                <a:cs typeface="Calibri" pitchFamily="34" charset="-120"/>
              </a:rPr>
              <a:t>Benchmark Store</a:t>
            </a:r>
            <a:endParaRPr lang="en-US" sz="1250" dirty="0"/>
          </a:p>
        </p:txBody>
      </p:sp>
      <p:sp>
        <p:nvSpPr>
          <p:cNvPr id="35" name="Shape 33"/>
          <p:cNvSpPr/>
          <p:nvPr/>
        </p:nvSpPr>
        <p:spPr>
          <a:xfrm>
            <a:off x="5212080" y="3118104"/>
            <a:ext cx="128016" cy="914"/>
          </a:xfrm>
          <a:prstGeom prst="line">
            <a:avLst/>
          </a:prstGeom>
          <a:noFill/>
          <a:ln w="15875">
            <a:solidFill>
              <a:srgbClr val="15707A"/>
            </a:solidFill>
            <a:prstDash val="solid"/>
            <a:tailEnd type="triangle"/>
          </a:ln>
        </p:spPr>
        <p:txBody>
          <a:bodyPr/>
          <a:lstStyle/>
          <a:p>
            <a:endParaRPr lang="en-PK"/>
          </a:p>
        </p:txBody>
      </p:sp>
      <p:sp>
        <p:nvSpPr>
          <p:cNvPr id="36" name="Shape 34"/>
          <p:cNvSpPr/>
          <p:nvPr/>
        </p:nvSpPr>
        <p:spPr>
          <a:xfrm>
            <a:off x="7946136" y="3118104"/>
            <a:ext cx="128016" cy="914"/>
          </a:xfrm>
          <a:prstGeom prst="line">
            <a:avLst/>
          </a:prstGeom>
          <a:noFill/>
          <a:ln w="15875">
            <a:solidFill>
              <a:srgbClr val="15707A"/>
            </a:solidFill>
            <a:prstDash val="solid"/>
            <a:tailEnd type="triangle"/>
          </a:ln>
        </p:spPr>
        <p:txBody>
          <a:bodyPr/>
          <a:lstStyle/>
          <a:p>
            <a:endParaRPr lang="en-PK"/>
          </a:p>
        </p:txBody>
      </p:sp>
      <p:sp>
        <p:nvSpPr>
          <p:cNvPr id="37" name="Shape 35"/>
          <p:cNvSpPr/>
          <p:nvPr/>
        </p:nvSpPr>
        <p:spPr>
          <a:xfrm>
            <a:off x="2651760" y="3602736"/>
            <a:ext cx="7327087" cy="1389888"/>
          </a:xfrm>
          <a:prstGeom prst="roundRect">
            <a:avLst>
              <a:gd name="adj" fmla="val 3947"/>
            </a:avLst>
          </a:prstGeom>
          <a:solidFill>
            <a:srgbClr val="F6EADD"/>
          </a:solidFill>
          <a:ln w="15240">
            <a:solidFill>
              <a:srgbClr val="B05C1C"/>
            </a:solidFill>
            <a:prstDash val="solid"/>
          </a:ln>
        </p:spPr>
        <p:txBody>
          <a:bodyPr/>
          <a:lstStyle/>
          <a:p>
            <a:endParaRPr lang="en-PK"/>
          </a:p>
        </p:txBody>
      </p:sp>
      <p:sp>
        <p:nvSpPr>
          <p:cNvPr id="38" name="Text 36"/>
          <p:cNvSpPr txBox="1"/>
          <p:nvPr/>
        </p:nvSpPr>
        <p:spPr>
          <a:xfrm>
            <a:off x="2779776" y="3639312"/>
            <a:ext cx="3657600" cy="219456"/>
          </a:xfrm>
          <a:prstGeom prst="rect">
            <a:avLst/>
          </a:prstGeom>
          <a:noFill/>
          <a:ln/>
        </p:spPr>
        <p:txBody>
          <a:bodyPr wrap="square" lIns="0" tIns="0" rIns="0" bIns="0" rtlCol="0" anchor="ctr"/>
          <a:lstStyle/>
          <a:p>
            <a:pPr marL="0" indent="0">
              <a:buNone/>
            </a:pPr>
            <a:r>
              <a:rPr lang="en-US" sz="1200" b="1" kern="0" spc="50" dirty="0">
                <a:solidFill>
                  <a:srgbClr val="B05C1C"/>
                </a:solidFill>
                <a:latin typeface="Consolas" pitchFamily="34" charset="0"/>
                <a:ea typeface="Consolas" pitchFamily="34" charset="-122"/>
                <a:cs typeface="Consolas" pitchFamily="34" charset="-120"/>
              </a:rPr>
              <a:t>LANE B — DIAGNOSIS</a:t>
            </a:r>
            <a:endParaRPr lang="en-US" sz="1200" dirty="0"/>
          </a:p>
        </p:txBody>
      </p:sp>
      <p:sp>
        <p:nvSpPr>
          <p:cNvPr id="39" name="Shape 37"/>
          <p:cNvSpPr/>
          <p:nvPr/>
        </p:nvSpPr>
        <p:spPr>
          <a:xfrm>
            <a:off x="4000500" y="3483864"/>
            <a:ext cx="914" cy="109728"/>
          </a:xfrm>
          <a:prstGeom prst="line">
            <a:avLst/>
          </a:prstGeom>
          <a:noFill/>
          <a:ln w="15875">
            <a:solidFill>
              <a:srgbClr val="596273"/>
            </a:solidFill>
            <a:prstDash val="solid"/>
            <a:tailEnd type="triangle"/>
          </a:ln>
        </p:spPr>
        <p:txBody>
          <a:bodyPr/>
          <a:lstStyle/>
          <a:p>
            <a:endParaRPr lang="en-PK"/>
          </a:p>
        </p:txBody>
      </p:sp>
      <p:sp>
        <p:nvSpPr>
          <p:cNvPr id="40" name="Shape 38"/>
          <p:cNvSpPr/>
          <p:nvPr/>
        </p:nvSpPr>
        <p:spPr>
          <a:xfrm>
            <a:off x="2788920" y="3877056"/>
            <a:ext cx="2423160" cy="566928"/>
          </a:xfrm>
          <a:prstGeom prst="roundRect">
            <a:avLst>
              <a:gd name="adj" fmla="val 8065"/>
            </a:avLst>
          </a:prstGeom>
          <a:solidFill>
            <a:srgbClr val="FFFFFF"/>
          </a:solidFill>
          <a:ln w="13970">
            <a:solidFill>
              <a:srgbClr val="B05C1C"/>
            </a:solidFill>
            <a:prstDash val="solid"/>
          </a:ln>
        </p:spPr>
        <p:txBody>
          <a:bodyPr/>
          <a:lstStyle/>
          <a:p>
            <a:endParaRPr lang="en-PK"/>
          </a:p>
        </p:txBody>
      </p:sp>
      <p:sp>
        <p:nvSpPr>
          <p:cNvPr id="41" name="Text 39"/>
          <p:cNvSpPr txBox="1"/>
          <p:nvPr/>
        </p:nvSpPr>
        <p:spPr>
          <a:xfrm>
            <a:off x="2843784" y="3913632"/>
            <a:ext cx="2313432" cy="274320"/>
          </a:xfrm>
          <a:prstGeom prst="rect">
            <a:avLst/>
          </a:prstGeom>
          <a:noFill/>
          <a:ln/>
        </p:spPr>
        <p:txBody>
          <a:bodyPr wrap="square" lIns="0" tIns="0" rIns="0" bIns="0" rtlCol="0" anchor="t"/>
          <a:lstStyle/>
          <a:p>
            <a:pPr marL="0" indent="0" algn="ctr">
              <a:buNone/>
            </a:pPr>
            <a:r>
              <a:rPr lang="en-US" sz="1300" b="1" dirty="0">
                <a:solidFill>
                  <a:srgbClr val="1B202A"/>
                </a:solidFill>
                <a:latin typeface="Calibri" pitchFamily="34" charset="0"/>
                <a:ea typeface="Calibri" pitchFamily="34" charset="-122"/>
                <a:cs typeface="Calibri" pitchFamily="34" charset="-120"/>
              </a:rPr>
              <a:t>Trace Normalizer</a:t>
            </a:r>
            <a:endParaRPr lang="en-US" sz="1300" dirty="0"/>
          </a:p>
        </p:txBody>
      </p:sp>
      <p:sp>
        <p:nvSpPr>
          <p:cNvPr id="42" name="Text 40"/>
          <p:cNvSpPr txBox="1"/>
          <p:nvPr/>
        </p:nvSpPr>
        <p:spPr>
          <a:xfrm>
            <a:off x="2843784" y="4206240"/>
            <a:ext cx="2313432" cy="201168"/>
          </a:xfrm>
          <a:prstGeom prst="rect">
            <a:avLst/>
          </a:prstGeom>
          <a:noFill/>
          <a:ln/>
        </p:spPr>
        <p:txBody>
          <a:bodyPr wrap="square" lIns="0" tIns="0" rIns="0" bIns="0" rtlCol="0" anchor="ctr"/>
          <a:lstStyle/>
          <a:p>
            <a:pPr marL="0" indent="0" algn="ctr">
              <a:buNone/>
            </a:pPr>
            <a:r>
              <a:rPr lang="en-US" sz="1050" dirty="0">
                <a:solidFill>
                  <a:srgbClr val="596273"/>
                </a:solidFill>
                <a:latin typeface="Consolas" pitchFamily="34" charset="0"/>
                <a:ea typeface="Consolas" pitchFamily="34" charset="-122"/>
                <a:cs typeface="Consolas" pitchFamily="34" charset="-120"/>
              </a:rPr>
              <a:t>standard schema in</a:t>
            </a:r>
            <a:endParaRPr lang="en-US" sz="1050" dirty="0"/>
          </a:p>
        </p:txBody>
      </p:sp>
      <p:sp>
        <p:nvSpPr>
          <p:cNvPr id="43" name="Shape 41"/>
          <p:cNvSpPr/>
          <p:nvPr/>
        </p:nvSpPr>
        <p:spPr>
          <a:xfrm>
            <a:off x="5376672" y="3877056"/>
            <a:ext cx="3017520" cy="566928"/>
          </a:xfrm>
          <a:prstGeom prst="roundRect">
            <a:avLst>
              <a:gd name="adj" fmla="val 8065"/>
            </a:avLst>
          </a:prstGeom>
          <a:solidFill>
            <a:srgbClr val="FFFFFF"/>
          </a:solidFill>
          <a:ln w="13970">
            <a:solidFill>
              <a:srgbClr val="B05C1C"/>
            </a:solidFill>
            <a:prstDash val="solid"/>
          </a:ln>
        </p:spPr>
        <p:txBody>
          <a:bodyPr/>
          <a:lstStyle/>
          <a:p>
            <a:endParaRPr lang="en-PK"/>
          </a:p>
        </p:txBody>
      </p:sp>
      <p:sp>
        <p:nvSpPr>
          <p:cNvPr id="44" name="Text 42"/>
          <p:cNvSpPr txBox="1"/>
          <p:nvPr/>
        </p:nvSpPr>
        <p:spPr>
          <a:xfrm>
            <a:off x="5431536" y="3913632"/>
            <a:ext cx="2907792" cy="274320"/>
          </a:xfrm>
          <a:prstGeom prst="rect">
            <a:avLst/>
          </a:prstGeom>
          <a:noFill/>
          <a:ln/>
        </p:spPr>
        <p:txBody>
          <a:bodyPr wrap="square" lIns="0" tIns="0" rIns="0" bIns="0" rtlCol="0" anchor="t"/>
          <a:lstStyle/>
          <a:p>
            <a:pPr marL="0" indent="0" algn="ctr">
              <a:buNone/>
            </a:pPr>
            <a:r>
              <a:rPr lang="en-US" sz="1300" b="1" dirty="0">
                <a:solidFill>
                  <a:srgbClr val="1B202A"/>
                </a:solidFill>
                <a:latin typeface="Calibri" pitchFamily="34" charset="0"/>
                <a:ea typeface="Calibri" pitchFamily="34" charset="-122"/>
                <a:cs typeface="Calibri" pitchFamily="34" charset="-120"/>
              </a:rPr>
              <a:t>Execution Graph Builder</a:t>
            </a:r>
            <a:endParaRPr lang="en-US" sz="1300" dirty="0"/>
          </a:p>
        </p:txBody>
      </p:sp>
      <p:sp>
        <p:nvSpPr>
          <p:cNvPr id="45" name="Text 43"/>
          <p:cNvSpPr txBox="1"/>
          <p:nvPr/>
        </p:nvSpPr>
        <p:spPr>
          <a:xfrm>
            <a:off x="5431536" y="4206240"/>
            <a:ext cx="2907792" cy="201168"/>
          </a:xfrm>
          <a:prstGeom prst="rect">
            <a:avLst/>
          </a:prstGeom>
          <a:noFill/>
          <a:ln/>
        </p:spPr>
        <p:txBody>
          <a:bodyPr wrap="square" lIns="0" tIns="0" rIns="0" bIns="0" rtlCol="0" anchor="ctr"/>
          <a:lstStyle/>
          <a:p>
            <a:pPr marL="0" indent="0" algn="ctr">
              <a:buNone/>
            </a:pPr>
            <a:r>
              <a:rPr lang="en-US" sz="1050" dirty="0">
                <a:solidFill>
                  <a:srgbClr val="596273"/>
                </a:solidFill>
                <a:latin typeface="Consolas" pitchFamily="34" charset="0"/>
                <a:ea typeface="Consolas" pitchFamily="34" charset="-122"/>
                <a:cs typeface="Consolas" pitchFamily="34" charset="-120"/>
              </a:rPr>
              <a:t>0% API</a:t>
            </a:r>
            <a:endParaRPr lang="en-US" sz="1050" dirty="0"/>
          </a:p>
        </p:txBody>
      </p:sp>
      <p:sp>
        <p:nvSpPr>
          <p:cNvPr id="46" name="Shape 44"/>
          <p:cNvSpPr/>
          <p:nvPr/>
        </p:nvSpPr>
        <p:spPr>
          <a:xfrm>
            <a:off x="5212080" y="4160520"/>
            <a:ext cx="164592" cy="914"/>
          </a:xfrm>
          <a:prstGeom prst="line">
            <a:avLst/>
          </a:prstGeom>
          <a:noFill/>
          <a:ln w="15875">
            <a:solidFill>
              <a:srgbClr val="B05C1C"/>
            </a:solidFill>
            <a:prstDash val="solid"/>
            <a:tailEnd type="triangle"/>
          </a:ln>
        </p:spPr>
        <p:txBody>
          <a:bodyPr/>
          <a:lstStyle/>
          <a:p>
            <a:endParaRPr lang="en-PK"/>
          </a:p>
        </p:txBody>
      </p:sp>
      <p:sp>
        <p:nvSpPr>
          <p:cNvPr id="47" name="Shape 45"/>
          <p:cNvSpPr/>
          <p:nvPr/>
        </p:nvSpPr>
        <p:spPr>
          <a:xfrm>
            <a:off x="2788920" y="4498848"/>
            <a:ext cx="3749040" cy="420624"/>
          </a:xfrm>
          <a:prstGeom prst="roundRect">
            <a:avLst>
              <a:gd name="adj" fmla="val 10870"/>
            </a:avLst>
          </a:prstGeom>
          <a:solidFill>
            <a:srgbClr val="FFFFFF"/>
          </a:solidFill>
          <a:ln w="13970">
            <a:solidFill>
              <a:srgbClr val="B05C1C"/>
            </a:solidFill>
            <a:prstDash val="solid"/>
          </a:ln>
        </p:spPr>
        <p:txBody>
          <a:bodyPr/>
          <a:lstStyle/>
          <a:p>
            <a:endParaRPr lang="en-PK"/>
          </a:p>
        </p:txBody>
      </p:sp>
      <p:sp>
        <p:nvSpPr>
          <p:cNvPr id="48" name="Text 46"/>
          <p:cNvSpPr txBox="1"/>
          <p:nvPr/>
        </p:nvSpPr>
        <p:spPr>
          <a:xfrm>
            <a:off x="2843784" y="4535424"/>
            <a:ext cx="3639312" cy="347472"/>
          </a:xfrm>
          <a:prstGeom prst="rect">
            <a:avLst/>
          </a:prstGeom>
          <a:noFill/>
          <a:ln/>
        </p:spPr>
        <p:txBody>
          <a:bodyPr wrap="square" lIns="0" tIns="0" rIns="0" bIns="0" rtlCol="0" anchor="ctr"/>
          <a:lstStyle/>
          <a:p>
            <a:pPr marL="0" indent="0" algn="ctr">
              <a:buNone/>
            </a:pPr>
            <a:r>
              <a:rPr lang="en-US" sz="1300" b="1" dirty="0">
                <a:solidFill>
                  <a:srgbClr val="1B202A"/>
                </a:solidFill>
                <a:latin typeface="Calibri" pitchFamily="34" charset="0"/>
                <a:ea typeface="Calibri" pitchFamily="34" charset="-122"/>
                <a:cs typeface="Calibri" pitchFamily="34" charset="-120"/>
              </a:rPr>
              <a:t>Semantic Error Diagnostic — unconditional</a:t>
            </a:r>
            <a:endParaRPr lang="en-US" sz="1300" dirty="0"/>
          </a:p>
        </p:txBody>
      </p:sp>
      <p:sp>
        <p:nvSpPr>
          <p:cNvPr id="49" name="Shape 47"/>
          <p:cNvSpPr/>
          <p:nvPr/>
        </p:nvSpPr>
        <p:spPr>
          <a:xfrm>
            <a:off x="6675120" y="4498848"/>
            <a:ext cx="3166567" cy="420624"/>
          </a:xfrm>
          <a:prstGeom prst="roundRect">
            <a:avLst>
              <a:gd name="adj" fmla="val 10870"/>
            </a:avLst>
          </a:prstGeom>
          <a:solidFill>
            <a:srgbClr val="FFFFFF"/>
          </a:solidFill>
          <a:ln w="13970">
            <a:solidFill>
              <a:srgbClr val="B05C1C"/>
            </a:solidFill>
            <a:prstDash val="solid"/>
          </a:ln>
        </p:spPr>
        <p:txBody>
          <a:bodyPr/>
          <a:lstStyle/>
          <a:p>
            <a:endParaRPr lang="en-PK"/>
          </a:p>
        </p:txBody>
      </p:sp>
      <p:sp>
        <p:nvSpPr>
          <p:cNvPr id="50" name="Text 48"/>
          <p:cNvSpPr txBox="1"/>
          <p:nvPr/>
        </p:nvSpPr>
        <p:spPr>
          <a:xfrm>
            <a:off x="6729984" y="4535424"/>
            <a:ext cx="3056839" cy="347472"/>
          </a:xfrm>
          <a:prstGeom prst="rect">
            <a:avLst/>
          </a:prstGeom>
          <a:noFill/>
          <a:ln/>
        </p:spPr>
        <p:txBody>
          <a:bodyPr wrap="square" lIns="0" tIns="0" rIns="0" bIns="0" rtlCol="0" anchor="ctr"/>
          <a:lstStyle/>
          <a:p>
            <a:pPr marL="0" indent="0" algn="ctr">
              <a:buNone/>
            </a:pPr>
            <a:r>
              <a:rPr lang="en-US" sz="1300" b="1" dirty="0">
                <a:solidFill>
                  <a:srgbClr val="1B202A"/>
                </a:solidFill>
                <a:latin typeface="Calibri" pitchFamily="34" charset="0"/>
                <a:ea typeface="Calibri" pitchFamily="34" charset="-122"/>
                <a:cs typeface="Calibri" pitchFamily="34" charset="-120"/>
              </a:rPr>
              <a:t>Backward Causal Tracer</a:t>
            </a:r>
            <a:endParaRPr lang="en-US" sz="1300" dirty="0"/>
          </a:p>
        </p:txBody>
      </p:sp>
      <p:sp>
        <p:nvSpPr>
          <p:cNvPr id="51" name="Shape 49"/>
          <p:cNvSpPr/>
          <p:nvPr/>
        </p:nvSpPr>
        <p:spPr>
          <a:xfrm flipH="1">
            <a:off x="6313018" y="4443984"/>
            <a:ext cx="331013" cy="54864"/>
          </a:xfrm>
          <a:prstGeom prst="line">
            <a:avLst/>
          </a:prstGeom>
          <a:noFill/>
          <a:ln w="15875">
            <a:solidFill>
              <a:srgbClr val="596273"/>
            </a:solidFill>
            <a:prstDash val="solid"/>
            <a:tailEnd type="triangle"/>
          </a:ln>
        </p:spPr>
        <p:txBody>
          <a:bodyPr/>
          <a:lstStyle/>
          <a:p>
            <a:endParaRPr lang="en-PK"/>
          </a:p>
        </p:txBody>
      </p:sp>
      <p:sp>
        <p:nvSpPr>
          <p:cNvPr id="52" name="Shape 50"/>
          <p:cNvSpPr/>
          <p:nvPr/>
        </p:nvSpPr>
        <p:spPr>
          <a:xfrm flipH="1">
            <a:off x="6960111" y="4443984"/>
            <a:ext cx="166723" cy="54864"/>
          </a:xfrm>
          <a:prstGeom prst="line">
            <a:avLst/>
          </a:prstGeom>
          <a:noFill/>
          <a:ln w="15875">
            <a:solidFill>
              <a:srgbClr val="596273"/>
            </a:solidFill>
            <a:prstDash val="solid"/>
            <a:tailEnd type="triangle"/>
          </a:ln>
        </p:spPr>
        <p:txBody>
          <a:bodyPr/>
          <a:lstStyle/>
          <a:p>
            <a:endParaRPr lang="en-PK"/>
          </a:p>
        </p:txBody>
      </p:sp>
      <p:sp>
        <p:nvSpPr>
          <p:cNvPr id="53" name="Shape 51"/>
          <p:cNvSpPr/>
          <p:nvPr/>
        </p:nvSpPr>
        <p:spPr>
          <a:xfrm>
            <a:off x="2651760" y="5120640"/>
            <a:ext cx="7327087" cy="1152144"/>
          </a:xfrm>
          <a:prstGeom prst="roundRect">
            <a:avLst>
              <a:gd name="adj" fmla="val 4762"/>
            </a:avLst>
          </a:prstGeom>
          <a:solidFill>
            <a:srgbClr val="E4E9F2"/>
          </a:solidFill>
          <a:ln w="15240">
            <a:solidFill>
              <a:srgbClr val="31558F"/>
            </a:solidFill>
            <a:prstDash val="solid"/>
          </a:ln>
        </p:spPr>
        <p:txBody>
          <a:bodyPr/>
          <a:lstStyle/>
          <a:p>
            <a:endParaRPr lang="en-PK"/>
          </a:p>
        </p:txBody>
      </p:sp>
      <p:sp>
        <p:nvSpPr>
          <p:cNvPr id="54" name="Text 52"/>
          <p:cNvSpPr txBox="1"/>
          <p:nvPr/>
        </p:nvSpPr>
        <p:spPr>
          <a:xfrm>
            <a:off x="2779776" y="5157216"/>
            <a:ext cx="3657600" cy="219456"/>
          </a:xfrm>
          <a:prstGeom prst="rect">
            <a:avLst/>
          </a:prstGeom>
          <a:noFill/>
          <a:ln/>
        </p:spPr>
        <p:txBody>
          <a:bodyPr wrap="square" lIns="0" tIns="0" rIns="0" bIns="0" rtlCol="0" anchor="ctr"/>
          <a:lstStyle/>
          <a:p>
            <a:pPr marL="0" indent="0">
              <a:buNone/>
            </a:pPr>
            <a:r>
              <a:rPr lang="en-US" sz="1200" b="1" kern="0" spc="50" dirty="0">
                <a:solidFill>
                  <a:srgbClr val="31558F"/>
                </a:solidFill>
                <a:latin typeface="Consolas" pitchFamily="34" charset="0"/>
                <a:ea typeface="Consolas" pitchFamily="34" charset="-122"/>
                <a:cs typeface="Consolas" pitchFamily="34" charset="-120"/>
              </a:rPr>
              <a:t>LANE C — PLATFORM</a:t>
            </a:r>
            <a:endParaRPr lang="en-US" sz="1200" dirty="0"/>
          </a:p>
        </p:txBody>
      </p:sp>
      <p:sp>
        <p:nvSpPr>
          <p:cNvPr id="55" name="Shape 53"/>
          <p:cNvSpPr/>
          <p:nvPr/>
        </p:nvSpPr>
        <p:spPr>
          <a:xfrm>
            <a:off x="2788920" y="5394960"/>
            <a:ext cx="2057400" cy="566928"/>
          </a:xfrm>
          <a:prstGeom prst="roundRect">
            <a:avLst>
              <a:gd name="adj" fmla="val 8065"/>
            </a:avLst>
          </a:prstGeom>
          <a:solidFill>
            <a:srgbClr val="FFFFFF"/>
          </a:solidFill>
          <a:ln w="13970">
            <a:solidFill>
              <a:srgbClr val="31558F"/>
            </a:solidFill>
            <a:prstDash val="solid"/>
          </a:ln>
        </p:spPr>
        <p:txBody>
          <a:bodyPr/>
          <a:lstStyle/>
          <a:p>
            <a:endParaRPr lang="en-PK"/>
          </a:p>
        </p:txBody>
      </p:sp>
      <p:sp>
        <p:nvSpPr>
          <p:cNvPr id="56" name="Text 54"/>
          <p:cNvSpPr txBox="1"/>
          <p:nvPr/>
        </p:nvSpPr>
        <p:spPr>
          <a:xfrm>
            <a:off x="2843784" y="5431536"/>
            <a:ext cx="1947672" cy="274320"/>
          </a:xfrm>
          <a:prstGeom prst="rect">
            <a:avLst/>
          </a:prstGeom>
          <a:noFill/>
          <a:ln/>
        </p:spPr>
        <p:txBody>
          <a:bodyPr wrap="square" lIns="0" tIns="0" rIns="0" bIns="0" rtlCol="0" anchor="t"/>
          <a:lstStyle/>
          <a:p>
            <a:pPr marL="0" indent="0" algn="ctr">
              <a:buNone/>
            </a:pPr>
            <a:r>
              <a:rPr lang="en-US" sz="1300" b="1" dirty="0">
                <a:solidFill>
                  <a:srgbClr val="1B202A"/>
                </a:solidFill>
                <a:latin typeface="Calibri" pitchFamily="34" charset="0"/>
                <a:ea typeface="Calibri" pitchFamily="34" charset="-122"/>
                <a:cs typeface="Calibri" pitchFamily="34" charset="-120"/>
              </a:rPr>
              <a:t>Repair Agent</a:t>
            </a:r>
            <a:endParaRPr lang="en-US" sz="1300" dirty="0"/>
          </a:p>
        </p:txBody>
      </p:sp>
      <p:sp>
        <p:nvSpPr>
          <p:cNvPr id="57" name="Text 55"/>
          <p:cNvSpPr txBox="1"/>
          <p:nvPr/>
        </p:nvSpPr>
        <p:spPr>
          <a:xfrm>
            <a:off x="2843784" y="5724144"/>
            <a:ext cx="1947672" cy="201168"/>
          </a:xfrm>
          <a:prstGeom prst="rect">
            <a:avLst/>
          </a:prstGeom>
          <a:noFill/>
          <a:ln/>
        </p:spPr>
        <p:txBody>
          <a:bodyPr wrap="square" lIns="0" tIns="0" rIns="0" bIns="0" rtlCol="0" anchor="ctr"/>
          <a:lstStyle/>
          <a:p>
            <a:pPr marL="0" indent="0" algn="ctr">
              <a:buNone/>
            </a:pPr>
            <a:r>
              <a:rPr lang="en-US" sz="1050" dirty="0">
                <a:solidFill>
                  <a:srgbClr val="596273"/>
                </a:solidFill>
                <a:latin typeface="Consolas" pitchFamily="34" charset="0"/>
                <a:ea typeface="Consolas" pitchFamily="34" charset="-122"/>
                <a:cs typeface="Consolas" pitchFamily="34" charset="-120"/>
              </a:rPr>
              <a:t>candidate fix</a:t>
            </a:r>
            <a:endParaRPr lang="en-US" sz="1050" dirty="0"/>
          </a:p>
        </p:txBody>
      </p:sp>
      <p:sp>
        <p:nvSpPr>
          <p:cNvPr id="58" name="Shape 56"/>
          <p:cNvSpPr/>
          <p:nvPr/>
        </p:nvSpPr>
        <p:spPr>
          <a:xfrm>
            <a:off x="4974336" y="5394960"/>
            <a:ext cx="2697480" cy="566928"/>
          </a:xfrm>
          <a:prstGeom prst="roundRect">
            <a:avLst>
              <a:gd name="adj" fmla="val 8065"/>
            </a:avLst>
          </a:prstGeom>
          <a:solidFill>
            <a:srgbClr val="FFFFFF"/>
          </a:solidFill>
          <a:ln w="13970">
            <a:solidFill>
              <a:srgbClr val="31558F"/>
            </a:solidFill>
            <a:prstDash val="solid"/>
          </a:ln>
        </p:spPr>
        <p:txBody>
          <a:bodyPr/>
          <a:lstStyle/>
          <a:p>
            <a:endParaRPr lang="en-PK"/>
          </a:p>
        </p:txBody>
      </p:sp>
      <p:sp>
        <p:nvSpPr>
          <p:cNvPr id="59" name="Text 57"/>
          <p:cNvSpPr txBox="1"/>
          <p:nvPr/>
        </p:nvSpPr>
        <p:spPr>
          <a:xfrm>
            <a:off x="5029200" y="5431536"/>
            <a:ext cx="2587752" cy="274320"/>
          </a:xfrm>
          <a:prstGeom prst="rect">
            <a:avLst/>
          </a:prstGeom>
          <a:noFill/>
          <a:ln/>
        </p:spPr>
        <p:txBody>
          <a:bodyPr wrap="square" lIns="0" tIns="0" rIns="0" bIns="0" rtlCol="0" anchor="t"/>
          <a:lstStyle/>
          <a:p>
            <a:pPr marL="0" indent="0" algn="ctr">
              <a:buNone/>
            </a:pPr>
            <a:r>
              <a:rPr lang="en-US" sz="1300" b="1" dirty="0">
                <a:solidFill>
                  <a:srgbClr val="1B202A"/>
                </a:solidFill>
                <a:latin typeface="Calibri" pitchFamily="34" charset="0"/>
                <a:ea typeface="Calibri" pitchFamily="34" charset="-122"/>
                <a:cs typeface="Calibri" pitchFamily="34" charset="-120"/>
              </a:rPr>
              <a:t>Verified Automatic Repair</a:t>
            </a:r>
            <a:endParaRPr lang="en-US" sz="1300" dirty="0"/>
          </a:p>
        </p:txBody>
      </p:sp>
      <p:sp>
        <p:nvSpPr>
          <p:cNvPr id="60" name="Text 58"/>
          <p:cNvSpPr txBox="1"/>
          <p:nvPr/>
        </p:nvSpPr>
        <p:spPr>
          <a:xfrm>
            <a:off x="5029200" y="5724144"/>
            <a:ext cx="2587752" cy="201168"/>
          </a:xfrm>
          <a:prstGeom prst="rect">
            <a:avLst/>
          </a:prstGeom>
          <a:noFill/>
          <a:ln/>
        </p:spPr>
        <p:txBody>
          <a:bodyPr wrap="square" lIns="0" tIns="0" rIns="0" bIns="0" rtlCol="0" anchor="ctr"/>
          <a:lstStyle/>
          <a:p>
            <a:pPr marL="0" indent="0" algn="ctr">
              <a:buNone/>
            </a:pPr>
            <a:r>
              <a:rPr lang="en-US" sz="1050" dirty="0">
                <a:solidFill>
                  <a:srgbClr val="596273"/>
                </a:solidFill>
                <a:latin typeface="Consolas" pitchFamily="34" charset="0"/>
                <a:ea typeface="Consolas" pitchFamily="34" charset="-122"/>
                <a:cs typeface="Consolas" pitchFamily="34" charset="-120"/>
              </a:rPr>
              <a:t>controlled replay, N runs</a:t>
            </a:r>
            <a:endParaRPr lang="en-US" sz="1050" dirty="0"/>
          </a:p>
        </p:txBody>
      </p:sp>
      <p:sp>
        <p:nvSpPr>
          <p:cNvPr id="61" name="Shape 59"/>
          <p:cNvSpPr/>
          <p:nvPr/>
        </p:nvSpPr>
        <p:spPr>
          <a:xfrm>
            <a:off x="7799832" y="5394960"/>
            <a:ext cx="2041855" cy="566928"/>
          </a:xfrm>
          <a:prstGeom prst="roundRect">
            <a:avLst>
              <a:gd name="adj" fmla="val 8065"/>
            </a:avLst>
          </a:prstGeom>
          <a:solidFill>
            <a:srgbClr val="FFFFFF"/>
          </a:solidFill>
          <a:ln w="13970">
            <a:solidFill>
              <a:srgbClr val="31558F"/>
            </a:solidFill>
            <a:prstDash val="solid"/>
          </a:ln>
        </p:spPr>
        <p:txBody>
          <a:bodyPr/>
          <a:lstStyle/>
          <a:p>
            <a:endParaRPr lang="en-PK"/>
          </a:p>
        </p:txBody>
      </p:sp>
      <p:sp>
        <p:nvSpPr>
          <p:cNvPr id="62" name="Text 60"/>
          <p:cNvSpPr txBox="1"/>
          <p:nvPr/>
        </p:nvSpPr>
        <p:spPr>
          <a:xfrm>
            <a:off x="7854696" y="5431536"/>
            <a:ext cx="1932127" cy="274320"/>
          </a:xfrm>
          <a:prstGeom prst="rect">
            <a:avLst/>
          </a:prstGeom>
          <a:noFill/>
          <a:ln/>
        </p:spPr>
        <p:txBody>
          <a:bodyPr wrap="square" lIns="0" tIns="0" rIns="0" bIns="0" rtlCol="0" anchor="t"/>
          <a:lstStyle/>
          <a:p>
            <a:pPr marL="0" indent="0" algn="ctr">
              <a:buNone/>
            </a:pPr>
            <a:r>
              <a:rPr lang="en-US" sz="1300" b="1" dirty="0">
                <a:solidFill>
                  <a:srgbClr val="1B202A"/>
                </a:solidFill>
                <a:latin typeface="Calibri" pitchFamily="34" charset="0"/>
                <a:ea typeface="Calibri" pitchFamily="34" charset="-122"/>
                <a:cs typeface="Calibri" pitchFamily="34" charset="-120"/>
              </a:rPr>
              <a:t>Backend API</a:t>
            </a:r>
            <a:endParaRPr lang="en-US" sz="1300" dirty="0"/>
          </a:p>
        </p:txBody>
      </p:sp>
      <p:sp>
        <p:nvSpPr>
          <p:cNvPr id="63" name="Text 61"/>
          <p:cNvSpPr txBox="1"/>
          <p:nvPr/>
        </p:nvSpPr>
        <p:spPr>
          <a:xfrm>
            <a:off x="7854696" y="5724144"/>
            <a:ext cx="1932127" cy="201168"/>
          </a:xfrm>
          <a:prstGeom prst="rect">
            <a:avLst/>
          </a:prstGeom>
          <a:noFill/>
          <a:ln/>
        </p:spPr>
        <p:txBody>
          <a:bodyPr wrap="square" lIns="0" tIns="0" rIns="0" bIns="0" rtlCol="0" anchor="ctr"/>
          <a:lstStyle/>
          <a:p>
            <a:pPr marL="0" indent="0" algn="ctr">
              <a:buNone/>
            </a:pPr>
            <a:r>
              <a:rPr lang="en-US" sz="1050" dirty="0">
                <a:solidFill>
                  <a:srgbClr val="596273"/>
                </a:solidFill>
                <a:latin typeface="Consolas" pitchFamily="34" charset="0"/>
                <a:ea typeface="Consolas" pitchFamily="34" charset="-122"/>
                <a:cs typeface="Consolas" pitchFamily="34" charset="-120"/>
              </a:rPr>
              <a:t>FastAPI</a:t>
            </a:r>
            <a:endParaRPr lang="en-US" sz="1050" dirty="0"/>
          </a:p>
        </p:txBody>
      </p:sp>
      <p:sp>
        <p:nvSpPr>
          <p:cNvPr id="64" name="Shape 62"/>
          <p:cNvSpPr/>
          <p:nvPr/>
        </p:nvSpPr>
        <p:spPr>
          <a:xfrm>
            <a:off x="4846320" y="5678424"/>
            <a:ext cx="128016" cy="914"/>
          </a:xfrm>
          <a:prstGeom prst="line">
            <a:avLst/>
          </a:prstGeom>
          <a:noFill/>
          <a:ln w="15875">
            <a:solidFill>
              <a:srgbClr val="31558F"/>
            </a:solidFill>
            <a:prstDash val="solid"/>
            <a:tailEnd type="triangle"/>
          </a:ln>
        </p:spPr>
        <p:txBody>
          <a:bodyPr/>
          <a:lstStyle/>
          <a:p>
            <a:endParaRPr lang="en-PK"/>
          </a:p>
        </p:txBody>
      </p:sp>
      <p:sp>
        <p:nvSpPr>
          <p:cNvPr id="65" name="Shape 63"/>
          <p:cNvSpPr/>
          <p:nvPr/>
        </p:nvSpPr>
        <p:spPr>
          <a:xfrm>
            <a:off x="7671816" y="5678424"/>
            <a:ext cx="128016" cy="914"/>
          </a:xfrm>
          <a:prstGeom prst="line">
            <a:avLst/>
          </a:prstGeom>
          <a:noFill/>
          <a:ln w="15875">
            <a:solidFill>
              <a:srgbClr val="31558F"/>
            </a:solidFill>
            <a:prstDash val="solid"/>
            <a:tailEnd type="triangle"/>
          </a:ln>
        </p:spPr>
        <p:txBody>
          <a:bodyPr/>
          <a:lstStyle/>
          <a:p>
            <a:endParaRPr lang="en-PK"/>
          </a:p>
        </p:txBody>
      </p:sp>
      <p:sp>
        <p:nvSpPr>
          <p:cNvPr id="66" name="Text 64"/>
          <p:cNvSpPr txBox="1"/>
          <p:nvPr/>
        </p:nvSpPr>
        <p:spPr>
          <a:xfrm>
            <a:off x="2788920" y="5998464"/>
            <a:ext cx="7052767" cy="237744"/>
          </a:xfrm>
          <a:prstGeom prst="rect">
            <a:avLst/>
          </a:prstGeom>
          <a:noFill/>
          <a:ln/>
        </p:spPr>
        <p:txBody>
          <a:bodyPr wrap="square" lIns="0" tIns="0" rIns="0" bIns="0" rtlCol="0" anchor="ctr"/>
          <a:lstStyle/>
          <a:p>
            <a:pPr marL="0" indent="0">
              <a:buNone/>
            </a:pPr>
            <a:r>
              <a:rPr lang="en-US" sz="1250" b="1" i="1" dirty="0">
                <a:solidFill>
                  <a:srgbClr val="A8760F"/>
                </a:solidFill>
                <a:latin typeface="Calibri" pitchFamily="34" charset="0"/>
                <a:ea typeface="Calibri" pitchFamily="34" charset="-122"/>
                <a:cs typeface="Calibri" pitchFamily="34" charset="-120"/>
              </a:rPr>
              <a:t>Tier 2 (gated): </a:t>
            </a:r>
            <a:r>
              <a:rPr lang="en-US" sz="1250" i="1" dirty="0">
                <a:solidFill>
                  <a:srgbClr val="1B202A"/>
                </a:solidFill>
                <a:latin typeface="Calibri" pitchFamily="34" charset="0"/>
                <a:ea typeface="Calibri" pitchFamily="34" charset="-122"/>
                <a:cs typeface="Calibri" pitchFamily="34" charset="-120"/>
              </a:rPr>
              <a:t>Recovery Controller + Verified Repair Memory   ·   Postgres   ·   Dashboard</a:t>
            </a:r>
            <a:endParaRPr lang="en-US" sz="1250" dirty="0"/>
          </a:p>
        </p:txBody>
      </p:sp>
      <p:sp>
        <p:nvSpPr>
          <p:cNvPr id="67" name="Shape 65"/>
          <p:cNvSpPr/>
          <p:nvPr/>
        </p:nvSpPr>
        <p:spPr>
          <a:xfrm>
            <a:off x="6315304" y="5001768"/>
            <a:ext cx="914" cy="109728"/>
          </a:xfrm>
          <a:prstGeom prst="line">
            <a:avLst/>
          </a:prstGeom>
          <a:noFill/>
          <a:ln w="15875">
            <a:solidFill>
              <a:srgbClr val="596273"/>
            </a:solidFill>
            <a:prstDash val="solid"/>
            <a:tailEnd type="triangle"/>
          </a:ln>
        </p:spPr>
        <p:txBody>
          <a:bodyPr/>
          <a:lstStyle/>
          <a:p>
            <a:endParaRPr lang="en-PK"/>
          </a:p>
        </p:txBody>
      </p:sp>
      <p:sp>
        <p:nvSpPr>
          <p:cNvPr id="68" name="Shape 66"/>
          <p:cNvSpPr/>
          <p:nvPr/>
        </p:nvSpPr>
        <p:spPr>
          <a:xfrm>
            <a:off x="10298887" y="3758184"/>
            <a:ext cx="1325880" cy="1133856"/>
          </a:xfrm>
          <a:prstGeom prst="roundRect">
            <a:avLst>
              <a:gd name="adj" fmla="val 4839"/>
            </a:avLst>
          </a:prstGeom>
          <a:solidFill>
            <a:srgbClr val="FBF3E3"/>
          </a:solidFill>
          <a:ln w="19050">
            <a:solidFill>
              <a:srgbClr val="8E6A1F"/>
            </a:solidFill>
            <a:prstDash val="dash"/>
          </a:ln>
        </p:spPr>
        <p:txBody>
          <a:bodyPr/>
          <a:lstStyle/>
          <a:p>
            <a:endParaRPr lang="en-PK"/>
          </a:p>
        </p:txBody>
      </p:sp>
      <p:sp>
        <p:nvSpPr>
          <p:cNvPr id="69" name="Text 67"/>
          <p:cNvSpPr txBox="1"/>
          <p:nvPr/>
        </p:nvSpPr>
        <p:spPr>
          <a:xfrm>
            <a:off x="10344607" y="3794760"/>
            <a:ext cx="1234440" cy="1060704"/>
          </a:xfrm>
          <a:prstGeom prst="rect">
            <a:avLst/>
          </a:prstGeom>
          <a:noFill/>
          <a:ln/>
        </p:spPr>
        <p:txBody>
          <a:bodyPr wrap="square" lIns="0" tIns="0" rIns="0" bIns="0" rtlCol="0" anchor="ctr"/>
          <a:lstStyle/>
          <a:p>
            <a:pPr marL="0" indent="0" algn="ctr">
              <a:buNone/>
            </a:pPr>
            <a:r>
              <a:rPr lang="en-US" sz="1500" b="1" dirty="0">
                <a:solidFill>
                  <a:srgbClr val="8E6A1F"/>
                </a:solidFill>
                <a:latin typeface="Calibri" pitchFamily="34" charset="0"/>
                <a:ea typeface="Calibri" pitchFamily="34" charset="-122"/>
                <a:cs typeface="Calibri" pitchFamily="34" charset="-120"/>
              </a:rPr>
              <a:t>LLM API</a:t>
            </a:r>
            <a:endParaRPr lang="en-US" sz="1500" dirty="0"/>
          </a:p>
          <a:p>
            <a:pPr marL="0" indent="0" algn="ctr">
              <a:buNone/>
            </a:pPr>
            <a:r>
              <a:rPr lang="en-US" sz="1100" dirty="0">
                <a:solidFill>
                  <a:srgbClr val="596273"/>
                </a:solidFill>
                <a:latin typeface="Calibri" pitchFamily="34" charset="0"/>
                <a:ea typeface="Calibri" pitchFamily="34" charset="-122"/>
                <a:cs typeface="Calibri" pitchFamily="34" charset="-120"/>
              </a:rPr>
              <a:t>core-assist only</a:t>
            </a:r>
            <a:endParaRPr lang="en-US" sz="1500" dirty="0"/>
          </a:p>
          <a:p>
            <a:pPr marL="0" indent="0" algn="ctr">
              <a:buNone/>
            </a:pPr>
            <a:r>
              <a:rPr lang="en-US" sz="1100" dirty="0">
                <a:solidFill>
                  <a:srgbClr val="596273"/>
                </a:solidFill>
                <a:latin typeface="Calibri" pitchFamily="34" charset="0"/>
                <a:ea typeface="Calibri" pitchFamily="34" charset="-122"/>
                <a:cs typeface="Calibri" pitchFamily="34" charset="-120"/>
              </a:rPr>
              <a:t>~15–20% of components</a:t>
            </a:r>
            <a:endParaRPr lang="en-US" sz="1500" dirty="0"/>
          </a:p>
        </p:txBody>
      </p:sp>
      <p:sp>
        <p:nvSpPr>
          <p:cNvPr id="70" name="Shape 68"/>
          <p:cNvSpPr/>
          <p:nvPr/>
        </p:nvSpPr>
        <p:spPr>
          <a:xfrm flipV="1">
            <a:off x="10116007" y="4105656"/>
            <a:ext cx="182880" cy="45720"/>
          </a:xfrm>
          <a:prstGeom prst="line">
            <a:avLst/>
          </a:prstGeom>
          <a:noFill/>
          <a:ln w="15875">
            <a:solidFill>
              <a:srgbClr val="C89B3C"/>
            </a:solidFill>
            <a:prstDash val="dash"/>
            <a:tailEnd type="triangle"/>
          </a:ln>
        </p:spPr>
        <p:txBody>
          <a:bodyPr/>
          <a:lstStyle/>
          <a:p>
            <a:endParaRPr lang="en-PK"/>
          </a:p>
        </p:txBody>
      </p:sp>
      <p:sp>
        <p:nvSpPr>
          <p:cNvPr id="71" name="Shape 69"/>
          <p:cNvSpPr/>
          <p:nvPr/>
        </p:nvSpPr>
        <p:spPr>
          <a:xfrm flipV="1">
            <a:off x="10116007" y="4544568"/>
            <a:ext cx="182880" cy="1124712"/>
          </a:xfrm>
          <a:prstGeom prst="line">
            <a:avLst/>
          </a:prstGeom>
          <a:noFill/>
          <a:ln w="15875">
            <a:solidFill>
              <a:srgbClr val="C89B3C"/>
            </a:solidFill>
            <a:prstDash val="dash"/>
            <a:tailEnd type="triangle"/>
          </a:ln>
        </p:spPr>
        <p:txBody>
          <a:bodyPr/>
          <a:lstStyle/>
          <a:p>
            <a:endParaRPr lang="en-PK"/>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C"/>
        </a:solidFill>
        <a:effectLst/>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txBody>
          <a:bodyPr/>
          <a:lstStyle/>
          <a:p>
            <a:endParaRPr lang="en-PK"/>
          </a:p>
        </p:txBody>
      </p:sp>
      <p:sp>
        <p:nvSpPr>
          <p:cNvPr id="3" name="Shape 1"/>
          <p:cNvSpPr/>
          <p:nvPr/>
        </p:nvSpPr>
        <p:spPr>
          <a:xfrm rot="2700000">
            <a:off x="10618927" y="5285232"/>
            <a:ext cx="1005840" cy="1005840"/>
          </a:xfrm>
          <a:prstGeom prst="rect">
            <a:avLst/>
          </a:prstGeom>
          <a:ln w="12700">
            <a:solidFill>
              <a:srgbClr val="F4F5F7"/>
            </a:solidFill>
            <a:prstDash val="solid"/>
          </a:ln>
        </p:spPr>
        <p:txBody>
          <a:bodyPr/>
          <a:lstStyle/>
          <a:p>
            <a:endParaRPr lang="en-PK"/>
          </a:p>
        </p:txBody>
      </p:sp>
      <p:sp>
        <p:nvSpPr>
          <p:cNvPr id="4" name="Shape 2"/>
          <p:cNvSpPr/>
          <p:nvPr/>
        </p:nvSpPr>
        <p:spPr>
          <a:xfrm rot="2700000">
            <a:off x="10856671" y="5522976"/>
            <a:ext cx="530352" cy="530352"/>
          </a:xfrm>
          <a:prstGeom prst="rect">
            <a:avLst/>
          </a:prstGeom>
          <a:ln w="12700">
            <a:solidFill>
              <a:srgbClr val="F7F4ED"/>
            </a:solidFill>
            <a:prstDash val="solid"/>
          </a:ln>
        </p:spPr>
        <p:txBody>
          <a:bodyPr/>
          <a:lstStyle/>
          <a:p>
            <a:endParaRPr lang="en-PK"/>
          </a:p>
        </p:txBody>
      </p:sp>
      <p:sp>
        <p:nvSpPr>
          <p:cNvPr id="5" name="Text 3"/>
          <p:cNvSpPr txBox="1"/>
          <p:nvPr/>
        </p:nvSpPr>
        <p:spPr>
          <a:xfrm>
            <a:off x="566928" y="365760"/>
            <a:ext cx="11057839" cy="731520"/>
          </a:xfrm>
          <a:prstGeom prst="rect">
            <a:avLst/>
          </a:prstGeom>
          <a:noFill/>
          <a:ln/>
        </p:spPr>
        <p:txBody>
          <a:bodyPr wrap="square" lIns="0" tIns="0" rIns="0" bIns="0" rtlCol="0" anchor="ctr"/>
          <a:lstStyle/>
          <a:p>
            <a:pPr marL="0" indent="0">
              <a:buNone/>
            </a:pPr>
            <a:r>
              <a:rPr lang="en-US" sz="3200" b="1" dirty="0">
                <a:solidFill>
                  <a:srgbClr val="1B202A"/>
                </a:solidFill>
                <a:latin typeface="Georgia" pitchFamily="34" charset="0"/>
                <a:ea typeface="Georgia" pitchFamily="34" charset="-122"/>
                <a:cs typeface="Georgia" pitchFamily="34" charset="-120"/>
              </a:rPr>
              <a:t>POC / Feasibility Evidence</a:t>
            </a:r>
            <a:endParaRPr lang="en-US" sz="3200" dirty="0"/>
          </a:p>
        </p:txBody>
      </p:sp>
      <p:sp>
        <p:nvSpPr>
          <p:cNvPr id="6" name="Shape 4"/>
          <p:cNvSpPr/>
          <p:nvPr/>
        </p:nvSpPr>
        <p:spPr>
          <a:xfrm>
            <a:off x="566928" y="1152144"/>
            <a:ext cx="566928" cy="36576"/>
          </a:xfrm>
          <a:prstGeom prst="rect">
            <a:avLst/>
          </a:prstGeom>
          <a:solidFill>
            <a:srgbClr val="C89B3C"/>
          </a:solidFill>
          <a:ln/>
        </p:spPr>
        <p:txBody>
          <a:bodyPr/>
          <a:lstStyle/>
          <a:p>
            <a:endParaRPr lang="en-PK"/>
          </a:p>
        </p:txBody>
      </p:sp>
      <p:sp>
        <p:nvSpPr>
          <p:cNvPr id="7" name="Shape 5"/>
          <p:cNvSpPr/>
          <p:nvPr/>
        </p:nvSpPr>
        <p:spPr>
          <a:xfrm>
            <a:off x="566928" y="6437376"/>
            <a:ext cx="11057839" cy="0"/>
          </a:xfrm>
          <a:prstGeom prst="line">
            <a:avLst/>
          </a:prstGeom>
          <a:noFill/>
          <a:ln w="9525">
            <a:solidFill>
              <a:srgbClr val="D9DCE3"/>
            </a:solidFill>
            <a:prstDash val="solid"/>
          </a:ln>
        </p:spPr>
        <p:txBody>
          <a:bodyPr/>
          <a:lstStyle/>
          <a:p>
            <a:endParaRPr lang="en-PK"/>
          </a:p>
        </p:txBody>
      </p:sp>
      <p:sp>
        <p:nvSpPr>
          <p:cNvPr id="8" name="Text 6"/>
          <p:cNvSpPr txBox="1"/>
          <p:nvPr/>
        </p:nvSpPr>
        <p:spPr>
          <a:xfrm>
            <a:off x="566928" y="6510528"/>
            <a:ext cx="5943600" cy="237744"/>
          </a:xfrm>
          <a:prstGeom prst="rect">
            <a:avLst/>
          </a:prstGeom>
          <a:noFill/>
          <a:ln/>
        </p:spPr>
        <p:txBody>
          <a:bodyPr wrap="square" lIns="0" tIns="0" rIns="0" bIns="0" rtlCol="0" anchor="ctr"/>
          <a:lstStyle/>
          <a:p>
            <a:pPr marL="0" indent="0">
              <a:buNone/>
            </a:pPr>
            <a:r>
              <a:rPr lang="en-US" sz="1300" kern="0" spc="50" dirty="0">
                <a:solidFill>
                  <a:srgbClr val="8B92A2"/>
                </a:solidFill>
                <a:latin typeface="Consolas" pitchFamily="34" charset="0"/>
                <a:ea typeface="Consolas" pitchFamily="34" charset="-122"/>
                <a:cs typeface="Consolas" pitchFamily="34" charset="-120"/>
              </a:rPr>
              <a:t>F26-060-GRANITE  ·  PROPOSAL DEFENSE  ·  STREAM A</a:t>
            </a:r>
            <a:endParaRPr lang="en-US" sz="130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marL="0" indent="0" algn="r">
              <a:buNone/>
            </a:pPr>
            <a:r>
              <a:rPr lang="en-US" sz="1300" b="1" dirty="0">
                <a:solidFill>
                  <a:srgbClr val="8E6A1F"/>
                </a:solidFill>
                <a:latin typeface="Consolas" pitchFamily="34" charset="0"/>
                <a:ea typeface="Consolas" pitchFamily="34" charset="-122"/>
                <a:cs typeface="Consolas" pitchFamily="34" charset="-120"/>
              </a:rPr>
              <a:t>7 / 11</a:t>
            </a:r>
            <a:endParaRPr lang="en-US" sz="1300" dirty="0"/>
          </a:p>
        </p:txBody>
      </p:sp>
      <p:sp>
        <p:nvSpPr>
          <p:cNvPr id="10" name="Text 8"/>
          <p:cNvSpPr txBox="1"/>
          <p:nvPr/>
        </p:nvSpPr>
        <p:spPr>
          <a:xfrm>
            <a:off x="566928" y="1280160"/>
            <a:ext cx="2581580" cy="420624"/>
          </a:xfrm>
          <a:prstGeom prst="rect">
            <a:avLst/>
          </a:prstGeom>
          <a:noFill/>
          <a:ln/>
        </p:spPr>
        <p:txBody>
          <a:bodyPr wrap="square" lIns="0" tIns="0" rIns="0" bIns="0" rtlCol="0" anchor="ctr"/>
          <a:lstStyle/>
          <a:p>
            <a:pPr marL="0" indent="0">
              <a:buNone/>
            </a:pPr>
            <a:r>
              <a:rPr lang="en-US" sz="2600" b="1" dirty="0">
                <a:solidFill>
                  <a:srgbClr val="8E6A1F"/>
                </a:solidFill>
                <a:latin typeface="Georgia" pitchFamily="34" charset="0"/>
                <a:ea typeface="Georgia" pitchFamily="34" charset="-122"/>
                <a:cs typeface="Georgia" pitchFamily="34" charset="-120"/>
              </a:rPr>
              <a:t>71.4%</a:t>
            </a:r>
            <a:endParaRPr lang="en-US" sz="2600" dirty="0"/>
          </a:p>
        </p:txBody>
      </p:sp>
      <p:sp>
        <p:nvSpPr>
          <p:cNvPr id="11" name="Text 9"/>
          <p:cNvSpPr txBox="1"/>
          <p:nvPr/>
        </p:nvSpPr>
        <p:spPr>
          <a:xfrm>
            <a:off x="566928" y="1700784"/>
            <a:ext cx="2581580" cy="274320"/>
          </a:xfrm>
          <a:prstGeom prst="rect">
            <a:avLst/>
          </a:prstGeom>
          <a:noFill/>
          <a:ln/>
        </p:spPr>
        <p:txBody>
          <a:bodyPr wrap="square" lIns="0" tIns="0" rIns="0" bIns="0" rtlCol="0" anchor="ctr"/>
          <a:lstStyle/>
          <a:p>
            <a:pPr marL="0" indent="0">
              <a:buNone/>
            </a:pPr>
            <a:r>
              <a:rPr lang="en-US" sz="1500" dirty="0">
                <a:solidFill>
                  <a:srgbClr val="596273"/>
                </a:solidFill>
                <a:latin typeface="Calibri" pitchFamily="34" charset="0"/>
                <a:ea typeface="Calibri" pitchFamily="34" charset="-122"/>
                <a:cs typeface="Calibri" pitchFamily="34" charset="-120"/>
              </a:rPr>
              <a:t>agent accuracy (5 runs)</a:t>
            </a:r>
            <a:endParaRPr lang="en-US" sz="1500" dirty="0"/>
          </a:p>
        </p:txBody>
      </p:sp>
      <p:sp>
        <p:nvSpPr>
          <p:cNvPr id="12" name="Text 10"/>
          <p:cNvSpPr txBox="1"/>
          <p:nvPr/>
        </p:nvSpPr>
        <p:spPr>
          <a:xfrm>
            <a:off x="3331388" y="1280160"/>
            <a:ext cx="2581580" cy="420624"/>
          </a:xfrm>
          <a:prstGeom prst="rect">
            <a:avLst/>
          </a:prstGeom>
          <a:noFill/>
          <a:ln/>
        </p:spPr>
        <p:txBody>
          <a:bodyPr wrap="square" lIns="0" tIns="0" rIns="0" bIns="0" rtlCol="0" anchor="ctr"/>
          <a:lstStyle/>
          <a:p>
            <a:pPr marL="0" indent="0">
              <a:buNone/>
            </a:pPr>
            <a:r>
              <a:rPr lang="en-US" sz="2600" b="1" dirty="0">
                <a:solidFill>
                  <a:srgbClr val="8E6A1F"/>
                </a:solidFill>
                <a:latin typeface="Georgia" pitchFamily="34" charset="0"/>
                <a:ea typeface="Georgia" pitchFamily="34" charset="-122"/>
                <a:cs typeface="Georgia" pitchFamily="34" charset="-120"/>
              </a:rPr>
              <a:t>13.2%</a:t>
            </a:r>
            <a:endParaRPr lang="en-US" sz="2600" dirty="0"/>
          </a:p>
        </p:txBody>
      </p:sp>
      <p:sp>
        <p:nvSpPr>
          <p:cNvPr id="13" name="Text 11"/>
          <p:cNvSpPr txBox="1"/>
          <p:nvPr/>
        </p:nvSpPr>
        <p:spPr>
          <a:xfrm>
            <a:off x="3331388" y="1700784"/>
            <a:ext cx="2581580" cy="274320"/>
          </a:xfrm>
          <a:prstGeom prst="rect">
            <a:avLst/>
          </a:prstGeom>
          <a:noFill/>
          <a:ln/>
        </p:spPr>
        <p:txBody>
          <a:bodyPr wrap="square" lIns="0" tIns="0" rIns="0" bIns="0" rtlCol="0" anchor="ctr"/>
          <a:lstStyle/>
          <a:p>
            <a:pPr marL="0" indent="0">
              <a:buNone/>
            </a:pPr>
            <a:r>
              <a:rPr lang="en-US" sz="1500" dirty="0">
                <a:solidFill>
                  <a:srgbClr val="596273"/>
                </a:solidFill>
                <a:latin typeface="Calibri" pitchFamily="34" charset="0"/>
                <a:ea typeface="Calibri" pitchFamily="34" charset="-122"/>
                <a:cs typeface="Calibri" pitchFamily="34" charset="-120"/>
              </a:rPr>
              <a:t>step accuracy (5 runs)</a:t>
            </a:r>
            <a:endParaRPr lang="en-US" sz="1500" dirty="0"/>
          </a:p>
        </p:txBody>
      </p:sp>
      <p:sp>
        <p:nvSpPr>
          <p:cNvPr id="14" name="Text 12"/>
          <p:cNvSpPr txBox="1"/>
          <p:nvPr/>
        </p:nvSpPr>
        <p:spPr>
          <a:xfrm>
            <a:off x="6095848" y="1280160"/>
            <a:ext cx="2581580" cy="420624"/>
          </a:xfrm>
          <a:prstGeom prst="rect">
            <a:avLst/>
          </a:prstGeom>
          <a:noFill/>
          <a:ln/>
        </p:spPr>
        <p:txBody>
          <a:bodyPr wrap="square" lIns="0" tIns="0" rIns="0" bIns="0" rtlCol="0" anchor="ctr"/>
          <a:lstStyle/>
          <a:p>
            <a:pPr marL="0" indent="0">
              <a:buNone/>
            </a:pPr>
            <a:r>
              <a:rPr lang="en-US" sz="2600" b="1" dirty="0">
                <a:solidFill>
                  <a:srgbClr val="8E6A1F"/>
                </a:solidFill>
                <a:latin typeface="Georgia" pitchFamily="34" charset="0"/>
                <a:ea typeface="Georgia" pitchFamily="34" charset="-122"/>
                <a:cs typeface="Georgia" pitchFamily="34" charset="-120"/>
              </a:rPr>
              <a:t>4 / 6</a:t>
            </a:r>
            <a:endParaRPr lang="en-US" sz="2600" dirty="0"/>
          </a:p>
        </p:txBody>
      </p:sp>
      <p:sp>
        <p:nvSpPr>
          <p:cNvPr id="15" name="Text 13"/>
          <p:cNvSpPr txBox="1"/>
          <p:nvPr/>
        </p:nvSpPr>
        <p:spPr>
          <a:xfrm>
            <a:off x="6095848" y="1700784"/>
            <a:ext cx="2581580" cy="274320"/>
          </a:xfrm>
          <a:prstGeom prst="rect">
            <a:avLst/>
          </a:prstGeom>
          <a:noFill/>
          <a:ln/>
        </p:spPr>
        <p:txBody>
          <a:bodyPr wrap="square" lIns="0" tIns="0" rIns="0" bIns="0" rtlCol="0" anchor="ctr"/>
          <a:lstStyle/>
          <a:p>
            <a:pPr marL="0" indent="0">
              <a:buNone/>
            </a:pPr>
            <a:r>
              <a:rPr lang="en-US" sz="1500" dirty="0">
                <a:solidFill>
                  <a:srgbClr val="596273"/>
                </a:solidFill>
                <a:latin typeface="Calibri" pitchFamily="34" charset="0"/>
                <a:ea typeface="Calibri" pitchFamily="34" charset="-122"/>
                <a:cs typeface="Calibri" pitchFamily="34" charset="-120"/>
              </a:rPr>
              <a:t>Repair Agent success</a:t>
            </a:r>
            <a:endParaRPr lang="en-US" sz="1500" dirty="0"/>
          </a:p>
        </p:txBody>
      </p:sp>
      <p:sp>
        <p:nvSpPr>
          <p:cNvPr id="16" name="Text 14"/>
          <p:cNvSpPr txBox="1"/>
          <p:nvPr/>
        </p:nvSpPr>
        <p:spPr>
          <a:xfrm>
            <a:off x="8860307" y="1280160"/>
            <a:ext cx="2581580" cy="420624"/>
          </a:xfrm>
          <a:prstGeom prst="rect">
            <a:avLst/>
          </a:prstGeom>
          <a:noFill/>
          <a:ln/>
        </p:spPr>
        <p:txBody>
          <a:bodyPr wrap="square" lIns="0" tIns="0" rIns="0" bIns="0" rtlCol="0" anchor="ctr"/>
          <a:lstStyle/>
          <a:p>
            <a:pPr marL="0" indent="0">
              <a:buNone/>
            </a:pPr>
            <a:r>
              <a:rPr lang="en-US" sz="2600" b="1" dirty="0">
                <a:solidFill>
                  <a:srgbClr val="8E6A1F"/>
                </a:solidFill>
                <a:latin typeface="Georgia" pitchFamily="34" charset="0"/>
                <a:ea typeface="Georgia" pitchFamily="34" charset="-122"/>
                <a:cs typeface="Georgia" pitchFamily="34" charset="-120"/>
              </a:rPr>
              <a:t>8 / 8</a:t>
            </a:r>
            <a:endParaRPr lang="en-US" sz="2600" dirty="0"/>
          </a:p>
        </p:txBody>
      </p:sp>
      <p:sp>
        <p:nvSpPr>
          <p:cNvPr id="17" name="Text 15"/>
          <p:cNvSpPr txBox="1"/>
          <p:nvPr/>
        </p:nvSpPr>
        <p:spPr>
          <a:xfrm>
            <a:off x="8860307" y="1700784"/>
            <a:ext cx="2581580" cy="274320"/>
          </a:xfrm>
          <a:prstGeom prst="rect">
            <a:avLst/>
          </a:prstGeom>
          <a:noFill/>
          <a:ln/>
        </p:spPr>
        <p:txBody>
          <a:bodyPr wrap="square" lIns="0" tIns="0" rIns="0" bIns="0" rtlCol="0" anchor="ctr"/>
          <a:lstStyle/>
          <a:p>
            <a:pPr marL="0" indent="0">
              <a:buNone/>
            </a:pPr>
            <a:r>
              <a:rPr lang="en-US" sz="1500" dirty="0">
                <a:solidFill>
                  <a:srgbClr val="596273"/>
                </a:solidFill>
                <a:latin typeface="Calibri" pitchFamily="34" charset="0"/>
                <a:ea typeface="Calibri" pitchFamily="34" charset="-122"/>
                <a:cs typeface="Calibri" pitchFamily="34" charset="-120"/>
              </a:rPr>
              <a:t>spikes with real evidence</a:t>
            </a:r>
            <a:endParaRPr lang="en-US" sz="1500" dirty="0"/>
          </a:p>
        </p:txBody>
      </p:sp>
      <p:sp>
        <p:nvSpPr>
          <p:cNvPr id="18" name="Shape 16"/>
          <p:cNvSpPr/>
          <p:nvPr/>
        </p:nvSpPr>
        <p:spPr>
          <a:xfrm>
            <a:off x="566928" y="2048256"/>
            <a:ext cx="11057839" cy="0"/>
          </a:xfrm>
          <a:prstGeom prst="line">
            <a:avLst/>
          </a:prstGeom>
          <a:noFill/>
          <a:ln w="9525">
            <a:solidFill>
              <a:srgbClr val="D9DCE3"/>
            </a:solidFill>
            <a:prstDash val="solid"/>
          </a:ln>
        </p:spPr>
        <p:txBody>
          <a:bodyPr/>
          <a:lstStyle/>
          <a:p>
            <a:endParaRPr lang="en-PK"/>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2176272"/>
          <a:ext cx="11057839" cy="4114800"/>
        </p:xfrm>
        <a:graphic>
          <a:graphicData uri="http://schemas.openxmlformats.org/drawingml/2006/table">
            <a:tbl>
              <a:tblPr/>
              <a:tblGrid>
                <a:gridCol w="713232">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6001207">
                  <a:extLst>
                    <a:ext uri="{9D8B030D-6E8A-4147-A177-3AD203B41FA5}">
                      <a16:colId xmlns:a16="http://schemas.microsoft.com/office/drawing/2014/main" val="20003"/>
                    </a:ext>
                  </a:extLst>
                </a:gridCol>
              </a:tblGrid>
              <a:tr h="457200">
                <a:tc>
                  <a:txBody>
                    <a:bodyPr/>
                    <a:lstStyle/>
                    <a:p>
                      <a:pPr marL="0" indent="0" algn="ctr">
                        <a:buNone/>
                      </a:pPr>
                      <a:r>
                        <a:rPr lang="en-US" sz="1550" b="1" dirty="0">
                          <a:solidFill>
                            <a:srgbClr val="F5F6F8"/>
                          </a:solidFill>
                          <a:latin typeface="Calibri" pitchFamily="34" charset="0"/>
                          <a:ea typeface="Calibri" pitchFamily="34" charset="-122"/>
                          <a:cs typeface="Calibri" pitchFamily="34" charset="-120"/>
                        </a:rPr>
                        <a:t>#</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c>
                  <a:txBody>
                    <a:bodyPr/>
                    <a:lstStyle/>
                    <a:p>
                      <a:pPr marL="0" indent="0" algn="l">
                        <a:buNone/>
                      </a:pPr>
                      <a:r>
                        <a:rPr lang="en-US" sz="1550" b="1" dirty="0">
                          <a:solidFill>
                            <a:srgbClr val="F5F6F8"/>
                          </a:solidFill>
                          <a:latin typeface="Calibri" pitchFamily="34" charset="0"/>
                          <a:ea typeface="Calibri" pitchFamily="34" charset="-122"/>
                          <a:cs typeface="Calibri" pitchFamily="34" charset="-120"/>
                        </a:rPr>
                        <a:t>Spike</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c>
                  <a:txBody>
                    <a:bodyPr/>
                    <a:lstStyle/>
                    <a:p>
                      <a:pPr marL="0" indent="0" algn="l">
                        <a:buNone/>
                      </a:pPr>
                      <a:r>
                        <a:rPr lang="en-US" sz="1550" b="1" dirty="0">
                          <a:solidFill>
                            <a:srgbClr val="F5F6F8"/>
                          </a:solidFill>
                          <a:latin typeface="Calibri" pitchFamily="34" charset="0"/>
                          <a:ea typeface="Calibri" pitchFamily="34" charset="-122"/>
                          <a:cs typeface="Calibri" pitchFamily="34" charset="-120"/>
                        </a:rPr>
                        <a:t>Status</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tc>
                  <a:txBody>
                    <a:bodyPr/>
                    <a:lstStyle/>
                    <a:p>
                      <a:pPr marL="0" indent="0" algn="l">
                        <a:buNone/>
                      </a:pPr>
                      <a:r>
                        <a:rPr lang="en-US" sz="1550" b="1" dirty="0">
                          <a:solidFill>
                            <a:srgbClr val="F5F6F8"/>
                          </a:solidFill>
                          <a:latin typeface="Calibri" pitchFamily="34" charset="0"/>
                          <a:ea typeface="Calibri" pitchFamily="34" charset="-122"/>
                          <a:cs typeface="Calibri" pitchFamily="34" charset="-120"/>
                        </a:rPr>
                        <a:t>Result</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1E242F"/>
                    </a:solidFill>
                  </a:tcPr>
                </a:tc>
                <a:extLst>
                  <a:ext uri="{0D108BD9-81ED-4DB2-BD59-A6C34878D82A}">
                    <a16:rowId xmlns:a16="http://schemas.microsoft.com/office/drawing/2014/main" val="10000"/>
                  </a:ext>
                </a:extLst>
              </a:tr>
              <a:tr h="457200">
                <a:tc>
                  <a:txBody>
                    <a:bodyPr/>
                    <a:lstStyle/>
                    <a:p>
                      <a:pPr marL="0" indent="0" algn="ctr">
                        <a:buNone/>
                      </a:pPr>
                      <a:r>
                        <a:rPr lang="en-US" sz="1550" dirty="0">
                          <a:solidFill>
                            <a:srgbClr val="1B202A"/>
                          </a:solidFill>
                          <a:latin typeface="Calibri" pitchFamily="34" charset="0"/>
                          <a:ea typeface="Calibri" pitchFamily="34" charset="-122"/>
                          <a:cs typeface="Calibri" pitchFamily="34" charset="-120"/>
                        </a:rPr>
                        <a:t>1</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marL="0" indent="0" algn="l">
                        <a:buNone/>
                      </a:pPr>
                      <a:r>
                        <a:rPr lang="en-US" sz="1550" dirty="0">
                          <a:solidFill>
                            <a:srgbClr val="1B202A"/>
                          </a:solidFill>
                          <a:latin typeface="Calibri" pitchFamily="34" charset="0"/>
                          <a:ea typeface="Calibri" pitchFamily="34" charset="-122"/>
                          <a:cs typeface="Calibri" pitchFamily="34" charset="-120"/>
                        </a:rPr>
                        <a:t>ErrorProbe reproduction</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marL="0" indent="0" algn="l">
                        <a:buNone/>
                      </a:pPr>
                      <a:r>
                        <a:rPr lang="en-US" sz="1550" b="1" dirty="0">
                          <a:solidFill>
                            <a:srgbClr val="1E7A52"/>
                          </a:solidFill>
                          <a:latin typeface="Calibri" pitchFamily="34" charset="0"/>
                          <a:ea typeface="Calibri" pitchFamily="34" charset="-122"/>
                          <a:cs typeface="Calibri" pitchFamily="34" charset="-120"/>
                        </a:rPr>
                        <a:t>DEMONSTRATED</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marL="0" indent="0" algn="l">
                        <a:buNone/>
                      </a:pPr>
                      <a:r>
                        <a:rPr lang="en-US" sz="1550" dirty="0">
                          <a:solidFill>
                            <a:srgbClr val="1B202A"/>
                          </a:solidFill>
                          <a:latin typeface="Calibri" pitchFamily="34" charset="0"/>
                          <a:ea typeface="Calibri" pitchFamily="34" charset="-122"/>
                          <a:cs typeface="Calibri" pitchFamily="34" charset="-120"/>
                        </a:rPr>
                        <a:t>agent 62.5–85.7%, step 0–25% — 5 real runs, a range</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extLst>
                  <a:ext uri="{0D108BD9-81ED-4DB2-BD59-A6C34878D82A}">
                    <a16:rowId xmlns:a16="http://schemas.microsoft.com/office/drawing/2014/main" val="10001"/>
                  </a:ext>
                </a:extLst>
              </a:tr>
              <a:tr h="457200">
                <a:tc>
                  <a:txBody>
                    <a:bodyPr/>
                    <a:lstStyle/>
                    <a:p>
                      <a:pPr marL="0" indent="0" algn="ctr">
                        <a:buNone/>
                      </a:pPr>
                      <a:r>
                        <a:rPr lang="en-US" sz="1550" dirty="0">
                          <a:solidFill>
                            <a:srgbClr val="1B202A"/>
                          </a:solidFill>
                          <a:latin typeface="Calibri" pitchFamily="34" charset="0"/>
                          <a:ea typeface="Calibri" pitchFamily="34" charset="-122"/>
                          <a:cs typeface="Calibri" pitchFamily="34" charset="-120"/>
                        </a:rPr>
                        <a:t>2</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l">
                        <a:buNone/>
                      </a:pPr>
                      <a:r>
                        <a:rPr lang="en-US" sz="1550" dirty="0">
                          <a:solidFill>
                            <a:srgbClr val="1B202A"/>
                          </a:solidFill>
                          <a:latin typeface="Calibri" pitchFamily="34" charset="0"/>
                          <a:ea typeface="Calibri" pitchFamily="34" charset="-122"/>
                          <a:cs typeface="Calibri" pitchFamily="34" charset="-120"/>
                        </a:rPr>
                        <a:t>CrewAI instrumentation</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l">
                        <a:buNone/>
                      </a:pPr>
                      <a:r>
                        <a:rPr lang="en-US" sz="1550" b="1" dirty="0">
                          <a:solidFill>
                            <a:srgbClr val="1E7A52"/>
                          </a:solidFill>
                          <a:latin typeface="Calibri" pitchFamily="34" charset="0"/>
                          <a:ea typeface="Calibri" pitchFamily="34" charset="-122"/>
                          <a:cs typeface="Calibri" pitchFamily="34" charset="-120"/>
                        </a:rPr>
                        <a:t>DEMONSTRATED</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l">
                        <a:buNone/>
                      </a:pPr>
                      <a:r>
                        <a:rPr lang="en-US" sz="1550" dirty="0">
                          <a:solidFill>
                            <a:srgbClr val="1B202A"/>
                          </a:solidFill>
                          <a:latin typeface="Calibri" pitchFamily="34" charset="0"/>
                          <a:ea typeface="Calibri" pitchFamily="34" charset="-122"/>
                          <a:cs typeface="Calibri" pitchFamily="34" charset="-120"/>
                        </a:rPr>
                        <a:t>3 nodes, 2 clean edges</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extLst>
                  <a:ext uri="{0D108BD9-81ED-4DB2-BD59-A6C34878D82A}">
                    <a16:rowId xmlns:a16="http://schemas.microsoft.com/office/drawing/2014/main" val="10002"/>
                  </a:ext>
                </a:extLst>
              </a:tr>
              <a:tr h="457200">
                <a:tc>
                  <a:txBody>
                    <a:bodyPr/>
                    <a:lstStyle/>
                    <a:p>
                      <a:pPr marL="0" indent="0" algn="ctr">
                        <a:buNone/>
                      </a:pPr>
                      <a:r>
                        <a:rPr lang="en-US" sz="1550" dirty="0">
                          <a:solidFill>
                            <a:srgbClr val="1B202A"/>
                          </a:solidFill>
                          <a:latin typeface="Calibri" pitchFamily="34" charset="0"/>
                          <a:ea typeface="Calibri" pitchFamily="34" charset="-122"/>
                          <a:cs typeface="Calibri" pitchFamily="34" charset="-120"/>
                        </a:rPr>
                        <a:t>3/3b</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marL="0" indent="0" algn="l">
                        <a:buNone/>
                      </a:pPr>
                      <a:r>
                        <a:rPr lang="en-US" sz="1550" dirty="0">
                          <a:solidFill>
                            <a:srgbClr val="1B202A"/>
                          </a:solidFill>
                          <a:latin typeface="Calibri" pitchFamily="34" charset="0"/>
                          <a:ea typeface="Calibri" pitchFamily="34" charset="-122"/>
                          <a:cs typeface="Calibri" pitchFamily="34" charset="-120"/>
                        </a:rPr>
                        <a:t>Fault injection</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marL="0" indent="0" algn="l">
                        <a:buNone/>
                      </a:pPr>
                      <a:r>
                        <a:rPr lang="en-US" sz="1550" b="1" dirty="0">
                          <a:solidFill>
                            <a:srgbClr val="1E7A52"/>
                          </a:solidFill>
                          <a:latin typeface="Calibri" pitchFamily="34" charset="0"/>
                          <a:ea typeface="Calibri" pitchFamily="34" charset="-122"/>
                          <a:cs typeface="Calibri" pitchFamily="34" charset="-120"/>
                        </a:rPr>
                        <a:t>DEMONSTRATED</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marL="0" indent="0" algn="l">
                        <a:buNone/>
                      </a:pPr>
                      <a:r>
                        <a:rPr lang="en-US" sz="1550" dirty="0">
                          <a:solidFill>
                            <a:srgbClr val="1B202A"/>
                          </a:solidFill>
                          <a:latin typeface="Calibri" pitchFamily="34" charset="0"/>
                          <a:ea typeface="Calibri" pitchFamily="34" charset="-122"/>
                          <a:cs typeface="Calibri" pitchFamily="34" charset="-120"/>
                        </a:rPr>
                        <a:t>1 case self-corrected — kept as a finding</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extLst>
                  <a:ext uri="{0D108BD9-81ED-4DB2-BD59-A6C34878D82A}">
                    <a16:rowId xmlns:a16="http://schemas.microsoft.com/office/drawing/2014/main" val="10003"/>
                  </a:ext>
                </a:extLst>
              </a:tr>
              <a:tr h="457200">
                <a:tc>
                  <a:txBody>
                    <a:bodyPr/>
                    <a:lstStyle/>
                    <a:p>
                      <a:pPr marL="0" indent="0" algn="ctr">
                        <a:buNone/>
                      </a:pPr>
                      <a:r>
                        <a:rPr lang="en-US" sz="1550" dirty="0">
                          <a:solidFill>
                            <a:srgbClr val="1B202A"/>
                          </a:solidFill>
                          <a:latin typeface="Calibri" pitchFamily="34" charset="0"/>
                          <a:ea typeface="Calibri" pitchFamily="34" charset="-122"/>
                          <a:cs typeface="Calibri" pitchFamily="34" charset="-120"/>
                        </a:rPr>
                        <a:t>4</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l">
                        <a:buNone/>
                      </a:pPr>
                      <a:r>
                        <a:rPr lang="en-US" sz="1550" dirty="0">
                          <a:solidFill>
                            <a:srgbClr val="1B202A"/>
                          </a:solidFill>
                          <a:latin typeface="Calibri" pitchFamily="34" charset="0"/>
                          <a:ea typeface="Calibri" pitchFamily="34" charset="-122"/>
                          <a:cs typeface="Calibri" pitchFamily="34" charset="-120"/>
                        </a:rPr>
                        <a:t>Semantic Error Diagnostic</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l">
                        <a:buNone/>
                      </a:pPr>
                      <a:r>
                        <a:rPr lang="en-US" sz="1550" b="1" dirty="0">
                          <a:solidFill>
                            <a:srgbClr val="1E7A52"/>
                          </a:solidFill>
                          <a:latin typeface="Calibri" pitchFamily="34" charset="0"/>
                          <a:ea typeface="Calibri" pitchFamily="34" charset="-122"/>
                          <a:cs typeface="Calibri" pitchFamily="34" charset="-120"/>
                        </a:rPr>
                        <a:t>DEMONSTRATED</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l">
                        <a:buNone/>
                      </a:pPr>
                      <a:r>
                        <a:rPr lang="en-US" sz="1550" dirty="0">
                          <a:solidFill>
                            <a:srgbClr val="1B202A"/>
                          </a:solidFill>
                          <a:latin typeface="Calibri" pitchFamily="34" charset="0"/>
                          <a:ea typeface="Calibri" pitchFamily="34" charset="-122"/>
                          <a:cs typeface="Calibri" pitchFamily="34" charset="-120"/>
                        </a:rPr>
                        <a:t>Near-miss ($20.00 vs $19.75) caught, zero false positives — seeded test</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extLst>
                  <a:ext uri="{0D108BD9-81ED-4DB2-BD59-A6C34878D82A}">
                    <a16:rowId xmlns:a16="http://schemas.microsoft.com/office/drawing/2014/main" val="10004"/>
                  </a:ext>
                </a:extLst>
              </a:tr>
              <a:tr h="457200">
                <a:tc>
                  <a:txBody>
                    <a:bodyPr/>
                    <a:lstStyle/>
                    <a:p>
                      <a:pPr marL="0" indent="0" algn="ctr">
                        <a:buNone/>
                      </a:pPr>
                      <a:r>
                        <a:rPr lang="en-US" sz="1550" dirty="0">
                          <a:solidFill>
                            <a:srgbClr val="1B202A"/>
                          </a:solidFill>
                          <a:latin typeface="Calibri" pitchFamily="34" charset="0"/>
                          <a:ea typeface="Calibri" pitchFamily="34" charset="-122"/>
                          <a:cs typeface="Calibri" pitchFamily="34" charset="-120"/>
                        </a:rPr>
                        <a:t>5</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marL="0" indent="0" algn="l">
                        <a:buNone/>
                      </a:pPr>
                      <a:r>
                        <a:rPr lang="en-US" sz="1550" dirty="0">
                          <a:solidFill>
                            <a:srgbClr val="1B202A"/>
                          </a:solidFill>
                          <a:latin typeface="Calibri" pitchFamily="34" charset="0"/>
                          <a:ea typeface="Calibri" pitchFamily="34" charset="-122"/>
                          <a:cs typeface="Calibri" pitchFamily="34" charset="-120"/>
                        </a:rPr>
                        <a:t>Counterfactual replay</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marL="0" indent="0" algn="l">
                        <a:buNone/>
                      </a:pPr>
                      <a:r>
                        <a:rPr lang="en-US" sz="1550" b="1" dirty="0">
                          <a:solidFill>
                            <a:srgbClr val="1E7A52"/>
                          </a:solidFill>
                          <a:latin typeface="Calibri" pitchFamily="34" charset="0"/>
                          <a:ea typeface="Calibri" pitchFamily="34" charset="-122"/>
                          <a:cs typeface="Calibri" pitchFamily="34" charset="-120"/>
                        </a:rPr>
                        <a:t>DEMONSTRATED</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tc>
                  <a:txBody>
                    <a:bodyPr/>
                    <a:lstStyle/>
                    <a:p>
                      <a:pPr marL="0" indent="0" algn="l">
                        <a:buNone/>
                      </a:pPr>
                      <a:r>
                        <a:rPr lang="en-US" sz="1550" dirty="0">
                          <a:solidFill>
                            <a:srgbClr val="1B202A"/>
                          </a:solidFill>
                          <a:latin typeface="Calibri" pitchFamily="34" charset="0"/>
                          <a:ea typeface="Calibri" pitchFamily="34" charset="-122"/>
                          <a:cs typeface="Calibri" pitchFamily="34" charset="-120"/>
                        </a:rPr>
                        <a:t>97.2 corrupted → 108.0 recovered, recovery_success = true</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1F2F5"/>
                    </a:solidFill>
                  </a:tcPr>
                </a:tc>
                <a:extLst>
                  <a:ext uri="{0D108BD9-81ED-4DB2-BD59-A6C34878D82A}">
                    <a16:rowId xmlns:a16="http://schemas.microsoft.com/office/drawing/2014/main" val="10005"/>
                  </a:ext>
                </a:extLst>
              </a:tr>
              <a:tr h="457200">
                <a:tc>
                  <a:txBody>
                    <a:bodyPr/>
                    <a:lstStyle/>
                    <a:p>
                      <a:pPr marL="0" indent="0" algn="ctr">
                        <a:buNone/>
                      </a:pPr>
                      <a:r>
                        <a:rPr lang="en-US" sz="1550" dirty="0">
                          <a:solidFill>
                            <a:srgbClr val="1B202A"/>
                          </a:solidFill>
                          <a:latin typeface="Calibri" pitchFamily="34" charset="0"/>
                          <a:ea typeface="Calibri" pitchFamily="34" charset="-122"/>
                          <a:cs typeface="Calibri" pitchFamily="34" charset="-120"/>
                        </a:rPr>
                        <a:t>6</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l">
                        <a:buNone/>
                      </a:pPr>
                      <a:r>
                        <a:rPr lang="en-US" sz="1550" dirty="0">
                          <a:solidFill>
                            <a:srgbClr val="1B202A"/>
                          </a:solidFill>
                          <a:latin typeface="Calibri" pitchFamily="34" charset="0"/>
                          <a:ea typeface="Calibri" pitchFamily="34" charset="-122"/>
                          <a:cs typeface="Calibri" pitchFamily="34" charset="-120"/>
                        </a:rPr>
                        <a:t>Cyclic graph handling</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l">
                        <a:buNone/>
                      </a:pPr>
                      <a:r>
                        <a:rPr lang="en-US" sz="1550" b="1" dirty="0">
                          <a:solidFill>
                            <a:srgbClr val="1E7A52"/>
                          </a:solidFill>
                          <a:latin typeface="Calibri" pitchFamily="34" charset="0"/>
                          <a:ea typeface="Calibri" pitchFamily="34" charset="-122"/>
                          <a:cs typeface="Calibri" pitchFamily="34" charset="-120"/>
                        </a:rPr>
                        <a:t>DEMONSTRATED</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l">
                        <a:buNone/>
                      </a:pPr>
                      <a:r>
                        <a:rPr lang="en-US" sz="1550" dirty="0">
                          <a:solidFill>
                            <a:srgbClr val="1B202A"/>
                          </a:solidFill>
                          <a:latin typeface="Calibri" pitchFamily="34" charset="0"/>
                          <a:ea typeface="Calibri" pitchFamily="34" charset="-122"/>
                          <a:cs typeface="Calibri" pitchFamily="34" charset="-120"/>
                        </a:rPr>
                        <a:t>Bound disabled → hits the 10,000-step safety cap</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extLst>
                  <a:ext uri="{0D108BD9-81ED-4DB2-BD59-A6C34878D82A}">
                    <a16:rowId xmlns:a16="http://schemas.microsoft.com/office/drawing/2014/main" val="10006"/>
                  </a:ext>
                </a:extLst>
              </a:tr>
              <a:tr h="457200">
                <a:tc>
                  <a:txBody>
                    <a:bodyPr/>
                    <a:lstStyle/>
                    <a:p>
                      <a:pPr marL="0" indent="0" algn="ctr">
                        <a:buNone/>
                      </a:pPr>
                      <a:r>
                        <a:rPr lang="en-US" sz="1550" dirty="0">
                          <a:solidFill>
                            <a:srgbClr val="1B202A"/>
                          </a:solidFill>
                          <a:latin typeface="Calibri" pitchFamily="34" charset="0"/>
                          <a:ea typeface="Calibri" pitchFamily="34" charset="-122"/>
                          <a:cs typeface="Calibri" pitchFamily="34" charset="-120"/>
                        </a:rPr>
                        <a:t>7</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7EFDC"/>
                    </a:solidFill>
                  </a:tcPr>
                </a:tc>
                <a:tc>
                  <a:txBody>
                    <a:bodyPr/>
                    <a:lstStyle/>
                    <a:p>
                      <a:pPr marL="0" indent="0" algn="l">
                        <a:buNone/>
                      </a:pPr>
                      <a:r>
                        <a:rPr lang="en-US" sz="1550" dirty="0">
                          <a:solidFill>
                            <a:srgbClr val="1B202A"/>
                          </a:solidFill>
                          <a:latin typeface="Calibri" pitchFamily="34" charset="0"/>
                          <a:ea typeface="Calibri" pitchFamily="34" charset="-122"/>
                          <a:cs typeface="Calibri" pitchFamily="34" charset="-120"/>
                        </a:rPr>
                        <a:t>Preventive classifier</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7EFDC"/>
                    </a:solidFill>
                  </a:tcPr>
                </a:tc>
                <a:tc>
                  <a:txBody>
                    <a:bodyPr/>
                    <a:lstStyle/>
                    <a:p>
                      <a:pPr marL="0" indent="0" algn="l">
                        <a:buNone/>
                      </a:pPr>
                      <a:r>
                        <a:rPr lang="en-US" sz="1550" b="1" dirty="0">
                          <a:solidFill>
                            <a:srgbClr val="A8760F"/>
                          </a:solidFill>
                          <a:latin typeface="Calibri" pitchFamily="34" charset="0"/>
                          <a:ea typeface="Calibri" pitchFamily="34" charset="-122"/>
                          <a:cs typeface="Calibri" pitchFamily="34" charset="-120"/>
                        </a:rPr>
                        <a:t>HONEST NEGATIVE</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7EFDC"/>
                    </a:solidFill>
                  </a:tcPr>
                </a:tc>
                <a:tc>
                  <a:txBody>
                    <a:bodyPr/>
                    <a:lstStyle/>
                    <a:p>
                      <a:pPr marL="0" indent="0" algn="l">
                        <a:buNone/>
                      </a:pPr>
                      <a:r>
                        <a:rPr lang="en-US" sz="1550" dirty="0">
                          <a:solidFill>
                            <a:srgbClr val="1B202A"/>
                          </a:solidFill>
                          <a:latin typeface="Calibri" pitchFamily="34" charset="0"/>
                          <a:ea typeface="Calibri" pitchFamily="34" charset="-122"/>
                          <a:cs typeface="Calibri" pitchFamily="34" charset="-120"/>
                        </a:rPr>
                        <a:t>P / R / F1 = 0.25, near-random — reported, not hidden</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7EFDC"/>
                    </a:solidFill>
                  </a:tcPr>
                </a:tc>
                <a:extLst>
                  <a:ext uri="{0D108BD9-81ED-4DB2-BD59-A6C34878D82A}">
                    <a16:rowId xmlns:a16="http://schemas.microsoft.com/office/drawing/2014/main" val="10007"/>
                  </a:ext>
                </a:extLst>
              </a:tr>
              <a:tr h="457200">
                <a:tc>
                  <a:txBody>
                    <a:bodyPr/>
                    <a:lstStyle/>
                    <a:p>
                      <a:pPr marL="0" indent="0" algn="ctr">
                        <a:buNone/>
                      </a:pPr>
                      <a:r>
                        <a:rPr lang="en-US" sz="1550" dirty="0">
                          <a:solidFill>
                            <a:srgbClr val="1B202A"/>
                          </a:solidFill>
                          <a:latin typeface="Calibri" pitchFamily="34" charset="0"/>
                          <a:ea typeface="Calibri" pitchFamily="34" charset="-122"/>
                          <a:cs typeface="Calibri" pitchFamily="34" charset="-120"/>
                        </a:rPr>
                        <a:t>8</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l">
                        <a:buNone/>
                      </a:pPr>
                      <a:r>
                        <a:rPr lang="en-US" sz="1550" dirty="0">
                          <a:solidFill>
                            <a:srgbClr val="1B202A"/>
                          </a:solidFill>
                          <a:latin typeface="Calibri" pitchFamily="34" charset="0"/>
                          <a:ea typeface="Calibri" pitchFamily="34" charset="-122"/>
                          <a:cs typeface="Calibri" pitchFamily="34" charset="-120"/>
                        </a:rPr>
                        <a:t>Repair Agent</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l">
                        <a:buNone/>
                      </a:pPr>
                      <a:r>
                        <a:rPr lang="en-US" sz="1550" b="1" dirty="0">
                          <a:solidFill>
                            <a:srgbClr val="1E7A52"/>
                          </a:solidFill>
                          <a:latin typeface="Calibri" pitchFamily="34" charset="0"/>
                          <a:ea typeface="Calibri" pitchFamily="34" charset="-122"/>
                          <a:cs typeface="Calibri" pitchFamily="34" charset="-120"/>
                        </a:rPr>
                        <a:t>DEMONSTRATED</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tc>
                  <a:txBody>
                    <a:bodyPr/>
                    <a:lstStyle/>
                    <a:p>
                      <a:pPr marL="0" indent="0" algn="l">
                        <a:buNone/>
                      </a:pPr>
                      <a:r>
                        <a:rPr lang="en-US" sz="1550" dirty="0">
                          <a:solidFill>
                            <a:srgbClr val="1B202A"/>
                          </a:solidFill>
                          <a:latin typeface="Calibri" pitchFamily="34" charset="0"/>
                          <a:ea typeface="Calibri" pitchFamily="34" charset="-122"/>
                          <a:cs typeface="Calibri" pitchFamily="34" charset="-120"/>
                        </a:rPr>
                        <a:t>4/6 success; both failures share one fixable cause</a:t>
                      </a:r>
                      <a:endParaRPr lang="en-US" sz="1550" dirty="0">
                        <a:latin typeface="Calibri" charset="0"/>
                        <a:ea typeface="Calibri" charset="0"/>
                        <a:cs typeface="Calibri" charset="0"/>
                      </a:endParaRPr>
                    </a:p>
                  </a:txBody>
                  <a:tcPr anchor="ctr">
                    <a:lnL w="6350" cap="flat" cmpd="sng" algn="ctr">
                      <a:solidFill>
                        <a:srgbClr val="D9DCE3"/>
                      </a:solidFill>
                      <a:prstDash val="solid"/>
                      <a:round/>
                      <a:headEnd type="none" w="med" len="med"/>
                      <a:tailEnd type="none" w="med" len="med"/>
                    </a:lnL>
                    <a:lnR w="6350" cap="flat" cmpd="sng" algn="ctr">
                      <a:solidFill>
                        <a:srgbClr val="D9DCE3"/>
                      </a:solidFill>
                      <a:prstDash val="solid"/>
                      <a:round/>
                      <a:headEnd type="none" w="med" len="med"/>
                      <a:tailEnd type="none" w="med" len="med"/>
                    </a:lnR>
                    <a:lnT w="6350" cap="flat" cmpd="sng" algn="ctr">
                      <a:solidFill>
                        <a:srgbClr val="D9DCE3"/>
                      </a:solidFill>
                      <a:prstDash val="solid"/>
                      <a:round/>
                      <a:headEnd type="none" w="med" len="med"/>
                      <a:tailEnd type="none" w="med" len="med"/>
                    </a:lnT>
                    <a:lnB w="6350" cap="flat" cmpd="sng" algn="ctr">
                      <a:solidFill>
                        <a:srgbClr val="D9DCE3"/>
                      </a:solidFill>
                      <a:prstDash val="solid"/>
                      <a:round/>
                      <a:headEnd type="none" w="med" len="med"/>
                      <a:tailEnd type="none" w="med" len="med"/>
                    </a:lnB>
                    <a:solidFill>
                      <a:srgbClr val="FBFBFC"/>
                    </a:solidFill>
                  </a:tcPr>
                </a:tc>
                <a:extLst>
                  <a:ext uri="{0D108BD9-81ED-4DB2-BD59-A6C34878D82A}">
                    <a16:rowId xmlns:a16="http://schemas.microsoft.com/office/drawing/2014/main" val="10008"/>
                  </a:ext>
                </a:extLst>
              </a:tr>
            </a:tbl>
          </a:graphicData>
        </a:graphic>
      </p:graphicFrame>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C"/>
        </a:solidFill>
        <a:effectLst/>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txBody>
          <a:bodyPr/>
          <a:lstStyle/>
          <a:p>
            <a:endParaRPr lang="en-PK"/>
          </a:p>
        </p:txBody>
      </p:sp>
      <p:sp>
        <p:nvSpPr>
          <p:cNvPr id="3" name="Shape 1"/>
          <p:cNvSpPr/>
          <p:nvPr/>
        </p:nvSpPr>
        <p:spPr>
          <a:xfrm rot="2700000">
            <a:off x="10618927" y="5285232"/>
            <a:ext cx="1005840" cy="1005840"/>
          </a:xfrm>
          <a:prstGeom prst="rect">
            <a:avLst/>
          </a:prstGeom>
          <a:ln w="12700">
            <a:solidFill>
              <a:srgbClr val="F4F5F7"/>
            </a:solidFill>
            <a:prstDash val="solid"/>
          </a:ln>
        </p:spPr>
        <p:txBody>
          <a:bodyPr/>
          <a:lstStyle/>
          <a:p>
            <a:endParaRPr lang="en-PK"/>
          </a:p>
        </p:txBody>
      </p:sp>
      <p:sp>
        <p:nvSpPr>
          <p:cNvPr id="4" name="Shape 2"/>
          <p:cNvSpPr/>
          <p:nvPr/>
        </p:nvSpPr>
        <p:spPr>
          <a:xfrm rot="2700000">
            <a:off x="10856671" y="5522976"/>
            <a:ext cx="530352" cy="530352"/>
          </a:xfrm>
          <a:prstGeom prst="rect">
            <a:avLst/>
          </a:prstGeom>
          <a:ln w="12700">
            <a:solidFill>
              <a:srgbClr val="F7F4ED"/>
            </a:solidFill>
            <a:prstDash val="solid"/>
          </a:ln>
        </p:spPr>
        <p:txBody>
          <a:bodyPr/>
          <a:lstStyle/>
          <a:p>
            <a:endParaRPr lang="en-PK"/>
          </a:p>
        </p:txBody>
      </p:sp>
      <p:sp>
        <p:nvSpPr>
          <p:cNvPr id="5" name="Text 3"/>
          <p:cNvSpPr txBox="1"/>
          <p:nvPr/>
        </p:nvSpPr>
        <p:spPr>
          <a:xfrm>
            <a:off x="566928" y="365760"/>
            <a:ext cx="11057839" cy="731520"/>
          </a:xfrm>
          <a:prstGeom prst="rect">
            <a:avLst/>
          </a:prstGeom>
          <a:noFill/>
          <a:ln/>
        </p:spPr>
        <p:txBody>
          <a:bodyPr wrap="square" lIns="0" tIns="0" rIns="0" bIns="0" rtlCol="0" anchor="ctr"/>
          <a:lstStyle/>
          <a:p>
            <a:pPr marL="0" indent="0">
              <a:buNone/>
            </a:pPr>
            <a:r>
              <a:rPr lang="en-US" sz="3200" b="1" dirty="0">
                <a:solidFill>
                  <a:srgbClr val="1B202A"/>
                </a:solidFill>
                <a:latin typeface="Georgia" pitchFamily="34" charset="0"/>
                <a:ea typeface="Georgia" pitchFamily="34" charset="-122"/>
                <a:cs typeface="Georgia" pitchFamily="34" charset="-120"/>
              </a:rPr>
              <a:t>Evaluation Plan</a:t>
            </a:r>
            <a:endParaRPr lang="en-US" sz="3200" dirty="0"/>
          </a:p>
        </p:txBody>
      </p:sp>
      <p:sp>
        <p:nvSpPr>
          <p:cNvPr id="6" name="Shape 4"/>
          <p:cNvSpPr/>
          <p:nvPr/>
        </p:nvSpPr>
        <p:spPr>
          <a:xfrm>
            <a:off x="566928" y="1152144"/>
            <a:ext cx="566928" cy="36576"/>
          </a:xfrm>
          <a:prstGeom prst="rect">
            <a:avLst/>
          </a:prstGeom>
          <a:solidFill>
            <a:srgbClr val="C89B3C"/>
          </a:solidFill>
          <a:ln/>
        </p:spPr>
        <p:txBody>
          <a:bodyPr/>
          <a:lstStyle/>
          <a:p>
            <a:endParaRPr lang="en-PK"/>
          </a:p>
        </p:txBody>
      </p:sp>
      <p:sp>
        <p:nvSpPr>
          <p:cNvPr id="7" name="Shape 5"/>
          <p:cNvSpPr/>
          <p:nvPr/>
        </p:nvSpPr>
        <p:spPr>
          <a:xfrm>
            <a:off x="566928" y="6437376"/>
            <a:ext cx="11057839" cy="0"/>
          </a:xfrm>
          <a:prstGeom prst="line">
            <a:avLst/>
          </a:prstGeom>
          <a:noFill/>
          <a:ln w="9525">
            <a:solidFill>
              <a:srgbClr val="D9DCE3"/>
            </a:solidFill>
            <a:prstDash val="solid"/>
          </a:ln>
        </p:spPr>
        <p:txBody>
          <a:bodyPr/>
          <a:lstStyle/>
          <a:p>
            <a:endParaRPr lang="en-PK"/>
          </a:p>
        </p:txBody>
      </p:sp>
      <p:sp>
        <p:nvSpPr>
          <p:cNvPr id="8" name="Text 6"/>
          <p:cNvSpPr txBox="1"/>
          <p:nvPr/>
        </p:nvSpPr>
        <p:spPr>
          <a:xfrm>
            <a:off x="566928" y="6510528"/>
            <a:ext cx="5943600" cy="237744"/>
          </a:xfrm>
          <a:prstGeom prst="rect">
            <a:avLst/>
          </a:prstGeom>
          <a:noFill/>
          <a:ln/>
        </p:spPr>
        <p:txBody>
          <a:bodyPr wrap="square" lIns="0" tIns="0" rIns="0" bIns="0" rtlCol="0" anchor="ctr"/>
          <a:lstStyle/>
          <a:p>
            <a:pPr marL="0" indent="0">
              <a:buNone/>
            </a:pPr>
            <a:r>
              <a:rPr lang="en-US" sz="1300" kern="0" spc="50" dirty="0">
                <a:solidFill>
                  <a:srgbClr val="8B92A2"/>
                </a:solidFill>
                <a:latin typeface="Consolas" pitchFamily="34" charset="0"/>
                <a:ea typeface="Consolas" pitchFamily="34" charset="-122"/>
                <a:cs typeface="Consolas" pitchFamily="34" charset="-120"/>
              </a:rPr>
              <a:t>F26-060-GRANITE  ·  PROPOSAL DEFENSE  ·  STREAM A</a:t>
            </a:r>
            <a:endParaRPr lang="en-US" sz="130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marL="0" indent="0" algn="r">
              <a:buNone/>
            </a:pPr>
            <a:r>
              <a:rPr lang="en-US" sz="1300" b="1" dirty="0">
                <a:solidFill>
                  <a:srgbClr val="8E6A1F"/>
                </a:solidFill>
                <a:latin typeface="Consolas" pitchFamily="34" charset="0"/>
                <a:ea typeface="Consolas" pitchFamily="34" charset="-122"/>
                <a:cs typeface="Consolas" pitchFamily="34" charset="-120"/>
              </a:rPr>
              <a:t>8 / 11</a:t>
            </a:r>
            <a:endParaRPr lang="en-US" sz="1300" dirty="0"/>
          </a:p>
        </p:txBody>
      </p:sp>
      <p:sp>
        <p:nvSpPr>
          <p:cNvPr id="10" name="Shape 8"/>
          <p:cNvSpPr/>
          <p:nvPr/>
        </p:nvSpPr>
        <p:spPr>
          <a:xfrm>
            <a:off x="587045" y="1305763"/>
            <a:ext cx="11057839" cy="731520"/>
          </a:xfrm>
          <a:prstGeom prst="roundRect">
            <a:avLst>
              <a:gd name="adj" fmla="val 7500"/>
            </a:avLst>
          </a:prstGeom>
          <a:solidFill>
            <a:srgbClr val="E4E6EB"/>
          </a:solidFill>
          <a:ln/>
        </p:spPr>
        <p:txBody>
          <a:bodyPr/>
          <a:lstStyle/>
          <a:p>
            <a:endParaRPr lang="en-PK"/>
          </a:p>
        </p:txBody>
      </p:sp>
      <p:sp>
        <p:nvSpPr>
          <p:cNvPr id="11" name="Shape 9"/>
          <p:cNvSpPr/>
          <p:nvPr/>
        </p:nvSpPr>
        <p:spPr>
          <a:xfrm>
            <a:off x="566928" y="1280160"/>
            <a:ext cx="11057839" cy="731520"/>
          </a:xfrm>
          <a:prstGeom prst="roundRect">
            <a:avLst>
              <a:gd name="adj" fmla="val 7500"/>
            </a:avLst>
          </a:prstGeom>
          <a:solidFill>
            <a:srgbClr val="F1F2F5"/>
          </a:solidFill>
          <a:ln w="9525">
            <a:solidFill>
              <a:srgbClr val="D9DCE3"/>
            </a:solidFill>
            <a:prstDash val="solid"/>
          </a:ln>
        </p:spPr>
        <p:txBody>
          <a:bodyPr/>
          <a:lstStyle/>
          <a:p>
            <a:endParaRPr lang="en-PK"/>
          </a:p>
        </p:txBody>
      </p:sp>
      <p:sp>
        <p:nvSpPr>
          <p:cNvPr id="12" name="Shape 10"/>
          <p:cNvSpPr/>
          <p:nvPr/>
        </p:nvSpPr>
        <p:spPr>
          <a:xfrm>
            <a:off x="566928" y="1335024"/>
            <a:ext cx="41148" cy="621792"/>
          </a:xfrm>
          <a:prstGeom prst="rect">
            <a:avLst/>
          </a:prstGeom>
          <a:solidFill>
            <a:srgbClr val="C89B3C"/>
          </a:solidFill>
          <a:ln/>
        </p:spPr>
        <p:txBody>
          <a:bodyPr/>
          <a:lstStyle/>
          <a:p>
            <a:endParaRPr lang="en-PK"/>
          </a:p>
        </p:txBody>
      </p:sp>
      <p:sp>
        <p:nvSpPr>
          <p:cNvPr id="13" name="Text 11"/>
          <p:cNvSpPr txBox="1"/>
          <p:nvPr/>
        </p:nvSpPr>
        <p:spPr>
          <a:xfrm>
            <a:off x="804672" y="1280160"/>
            <a:ext cx="10582351" cy="731520"/>
          </a:xfrm>
          <a:prstGeom prst="rect">
            <a:avLst/>
          </a:prstGeom>
          <a:noFill/>
          <a:ln/>
        </p:spPr>
        <p:txBody>
          <a:bodyPr wrap="square" lIns="0" tIns="0" rIns="0" bIns="0" rtlCol="0" anchor="ctr"/>
          <a:lstStyle/>
          <a:p>
            <a:pPr marL="0" indent="0">
              <a:buNone/>
            </a:pPr>
            <a:r>
              <a:rPr lang="en-US" sz="2000" b="1" dirty="0">
                <a:solidFill>
                  <a:srgbClr val="8E6A1F"/>
                </a:solidFill>
                <a:latin typeface="Calibri" pitchFamily="34" charset="0"/>
                <a:ea typeface="Calibri" pitchFamily="34" charset="-122"/>
                <a:cs typeface="Calibri" pitchFamily="34" charset="-120"/>
              </a:rPr>
              <a:t>Pre-registered acceptance band.  </a:t>
            </a:r>
            <a:r>
              <a:rPr lang="en-US" sz="2000" dirty="0">
                <a:solidFill>
                  <a:srgbClr val="1B202A"/>
                </a:solidFill>
                <a:latin typeface="Calibri" pitchFamily="34" charset="0"/>
                <a:ea typeface="Calibri" pitchFamily="34" charset="-122"/>
                <a:cs typeface="Calibri" pitchFamily="34" charset="-120"/>
              </a:rPr>
              <a:t>The reproduction is accepted within ±10 points of ErrorProbe’s published 59.5% on a comparable-class backbone — decided before any result exists.</a:t>
            </a:r>
            <a:endParaRPr lang="en-US" sz="2000" dirty="0"/>
          </a:p>
        </p:txBody>
      </p:sp>
      <p:sp>
        <p:nvSpPr>
          <p:cNvPr id="14" name="Text 12"/>
          <p:cNvSpPr txBox="1"/>
          <p:nvPr/>
        </p:nvSpPr>
        <p:spPr>
          <a:xfrm>
            <a:off x="566928" y="2139696"/>
            <a:ext cx="5391760" cy="310896"/>
          </a:xfrm>
          <a:prstGeom prst="rect">
            <a:avLst/>
          </a:prstGeom>
          <a:noFill/>
          <a:ln/>
        </p:spPr>
        <p:txBody>
          <a:bodyPr wrap="square" lIns="0" tIns="0" rIns="0" bIns="0" rtlCol="0" anchor="ctr"/>
          <a:lstStyle/>
          <a:p>
            <a:pPr marL="0" indent="0">
              <a:buNone/>
            </a:pPr>
            <a:r>
              <a:rPr lang="en-US" sz="1800" b="1" kern="0" spc="60" dirty="0">
                <a:solidFill>
                  <a:srgbClr val="8E6A1F"/>
                </a:solidFill>
                <a:latin typeface="Consolas" pitchFamily="34" charset="0"/>
                <a:ea typeface="Consolas" pitchFamily="34" charset="-122"/>
                <a:cs typeface="Consolas" pitchFamily="34" charset="-120"/>
              </a:rPr>
              <a:t>METRICS</a:t>
            </a:r>
            <a:endParaRPr lang="en-US" sz="1800" dirty="0"/>
          </a:p>
        </p:txBody>
      </p:sp>
      <p:sp>
        <p:nvSpPr>
          <p:cNvPr id="15" name="Text 13"/>
          <p:cNvSpPr txBox="1"/>
          <p:nvPr/>
        </p:nvSpPr>
        <p:spPr>
          <a:xfrm>
            <a:off x="566928" y="2487168"/>
            <a:ext cx="5391760" cy="2907792"/>
          </a:xfrm>
          <a:prstGeom prst="rect">
            <a:avLst/>
          </a:prstGeom>
          <a:noFill/>
          <a:ln/>
        </p:spPr>
        <p:txBody>
          <a:bodyPr wrap="square" lIns="0" tIns="0" rIns="0" bIns="0" rtlCol="0" anchor="t"/>
          <a:lstStyle/>
          <a:p>
            <a:pPr marL="190500" indent="-190500">
              <a:spcAft>
                <a:spcPts val="700"/>
              </a:spcAft>
              <a:buSzPct val="100000"/>
              <a:buChar char="▪"/>
            </a:pPr>
            <a:r>
              <a:rPr lang="en-US" sz="2000" dirty="0">
                <a:solidFill>
                  <a:srgbClr val="1B202A"/>
                </a:solidFill>
                <a:latin typeface="Calibri" pitchFamily="34" charset="0"/>
                <a:ea typeface="Calibri" pitchFamily="34" charset="-122"/>
                <a:cs typeface="Calibri" pitchFamily="34" charset="-120"/>
              </a:rPr>
              <a:t>Agent-level and step-level accuracy</a:t>
            </a:r>
            <a:endParaRPr lang="en-US" sz="2000" dirty="0"/>
          </a:p>
          <a:p>
            <a:pPr marL="190500" indent="-190500">
              <a:spcAft>
                <a:spcPts val="700"/>
              </a:spcAft>
              <a:buSzPct val="100000"/>
              <a:buChar char="▪"/>
            </a:pPr>
            <a:r>
              <a:rPr lang="en-US" sz="2000" dirty="0">
                <a:solidFill>
                  <a:srgbClr val="1B202A"/>
                </a:solidFill>
                <a:latin typeface="Calibri" pitchFamily="34" charset="0"/>
                <a:ea typeface="Calibri" pitchFamily="34" charset="-122"/>
                <a:cs typeface="Calibri" pitchFamily="34" charset="-120"/>
              </a:rPr>
              <a:t>Propagation-path F1</a:t>
            </a:r>
            <a:endParaRPr lang="en-US" sz="2000" dirty="0"/>
          </a:p>
          <a:p>
            <a:pPr marL="190500" indent="-190500">
              <a:spcAft>
                <a:spcPts val="700"/>
              </a:spcAft>
              <a:buSzPct val="100000"/>
              <a:buChar char="▪"/>
            </a:pPr>
            <a:r>
              <a:rPr lang="en-US" sz="2000" dirty="0">
                <a:solidFill>
                  <a:srgbClr val="1B202A"/>
                </a:solidFill>
                <a:latin typeface="Calibri" pitchFamily="34" charset="0"/>
                <a:ea typeface="Calibri" pitchFamily="34" charset="-122"/>
                <a:cs typeface="Calibri" pitchFamily="34" charset="-120"/>
              </a:rPr>
              <a:t>Silent-failure precision / recall</a:t>
            </a:r>
            <a:endParaRPr lang="en-US" sz="2000" dirty="0"/>
          </a:p>
          <a:p>
            <a:pPr marL="190500" indent="-190500">
              <a:spcAft>
                <a:spcPts val="700"/>
              </a:spcAft>
              <a:buSzPct val="100000"/>
              <a:buChar char="▪"/>
            </a:pPr>
            <a:r>
              <a:rPr lang="en-US" sz="2000" dirty="0">
                <a:solidFill>
                  <a:srgbClr val="1B202A"/>
                </a:solidFill>
                <a:latin typeface="Calibri" pitchFamily="34" charset="0"/>
                <a:ea typeface="Calibri" pitchFamily="34" charset="-122"/>
                <a:cs typeface="Calibri" pitchFamily="34" charset="-120"/>
              </a:rPr>
              <a:t>Abstention rate on unverifiable claims</a:t>
            </a:r>
            <a:endParaRPr lang="en-US" sz="2000" dirty="0"/>
          </a:p>
          <a:p>
            <a:pPr marL="190500" indent="-190500">
              <a:spcAft>
                <a:spcPts val="700"/>
              </a:spcAft>
              <a:buSzPct val="100000"/>
              <a:buChar char="▪"/>
            </a:pPr>
            <a:r>
              <a:rPr lang="en-US" sz="2000" dirty="0">
                <a:solidFill>
                  <a:srgbClr val="1B202A"/>
                </a:solidFill>
                <a:latin typeface="Calibri" pitchFamily="34" charset="0"/>
                <a:ea typeface="Calibri" pitchFamily="34" charset="-122"/>
                <a:cs typeface="Calibri" pitchFamily="34" charset="-120"/>
              </a:rPr>
              <a:t>False-positive rate on clean controls</a:t>
            </a:r>
            <a:endParaRPr lang="en-US" sz="2000" dirty="0"/>
          </a:p>
          <a:p>
            <a:pPr marL="190500" indent="-190500">
              <a:spcAft>
                <a:spcPts val="700"/>
              </a:spcAft>
              <a:buSzPct val="100000"/>
              <a:buChar char="▪"/>
            </a:pPr>
            <a:r>
              <a:rPr lang="en-US" sz="2000" dirty="0">
                <a:solidFill>
                  <a:srgbClr val="1B202A"/>
                </a:solidFill>
                <a:latin typeface="Calibri" pitchFamily="34" charset="0"/>
                <a:ea typeface="Calibri" pitchFamily="34" charset="-122"/>
                <a:cs typeface="Calibri" pitchFamily="34" charset="-120"/>
              </a:rPr>
              <a:t>Recovery rate · repair success rate</a:t>
            </a:r>
            <a:endParaRPr lang="en-US" sz="2000" dirty="0"/>
          </a:p>
          <a:p>
            <a:pPr marL="190500" indent="-190500">
              <a:spcAft>
                <a:spcPts val="700"/>
              </a:spcAft>
              <a:buSzPct val="100000"/>
              <a:buChar char="▪"/>
            </a:pPr>
            <a:r>
              <a:rPr lang="en-US" sz="2000" dirty="0">
                <a:solidFill>
                  <a:srgbClr val="1B202A"/>
                </a:solidFill>
                <a:latin typeface="Calibri" pitchFamily="34" charset="0"/>
                <a:ea typeface="Calibri" pitchFamily="34" charset="-122"/>
                <a:cs typeface="Calibri" pitchFamily="34" charset="-120"/>
              </a:rPr>
              <a:t>Latency overhead — the NFR, target &lt; 50%</a:t>
            </a:r>
            <a:endParaRPr lang="en-US" sz="2000" dirty="0"/>
          </a:p>
        </p:txBody>
      </p:sp>
      <p:sp>
        <p:nvSpPr>
          <p:cNvPr id="16" name="Text 14"/>
          <p:cNvSpPr txBox="1"/>
          <p:nvPr/>
        </p:nvSpPr>
        <p:spPr>
          <a:xfrm>
            <a:off x="6233008" y="2139696"/>
            <a:ext cx="5391760" cy="310896"/>
          </a:xfrm>
          <a:prstGeom prst="rect">
            <a:avLst/>
          </a:prstGeom>
          <a:noFill/>
          <a:ln/>
        </p:spPr>
        <p:txBody>
          <a:bodyPr wrap="square" lIns="0" tIns="0" rIns="0" bIns="0" rtlCol="0" anchor="ctr"/>
          <a:lstStyle/>
          <a:p>
            <a:pPr marL="0" indent="0">
              <a:buNone/>
            </a:pPr>
            <a:r>
              <a:rPr lang="en-US" sz="1800" b="1" kern="0" spc="60" dirty="0">
                <a:solidFill>
                  <a:srgbClr val="8E6A1F"/>
                </a:solidFill>
                <a:latin typeface="Consolas" pitchFamily="34" charset="0"/>
                <a:ea typeface="Consolas" pitchFamily="34" charset="-122"/>
                <a:cs typeface="Consolas" pitchFamily="34" charset="-120"/>
              </a:rPr>
              <a:t>SUCCESS BANDS</a:t>
            </a:r>
            <a:endParaRPr lang="en-US" sz="1800" dirty="0"/>
          </a:p>
        </p:txBody>
      </p:sp>
      <p:sp>
        <p:nvSpPr>
          <p:cNvPr id="17" name="Shape 15"/>
          <p:cNvSpPr/>
          <p:nvPr/>
        </p:nvSpPr>
        <p:spPr>
          <a:xfrm>
            <a:off x="6253124" y="2512771"/>
            <a:ext cx="5391760" cy="932688"/>
          </a:xfrm>
          <a:prstGeom prst="roundRect">
            <a:avLst>
              <a:gd name="adj" fmla="val 5882"/>
            </a:avLst>
          </a:prstGeom>
          <a:solidFill>
            <a:srgbClr val="E4E6EB"/>
          </a:solidFill>
          <a:ln/>
        </p:spPr>
        <p:txBody>
          <a:bodyPr/>
          <a:lstStyle/>
          <a:p>
            <a:endParaRPr lang="en-PK"/>
          </a:p>
        </p:txBody>
      </p:sp>
      <p:sp>
        <p:nvSpPr>
          <p:cNvPr id="18" name="Shape 16"/>
          <p:cNvSpPr/>
          <p:nvPr/>
        </p:nvSpPr>
        <p:spPr>
          <a:xfrm>
            <a:off x="6233008" y="2487168"/>
            <a:ext cx="5391760" cy="932688"/>
          </a:xfrm>
          <a:prstGeom prst="roundRect">
            <a:avLst>
              <a:gd name="adj" fmla="val 5882"/>
            </a:avLst>
          </a:prstGeom>
          <a:solidFill>
            <a:srgbClr val="F7EFDC"/>
          </a:solidFill>
          <a:ln w="9525">
            <a:solidFill>
              <a:srgbClr val="D9DCE3"/>
            </a:solidFill>
            <a:prstDash val="solid"/>
          </a:ln>
        </p:spPr>
        <p:txBody>
          <a:bodyPr/>
          <a:lstStyle/>
          <a:p>
            <a:endParaRPr lang="en-PK"/>
          </a:p>
        </p:txBody>
      </p:sp>
      <p:sp>
        <p:nvSpPr>
          <p:cNvPr id="19" name="Shape 17"/>
          <p:cNvSpPr/>
          <p:nvPr/>
        </p:nvSpPr>
        <p:spPr>
          <a:xfrm>
            <a:off x="6233008" y="2542032"/>
            <a:ext cx="41148" cy="822960"/>
          </a:xfrm>
          <a:prstGeom prst="rect">
            <a:avLst/>
          </a:prstGeom>
          <a:solidFill>
            <a:srgbClr val="A8760F"/>
          </a:solidFill>
          <a:ln/>
        </p:spPr>
        <p:txBody>
          <a:bodyPr/>
          <a:lstStyle/>
          <a:p>
            <a:endParaRPr lang="en-PK"/>
          </a:p>
        </p:txBody>
      </p:sp>
      <p:sp>
        <p:nvSpPr>
          <p:cNvPr id="20" name="Text 18"/>
          <p:cNvSpPr txBox="1"/>
          <p:nvPr/>
        </p:nvSpPr>
        <p:spPr>
          <a:xfrm>
            <a:off x="6397600" y="2551176"/>
            <a:ext cx="5062576" cy="292608"/>
          </a:xfrm>
          <a:prstGeom prst="rect">
            <a:avLst/>
          </a:prstGeom>
          <a:noFill/>
          <a:ln/>
        </p:spPr>
        <p:txBody>
          <a:bodyPr wrap="square" lIns="0" tIns="0" rIns="0" bIns="0" rtlCol="0" anchor="ctr"/>
          <a:lstStyle/>
          <a:p>
            <a:pPr marL="0" indent="0">
              <a:buNone/>
            </a:pPr>
            <a:r>
              <a:rPr lang="en-US" sz="2000" b="1" dirty="0">
                <a:solidFill>
                  <a:srgbClr val="A8760F"/>
                </a:solidFill>
                <a:latin typeface="Georgia" pitchFamily="34" charset="0"/>
                <a:ea typeface="Georgia" pitchFamily="34" charset="-122"/>
                <a:cs typeface="Georgia" pitchFamily="34" charset="-120"/>
              </a:rPr>
              <a:t>Acceptable</a:t>
            </a:r>
            <a:endParaRPr lang="en-US" sz="2000" dirty="0"/>
          </a:p>
        </p:txBody>
      </p:sp>
      <p:sp>
        <p:nvSpPr>
          <p:cNvPr id="21" name="Text 19"/>
          <p:cNvSpPr txBox="1"/>
          <p:nvPr/>
        </p:nvSpPr>
        <p:spPr>
          <a:xfrm>
            <a:off x="6397600" y="2871216"/>
            <a:ext cx="5062576" cy="512064"/>
          </a:xfrm>
          <a:prstGeom prst="rect">
            <a:avLst/>
          </a:prstGeom>
          <a:noFill/>
          <a:ln/>
        </p:spPr>
        <p:txBody>
          <a:bodyPr wrap="square" lIns="0" tIns="0" rIns="0" bIns="0" rtlCol="0" anchor="ctr"/>
          <a:lstStyle/>
          <a:p>
            <a:pPr marL="0" indent="0">
              <a:buNone/>
            </a:pPr>
            <a:r>
              <a:rPr lang="en-US" sz="1700" dirty="0">
                <a:solidFill>
                  <a:srgbClr val="1B202A"/>
                </a:solidFill>
                <a:latin typeface="Calibri" pitchFamily="34" charset="0"/>
                <a:ea typeface="Calibri" pitchFamily="34" charset="-122"/>
                <a:cs typeface="Calibri" pitchFamily="34" charset="-120"/>
              </a:rPr>
              <a:t>Parity on Who&amp;When, plus any cross-architecture result</a:t>
            </a:r>
            <a:endParaRPr lang="en-US" sz="1700" dirty="0"/>
          </a:p>
        </p:txBody>
      </p:sp>
      <p:sp>
        <p:nvSpPr>
          <p:cNvPr id="22" name="Shape 20"/>
          <p:cNvSpPr/>
          <p:nvPr/>
        </p:nvSpPr>
        <p:spPr>
          <a:xfrm>
            <a:off x="6253124" y="3500323"/>
            <a:ext cx="5391760" cy="932688"/>
          </a:xfrm>
          <a:prstGeom prst="roundRect">
            <a:avLst>
              <a:gd name="adj" fmla="val 5882"/>
            </a:avLst>
          </a:prstGeom>
          <a:solidFill>
            <a:srgbClr val="E4E6EB"/>
          </a:solidFill>
          <a:ln/>
        </p:spPr>
        <p:txBody>
          <a:bodyPr/>
          <a:lstStyle/>
          <a:p>
            <a:endParaRPr lang="en-PK"/>
          </a:p>
        </p:txBody>
      </p:sp>
      <p:sp>
        <p:nvSpPr>
          <p:cNvPr id="23" name="Shape 21"/>
          <p:cNvSpPr/>
          <p:nvPr/>
        </p:nvSpPr>
        <p:spPr>
          <a:xfrm>
            <a:off x="6233008" y="3474720"/>
            <a:ext cx="5391760" cy="932688"/>
          </a:xfrm>
          <a:prstGeom prst="roundRect">
            <a:avLst>
              <a:gd name="adj" fmla="val 5882"/>
            </a:avLst>
          </a:prstGeom>
          <a:solidFill>
            <a:srgbClr val="E3EFF1"/>
          </a:solidFill>
          <a:ln w="9525">
            <a:solidFill>
              <a:srgbClr val="D9DCE3"/>
            </a:solidFill>
            <a:prstDash val="solid"/>
          </a:ln>
        </p:spPr>
        <p:txBody>
          <a:bodyPr/>
          <a:lstStyle/>
          <a:p>
            <a:endParaRPr lang="en-PK"/>
          </a:p>
        </p:txBody>
      </p:sp>
      <p:sp>
        <p:nvSpPr>
          <p:cNvPr id="24" name="Shape 22"/>
          <p:cNvSpPr/>
          <p:nvPr/>
        </p:nvSpPr>
        <p:spPr>
          <a:xfrm>
            <a:off x="6233008" y="3529584"/>
            <a:ext cx="41148" cy="822960"/>
          </a:xfrm>
          <a:prstGeom prst="rect">
            <a:avLst/>
          </a:prstGeom>
          <a:solidFill>
            <a:srgbClr val="15707A"/>
          </a:solidFill>
          <a:ln/>
        </p:spPr>
        <p:txBody>
          <a:bodyPr/>
          <a:lstStyle/>
          <a:p>
            <a:endParaRPr lang="en-PK"/>
          </a:p>
        </p:txBody>
      </p:sp>
      <p:sp>
        <p:nvSpPr>
          <p:cNvPr id="25" name="Text 23"/>
          <p:cNvSpPr txBox="1"/>
          <p:nvPr/>
        </p:nvSpPr>
        <p:spPr>
          <a:xfrm>
            <a:off x="6397600" y="3538728"/>
            <a:ext cx="5062576" cy="292608"/>
          </a:xfrm>
          <a:prstGeom prst="rect">
            <a:avLst/>
          </a:prstGeom>
          <a:noFill/>
          <a:ln/>
        </p:spPr>
        <p:txBody>
          <a:bodyPr wrap="square" lIns="0" tIns="0" rIns="0" bIns="0" rtlCol="0" anchor="ctr"/>
          <a:lstStyle/>
          <a:p>
            <a:pPr marL="0" indent="0">
              <a:buNone/>
            </a:pPr>
            <a:r>
              <a:rPr lang="en-US" sz="2000" b="1" dirty="0">
                <a:solidFill>
                  <a:srgbClr val="15707A"/>
                </a:solidFill>
                <a:latin typeface="Georgia" pitchFamily="34" charset="0"/>
                <a:ea typeface="Georgia" pitchFamily="34" charset="-122"/>
                <a:cs typeface="Georgia" pitchFamily="34" charset="-120"/>
              </a:rPr>
              <a:t>Strong</a:t>
            </a:r>
            <a:endParaRPr lang="en-US" sz="2000" dirty="0"/>
          </a:p>
        </p:txBody>
      </p:sp>
      <p:sp>
        <p:nvSpPr>
          <p:cNvPr id="26" name="Text 24"/>
          <p:cNvSpPr txBox="1"/>
          <p:nvPr/>
        </p:nvSpPr>
        <p:spPr>
          <a:xfrm>
            <a:off x="6397600" y="3858768"/>
            <a:ext cx="5062576" cy="512064"/>
          </a:xfrm>
          <a:prstGeom prst="rect">
            <a:avLst/>
          </a:prstGeom>
          <a:noFill/>
          <a:ln/>
        </p:spPr>
        <p:txBody>
          <a:bodyPr wrap="square" lIns="0" tIns="0" rIns="0" bIns="0" rtlCol="0" anchor="ctr"/>
          <a:lstStyle/>
          <a:p>
            <a:pPr marL="0" indent="0">
              <a:buNone/>
            </a:pPr>
            <a:r>
              <a:rPr lang="en-US" sz="1700" dirty="0">
                <a:solidFill>
                  <a:srgbClr val="1B202A"/>
                </a:solidFill>
                <a:latin typeface="Calibri" pitchFamily="34" charset="0"/>
                <a:ea typeface="Calibri" pitchFamily="34" charset="-122"/>
                <a:cs typeface="Calibri" pitchFamily="34" charset="-120"/>
              </a:rPr>
              <a:t>Beats the baseline on unseen architectures, &gt;70% SF recall</a:t>
            </a:r>
            <a:endParaRPr lang="en-US" sz="1700" dirty="0"/>
          </a:p>
        </p:txBody>
      </p:sp>
      <p:sp>
        <p:nvSpPr>
          <p:cNvPr id="27" name="Shape 25"/>
          <p:cNvSpPr/>
          <p:nvPr/>
        </p:nvSpPr>
        <p:spPr>
          <a:xfrm>
            <a:off x="6253124" y="4487875"/>
            <a:ext cx="5391760" cy="932688"/>
          </a:xfrm>
          <a:prstGeom prst="roundRect">
            <a:avLst>
              <a:gd name="adj" fmla="val 5882"/>
            </a:avLst>
          </a:prstGeom>
          <a:solidFill>
            <a:srgbClr val="E4E6EB"/>
          </a:solidFill>
          <a:ln/>
        </p:spPr>
        <p:txBody>
          <a:bodyPr/>
          <a:lstStyle/>
          <a:p>
            <a:endParaRPr lang="en-PK"/>
          </a:p>
        </p:txBody>
      </p:sp>
      <p:sp>
        <p:nvSpPr>
          <p:cNvPr id="28" name="Shape 26"/>
          <p:cNvSpPr/>
          <p:nvPr/>
        </p:nvSpPr>
        <p:spPr>
          <a:xfrm>
            <a:off x="6233008" y="4462272"/>
            <a:ext cx="5391760" cy="932688"/>
          </a:xfrm>
          <a:prstGeom prst="roundRect">
            <a:avLst>
              <a:gd name="adj" fmla="val 5882"/>
            </a:avLst>
          </a:prstGeom>
          <a:solidFill>
            <a:srgbClr val="E6F1EB"/>
          </a:solidFill>
          <a:ln w="9525">
            <a:solidFill>
              <a:srgbClr val="D9DCE3"/>
            </a:solidFill>
            <a:prstDash val="solid"/>
          </a:ln>
        </p:spPr>
        <p:txBody>
          <a:bodyPr/>
          <a:lstStyle/>
          <a:p>
            <a:endParaRPr lang="en-PK"/>
          </a:p>
        </p:txBody>
      </p:sp>
      <p:sp>
        <p:nvSpPr>
          <p:cNvPr id="29" name="Shape 27"/>
          <p:cNvSpPr/>
          <p:nvPr/>
        </p:nvSpPr>
        <p:spPr>
          <a:xfrm>
            <a:off x="6233008" y="4517136"/>
            <a:ext cx="41148" cy="822960"/>
          </a:xfrm>
          <a:prstGeom prst="rect">
            <a:avLst/>
          </a:prstGeom>
          <a:solidFill>
            <a:srgbClr val="1E7A52"/>
          </a:solidFill>
          <a:ln/>
        </p:spPr>
        <p:txBody>
          <a:bodyPr/>
          <a:lstStyle/>
          <a:p>
            <a:endParaRPr lang="en-PK"/>
          </a:p>
        </p:txBody>
      </p:sp>
      <p:sp>
        <p:nvSpPr>
          <p:cNvPr id="30" name="Text 28"/>
          <p:cNvSpPr txBox="1"/>
          <p:nvPr/>
        </p:nvSpPr>
        <p:spPr>
          <a:xfrm>
            <a:off x="6397600" y="4526280"/>
            <a:ext cx="5062576" cy="292608"/>
          </a:xfrm>
          <a:prstGeom prst="rect">
            <a:avLst/>
          </a:prstGeom>
          <a:noFill/>
          <a:ln/>
        </p:spPr>
        <p:txBody>
          <a:bodyPr wrap="square" lIns="0" tIns="0" rIns="0" bIns="0" rtlCol="0" anchor="ctr"/>
          <a:lstStyle/>
          <a:p>
            <a:pPr marL="0" indent="0">
              <a:buNone/>
            </a:pPr>
            <a:r>
              <a:rPr lang="en-US" sz="2000" b="1" dirty="0">
                <a:solidFill>
                  <a:srgbClr val="1E7A52"/>
                </a:solidFill>
                <a:latin typeface="Georgia" pitchFamily="34" charset="0"/>
                <a:ea typeface="Georgia" pitchFamily="34" charset="-122"/>
                <a:cs typeface="Georgia" pitchFamily="34" charset="-120"/>
              </a:rPr>
              <a:t>Exceptional</a:t>
            </a:r>
            <a:endParaRPr lang="en-US" sz="2000" dirty="0"/>
          </a:p>
        </p:txBody>
      </p:sp>
      <p:sp>
        <p:nvSpPr>
          <p:cNvPr id="31" name="Text 29"/>
          <p:cNvSpPr txBox="1"/>
          <p:nvPr/>
        </p:nvSpPr>
        <p:spPr>
          <a:xfrm>
            <a:off x="6397600" y="4846320"/>
            <a:ext cx="5062576" cy="512064"/>
          </a:xfrm>
          <a:prstGeom prst="rect">
            <a:avLst/>
          </a:prstGeom>
          <a:noFill/>
          <a:ln/>
        </p:spPr>
        <p:txBody>
          <a:bodyPr wrap="square" lIns="0" tIns="0" rIns="0" bIns="0" rtlCol="0" anchor="ctr"/>
          <a:lstStyle/>
          <a:p>
            <a:pPr marL="0" indent="0">
              <a:buNone/>
            </a:pPr>
            <a:r>
              <a:rPr lang="en-US" sz="1700" dirty="0">
                <a:solidFill>
                  <a:srgbClr val="1B202A"/>
                </a:solidFill>
                <a:latin typeface="Calibri" pitchFamily="34" charset="0"/>
                <a:ea typeface="Calibri" pitchFamily="34" charset="-122"/>
                <a:cs typeface="Calibri" pitchFamily="34" charset="-120"/>
              </a:rPr>
              <a:t>Strong, plus &gt;50% verified-repair recovery rate</a:t>
            </a:r>
            <a:endParaRPr lang="en-US" sz="1700" dirty="0"/>
          </a:p>
        </p:txBody>
      </p:sp>
      <p:sp>
        <p:nvSpPr>
          <p:cNvPr id="32" name="Shape 30"/>
          <p:cNvSpPr/>
          <p:nvPr/>
        </p:nvSpPr>
        <p:spPr>
          <a:xfrm>
            <a:off x="587045" y="5457139"/>
            <a:ext cx="11057839" cy="786384"/>
          </a:xfrm>
          <a:prstGeom prst="roundRect">
            <a:avLst>
              <a:gd name="adj" fmla="val 6977"/>
            </a:avLst>
          </a:prstGeom>
          <a:solidFill>
            <a:srgbClr val="E4E6EB"/>
          </a:solidFill>
          <a:ln/>
        </p:spPr>
        <p:txBody>
          <a:bodyPr/>
          <a:lstStyle/>
          <a:p>
            <a:endParaRPr lang="en-PK"/>
          </a:p>
        </p:txBody>
      </p:sp>
      <p:sp>
        <p:nvSpPr>
          <p:cNvPr id="33" name="Shape 31"/>
          <p:cNvSpPr/>
          <p:nvPr/>
        </p:nvSpPr>
        <p:spPr>
          <a:xfrm>
            <a:off x="566928" y="5431536"/>
            <a:ext cx="11057839" cy="786384"/>
          </a:xfrm>
          <a:prstGeom prst="roundRect">
            <a:avLst>
              <a:gd name="adj" fmla="val 6977"/>
            </a:avLst>
          </a:prstGeom>
          <a:solidFill>
            <a:srgbClr val="F1F2F5"/>
          </a:solidFill>
          <a:ln w="9525">
            <a:solidFill>
              <a:srgbClr val="D9DCE3"/>
            </a:solidFill>
            <a:prstDash val="solid"/>
          </a:ln>
        </p:spPr>
        <p:txBody>
          <a:bodyPr/>
          <a:lstStyle/>
          <a:p>
            <a:endParaRPr lang="en-PK"/>
          </a:p>
        </p:txBody>
      </p:sp>
      <p:sp>
        <p:nvSpPr>
          <p:cNvPr id="34" name="Shape 32"/>
          <p:cNvSpPr/>
          <p:nvPr/>
        </p:nvSpPr>
        <p:spPr>
          <a:xfrm>
            <a:off x="566928" y="5486400"/>
            <a:ext cx="41148" cy="676656"/>
          </a:xfrm>
          <a:prstGeom prst="rect">
            <a:avLst/>
          </a:prstGeom>
          <a:solidFill>
            <a:srgbClr val="15707A"/>
          </a:solidFill>
          <a:ln/>
        </p:spPr>
        <p:txBody>
          <a:bodyPr/>
          <a:lstStyle/>
          <a:p>
            <a:endParaRPr lang="en-PK"/>
          </a:p>
        </p:txBody>
      </p:sp>
      <p:sp>
        <p:nvSpPr>
          <p:cNvPr id="35" name="Text 33"/>
          <p:cNvSpPr txBox="1"/>
          <p:nvPr/>
        </p:nvSpPr>
        <p:spPr>
          <a:xfrm>
            <a:off x="786384" y="5431536"/>
            <a:ext cx="10618927" cy="786384"/>
          </a:xfrm>
          <a:prstGeom prst="rect">
            <a:avLst/>
          </a:prstGeom>
          <a:noFill/>
          <a:ln/>
        </p:spPr>
        <p:txBody>
          <a:bodyPr wrap="square" lIns="0" tIns="0" rIns="0" bIns="0" rtlCol="0" anchor="ctr"/>
          <a:lstStyle/>
          <a:p>
            <a:pPr marL="0" indent="0">
              <a:buNone/>
            </a:pPr>
            <a:r>
              <a:rPr lang="en-US" sz="1700" b="1" dirty="0">
                <a:solidFill>
                  <a:srgbClr val="15707A"/>
                </a:solidFill>
                <a:latin typeface="Calibri" pitchFamily="34" charset="0"/>
                <a:ea typeface="Calibri" pitchFamily="34" charset="-122"/>
                <a:cs typeface="Calibri" pitchFamily="34" charset="-120"/>
              </a:rPr>
              <a:t>Data: </a:t>
            </a:r>
            <a:r>
              <a:rPr lang="en-US" sz="1700" dirty="0">
                <a:solidFill>
                  <a:srgbClr val="1B202A"/>
                </a:solidFill>
                <a:latin typeface="Calibri" pitchFamily="34" charset="0"/>
                <a:ea typeface="Calibri" pitchFamily="34" charset="-122"/>
                <a:cs typeface="Calibri" pitchFamily="34" charset="-120"/>
              </a:rPr>
              <a:t>Who&amp;When (184 cases) · our own cross-architecture benchmark · GSM8K · tau-bench · clean controls.    </a:t>
            </a:r>
            <a:r>
              <a:rPr lang="en-US" sz="1700" b="1" dirty="0">
                <a:solidFill>
                  <a:srgbClr val="15707A"/>
                </a:solidFill>
                <a:latin typeface="Calibri" pitchFamily="34" charset="0"/>
                <a:ea typeface="Calibri" pitchFamily="34" charset="-122"/>
                <a:cs typeface="Calibri" pitchFamily="34" charset="-120"/>
              </a:rPr>
              <a:t>Protocol: </a:t>
            </a:r>
            <a:r>
              <a:rPr lang="en-US" sz="1700" dirty="0">
                <a:solidFill>
                  <a:srgbClr val="1B202A"/>
                </a:solidFill>
                <a:latin typeface="Calibri" pitchFamily="34" charset="0"/>
                <a:ea typeface="Calibri" pitchFamily="34" charset="-122"/>
                <a:cs typeface="Calibri" pitchFamily="34" charset="-120"/>
              </a:rPr>
              <a:t>bootstrap CIs, fixed seeds, N=5 variance, ablation matrix, human baseline.</a:t>
            </a:r>
            <a:endParaRPr lang="en-US" sz="17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C"/>
        </a:solidFill>
        <a:effectLst/>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txBody>
          <a:bodyPr/>
          <a:lstStyle/>
          <a:p>
            <a:endParaRPr lang="en-PK"/>
          </a:p>
        </p:txBody>
      </p:sp>
      <p:sp>
        <p:nvSpPr>
          <p:cNvPr id="3" name="Shape 1"/>
          <p:cNvSpPr/>
          <p:nvPr/>
        </p:nvSpPr>
        <p:spPr>
          <a:xfrm rot="2700000">
            <a:off x="10618927" y="5285232"/>
            <a:ext cx="1005840" cy="1005840"/>
          </a:xfrm>
          <a:prstGeom prst="rect">
            <a:avLst/>
          </a:prstGeom>
          <a:ln w="12700">
            <a:solidFill>
              <a:srgbClr val="F4F5F7"/>
            </a:solidFill>
            <a:prstDash val="solid"/>
          </a:ln>
        </p:spPr>
        <p:txBody>
          <a:bodyPr/>
          <a:lstStyle/>
          <a:p>
            <a:endParaRPr lang="en-PK"/>
          </a:p>
        </p:txBody>
      </p:sp>
      <p:sp>
        <p:nvSpPr>
          <p:cNvPr id="4" name="Shape 2"/>
          <p:cNvSpPr/>
          <p:nvPr/>
        </p:nvSpPr>
        <p:spPr>
          <a:xfrm rot="2700000">
            <a:off x="10856671" y="5522976"/>
            <a:ext cx="530352" cy="530352"/>
          </a:xfrm>
          <a:prstGeom prst="rect">
            <a:avLst/>
          </a:prstGeom>
          <a:ln w="12700">
            <a:solidFill>
              <a:srgbClr val="F7F4ED"/>
            </a:solidFill>
            <a:prstDash val="solid"/>
          </a:ln>
        </p:spPr>
        <p:txBody>
          <a:bodyPr/>
          <a:lstStyle/>
          <a:p>
            <a:endParaRPr lang="en-PK"/>
          </a:p>
        </p:txBody>
      </p:sp>
      <p:sp>
        <p:nvSpPr>
          <p:cNvPr id="5" name="Text 3"/>
          <p:cNvSpPr txBox="1"/>
          <p:nvPr/>
        </p:nvSpPr>
        <p:spPr>
          <a:xfrm>
            <a:off x="566928" y="365760"/>
            <a:ext cx="11057839" cy="731520"/>
          </a:xfrm>
          <a:prstGeom prst="rect">
            <a:avLst/>
          </a:prstGeom>
          <a:noFill/>
          <a:ln/>
        </p:spPr>
        <p:txBody>
          <a:bodyPr wrap="square" lIns="0" tIns="0" rIns="0" bIns="0" rtlCol="0" anchor="ctr"/>
          <a:lstStyle/>
          <a:p>
            <a:pPr marL="0" indent="0">
              <a:buNone/>
            </a:pPr>
            <a:r>
              <a:rPr lang="en-US" sz="3200" b="1" dirty="0">
                <a:solidFill>
                  <a:srgbClr val="1B202A"/>
                </a:solidFill>
                <a:latin typeface="Georgia" pitchFamily="34" charset="0"/>
                <a:ea typeface="Georgia" pitchFamily="34" charset="-122"/>
                <a:cs typeface="Georgia" pitchFamily="34" charset="-120"/>
              </a:rPr>
              <a:t>Risks &amp; Fallbacks</a:t>
            </a:r>
            <a:endParaRPr lang="en-US" sz="3200" dirty="0"/>
          </a:p>
        </p:txBody>
      </p:sp>
      <p:sp>
        <p:nvSpPr>
          <p:cNvPr id="6" name="Shape 4"/>
          <p:cNvSpPr/>
          <p:nvPr/>
        </p:nvSpPr>
        <p:spPr>
          <a:xfrm>
            <a:off x="566928" y="1152144"/>
            <a:ext cx="566928" cy="36576"/>
          </a:xfrm>
          <a:prstGeom prst="rect">
            <a:avLst/>
          </a:prstGeom>
          <a:solidFill>
            <a:srgbClr val="C89B3C"/>
          </a:solidFill>
          <a:ln/>
        </p:spPr>
        <p:txBody>
          <a:bodyPr/>
          <a:lstStyle/>
          <a:p>
            <a:endParaRPr lang="en-PK"/>
          </a:p>
        </p:txBody>
      </p:sp>
      <p:sp>
        <p:nvSpPr>
          <p:cNvPr id="7" name="Shape 5"/>
          <p:cNvSpPr/>
          <p:nvPr/>
        </p:nvSpPr>
        <p:spPr>
          <a:xfrm>
            <a:off x="566928" y="6437376"/>
            <a:ext cx="11057839" cy="0"/>
          </a:xfrm>
          <a:prstGeom prst="line">
            <a:avLst/>
          </a:prstGeom>
          <a:noFill/>
          <a:ln w="9525">
            <a:solidFill>
              <a:srgbClr val="D9DCE3"/>
            </a:solidFill>
            <a:prstDash val="solid"/>
          </a:ln>
        </p:spPr>
        <p:txBody>
          <a:bodyPr/>
          <a:lstStyle/>
          <a:p>
            <a:endParaRPr lang="en-PK"/>
          </a:p>
        </p:txBody>
      </p:sp>
      <p:sp>
        <p:nvSpPr>
          <p:cNvPr id="8" name="Text 6"/>
          <p:cNvSpPr txBox="1"/>
          <p:nvPr/>
        </p:nvSpPr>
        <p:spPr>
          <a:xfrm>
            <a:off x="566928" y="6510528"/>
            <a:ext cx="5943600" cy="237744"/>
          </a:xfrm>
          <a:prstGeom prst="rect">
            <a:avLst/>
          </a:prstGeom>
          <a:noFill/>
          <a:ln/>
        </p:spPr>
        <p:txBody>
          <a:bodyPr wrap="square" lIns="0" tIns="0" rIns="0" bIns="0" rtlCol="0" anchor="ctr"/>
          <a:lstStyle/>
          <a:p>
            <a:pPr marL="0" indent="0">
              <a:buNone/>
            </a:pPr>
            <a:r>
              <a:rPr lang="en-US" sz="1300" kern="0" spc="50" dirty="0">
                <a:solidFill>
                  <a:srgbClr val="8B92A2"/>
                </a:solidFill>
                <a:latin typeface="Consolas" pitchFamily="34" charset="0"/>
                <a:ea typeface="Consolas" pitchFamily="34" charset="-122"/>
                <a:cs typeface="Consolas" pitchFamily="34" charset="-120"/>
              </a:rPr>
              <a:t>F26-060-GRANITE  ·  PROPOSAL DEFENSE  ·  STREAM A</a:t>
            </a:r>
            <a:endParaRPr lang="en-US" sz="130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marL="0" indent="0" algn="r">
              <a:buNone/>
            </a:pPr>
            <a:r>
              <a:rPr lang="en-US" sz="1300" b="1" dirty="0">
                <a:solidFill>
                  <a:srgbClr val="8E6A1F"/>
                </a:solidFill>
                <a:latin typeface="Consolas" pitchFamily="34" charset="0"/>
                <a:ea typeface="Consolas" pitchFamily="34" charset="-122"/>
                <a:cs typeface="Consolas" pitchFamily="34" charset="-120"/>
              </a:rPr>
              <a:t>9 / 11</a:t>
            </a:r>
            <a:endParaRPr lang="en-US" sz="1300" dirty="0"/>
          </a:p>
        </p:txBody>
      </p:sp>
      <p:sp>
        <p:nvSpPr>
          <p:cNvPr id="10" name="Text 8"/>
          <p:cNvSpPr txBox="1"/>
          <p:nvPr/>
        </p:nvSpPr>
        <p:spPr>
          <a:xfrm>
            <a:off x="566928" y="1298448"/>
            <a:ext cx="11057839" cy="310896"/>
          </a:xfrm>
          <a:prstGeom prst="rect">
            <a:avLst/>
          </a:prstGeom>
          <a:noFill/>
          <a:ln/>
        </p:spPr>
        <p:txBody>
          <a:bodyPr wrap="square" lIns="0" tIns="0" rIns="0" bIns="0" rtlCol="0" anchor="ctr"/>
          <a:lstStyle/>
          <a:p>
            <a:pPr marL="0" indent="0">
              <a:buNone/>
            </a:pPr>
            <a:r>
              <a:rPr lang="en-US" sz="1800" b="1" kern="0" spc="60" dirty="0">
                <a:solidFill>
                  <a:srgbClr val="8E6A1F"/>
                </a:solidFill>
                <a:latin typeface="Consolas" pitchFamily="34" charset="0"/>
                <a:ea typeface="Consolas" pitchFamily="34" charset="-122"/>
                <a:cs typeface="Consolas" pitchFamily="34" charset="-120"/>
              </a:rPr>
              <a:t>TOP RISKS → STATED FALLBACK</a:t>
            </a:r>
            <a:endParaRPr lang="en-US" sz="1800" dirty="0"/>
          </a:p>
        </p:txBody>
      </p:sp>
      <p:sp>
        <p:nvSpPr>
          <p:cNvPr id="11" name="Shape 9"/>
          <p:cNvSpPr/>
          <p:nvPr/>
        </p:nvSpPr>
        <p:spPr>
          <a:xfrm>
            <a:off x="566928" y="1664208"/>
            <a:ext cx="11057839" cy="896112"/>
          </a:xfrm>
          <a:prstGeom prst="roundRect">
            <a:avLst>
              <a:gd name="adj" fmla="val 5102"/>
            </a:avLst>
          </a:prstGeom>
          <a:solidFill>
            <a:srgbClr val="FFFFFF"/>
          </a:solidFill>
          <a:ln w="19050">
            <a:solidFill>
              <a:srgbClr val="A8760F"/>
            </a:solidFill>
            <a:prstDash val="solid"/>
          </a:ln>
        </p:spPr>
        <p:txBody>
          <a:bodyPr/>
          <a:lstStyle/>
          <a:p>
            <a:endParaRPr lang="en-PK"/>
          </a:p>
        </p:txBody>
      </p:sp>
      <p:sp>
        <p:nvSpPr>
          <p:cNvPr id="12" name="Shape 10"/>
          <p:cNvSpPr/>
          <p:nvPr/>
        </p:nvSpPr>
        <p:spPr>
          <a:xfrm>
            <a:off x="566928" y="1755648"/>
            <a:ext cx="45720" cy="713232"/>
          </a:xfrm>
          <a:prstGeom prst="rect">
            <a:avLst/>
          </a:prstGeom>
          <a:solidFill>
            <a:srgbClr val="A8760F"/>
          </a:solidFill>
          <a:ln/>
        </p:spPr>
        <p:txBody>
          <a:bodyPr/>
          <a:lstStyle/>
          <a:p>
            <a:endParaRPr lang="en-PK"/>
          </a:p>
        </p:txBody>
      </p:sp>
      <p:sp>
        <p:nvSpPr>
          <p:cNvPr id="13" name="Text 11"/>
          <p:cNvSpPr txBox="1"/>
          <p:nvPr/>
        </p:nvSpPr>
        <p:spPr>
          <a:xfrm>
            <a:off x="804672" y="1664208"/>
            <a:ext cx="3255264" cy="896112"/>
          </a:xfrm>
          <a:prstGeom prst="rect">
            <a:avLst/>
          </a:prstGeom>
          <a:noFill/>
          <a:ln/>
        </p:spPr>
        <p:txBody>
          <a:bodyPr wrap="square" lIns="0" tIns="0" rIns="0" bIns="0" rtlCol="0" anchor="ctr"/>
          <a:lstStyle/>
          <a:p>
            <a:pPr marL="0" indent="0">
              <a:buNone/>
            </a:pPr>
            <a:r>
              <a:rPr lang="en-US" sz="1700" b="1" dirty="0">
                <a:solidFill>
                  <a:srgbClr val="1B202A"/>
                </a:solidFill>
                <a:latin typeface="Calibri" pitchFamily="34" charset="0"/>
                <a:ea typeface="Calibri" pitchFamily="34" charset="-122"/>
                <a:cs typeface="Calibri" pitchFamily="34" charset="-120"/>
              </a:rPr>
              <a:t>Reproduction misses the ±10-point band</a:t>
            </a:r>
            <a:endParaRPr lang="en-US" sz="1700" dirty="0"/>
          </a:p>
        </p:txBody>
      </p:sp>
      <p:sp>
        <p:nvSpPr>
          <p:cNvPr id="14" name="Shape 12"/>
          <p:cNvSpPr/>
          <p:nvPr/>
        </p:nvSpPr>
        <p:spPr>
          <a:xfrm>
            <a:off x="4233672" y="1828800"/>
            <a:ext cx="0" cy="566928"/>
          </a:xfrm>
          <a:prstGeom prst="line">
            <a:avLst/>
          </a:prstGeom>
          <a:noFill/>
          <a:ln w="12700">
            <a:solidFill>
              <a:srgbClr val="D9DCE3"/>
            </a:solidFill>
            <a:prstDash val="solid"/>
          </a:ln>
        </p:spPr>
        <p:txBody>
          <a:bodyPr/>
          <a:lstStyle/>
          <a:p>
            <a:endParaRPr lang="en-PK"/>
          </a:p>
        </p:txBody>
      </p:sp>
      <p:sp>
        <p:nvSpPr>
          <p:cNvPr id="15" name="Text 13"/>
          <p:cNvSpPr txBox="1"/>
          <p:nvPr/>
        </p:nvSpPr>
        <p:spPr>
          <a:xfrm>
            <a:off x="4334256" y="1664208"/>
            <a:ext cx="7107631" cy="896112"/>
          </a:xfrm>
          <a:prstGeom prst="rect">
            <a:avLst/>
          </a:prstGeom>
          <a:noFill/>
          <a:ln/>
        </p:spPr>
        <p:txBody>
          <a:bodyPr wrap="square" lIns="0" tIns="0" rIns="0" bIns="0" rtlCol="0" anchor="ctr"/>
          <a:lstStyle/>
          <a:p>
            <a:pPr marL="0" indent="0">
              <a:buNone/>
            </a:pPr>
            <a:r>
              <a:rPr lang="en-US" sz="1700" dirty="0">
                <a:solidFill>
                  <a:srgbClr val="1E7A52"/>
                </a:solidFill>
                <a:latin typeface="Calibri" pitchFamily="34" charset="0"/>
                <a:ea typeface="Calibri" pitchFamily="34" charset="-122"/>
                <a:cs typeface="Calibri" pitchFamily="34" charset="-120"/>
              </a:rPr>
              <a:t>Report both numbers — declared in advance, an expected outcome rather than a failure</a:t>
            </a:r>
            <a:endParaRPr lang="en-US" sz="1700" dirty="0"/>
          </a:p>
        </p:txBody>
      </p:sp>
      <p:sp>
        <p:nvSpPr>
          <p:cNvPr id="16" name="Shape 14"/>
          <p:cNvSpPr/>
          <p:nvPr/>
        </p:nvSpPr>
        <p:spPr>
          <a:xfrm>
            <a:off x="566928" y="2679192"/>
            <a:ext cx="11057839" cy="896112"/>
          </a:xfrm>
          <a:prstGeom prst="roundRect">
            <a:avLst>
              <a:gd name="adj" fmla="val 5102"/>
            </a:avLst>
          </a:prstGeom>
          <a:solidFill>
            <a:srgbClr val="FFFFFF"/>
          </a:solidFill>
          <a:ln w="19050">
            <a:solidFill>
              <a:srgbClr val="B05C1C"/>
            </a:solidFill>
            <a:prstDash val="solid"/>
          </a:ln>
        </p:spPr>
        <p:txBody>
          <a:bodyPr/>
          <a:lstStyle/>
          <a:p>
            <a:endParaRPr lang="en-PK"/>
          </a:p>
        </p:txBody>
      </p:sp>
      <p:sp>
        <p:nvSpPr>
          <p:cNvPr id="17" name="Shape 15"/>
          <p:cNvSpPr/>
          <p:nvPr/>
        </p:nvSpPr>
        <p:spPr>
          <a:xfrm>
            <a:off x="566928" y="2770632"/>
            <a:ext cx="45720" cy="713232"/>
          </a:xfrm>
          <a:prstGeom prst="rect">
            <a:avLst/>
          </a:prstGeom>
          <a:solidFill>
            <a:srgbClr val="B05C1C"/>
          </a:solidFill>
          <a:ln/>
        </p:spPr>
        <p:txBody>
          <a:bodyPr/>
          <a:lstStyle/>
          <a:p>
            <a:endParaRPr lang="en-PK"/>
          </a:p>
        </p:txBody>
      </p:sp>
      <p:sp>
        <p:nvSpPr>
          <p:cNvPr id="18" name="Text 16"/>
          <p:cNvSpPr txBox="1"/>
          <p:nvPr/>
        </p:nvSpPr>
        <p:spPr>
          <a:xfrm>
            <a:off x="804672" y="2679192"/>
            <a:ext cx="3255264" cy="896112"/>
          </a:xfrm>
          <a:prstGeom prst="rect">
            <a:avLst/>
          </a:prstGeom>
          <a:noFill/>
          <a:ln/>
        </p:spPr>
        <p:txBody>
          <a:bodyPr wrap="square" lIns="0" tIns="0" rIns="0" bIns="0" rtlCol="0" anchor="ctr"/>
          <a:lstStyle/>
          <a:p>
            <a:pPr marL="0" indent="0">
              <a:buNone/>
            </a:pPr>
            <a:r>
              <a:rPr lang="en-US" sz="1700" b="1" dirty="0">
                <a:solidFill>
                  <a:srgbClr val="1B202A"/>
                </a:solidFill>
                <a:latin typeface="Calibri" pitchFamily="34" charset="0"/>
                <a:ea typeface="Calibri" pitchFamily="34" charset="-122"/>
                <a:cs typeface="Calibri" pitchFamily="34" charset="-120"/>
              </a:rPr>
              <a:t>Tier-2 gates fail at Mid-1</a:t>
            </a:r>
            <a:endParaRPr lang="en-US" sz="1700" dirty="0"/>
          </a:p>
        </p:txBody>
      </p:sp>
      <p:sp>
        <p:nvSpPr>
          <p:cNvPr id="19" name="Shape 17"/>
          <p:cNvSpPr/>
          <p:nvPr/>
        </p:nvSpPr>
        <p:spPr>
          <a:xfrm>
            <a:off x="4233672" y="2843784"/>
            <a:ext cx="0" cy="566928"/>
          </a:xfrm>
          <a:prstGeom prst="line">
            <a:avLst/>
          </a:prstGeom>
          <a:noFill/>
          <a:ln w="12700">
            <a:solidFill>
              <a:srgbClr val="D9DCE3"/>
            </a:solidFill>
            <a:prstDash val="solid"/>
          </a:ln>
        </p:spPr>
        <p:txBody>
          <a:bodyPr/>
          <a:lstStyle/>
          <a:p>
            <a:endParaRPr lang="en-PK"/>
          </a:p>
        </p:txBody>
      </p:sp>
      <p:sp>
        <p:nvSpPr>
          <p:cNvPr id="20" name="Text 18"/>
          <p:cNvSpPr txBox="1"/>
          <p:nvPr/>
        </p:nvSpPr>
        <p:spPr>
          <a:xfrm>
            <a:off x="4334256" y="2679192"/>
            <a:ext cx="7107631" cy="896112"/>
          </a:xfrm>
          <a:prstGeom prst="rect">
            <a:avLst/>
          </a:prstGeom>
          <a:noFill/>
          <a:ln/>
        </p:spPr>
        <p:txBody>
          <a:bodyPr wrap="square" lIns="0" tIns="0" rIns="0" bIns="0" rtlCol="0" anchor="ctr"/>
          <a:lstStyle/>
          <a:p>
            <a:pPr marL="0" indent="0">
              <a:buNone/>
            </a:pPr>
            <a:r>
              <a:rPr lang="en-US" sz="1700" dirty="0">
                <a:solidFill>
                  <a:srgbClr val="1E7A52"/>
                </a:solidFill>
                <a:latin typeface="Calibri" pitchFamily="34" charset="0"/>
                <a:ea typeface="Calibri" pitchFamily="34" charset="-122"/>
                <a:cs typeface="Calibri" pitchFamily="34" charset="-120"/>
              </a:rPr>
              <a:t>Tier 1 already delivers the core contribution; Tier 2 ships as a memory on/off ablation</a:t>
            </a:r>
            <a:endParaRPr lang="en-US" sz="1700" dirty="0"/>
          </a:p>
        </p:txBody>
      </p:sp>
      <p:sp>
        <p:nvSpPr>
          <p:cNvPr id="21" name="Shape 19"/>
          <p:cNvSpPr/>
          <p:nvPr/>
        </p:nvSpPr>
        <p:spPr>
          <a:xfrm>
            <a:off x="566928" y="3694176"/>
            <a:ext cx="11057839" cy="896112"/>
          </a:xfrm>
          <a:prstGeom prst="roundRect">
            <a:avLst>
              <a:gd name="adj" fmla="val 5102"/>
            </a:avLst>
          </a:prstGeom>
          <a:solidFill>
            <a:srgbClr val="FFFFFF"/>
          </a:solidFill>
          <a:ln w="19050">
            <a:solidFill>
              <a:srgbClr val="15707A"/>
            </a:solidFill>
            <a:prstDash val="solid"/>
          </a:ln>
        </p:spPr>
        <p:txBody>
          <a:bodyPr/>
          <a:lstStyle/>
          <a:p>
            <a:endParaRPr lang="en-PK"/>
          </a:p>
        </p:txBody>
      </p:sp>
      <p:sp>
        <p:nvSpPr>
          <p:cNvPr id="22" name="Shape 20"/>
          <p:cNvSpPr/>
          <p:nvPr/>
        </p:nvSpPr>
        <p:spPr>
          <a:xfrm>
            <a:off x="566928" y="3785616"/>
            <a:ext cx="45720" cy="713232"/>
          </a:xfrm>
          <a:prstGeom prst="rect">
            <a:avLst/>
          </a:prstGeom>
          <a:solidFill>
            <a:srgbClr val="15707A"/>
          </a:solidFill>
          <a:ln/>
        </p:spPr>
        <p:txBody>
          <a:bodyPr/>
          <a:lstStyle/>
          <a:p>
            <a:endParaRPr lang="en-PK"/>
          </a:p>
        </p:txBody>
      </p:sp>
      <p:sp>
        <p:nvSpPr>
          <p:cNvPr id="23" name="Text 21"/>
          <p:cNvSpPr txBox="1"/>
          <p:nvPr/>
        </p:nvSpPr>
        <p:spPr>
          <a:xfrm>
            <a:off x="804672" y="3694176"/>
            <a:ext cx="3255264" cy="896112"/>
          </a:xfrm>
          <a:prstGeom prst="rect">
            <a:avLst/>
          </a:prstGeom>
          <a:noFill/>
          <a:ln/>
        </p:spPr>
        <p:txBody>
          <a:bodyPr wrap="square" lIns="0" tIns="0" rIns="0" bIns="0" rtlCol="0" anchor="ctr"/>
          <a:lstStyle/>
          <a:p>
            <a:pPr marL="0" indent="0">
              <a:buNone/>
            </a:pPr>
            <a:r>
              <a:rPr lang="en-US" sz="1700" b="1" dirty="0">
                <a:solidFill>
                  <a:srgbClr val="1B202A"/>
                </a:solidFill>
                <a:latin typeface="Calibri" pitchFamily="34" charset="0"/>
                <a:ea typeface="Calibri" pitchFamily="34" charset="-122"/>
                <a:cs typeface="Calibri" pitchFamily="34" charset="-120"/>
              </a:rPr>
              <a:t>Benchmark scale stalls below 500</a:t>
            </a:r>
            <a:endParaRPr lang="en-US" sz="1700" dirty="0"/>
          </a:p>
        </p:txBody>
      </p:sp>
      <p:sp>
        <p:nvSpPr>
          <p:cNvPr id="24" name="Shape 22"/>
          <p:cNvSpPr/>
          <p:nvPr/>
        </p:nvSpPr>
        <p:spPr>
          <a:xfrm>
            <a:off x="4233672" y="3858768"/>
            <a:ext cx="0" cy="566928"/>
          </a:xfrm>
          <a:prstGeom prst="line">
            <a:avLst/>
          </a:prstGeom>
          <a:noFill/>
          <a:ln w="12700">
            <a:solidFill>
              <a:srgbClr val="D9DCE3"/>
            </a:solidFill>
            <a:prstDash val="solid"/>
          </a:ln>
        </p:spPr>
        <p:txBody>
          <a:bodyPr/>
          <a:lstStyle/>
          <a:p>
            <a:endParaRPr lang="en-PK"/>
          </a:p>
        </p:txBody>
      </p:sp>
      <p:sp>
        <p:nvSpPr>
          <p:cNvPr id="25" name="Text 23"/>
          <p:cNvSpPr txBox="1"/>
          <p:nvPr/>
        </p:nvSpPr>
        <p:spPr>
          <a:xfrm>
            <a:off x="4334256" y="3694176"/>
            <a:ext cx="7107631" cy="896112"/>
          </a:xfrm>
          <a:prstGeom prst="rect">
            <a:avLst/>
          </a:prstGeom>
          <a:noFill/>
          <a:ln/>
        </p:spPr>
        <p:txBody>
          <a:bodyPr wrap="square" lIns="0" tIns="0" rIns="0" bIns="0" rtlCol="0" anchor="ctr"/>
          <a:lstStyle/>
          <a:p>
            <a:pPr marL="0" indent="0">
              <a:buNone/>
            </a:pPr>
            <a:r>
              <a:rPr lang="en-US" sz="1700" dirty="0">
                <a:solidFill>
                  <a:srgbClr val="1E7A52"/>
                </a:solidFill>
                <a:latin typeface="Calibri" pitchFamily="34" charset="0"/>
                <a:ea typeface="Calibri" pitchFamily="34" charset="-122"/>
                <a:cs typeface="Calibri" pitchFamily="34" charset="-120"/>
              </a:rPr>
              <a:t>Hard floor of 500 cases; 300 cases with statistics beats 1,000 without</a:t>
            </a:r>
            <a:endParaRPr lang="en-US" sz="1700" dirty="0"/>
          </a:p>
        </p:txBody>
      </p:sp>
      <p:sp>
        <p:nvSpPr>
          <p:cNvPr id="26" name="Shape 24"/>
          <p:cNvSpPr/>
          <p:nvPr/>
        </p:nvSpPr>
        <p:spPr>
          <a:xfrm>
            <a:off x="566928" y="4709160"/>
            <a:ext cx="11057839" cy="896112"/>
          </a:xfrm>
          <a:prstGeom prst="roundRect">
            <a:avLst>
              <a:gd name="adj" fmla="val 5102"/>
            </a:avLst>
          </a:prstGeom>
          <a:solidFill>
            <a:srgbClr val="FFFFFF"/>
          </a:solidFill>
          <a:ln w="19050">
            <a:solidFill>
              <a:srgbClr val="31558F"/>
            </a:solidFill>
            <a:prstDash val="solid"/>
          </a:ln>
        </p:spPr>
        <p:txBody>
          <a:bodyPr/>
          <a:lstStyle/>
          <a:p>
            <a:endParaRPr lang="en-PK"/>
          </a:p>
        </p:txBody>
      </p:sp>
      <p:sp>
        <p:nvSpPr>
          <p:cNvPr id="27" name="Shape 25"/>
          <p:cNvSpPr/>
          <p:nvPr/>
        </p:nvSpPr>
        <p:spPr>
          <a:xfrm>
            <a:off x="566928" y="4800600"/>
            <a:ext cx="45720" cy="713232"/>
          </a:xfrm>
          <a:prstGeom prst="rect">
            <a:avLst/>
          </a:prstGeom>
          <a:solidFill>
            <a:srgbClr val="31558F"/>
          </a:solidFill>
          <a:ln/>
        </p:spPr>
        <p:txBody>
          <a:bodyPr/>
          <a:lstStyle/>
          <a:p>
            <a:endParaRPr lang="en-PK"/>
          </a:p>
        </p:txBody>
      </p:sp>
      <p:sp>
        <p:nvSpPr>
          <p:cNvPr id="28" name="Text 26"/>
          <p:cNvSpPr txBox="1"/>
          <p:nvPr/>
        </p:nvSpPr>
        <p:spPr>
          <a:xfrm>
            <a:off x="804672" y="4709160"/>
            <a:ext cx="3255264" cy="896112"/>
          </a:xfrm>
          <a:prstGeom prst="rect">
            <a:avLst/>
          </a:prstGeom>
          <a:noFill/>
          <a:ln/>
        </p:spPr>
        <p:txBody>
          <a:bodyPr wrap="square" lIns="0" tIns="0" rIns="0" bIns="0" rtlCol="0" anchor="ctr"/>
          <a:lstStyle/>
          <a:p>
            <a:pPr marL="0" indent="0">
              <a:buNone/>
            </a:pPr>
            <a:r>
              <a:rPr lang="en-US" sz="1700" b="1" dirty="0">
                <a:solidFill>
                  <a:srgbClr val="1B202A"/>
                </a:solidFill>
                <a:latin typeface="Calibri" pitchFamily="34" charset="0"/>
                <a:ea typeface="Calibri" pitchFamily="34" charset="-122"/>
                <a:cs typeface="Calibri" pitchFamily="34" charset="-120"/>
              </a:rPr>
              <a:t>Backbone confound across papers</a:t>
            </a:r>
            <a:endParaRPr lang="en-US" sz="1700" dirty="0"/>
          </a:p>
        </p:txBody>
      </p:sp>
      <p:sp>
        <p:nvSpPr>
          <p:cNvPr id="29" name="Shape 27"/>
          <p:cNvSpPr/>
          <p:nvPr/>
        </p:nvSpPr>
        <p:spPr>
          <a:xfrm>
            <a:off x="4233672" y="4873752"/>
            <a:ext cx="0" cy="566928"/>
          </a:xfrm>
          <a:prstGeom prst="line">
            <a:avLst/>
          </a:prstGeom>
          <a:noFill/>
          <a:ln w="12700">
            <a:solidFill>
              <a:srgbClr val="D9DCE3"/>
            </a:solidFill>
            <a:prstDash val="solid"/>
          </a:ln>
        </p:spPr>
        <p:txBody>
          <a:bodyPr/>
          <a:lstStyle/>
          <a:p>
            <a:endParaRPr lang="en-PK"/>
          </a:p>
        </p:txBody>
      </p:sp>
      <p:sp>
        <p:nvSpPr>
          <p:cNvPr id="30" name="Text 28"/>
          <p:cNvSpPr txBox="1"/>
          <p:nvPr/>
        </p:nvSpPr>
        <p:spPr>
          <a:xfrm>
            <a:off x="4334256" y="4709160"/>
            <a:ext cx="7107631" cy="896112"/>
          </a:xfrm>
          <a:prstGeom prst="rect">
            <a:avLst/>
          </a:prstGeom>
          <a:noFill/>
          <a:ln/>
        </p:spPr>
        <p:txBody>
          <a:bodyPr wrap="square" lIns="0" tIns="0" rIns="0" bIns="0" rtlCol="0" anchor="ctr"/>
          <a:lstStyle/>
          <a:p>
            <a:pPr marL="0" indent="0">
              <a:buNone/>
            </a:pPr>
            <a:r>
              <a:rPr lang="en-US" sz="1700" dirty="0">
                <a:solidFill>
                  <a:srgbClr val="1E7A52"/>
                </a:solidFill>
                <a:latin typeface="Calibri" pitchFamily="34" charset="0"/>
                <a:ea typeface="Calibri" pitchFamily="34" charset="-122"/>
                <a:cs typeface="Calibri" pitchFamily="34" charset="-120"/>
              </a:rPr>
              <a:t>Controlled inside our own experiments; if a win partly reflects backbone strength, both numbers are reported</a:t>
            </a:r>
            <a:endParaRPr lang="en-US" sz="1700" dirty="0"/>
          </a:p>
        </p:txBody>
      </p:sp>
      <p:sp>
        <p:nvSpPr>
          <p:cNvPr id="31" name="Shape 29"/>
          <p:cNvSpPr/>
          <p:nvPr/>
        </p:nvSpPr>
        <p:spPr>
          <a:xfrm>
            <a:off x="587045" y="5749747"/>
            <a:ext cx="11057839" cy="603504"/>
          </a:xfrm>
          <a:prstGeom prst="roundRect">
            <a:avLst>
              <a:gd name="adj" fmla="val 9091"/>
            </a:avLst>
          </a:prstGeom>
          <a:solidFill>
            <a:srgbClr val="E4E6EB"/>
          </a:solidFill>
          <a:ln/>
        </p:spPr>
        <p:txBody>
          <a:bodyPr/>
          <a:lstStyle/>
          <a:p>
            <a:endParaRPr lang="en-PK"/>
          </a:p>
        </p:txBody>
      </p:sp>
      <p:sp>
        <p:nvSpPr>
          <p:cNvPr id="32" name="Shape 30"/>
          <p:cNvSpPr/>
          <p:nvPr/>
        </p:nvSpPr>
        <p:spPr>
          <a:xfrm>
            <a:off x="566928" y="5724144"/>
            <a:ext cx="11057839" cy="603504"/>
          </a:xfrm>
          <a:prstGeom prst="roundRect">
            <a:avLst>
              <a:gd name="adj" fmla="val 9091"/>
            </a:avLst>
          </a:prstGeom>
          <a:solidFill>
            <a:srgbClr val="E4E9F2"/>
          </a:solidFill>
          <a:ln w="9525">
            <a:solidFill>
              <a:srgbClr val="D9DCE3"/>
            </a:solidFill>
            <a:prstDash val="solid"/>
          </a:ln>
        </p:spPr>
        <p:txBody>
          <a:bodyPr/>
          <a:lstStyle/>
          <a:p>
            <a:endParaRPr lang="en-PK"/>
          </a:p>
        </p:txBody>
      </p:sp>
      <p:sp>
        <p:nvSpPr>
          <p:cNvPr id="33" name="Shape 31"/>
          <p:cNvSpPr/>
          <p:nvPr/>
        </p:nvSpPr>
        <p:spPr>
          <a:xfrm>
            <a:off x="566928" y="5779008"/>
            <a:ext cx="41148" cy="493776"/>
          </a:xfrm>
          <a:prstGeom prst="rect">
            <a:avLst/>
          </a:prstGeom>
          <a:solidFill>
            <a:srgbClr val="31558F"/>
          </a:solidFill>
          <a:ln/>
        </p:spPr>
        <p:txBody>
          <a:bodyPr/>
          <a:lstStyle/>
          <a:p>
            <a:endParaRPr lang="en-PK"/>
          </a:p>
        </p:txBody>
      </p:sp>
      <p:sp>
        <p:nvSpPr>
          <p:cNvPr id="34" name="Text 32"/>
          <p:cNvSpPr txBox="1"/>
          <p:nvPr/>
        </p:nvSpPr>
        <p:spPr>
          <a:xfrm>
            <a:off x="786384" y="5724144"/>
            <a:ext cx="10618927" cy="603504"/>
          </a:xfrm>
          <a:prstGeom prst="rect">
            <a:avLst/>
          </a:prstGeom>
          <a:noFill/>
          <a:ln/>
        </p:spPr>
        <p:txBody>
          <a:bodyPr wrap="square" lIns="0" tIns="0" rIns="0" bIns="0" rtlCol="0" anchor="ctr"/>
          <a:lstStyle/>
          <a:p>
            <a:pPr marL="0" indent="0">
              <a:buNone/>
            </a:pPr>
            <a:r>
              <a:rPr lang="en-US" sz="1700" b="1" dirty="0">
                <a:solidFill>
                  <a:srgbClr val="31558F"/>
                </a:solidFill>
                <a:latin typeface="Calibri" pitchFamily="34" charset="0"/>
                <a:ea typeface="Calibri" pitchFamily="34" charset="-122"/>
                <a:cs typeface="Calibri" pitchFamily="34" charset="-120"/>
              </a:rPr>
              <a:t>GenAI boundary:  </a:t>
            </a:r>
            <a:r>
              <a:rPr lang="en-US" sz="1700" dirty="0">
                <a:solidFill>
                  <a:srgbClr val="1B202A"/>
                </a:solidFill>
                <a:latin typeface="Calibri" pitchFamily="34" charset="0"/>
                <a:ea typeface="Calibri" pitchFamily="34" charset="-122"/>
                <a:cs typeface="Calibri" pitchFamily="34" charset="-120"/>
              </a:rPr>
              <a:t>every external component is classified Support / Core-assist / Core-replacement — nothing we claim sits in core-replacement, and the contribution survives swapping the LLM.</a:t>
            </a:r>
            <a:endParaRPr lang="en-US" sz="17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C"/>
        </a:solidFill>
        <a:effectLst/>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txBody>
          <a:bodyPr/>
          <a:lstStyle/>
          <a:p>
            <a:endParaRPr lang="en-PK"/>
          </a:p>
        </p:txBody>
      </p:sp>
      <p:sp>
        <p:nvSpPr>
          <p:cNvPr id="3" name="Shape 1"/>
          <p:cNvSpPr/>
          <p:nvPr/>
        </p:nvSpPr>
        <p:spPr>
          <a:xfrm rot="2700000">
            <a:off x="10618927" y="5285232"/>
            <a:ext cx="1005840" cy="1005840"/>
          </a:xfrm>
          <a:prstGeom prst="rect">
            <a:avLst/>
          </a:prstGeom>
          <a:ln w="12700">
            <a:solidFill>
              <a:srgbClr val="F4F5F7"/>
            </a:solidFill>
            <a:prstDash val="solid"/>
          </a:ln>
        </p:spPr>
        <p:txBody>
          <a:bodyPr/>
          <a:lstStyle/>
          <a:p>
            <a:endParaRPr lang="en-PK"/>
          </a:p>
        </p:txBody>
      </p:sp>
      <p:sp>
        <p:nvSpPr>
          <p:cNvPr id="4" name="Shape 2"/>
          <p:cNvSpPr/>
          <p:nvPr/>
        </p:nvSpPr>
        <p:spPr>
          <a:xfrm rot="2700000">
            <a:off x="10856671" y="5522976"/>
            <a:ext cx="530352" cy="530352"/>
          </a:xfrm>
          <a:prstGeom prst="rect">
            <a:avLst/>
          </a:prstGeom>
          <a:ln w="12700">
            <a:solidFill>
              <a:srgbClr val="F7F4ED"/>
            </a:solidFill>
            <a:prstDash val="solid"/>
          </a:ln>
        </p:spPr>
        <p:txBody>
          <a:bodyPr/>
          <a:lstStyle/>
          <a:p>
            <a:endParaRPr lang="en-PK"/>
          </a:p>
        </p:txBody>
      </p:sp>
      <p:sp>
        <p:nvSpPr>
          <p:cNvPr id="5" name="Text 3"/>
          <p:cNvSpPr txBox="1"/>
          <p:nvPr/>
        </p:nvSpPr>
        <p:spPr>
          <a:xfrm>
            <a:off x="566928" y="365760"/>
            <a:ext cx="11057839" cy="731520"/>
          </a:xfrm>
          <a:prstGeom prst="rect">
            <a:avLst/>
          </a:prstGeom>
          <a:noFill/>
          <a:ln/>
        </p:spPr>
        <p:txBody>
          <a:bodyPr wrap="square" lIns="0" tIns="0" rIns="0" bIns="0" rtlCol="0" anchor="ctr"/>
          <a:lstStyle/>
          <a:p>
            <a:pPr marL="0" indent="0">
              <a:buNone/>
            </a:pPr>
            <a:r>
              <a:rPr lang="en-US" sz="3200" b="1" dirty="0">
                <a:solidFill>
                  <a:srgbClr val="1B202A"/>
                </a:solidFill>
                <a:latin typeface="Georgia" pitchFamily="34" charset="0"/>
                <a:ea typeface="Georgia" pitchFamily="34" charset="-122"/>
                <a:cs typeface="Georgia" pitchFamily="34" charset="-120"/>
              </a:rPr>
              <a:t>Work Division &amp; Iteration Plan</a:t>
            </a:r>
            <a:endParaRPr lang="en-US" sz="3200" dirty="0"/>
          </a:p>
        </p:txBody>
      </p:sp>
      <p:sp>
        <p:nvSpPr>
          <p:cNvPr id="6" name="Shape 4"/>
          <p:cNvSpPr/>
          <p:nvPr/>
        </p:nvSpPr>
        <p:spPr>
          <a:xfrm>
            <a:off x="566928" y="1152144"/>
            <a:ext cx="566928" cy="36576"/>
          </a:xfrm>
          <a:prstGeom prst="rect">
            <a:avLst/>
          </a:prstGeom>
          <a:solidFill>
            <a:srgbClr val="C89B3C"/>
          </a:solidFill>
          <a:ln/>
        </p:spPr>
        <p:txBody>
          <a:bodyPr/>
          <a:lstStyle/>
          <a:p>
            <a:endParaRPr lang="en-PK"/>
          </a:p>
        </p:txBody>
      </p:sp>
      <p:sp>
        <p:nvSpPr>
          <p:cNvPr id="7" name="Shape 5"/>
          <p:cNvSpPr/>
          <p:nvPr/>
        </p:nvSpPr>
        <p:spPr>
          <a:xfrm>
            <a:off x="566928" y="6437376"/>
            <a:ext cx="11057839" cy="0"/>
          </a:xfrm>
          <a:prstGeom prst="line">
            <a:avLst/>
          </a:prstGeom>
          <a:noFill/>
          <a:ln w="9525">
            <a:solidFill>
              <a:srgbClr val="D9DCE3"/>
            </a:solidFill>
            <a:prstDash val="solid"/>
          </a:ln>
        </p:spPr>
        <p:txBody>
          <a:bodyPr/>
          <a:lstStyle/>
          <a:p>
            <a:endParaRPr lang="en-PK"/>
          </a:p>
        </p:txBody>
      </p:sp>
      <p:sp>
        <p:nvSpPr>
          <p:cNvPr id="8" name="Text 6"/>
          <p:cNvSpPr txBox="1"/>
          <p:nvPr/>
        </p:nvSpPr>
        <p:spPr>
          <a:xfrm>
            <a:off x="566928" y="6510528"/>
            <a:ext cx="5943600" cy="237744"/>
          </a:xfrm>
          <a:prstGeom prst="rect">
            <a:avLst/>
          </a:prstGeom>
          <a:noFill/>
          <a:ln/>
        </p:spPr>
        <p:txBody>
          <a:bodyPr wrap="square" lIns="0" tIns="0" rIns="0" bIns="0" rtlCol="0" anchor="ctr"/>
          <a:lstStyle/>
          <a:p>
            <a:pPr marL="0" indent="0">
              <a:buNone/>
            </a:pPr>
            <a:r>
              <a:rPr lang="en-US" sz="1300" kern="0" spc="50" dirty="0">
                <a:solidFill>
                  <a:srgbClr val="8B92A2"/>
                </a:solidFill>
                <a:latin typeface="Consolas" pitchFamily="34" charset="0"/>
                <a:ea typeface="Consolas" pitchFamily="34" charset="-122"/>
                <a:cs typeface="Consolas" pitchFamily="34" charset="-120"/>
              </a:rPr>
              <a:t>F26-060-GRANITE  ·  PROPOSAL DEFENSE  ·  STREAM A</a:t>
            </a:r>
            <a:endParaRPr lang="en-US" sz="130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marL="0" indent="0" algn="r">
              <a:buNone/>
            </a:pPr>
            <a:r>
              <a:rPr lang="en-US" sz="1300" b="1" dirty="0">
                <a:solidFill>
                  <a:srgbClr val="8E6A1F"/>
                </a:solidFill>
                <a:latin typeface="Consolas" pitchFamily="34" charset="0"/>
                <a:ea typeface="Consolas" pitchFamily="34" charset="-122"/>
                <a:cs typeface="Consolas" pitchFamily="34" charset="-120"/>
              </a:rPr>
              <a:t>10 / 11</a:t>
            </a:r>
            <a:endParaRPr lang="en-US" sz="1300" dirty="0"/>
          </a:p>
        </p:txBody>
      </p:sp>
      <p:sp>
        <p:nvSpPr>
          <p:cNvPr id="10" name="Shape 8"/>
          <p:cNvSpPr/>
          <p:nvPr/>
        </p:nvSpPr>
        <p:spPr>
          <a:xfrm>
            <a:off x="587045" y="1269187"/>
            <a:ext cx="3551834" cy="2999232"/>
          </a:xfrm>
          <a:prstGeom prst="roundRect">
            <a:avLst>
              <a:gd name="adj" fmla="val 1829"/>
            </a:avLst>
          </a:prstGeom>
          <a:solidFill>
            <a:srgbClr val="E4E6EB"/>
          </a:solidFill>
          <a:ln/>
        </p:spPr>
        <p:txBody>
          <a:bodyPr/>
          <a:lstStyle/>
          <a:p>
            <a:endParaRPr lang="en-PK"/>
          </a:p>
        </p:txBody>
      </p:sp>
      <p:sp>
        <p:nvSpPr>
          <p:cNvPr id="11" name="Shape 9"/>
          <p:cNvSpPr/>
          <p:nvPr/>
        </p:nvSpPr>
        <p:spPr>
          <a:xfrm>
            <a:off x="566928" y="1243584"/>
            <a:ext cx="3551834" cy="2999232"/>
          </a:xfrm>
          <a:prstGeom prst="roundRect">
            <a:avLst>
              <a:gd name="adj" fmla="val 1829"/>
            </a:avLst>
          </a:prstGeom>
          <a:solidFill>
            <a:srgbClr val="E3EFF1"/>
          </a:solidFill>
          <a:ln w="9525">
            <a:solidFill>
              <a:srgbClr val="D9DCE3"/>
            </a:solidFill>
            <a:prstDash val="solid"/>
          </a:ln>
        </p:spPr>
        <p:txBody>
          <a:bodyPr/>
          <a:lstStyle/>
          <a:p>
            <a:endParaRPr lang="en-PK"/>
          </a:p>
        </p:txBody>
      </p:sp>
      <p:sp>
        <p:nvSpPr>
          <p:cNvPr id="12" name="Shape 10"/>
          <p:cNvSpPr/>
          <p:nvPr/>
        </p:nvSpPr>
        <p:spPr>
          <a:xfrm>
            <a:off x="566928" y="1298448"/>
            <a:ext cx="41148" cy="2889504"/>
          </a:xfrm>
          <a:prstGeom prst="rect">
            <a:avLst/>
          </a:prstGeom>
          <a:solidFill>
            <a:srgbClr val="15707A"/>
          </a:solidFill>
          <a:ln/>
        </p:spPr>
        <p:txBody>
          <a:bodyPr/>
          <a:lstStyle/>
          <a:p>
            <a:endParaRPr lang="en-PK"/>
          </a:p>
        </p:txBody>
      </p:sp>
      <p:sp>
        <p:nvSpPr>
          <p:cNvPr id="13" name="Text 11"/>
          <p:cNvSpPr txBox="1"/>
          <p:nvPr/>
        </p:nvSpPr>
        <p:spPr>
          <a:xfrm>
            <a:off x="749808" y="1353312"/>
            <a:ext cx="3186074" cy="347472"/>
          </a:xfrm>
          <a:prstGeom prst="rect">
            <a:avLst/>
          </a:prstGeom>
          <a:noFill/>
          <a:ln/>
        </p:spPr>
        <p:txBody>
          <a:bodyPr wrap="square" lIns="0" tIns="0" rIns="0" bIns="0" rtlCol="0" anchor="ctr"/>
          <a:lstStyle/>
          <a:p>
            <a:pPr marL="0" indent="0">
              <a:buNone/>
            </a:pPr>
            <a:r>
              <a:rPr lang="en-US" sz="1900" b="1" dirty="0">
                <a:solidFill>
                  <a:srgbClr val="1B202A"/>
                </a:solidFill>
                <a:latin typeface="Georgia" pitchFamily="34" charset="0"/>
                <a:ea typeface="Georgia" pitchFamily="34" charset="-122"/>
                <a:cs typeface="Georgia" pitchFamily="34" charset="-120"/>
              </a:rPr>
              <a:t>Shahoud Shahid</a:t>
            </a:r>
            <a:r>
              <a:rPr lang="en-US" sz="1300" dirty="0">
                <a:solidFill>
                  <a:srgbClr val="596273"/>
                </a:solidFill>
                <a:latin typeface="Consolas" pitchFamily="34" charset="0"/>
                <a:ea typeface="Consolas" pitchFamily="34" charset="-122"/>
                <a:cs typeface="Consolas" pitchFamily="34" charset="-120"/>
              </a:rPr>
              <a:t>  23i-2515</a:t>
            </a:r>
            <a:endParaRPr lang="en-US" sz="1900" dirty="0"/>
          </a:p>
        </p:txBody>
      </p:sp>
      <p:sp>
        <p:nvSpPr>
          <p:cNvPr id="14" name="Shape 12"/>
          <p:cNvSpPr/>
          <p:nvPr/>
        </p:nvSpPr>
        <p:spPr>
          <a:xfrm>
            <a:off x="749808" y="1773936"/>
            <a:ext cx="2286000" cy="329184"/>
          </a:xfrm>
          <a:prstGeom prst="roundRect">
            <a:avLst>
              <a:gd name="adj" fmla="val 50000"/>
            </a:avLst>
          </a:prstGeom>
          <a:solidFill>
            <a:srgbClr val="15707A"/>
          </a:solidFill>
          <a:ln/>
        </p:spPr>
        <p:txBody>
          <a:bodyPr/>
          <a:lstStyle/>
          <a:p>
            <a:endParaRPr lang="en-PK"/>
          </a:p>
        </p:txBody>
      </p:sp>
      <p:sp>
        <p:nvSpPr>
          <p:cNvPr id="15" name="Text 13"/>
          <p:cNvSpPr txBox="1"/>
          <p:nvPr/>
        </p:nvSpPr>
        <p:spPr>
          <a:xfrm>
            <a:off x="749808" y="1773936"/>
            <a:ext cx="2286000" cy="329184"/>
          </a:xfrm>
          <a:prstGeom prst="rect">
            <a:avLst/>
          </a:prstGeom>
          <a:noFill/>
          <a:ln/>
        </p:spPr>
        <p:txBody>
          <a:bodyPr wrap="square" lIns="0" tIns="0" rIns="0" bIns="0" rtlCol="0" anchor="ctr"/>
          <a:lstStyle/>
          <a:p>
            <a:pPr marL="0" indent="0" algn="ctr">
              <a:buNone/>
            </a:pPr>
            <a:r>
              <a:rPr lang="en-US" sz="1500" b="1" dirty="0">
                <a:solidFill>
                  <a:srgbClr val="F5F6F8"/>
                </a:solidFill>
                <a:latin typeface="Consolas" pitchFamily="34" charset="0"/>
                <a:ea typeface="Consolas" pitchFamily="34" charset="-122"/>
                <a:cs typeface="Consolas" pitchFamily="34" charset="-120"/>
              </a:rPr>
              <a:t>DATA / BENCHMARK</a:t>
            </a:r>
            <a:endParaRPr lang="en-US" sz="1500" dirty="0"/>
          </a:p>
        </p:txBody>
      </p:sp>
      <p:sp>
        <p:nvSpPr>
          <p:cNvPr id="16" name="Text 14"/>
          <p:cNvSpPr txBox="1"/>
          <p:nvPr/>
        </p:nvSpPr>
        <p:spPr>
          <a:xfrm>
            <a:off x="749808" y="2231136"/>
            <a:ext cx="3186074" cy="1335024"/>
          </a:xfrm>
          <a:prstGeom prst="rect">
            <a:avLst/>
          </a:prstGeom>
          <a:noFill/>
          <a:ln/>
        </p:spPr>
        <p:txBody>
          <a:bodyPr wrap="square" lIns="0" tIns="0" rIns="0" bIns="0" rtlCol="0" anchor="t"/>
          <a:lstStyle/>
          <a:p>
            <a:pPr marL="190500" indent="-190500">
              <a:spcAft>
                <a:spcPts val="700"/>
              </a:spcAft>
              <a:buSzPct val="100000"/>
              <a:buChar char="▪"/>
            </a:pPr>
            <a:r>
              <a:rPr lang="en-US" sz="1700" dirty="0">
                <a:solidFill>
                  <a:srgbClr val="1B202A"/>
                </a:solidFill>
                <a:latin typeface="Calibri" pitchFamily="34" charset="0"/>
                <a:ea typeface="Calibri" pitchFamily="34" charset="-122"/>
                <a:cs typeface="Calibri" pitchFamily="34" charset="-120"/>
              </a:rPr>
              <a:t>Framework instrumentation</a:t>
            </a:r>
            <a:endParaRPr lang="en-US" sz="1700" dirty="0"/>
          </a:p>
          <a:p>
            <a:pPr marL="190500" indent="-190500">
              <a:spcAft>
                <a:spcPts val="700"/>
              </a:spcAft>
              <a:buSzPct val="100000"/>
              <a:buChar char="▪"/>
            </a:pPr>
            <a:r>
              <a:rPr lang="en-US" sz="1700" dirty="0">
                <a:solidFill>
                  <a:srgbClr val="1B202A"/>
                </a:solidFill>
                <a:latin typeface="Calibri" pitchFamily="34" charset="0"/>
                <a:ea typeface="Calibri" pitchFamily="34" charset="-122"/>
                <a:cs typeface="Calibri" pitchFamily="34" charset="-120"/>
              </a:rPr>
              <a:t>Fault injection + labelling</a:t>
            </a:r>
            <a:endParaRPr lang="en-US" sz="1700" dirty="0"/>
          </a:p>
          <a:p>
            <a:pPr marL="190500" indent="-190500">
              <a:spcAft>
                <a:spcPts val="700"/>
              </a:spcAft>
              <a:buSzPct val="100000"/>
              <a:buChar char="▪"/>
            </a:pPr>
            <a:r>
              <a:rPr lang="en-US" sz="1700" dirty="0">
                <a:solidFill>
                  <a:srgbClr val="1B202A"/>
                </a:solidFill>
                <a:latin typeface="Calibri" pitchFamily="34" charset="0"/>
                <a:ea typeface="Calibri" pitchFamily="34" charset="-122"/>
                <a:cs typeface="Calibri" pitchFamily="34" charset="-120"/>
              </a:rPr>
              <a:t>Benchmark build &amp; release</a:t>
            </a:r>
            <a:endParaRPr lang="en-US" sz="1700" dirty="0"/>
          </a:p>
        </p:txBody>
      </p:sp>
      <p:sp>
        <p:nvSpPr>
          <p:cNvPr id="17" name="Shape 15"/>
          <p:cNvSpPr/>
          <p:nvPr/>
        </p:nvSpPr>
        <p:spPr>
          <a:xfrm>
            <a:off x="749808" y="3602736"/>
            <a:ext cx="3186074" cy="0"/>
          </a:xfrm>
          <a:prstGeom prst="line">
            <a:avLst/>
          </a:prstGeom>
          <a:noFill/>
          <a:ln w="9525">
            <a:solidFill>
              <a:srgbClr val="15707A"/>
            </a:solidFill>
            <a:prstDash val="solid"/>
          </a:ln>
        </p:spPr>
        <p:txBody>
          <a:bodyPr/>
          <a:lstStyle/>
          <a:p>
            <a:endParaRPr lang="en-PK"/>
          </a:p>
        </p:txBody>
      </p:sp>
      <p:sp>
        <p:nvSpPr>
          <p:cNvPr id="18" name="Text 16"/>
          <p:cNvSpPr txBox="1"/>
          <p:nvPr/>
        </p:nvSpPr>
        <p:spPr>
          <a:xfrm>
            <a:off x="749808" y="3675888"/>
            <a:ext cx="3186074" cy="512064"/>
          </a:xfrm>
          <a:prstGeom prst="rect">
            <a:avLst/>
          </a:prstGeom>
          <a:noFill/>
          <a:ln/>
        </p:spPr>
        <p:txBody>
          <a:bodyPr wrap="square" lIns="0" tIns="0" rIns="0" bIns="0" rtlCol="0" anchor="ctr"/>
          <a:lstStyle/>
          <a:p>
            <a:pPr marL="0" indent="0">
              <a:buNone/>
            </a:pPr>
            <a:r>
              <a:rPr lang="en-US" sz="1400" i="1" dirty="0">
                <a:solidFill>
                  <a:srgbClr val="596273"/>
                </a:solidFill>
                <a:latin typeface="Calibri" pitchFamily="34" charset="0"/>
                <a:ea typeface="Calibri" pitchFamily="34" charset="-122"/>
                <a:cs typeface="Calibri" pitchFamily="34" charset="-120"/>
              </a:rPr>
              <a:t>If removed: no benchmark — the core claim is untestable</a:t>
            </a:r>
            <a:endParaRPr lang="en-US" sz="1400" dirty="0"/>
          </a:p>
        </p:txBody>
      </p:sp>
      <p:sp>
        <p:nvSpPr>
          <p:cNvPr id="19" name="Shape 17"/>
          <p:cNvSpPr/>
          <p:nvPr/>
        </p:nvSpPr>
        <p:spPr>
          <a:xfrm>
            <a:off x="4340047" y="1269187"/>
            <a:ext cx="3551834" cy="2999232"/>
          </a:xfrm>
          <a:prstGeom prst="roundRect">
            <a:avLst>
              <a:gd name="adj" fmla="val 1829"/>
            </a:avLst>
          </a:prstGeom>
          <a:solidFill>
            <a:srgbClr val="E4E6EB"/>
          </a:solidFill>
          <a:ln/>
        </p:spPr>
        <p:txBody>
          <a:bodyPr/>
          <a:lstStyle/>
          <a:p>
            <a:endParaRPr lang="en-PK"/>
          </a:p>
        </p:txBody>
      </p:sp>
      <p:sp>
        <p:nvSpPr>
          <p:cNvPr id="20" name="Shape 18"/>
          <p:cNvSpPr/>
          <p:nvPr/>
        </p:nvSpPr>
        <p:spPr>
          <a:xfrm>
            <a:off x="4319930" y="1243584"/>
            <a:ext cx="3551834" cy="2999232"/>
          </a:xfrm>
          <a:prstGeom prst="roundRect">
            <a:avLst>
              <a:gd name="adj" fmla="val 1829"/>
            </a:avLst>
          </a:prstGeom>
          <a:solidFill>
            <a:srgbClr val="F6EADD"/>
          </a:solidFill>
          <a:ln w="9525">
            <a:solidFill>
              <a:srgbClr val="D9DCE3"/>
            </a:solidFill>
            <a:prstDash val="solid"/>
          </a:ln>
        </p:spPr>
        <p:txBody>
          <a:bodyPr/>
          <a:lstStyle/>
          <a:p>
            <a:endParaRPr lang="en-PK"/>
          </a:p>
        </p:txBody>
      </p:sp>
      <p:sp>
        <p:nvSpPr>
          <p:cNvPr id="21" name="Shape 19"/>
          <p:cNvSpPr/>
          <p:nvPr/>
        </p:nvSpPr>
        <p:spPr>
          <a:xfrm>
            <a:off x="4319930" y="1298448"/>
            <a:ext cx="41148" cy="2889504"/>
          </a:xfrm>
          <a:prstGeom prst="rect">
            <a:avLst/>
          </a:prstGeom>
          <a:solidFill>
            <a:srgbClr val="B05C1C"/>
          </a:solidFill>
          <a:ln/>
        </p:spPr>
        <p:txBody>
          <a:bodyPr/>
          <a:lstStyle/>
          <a:p>
            <a:endParaRPr lang="en-PK"/>
          </a:p>
        </p:txBody>
      </p:sp>
      <p:sp>
        <p:nvSpPr>
          <p:cNvPr id="22" name="Text 20"/>
          <p:cNvSpPr txBox="1"/>
          <p:nvPr/>
        </p:nvSpPr>
        <p:spPr>
          <a:xfrm>
            <a:off x="4502810" y="1353312"/>
            <a:ext cx="3186074" cy="347472"/>
          </a:xfrm>
          <a:prstGeom prst="rect">
            <a:avLst/>
          </a:prstGeom>
          <a:noFill/>
          <a:ln/>
        </p:spPr>
        <p:txBody>
          <a:bodyPr wrap="square" lIns="0" tIns="0" rIns="0" bIns="0" rtlCol="0" anchor="ctr"/>
          <a:lstStyle/>
          <a:p>
            <a:pPr marL="0" indent="0">
              <a:buNone/>
            </a:pPr>
            <a:r>
              <a:rPr lang="en-US" sz="1900" b="1" dirty="0">
                <a:solidFill>
                  <a:srgbClr val="1B202A"/>
                </a:solidFill>
                <a:latin typeface="Georgia" pitchFamily="34" charset="0"/>
                <a:ea typeface="Georgia" pitchFamily="34" charset="-122"/>
                <a:cs typeface="Georgia" pitchFamily="34" charset="-120"/>
              </a:rPr>
              <a:t>Muhammad Noor</a:t>
            </a:r>
            <a:r>
              <a:rPr lang="en-US" sz="1300" dirty="0">
                <a:solidFill>
                  <a:srgbClr val="596273"/>
                </a:solidFill>
                <a:latin typeface="Consolas" pitchFamily="34" charset="0"/>
                <a:ea typeface="Consolas" pitchFamily="34" charset="-122"/>
                <a:cs typeface="Consolas" pitchFamily="34" charset="-120"/>
              </a:rPr>
              <a:t>  23i-2520</a:t>
            </a:r>
            <a:endParaRPr lang="en-US" sz="1900" dirty="0"/>
          </a:p>
        </p:txBody>
      </p:sp>
      <p:sp>
        <p:nvSpPr>
          <p:cNvPr id="23" name="Shape 21"/>
          <p:cNvSpPr/>
          <p:nvPr/>
        </p:nvSpPr>
        <p:spPr>
          <a:xfrm>
            <a:off x="4502810" y="1773936"/>
            <a:ext cx="2286000" cy="329184"/>
          </a:xfrm>
          <a:prstGeom prst="roundRect">
            <a:avLst>
              <a:gd name="adj" fmla="val 50000"/>
            </a:avLst>
          </a:prstGeom>
          <a:solidFill>
            <a:srgbClr val="B05C1C"/>
          </a:solidFill>
          <a:ln/>
        </p:spPr>
        <p:txBody>
          <a:bodyPr/>
          <a:lstStyle/>
          <a:p>
            <a:endParaRPr lang="en-PK"/>
          </a:p>
        </p:txBody>
      </p:sp>
      <p:sp>
        <p:nvSpPr>
          <p:cNvPr id="24" name="Text 22"/>
          <p:cNvSpPr txBox="1"/>
          <p:nvPr/>
        </p:nvSpPr>
        <p:spPr>
          <a:xfrm>
            <a:off x="4502810" y="1773936"/>
            <a:ext cx="2286000" cy="329184"/>
          </a:xfrm>
          <a:prstGeom prst="rect">
            <a:avLst/>
          </a:prstGeom>
          <a:noFill/>
          <a:ln/>
        </p:spPr>
        <p:txBody>
          <a:bodyPr wrap="square" lIns="0" tIns="0" rIns="0" bIns="0" rtlCol="0" anchor="ctr"/>
          <a:lstStyle/>
          <a:p>
            <a:pPr marL="0" indent="0" algn="ctr">
              <a:buNone/>
            </a:pPr>
            <a:r>
              <a:rPr lang="en-US" sz="1500" b="1" dirty="0">
                <a:solidFill>
                  <a:srgbClr val="F5F6F8"/>
                </a:solidFill>
                <a:latin typeface="Consolas" pitchFamily="34" charset="0"/>
                <a:ea typeface="Consolas" pitchFamily="34" charset="-122"/>
                <a:cs typeface="Consolas" pitchFamily="34" charset="-120"/>
              </a:rPr>
              <a:t>DIAGNOSIS ENGINE</a:t>
            </a:r>
            <a:endParaRPr lang="en-US" sz="1500" dirty="0"/>
          </a:p>
        </p:txBody>
      </p:sp>
      <p:sp>
        <p:nvSpPr>
          <p:cNvPr id="25" name="Text 23"/>
          <p:cNvSpPr txBox="1"/>
          <p:nvPr/>
        </p:nvSpPr>
        <p:spPr>
          <a:xfrm>
            <a:off x="4502810" y="2231136"/>
            <a:ext cx="3186074" cy="1335024"/>
          </a:xfrm>
          <a:prstGeom prst="rect">
            <a:avLst/>
          </a:prstGeom>
          <a:noFill/>
          <a:ln/>
        </p:spPr>
        <p:txBody>
          <a:bodyPr wrap="square" lIns="0" tIns="0" rIns="0" bIns="0" rtlCol="0" anchor="t"/>
          <a:lstStyle/>
          <a:p>
            <a:pPr marL="190500" indent="-190500">
              <a:spcAft>
                <a:spcPts val="700"/>
              </a:spcAft>
              <a:buSzPct val="100000"/>
              <a:buChar char="▪"/>
            </a:pPr>
            <a:r>
              <a:rPr lang="en-US" sz="1700" dirty="0">
                <a:solidFill>
                  <a:srgbClr val="1B202A"/>
                </a:solidFill>
                <a:latin typeface="Calibri" pitchFamily="34" charset="0"/>
                <a:ea typeface="Calibri" pitchFamily="34" charset="-122"/>
                <a:cs typeface="Calibri" pitchFamily="34" charset="-120"/>
              </a:rPr>
              <a:t>Graph + trace normalization</a:t>
            </a:r>
            <a:endParaRPr lang="en-US" sz="1700" dirty="0"/>
          </a:p>
          <a:p>
            <a:pPr marL="190500" indent="-190500">
              <a:spcAft>
                <a:spcPts val="700"/>
              </a:spcAft>
              <a:buSzPct val="100000"/>
              <a:buChar char="▪"/>
            </a:pPr>
            <a:r>
              <a:rPr lang="en-US" sz="1700" dirty="0">
                <a:solidFill>
                  <a:srgbClr val="1B202A"/>
                </a:solidFill>
                <a:latin typeface="Calibri" pitchFamily="34" charset="0"/>
                <a:ea typeface="Calibri" pitchFamily="34" charset="-122"/>
                <a:cs typeface="Calibri" pitchFamily="34" charset="-120"/>
              </a:rPr>
              <a:t>ErrorProbe baseline reproduction</a:t>
            </a:r>
            <a:endParaRPr lang="en-US" sz="1700" dirty="0"/>
          </a:p>
          <a:p>
            <a:pPr marL="190500" indent="-190500">
              <a:spcAft>
                <a:spcPts val="700"/>
              </a:spcAft>
              <a:buSzPct val="100000"/>
              <a:buChar char="▪"/>
            </a:pPr>
            <a:r>
              <a:rPr lang="en-US" sz="1700" dirty="0">
                <a:solidFill>
                  <a:srgbClr val="1B202A"/>
                </a:solidFill>
                <a:latin typeface="Calibri" pitchFamily="34" charset="0"/>
                <a:ea typeface="Calibri" pitchFamily="34" charset="-122"/>
                <a:cs typeface="Calibri" pitchFamily="34" charset="-120"/>
              </a:rPr>
              <a:t>SED + backward causal tracing</a:t>
            </a:r>
            <a:endParaRPr lang="en-US" sz="1700" dirty="0"/>
          </a:p>
        </p:txBody>
      </p:sp>
      <p:sp>
        <p:nvSpPr>
          <p:cNvPr id="26" name="Shape 24"/>
          <p:cNvSpPr/>
          <p:nvPr/>
        </p:nvSpPr>
        <p:spPr>
          <a:xfrm>
            <a:off x="4502810" y="3602736"/>
            <a:ext cx="3186074" cy="0"/>
          </a:xfrm>
          <a:prstGeom prst="line">
            <a:avLst/>
          </a:prstGeom>
          <a:noFill/>
          <a:ln w="9525">
            <a:solidFill>
              <a:srgbClr val="B05C1C"/>
            </a:solidFill>
            <a:prstDash val="solid"/>
          </a:ln>
        </p:spPr>
        <p:txBody>
          <a:bodyPr/>
          <a:lstStyle/>
          <a:p>
            <a:endParaRPr lang="en-PK"/>
          </a:p>
        </p:txBody>
      </p:sp>
      <p:sp>
        <p:nvSpPr>
          <p:cNvPr id="27" name="Text 25"/>
          <p:cNvSpPr txBox="1"/>
          <p:nvPr/>
        </p:nvSpPr>
        <p:spPr>
          <a:xfrm>
            <a:off x="4502810" y="3675888"/>
            <a:ext cx="3186074" cy="512064"/>
          </a:xfrm>
          <a:prstGeom prst="rect">
            <a:avLst/>
          </a:prstGeom>
          <a:noFill/>
          <a:ln/>
        </p:spPr>
        <p:txBody>
          <a:bodyPr wrap="square" lIns="0" tIns="0" rIns="0" bIns="0" rtlCol="0" anchor="ctr"/>
          <a:lstStyle/>
          <a:p>
            <a:pPr marL="0" indent="0">
              <a:buNone/>
            </a:pPr>
            <a:r>
              <a:rPr lang="en-US" sz="1400" i="1" dirty="0">
                <a:solidFill>
                  <a:srgbClr val="596273"/>
                </a:solidFill>
                <a:latin typeface="Calibri" pitchFamily="34" charset="0"/>
                <a:ea typeface="Calibri" pitchFamily="34" charset="-122"/>
                <a:cs typeface="Calibri" pitchFamily="34" charset="-120"/>
              </a:rPr>
              <a:t>If removed: no attribution, no silent-failure detection</a:t>
            </a:r>
            <a:endParaRPr lang="en-US" sz="1400" dirty="0"/>
          </a:p>
        </p:txBody>
      </p:sp>
      <p:sp>
        <p:nvSpPr>
          <p:cNvPr id="28" name="Shape 26"/>
          <p:cNvSpPr/>
          <p:nvPr/>
        </p:nvSpPr>
        <p:spPr>
          <a:xfrm>
            <a:off x="8093050" y="1269187"/>
            <a:ext cx="3551834" cy="2999232"/>
          </a:xfrm>
          <a:prstGeom prst="roundRect">
            <a:avLst>
              <a:gd name="adj" fmla="val 1829"/>
            </a:avLst>
          </a:prstGeom>
          <a:solidFill>
            <a:srgbClr val="E4E6EB"/>
          </a:solidFill>
          <a:ln/>
        </p:spPr>
        <p:txBody>
          <a:bodyPr/>
          <a:lstStyle/>
          <a:p>
            <a:endParaRPr lang="en-PK"/>
          </a:p>
        </p:txBody>
      </p:sp>
      <p:sp>
        <p:nvSpPr>
          <p:cNvPr id="29" name="Shape 27"/>
          <p:cNvSpPr/>
          <p:nvPr/>
        </p:nvSpPr>
        <p:spPr>
          <a:xfrm>
            <a:off x="8072933" y="1243584"/>
            <a:ext cx="3551834" cy="2999232"/>
          </a:xfrm>
          <a:prstGeom prst="roundRect">
            <a:avLst>
              <a:gd name="adj" fmla="val 1829"/>
            </a:avLst>
          </a:prstGeom>
          <a:solidFill>
            <a:srgbClr val="E4E9F2"/>
          </a:solidFill>
          <a:ln w="9525">
            <a:solidFill>
              <a:srgbClr val="D9DCE3"/>
            </a:solidFill>
            <a:prstDash val="solid"/>
          </a:ln>
        </p:spPr>
        <p:txBody>
          <a:bodyPr/>
          <a:lstStyle/>
          <a:p>
            <a:endParaRPr lang="en-PK"/>
          </a:p>
        </p:txBody>
      </p:sp>
      <p:sp>
        <p:nvSpPr>
          <p:cNvPr id="30" name="Shape 28"/>
          <p:cNvSpPr/>
          <p:nvPr/>
        </p:nvSpPr>
        <p:spPr>
          <a:xfrm>
            <a:off x="8072933" y="1298448"/>
            <a:ext cx="41148" cy="2889504"/>
          </a:xfrm>
          <a:prstGeom prst="rect">
            <a:avLst/>
          </a:prstGeom>
          <a:solidFill>
            <a:srgbClr val="31558F"/>
          </a:solidFill>
          <a:ln/>
        </p:spPr>
        <p:txBody>
          <a:bodyPr/>
          <a:lstStyle/>
          <a:p>
            <a:endParaRPr lang="en-PK"/>
          </a:p>
        </p:txBody>
      </p:sp>
      <p:sp>
        <p:nvSpPr>
          <p:cNvPr id="31" name="Text 29"/>
          <p:cNvSpPr txBox="1"/>
          <p:nvPr/>
        </p:nvSpPr>
        <p:spPr>
          <a:xfrm>
            <a:off x="8255813" y="1353312"/>
            <a:ext cx="3186074" cy="347472"/>
          </a:xfrm>
          <a:prstGeom prst="rect">
            <a:avLst/>
          </a:prstGeom>
          <a:noFill/>
          <a:ln/>
        </p:spPr>
        <p:txBody>
          <a:bodyPr wrap="square" lIns="0" tIns="0" rIns="0" bIns="0" rtlCol="0" anchor="ctr"/>
          <a:lstStyle/>
          <a:p>
            <a:pPr marL="0" indent="0">
              <a:buNone/>
            </a:pPr>
            <a:r>
              <a:rPr lang="en-US" sz="1900" b="1" dirty="0">
                <a:solidFill>
                  <a:srgbClr val="1B202A"/>
                </a:solidFill>
                <a:latin typeface="Georgia" pitchFamily="34" charset="0"/>
                <a:ea typeface="Georgia" pitchFamily="34" charset="-122"/>
                <a:cs typeface="Georgia" pitchFamily="34" charset="-120"/>
              </a:rPr>
              <a:t>Saif Shahzad</a:t>
            </a:r>
            <a:r>
              <a:rPr lang="en-US" sz="1300" dirty="0">
                <a:solidFill>
                  <a:srgbClr val="596273"/>
                </a:solidFill>
                <a:latin typeface="Consolas" pitchFamily="34" charset="0"/>
                <a:ea typeface="Consolas" pitchFamily="34" charset="-122"/>
                <a:cs typeface="Consolas" pitchFamily="34" charset="-120"/>
              </a:rPr>
              <a:t>  23i-2634</a:t>
            </a:r>
            <a:endParaRPr lang="en-US" sz="1900" dirty="0"/>
          </a:p>
        </p:txBody>
      </p:sp>
      <p:sp>
        <p:nvSpPr>
          <p:cNvPr id="32" name="Shape 30"/>
          <p:cNvSpPr/>
          <p:nvPr/>
        </p:nvSpPr>
        <p:spPr>
          <a:xfrm>
            <a:off x="8255813" y="1773936"/>
            <a:ext cx="2286000" cy="329184"/>
          </a:xfrm>
          <a:prstGeom prst="roundRect">
            <a:avLst>
              <a:gd name="adj" fmla="val 50000"/>
            </a:avLst>
          </a:prstGeom>
          <a:solidFill>
            <a:srgbClr val="31558F"/>
          </a:solidFill>
          <a:ln/>
        </p:spPr>
        <p:txBody>
          <a:bodyPr/>
          <a:lstStyle/>
          <a:p>
            <a:endParaRPr lang="en-PK"/>
          </a:p>
        </p:txBody>
      </p:sp>
      <p:sp>
        <p:nvSpPr>
          <p:cNvPr id="33" name="Text 31"/>
          <p:cNvSpPr txBox="1"/>
          <p:nvPr/>
        </p:nvSpPr>
        <p:spPr>
          <a:xfrm>
            <a:off x="8255813" y="1773936"/>
            <a:ext cx="2286000" cy="329184"/>
          </a:xfrm>
          <a:prstGeom prst="rect">
            <a:avLst/>
          </a:prstGeom>
          <a:noFill/>
          <a:ln/>
        </p:spPr>
        <p:txBody>
          <a:bodyPr wrap="square" lIns="0" tIns="0" rIns="0" bIns="0" rtlCol="0" anchor="ctr"/>
          <a:lstStyle/>
          <a:p>
            <a:pPr marL="0" indent="0" algn="ctr">
              <a:buNone/>
            </a:pPr>
            <a:r>
              <a:rPr lang="en-US" sz="1500" b="1" dirty="0">
                <a:solidFill>
                  <a:srgbClr val="F5F6F8"/>
                </a:solidFill>
                <a:latin typeface="Consolas" pitchFamily="34" charset="0"/>
                <a:ea typeface="Consolas" pitchFamily="34" charset="-122"/>
                <a:cs typeface="Consolas" pitchFamily="34" charset="-120"/>
              </a:rPr>
              <a:t>PLATFORM</a:t>
            </a:r>
            <a:endParaRPr lang="en-US" sz="1500" dirty="0"/>
          </a:p>
        </p:txBody>
      </p:sp>
      <p:sp>
        <p:nvSpPr>
          <p:cNvPr id="34" name="Text 32"/>
          <p:cNvSpPr txBox="1"/>
          <p:nvPr/>
        </p:nvSpPr>
        <p:spPr>
          <a:xfrm>
            <a:off x="8255813" y="2231136"/>
            <a:ext cx="3186074" cy="1335024"/>
          </a:xfrm>
          <a:prstGeom prst="rect">
            <a:avLst/>
          </a:prstGeom>
          <a:noFill/>
          <a:ln/>
        </p:spPr>
        <p:txBody>
          <a:bodyPr wrap="square" lIns="0" tIns="0" rIns="0" bIns="0" rtlCol="0" anchor="t"/>
          <a:lstStyle/>
          <a:p>
            <a:pPr marL="190500" indent="-190500">
              <a:spcAft>
                <a:spcPts val="700"/>
              </a:spcAft>
              <a:buSzPct val="100000"/>
              <a:buChar char="▪"/>
            </a:pPr>
            <a:r>
              <a:rPr lang="en-US" sz="1700" dirty="0">
                <a:solidFill>
                  <a:srgbClr val="1B202A"/>
                </a:solidFill>
                <a:latin typeface="Calibri" pitchFamily="34" charset="0"/>
                <a:ea typeface="Calibri" pitchFamily="34" charset="-122"/>
                <a:cs typeface="Calibri" pitchFamily="34" charset="-120"/>
              </a:rPr>
              <a:t>Counterfactual replay + recovery</a:t>
            </a:r>
            <a:endParaRPr lang="en-US" sz="1700" dirty="0"/>
          </a:p>
          <a:p>
            <a:pPr marL="190500" indent="-190500">
              <a:spcAft>
                <a:spcPts val="700"/>
              </a:spcAft>
              <a:buSzPct val="100000"/>
              <a:buChar char="▪"/>
            </a:pPr>
            <a:r>
              <a:rPr lang="en-US" sz="1700" dirty="0">
                <a:solidFill>
                  <a:srgbClr val="1B202A"/>
                </a:solidFill>
                <a:latin typeface="Calibri" pitchFamily="34" charset="0"/>
                <a:ea typeface="Calibri" pitchFamily="34" charset="-122"/>
                <a:cs typeface="Calibri" pitchFamily="34" charset="-120"/>
              </a:rPr>
              <a:t>SDK, FastAPI, Postgres</a:t>
            </a:r>
            <a:endParaRPr lang="en-US" sz="1700" dirty="0"/>
          </a:p>
          <a:p>
            <a:pPr marL="190500" indent="-190500">
              <a:spcAft>
                <a:spcPts val="700"/>
              </a:spcAft>
              <a:buSzPct val="100000"/>
              <a:buChar char="▪"/>
            </a:pPr>
            <a:r>
              <a:rPr lang="en-US" sz="1700" dirty="0">
                <a:solidFill>
                  <a:srgbClr val="1B202A"/>
                </a:solidFill>
                <a:latin typeface="Calibri" pitchFamily="34" charset="0"/>
                <a:ea typeface="Calibri" pitchFamily="34" charset="-122"/>
                <a:cs typeface="Calibri" pitchFamily="34" charset="-120"/>
              </a:rPr>
              <a:t>Dashboard + deployment</a:t>
            </a:r>
            <a:endParaRPr lang="en-US" sz="1700" dirty="0"/>
          </a:p>
        </p:txBody>
      </p:sp>
      <p:sp>
        <p:nvSpPr>
          <p:cNvPr id="35" name="Shape 33"/>
          <p:cNvSpPr/>
          <p:nvPr/>
        </p:nvSpPr>
        <p:spPr>
          <a:xfrm>
            <a:off x="8255813" y="3602736"/>
            <a:ext cx="3186074" cy="0"/>
          </a:xfrm>
          <a:prstGeom prst="line">
            <a:avLst/>
          </a:prstGeom>
          <a:noFill/>
          <a:ln w="9525">
            <a:solidFill>
              <a:srgbClr val="31558F"/>
            </a:solidFill>
            <a:prstDash val="solid"/>
          </a:ln>
        </p:spPr>
        <p:txBody>
          <a:bodyPr/>
          <a:lstStyle/>
          <a:p>
            <a:endParaRPr lang="en-PK"/>
          </a:p>
        </p:txBody>
      </p:sp>
      <p:sp>
        <p:nvSpPr>
          <p:cNvPr id="36" name="Text 34"/>
          <p:cNvSpPr txBox="1"/>
          <p:nvPr/>
        </p:nvSpPr>
        <p:spPr>
          <a:xfrm>
            <a:off x="8255813" y="3675888"/>
            <a:ext cx="3186074" cy="512064"/>
          </a:xfrm>
          <a:prstGeom prst="rect">
            <a:avLst/>
          </a:prstGeom>
          <a:noFill/>
          <a:ln/>
        </p:spPr>
        <p:txBody>
          <a:bodyPr wrap="square" lIns="0" tIns="0" rIns="0" bIns="0" rtlCol="0" anchor="ctr"/>
          <a:lstStyle/>
          <a:p>
            <a:pPr marL="0" indent="0">
              <a:buNone/>
            </a:pPr>
            <a:r>
              <a:rPr lang="en-US" sz="1400" i="1" dirty="0">
                <a:solidFill>
                  <a:srgbClr val="596273"/>
                </a:solidFill>
                <a:latin typeface="Calibri" pitchFamily="34" charset="0"/>
                <a:ea typeface="Calibri" pitchFamily="34" charset="-122"/>
                <a:cs typeface="Calibri" pitchFamily="34" charset="-120"/>
              </a:rPr>
              <a:t>If removed: nothing is installable outside the dev machine</a:t>
            </a:r>
            <a:endParaRPr lang="en-US" sz="1400" dirty="0"/>
          </a:p>
        </p:txBody>
      </p:sp>
      <p:sp>
        <p:nvSpPr>
          <p:cNvPr id="37" name="Text 35"/>
          <p:cNvSpPr txBox="1"/>
          <p:nvPr/>
        </p:nvSpPr>
        <p:spPr>
          <a:xfrm>
            <a:off x="566928" y="4443984"/>
            <a:ext cx="11057839" cy="310896"/>
          </a:xfrm>
          <a:prstGeom prst="rect">
            <a:avLst/>
          </a:prstGeom>
          <a:noFill/>
          <a:ln/>
        </p:spPr>
        <p:txBody>
          <a:bodyPr wrap="square" lIns="0" tIns="0" rIns="0" bIns="0" rtlCol="0" anchor="ctr"/>
          <a:lstStyle/>
          <a:p>
            <a:pPr marL="0" indent="0">
              <a:buNone/>
            </a:pPr>
            <a:r>
              <a:rPr lang="en-US" sz="1800" b="1" kern="0" spc="60" dirty="0">
                <a:solidFill>
                  <a:srgbClr val="8E6A1F"/>
                </a:solidFill>
                <a:latin typeface="Consolas" pitchFamily="34" charset="0"/>
                <a:ea typeface="Consolas" pitchFamily="34" charset="-122"/>
                <a:cs typeface="Consolas" pitchFamily="34" charset="-120"/>
              </a:rPr>
              <a:t>FYP-1 → FYP-2 MILESTONES</a:t>
            </a:r>
            <a:endParaRPr lang="en-US" sz="1800" dirty="0"/>
          </a:p>
        </p:txBody>
      </p:sp>
      <p:sp>
        <p:nvSpPr>
          <p:cNvPr id="38" name="Shape 36"/>
          <p:cNvSpPr/>
          <p:nvPr/>
        </p:nvSpPr>
        <p:spPr>
          <a:xfrm>
            <a:off x="1672712" y="4974336"/>
            <a:ext cx="8846271" cy="0"/>
          </a:xfrm>
          <a:prstGeom prst="line">
            <a:avLst/>
          </a:prstGeom>
          <a:noFill/>
          <a:ln w="25400">
            <a:solidFill>
              <a:srgbClr val="C89B3C"/>
            </a:solidFill>
            <a:prstDash val="solid"/>
          </a:ln>
        </p:spPr>
        <p:txBody>
          <a:bodyPr/>
          <a:lstStyle/>
          <a:p>
            <a:endParaRPr lang="en-PK"/>
          </a:p>
        </p:txBody>
      </p:sp>
      <p:sp>
        <p:nvSpPr>
          <p:cNvPr id="39" name="Shape 37"/>
          <p:cNvSpPr/>
          <p:nvPr/>
        </p:nvSpPr>
        <p:spPr>
          <a:xfrm>
            <a:off x="1535552" y="4837176"/>
            <a:ext cx="274320" cy="274320"/>
          </a:xfrm>
          <a:prstGeom prst="ellipse">
            <a:avLst/>
          </a:prstGeom>
          <a:solidFill>
            <a:srgbClr val="C89B3C"/>
          </a:solidFill>
          <a:ln w="25400">
            <a:solidFill>
              <a:srgbClr val="C89B3C"/>
            </a:solidFill>
            <a:prstDash val="solid"/>
          </a:ln>
        </p:spPr>
        <p:txBody>
          <a:bodyPr/>
          <a:lstStyle/>
          <a:p>
            <a:endParaRPr lang="en-PK"/>
          </a:p>
        </p:txBody>
      </p:sp>
      <p:sp>
        <p:nvSpPr>
          <p:cNvPr id="40" name="Text 38"/>
          <p:cNvSpPr txBox="1"/>
          <p:nvPr/>
        </p:nvSpPr>
        <p:spPr>
          <a:xfrm>
            <a:off x="621792" y="5230368"/>
            <a:ext cx="2101840" cy="1042416"/>
          </a:xfrm>
          <a:prstGeom prst="rect">
            <a:avLst/>
          </a:prstGeom>
          <a:noFill/>
          <a:ln/>
        </p:spPr>
        <p:txBody>
          <a:bodyPr wrap="square" lIns="0" tIns="0" rIns="0" bIns="0" rtlCol="0" anchor="ctr"/>
          <a:lstStyle/>
          <a:p>
            <a:pPr marL="0" indent="0" algn="ctr">
              <a:buNone/>
            </a:pPr>
            <a:r>
              <a:rPr lang="en-US" sz="1500" b="1" dirty="0">
                <a:solidFill>
                  <a:srgbClr val="8E6A1F"/>
                </a:solidFill>
                <a:latin typeface="Consolas" pitchFamily="34" charset="0"/>
                <a:ea typeface="Consolas" pitchFamily="34" charset="-122"/>
                <a:cs typeface="Consolas" pitchFamily="34" charset="-120"/>
              </a:rPr>
              <a:t>M1</a:t>
            </a:r>
            <a:endParaRPr lang="en-US" sz="1500" dirty="0"/>
          </a:p>
          <a:p>
            <a:pPr marL="0" indent="0" algn="ctr">
              <a:buNone/>
            </a:pPr>
            <a:r>
              <a:rPr lang="en-US" sz="2000" b="1" dirty="0">
                <a:solidFill>
                  <a:srgbClr val="1B202A"/>
                </a:solidFill>
                <a:latin typeface="Calibri" pitchFamily="34" charset="0"/>
                <a:ea typeface="Calibri" pitchFamily="34" charset="-122"/>
                <a:cs typeface="Calibri" pitchFamily="34" charset="-120"/>
              </a:rPr>
              <a:t>Scope locked</a:t>
            </a:r>
            <a:endParaRPr lang="en-US" sz="1500" dirty="0"/>
          </a:p>
          <a:p>
            <a:pPr marL="0" indent="0" algn="ctr">
              <a:buNone/>
            </a:pPr>
            <a:r>
              <a:rPr lang="en-US" sz="1500" dirty="0">
                <a:solidFill>
                  <a:srgbClr val="596273"/>
                </a:solidFill>
                <a:latin typeface="Calibri" pitchFamily="34" charset="0"/>
                <a:ea typeface="Calibri" pitchFamily="34" charset="-122"/>
                <a:cs typeface="Calibri" pitchFamily="34" charset="-120"/>
              </a:rPr>
              <a:t>approved</a:t>
            </a:r>
            <a:endParaRPr lang="en-US" sz="1500" dirty="0"/>
          </a:p>
        </p:txBody>
      </p:sp>
      <p:sp>
        <p:nvSpPr>
          <p:cNvPr id="41" name="Shape 39"/>
          <p:cNvSpPr/>
          <p:nvPr/>
        </p:nvSpPr>
        <p:spPr>
          <a:xfrm>
            <a:off x="3747120" y="4837176"/>
            <a:ext cx="274320" cy="274320"/>
          </a:xfrm>
          <a:prstGeom prst="ellipse">
            <a:avLst/>
          </a:prstGeom>
          <a:solidFill>
            <a:srgbClr val="FBFBFC"/>
          </a:solidFill>
          <a:ln w="25400">
            <a:solidFill>
              <a:srgbClr val="C89B3C"/>
            </a:solidFill>
            <a:prstDash val="solid"/>
          </a:ln>
        </p:spPr>
        <p:txBody>
          <a:bodyPr/>
          <a:lstStyle/>
          <a:p>
            <a:endParaRPr lang="en-PK"/>
          </a:p>
        </p:txBody>
      </p:sp>
      <p:sp>
        <p:nvSpPr>
          <p:cNvPr id="42" name="Text 40"/>
          <p:cNvSpPr txBox="1"/>
          <p:nvPr/>
        </p:nvSpPr>
        <p:spPr>
          <a:xfrm>
            <a:off x="2833360" y="5230368"/>
            <a:ext cx="2101840" cy="1042416"/>
          </a:xfrm>
          <a:prstGeom prst="rect">
            <a:avLst/>
          </a:prstGeom>
          <a:noFill/>
          <a:ln/>
        </p:spPr>
        <p:txBody>
          <a:bodyPr wrap="square" lIns="0" tIns="0" rIns="0" bIns="0" rtlCol="0" anchor="ctr"/>
          <a:lstStyle/>
          <a:p>
            <a:pPr marL="0" indent="0" algn="ctr">
              <a:buNone/>
            </a:pPr>
            <a:r>
              <a:rPr lang="en-US" sz="1500" b="1" dirty="0">
                <a:solidFill>
                  <a:srgbClr val="8E6A1F"/>
                </a:solidFill>
                <a:latin typeface="Consolas" pitchFamily="34" charset="0"/>
                <a:ea typeface="Consolas" pitchFamily="34" charset="-122"/>
                <a:cs typeface="Consolas" pitchFamily="34" charset="-120"/>
              </a:rPr>
              <a:t>M2</a:t>
            </a:r>
            <a:endParaRPr lang="en-US" sz="1500" dirty="0"/>
          </a:p>
          <a:p>
            <a:pPr marL="0" indent="0" algn="ctr">
              <a:buNone/>
            </a:pPr>
            <a:r>
              <a:rPr lang="en-US" sz="2000" b="1" dirty="0">
                <a:solidFill>
                  <a:srgbClr val="1B202A"/>
                </a:solidFill>
                <a:latin typeface="Calibri" pitchFamily="34" charset="0"/>
                <a:ea typeface="Calibri" pitchFamily="34" charset="-122"/>
                <a:cs typeface="Calibri" pitchFamily="34" charset="-120"/>
              </a:rPr>
              <a:t>Baseline reproduced</a:t>
            </a:r>
            <a:endParaRPr lang="en-US" sz="1500" dirty="0"/>
          </a:p>
          <a:p>
            <a:pPr marL="0" indent="0" algn="ctr">
              <a:buNone/>
            </a:pPr>
            <a:r>
              <a:rPr lang="en-US" sz="1500" dirty="0">
                <a:solidFill>
                  <a:srgbClr val="596273"/>
                </a:solidFill>
                <a:latin typeface="Calibri" pitchFamily="34" charset="0"/>
                <a:ea typeface="Calibri" pitchFamily="34" charset="-122"/>
                <a:cs typeface="Calibri" pitchFamily="34" charset="-120"/>
              </a:rPr>
              <a:t>+ Tier-2 gates</a:t>
            </a:r>
            <a:endParaRPr lang="en-US" sz="1500" dirty="0"/>
          </a:p>
        </p:txBody>
      </p:sp>
      <p:sp>
        <p:nvSpPr>
          <p:cNvPr id="43" name="Shape 41"/>
          <p:cNvSpPr/>
          <p:nvPr/>
        </p:nvSpPr>
        <p:spPr>
          <a:xfrm>
            <a:off x="5958688" y="4837176"/>
            <a:ext cx="274320" cy="274320"/>
          </a:xfrm>
          <a:prstGeom prst="ellipse">
            <a:avLst/>
          </a:prstGeom>
          <a:solidFill>
            <a:srgbClr val="FBFBFC"/>
          </a:solidFill>
          <a:ln w="25400">
            <a:solidFill>
              <a:srgbClr val="C89B3C"/>
            </a:solidFill>
            <a:prstDash val="solid"/>
          </a:ln>
        </p:spPr>
        <p:txBody>
          <a:bodyPr/>
          <a:lstStyle/>
          <a:p>
            <a:endParaRPr lang="en-PK"/>
          </a:p>
        </p:txBody>
      </p:sp>
      <p:sp>
        <p:nvSpPr>
          <p:cNvPr id="44" name="Text 42"/>
          <p:cNvSpPr txBox="1"/>
          <p:nvPr/>
        </p:nvSpPr>
        <p:spPr>
          <a:xfrm>
            <a:off x="5044928" y="5230368"/>
            <a:ext cx="2101840" cy="1042416"/>
          </a:xfrm>
          <a:prstGeom prst="rect">
            <a:avLst/>
          </a:prstGeom>
          <a:noFill/>
          <a:ln/>
        </p:spPr>
        <p:txBody>
          <a:bodyPr wrap="square" lIns="0" tIns="0" rIns="0" bIns="0" rtlCol="0" anchor="ctr"/>
          <a:lstStyle/>
          <a:p>
            <a:pPr marL="0" indent="0" algn="ctr">
              <a:buNone/>
            </a:pPr>
            <a:r>
              <a:rPr lang="en-US" sz="1500" b="1" dirty="0">
                <a:solidFill>
                  <a:srgbClr val="8E6A1F"/>
                </a:solidFill>
                <a:latin typeface="Consolas" pitchFamily="34" charset="0"/>
                <a:ea typeface="Consolas" pitchFamily="34" charset="-122"/>
                <a:cs typeface="Consolas" pitchFamily="34" charset="-120"/>
              </a:rPr>
              <a:t>M3</a:t>
            </a:r>
            <a:endParaRPr lang="en-US" sz="1500" dirty="0"/>
          </a:p>
          <a:p>
            <a:pPr marL="0" indent="0" algn="ctr">
              <a:buNone/>
            </a:pPr>
            <a:r>
              <a:rPr lang="en-US" sz="2000" b="1" dirty="0">
                <a:solidFill>
                  <a:srgbClr val="1B202A"/>
                </a:solidFill>
                <a:latin typeface="Calibri" pitchFamily="34" charset="0"/>
                <a:ea typeface="Calibri" pitchFamily="34" charset="-122"/>
                <a:cs typeface="Calibri" pitchFamily="34" charset="-120"/>
              </a:rPr>
              <a:t>Core integrated</a:t>
            </a:r>
            <a:endParaRPr lang="en-US" sz="1500" dirty="0"/>
          </a:p>
          <a:p>
            <a:pPr marL="0" indent="0" algn="ctr">
              <a:buNone/>
            </a:pPr>
            <a:r>
              <a:rPr lang="en-US" sz="1500" dirty="0">
                <a:solidFill>
                  <a:srgbClr val="596273"/>
                </a:solidFill>
                <a:latin typeface="Calibri" pitchFamily="34" charset="0"/>
                <a:ea typeface="Calibri" pitchFamily="34" charset="-122"/>
                <a:cs typeface="Calibri" pitchFamily="34" charset="-120"/>
              </a:rPr>
              <a:t>end to end</a:t>
            </a:r>
            <a:endParaRPr lang="en-US" sz="1500" dirty="0"/>
          </a:p>
        </p:txBody>
      </p:sp>
      <p:sp>
        <p:nvSpPr>
          <p:cNvPr id="45" name="Shape 43"/>
          <p:cNvSpPr/>
          <p:nvPr/>
        </p:nvSpPr>
        <p:spPr>
          <a:xfrm>
            <a:off x="8170255" y="4837176"/>
            <a:ext cx="274320" cy="274320"/>
          </a:xfrm>
          <a:prstGeom prst="ellipse">
            <a:avLst/>
          </a:prstGeom>
          <a:solidFill>
            <a:srgbClr val="FBFBFC"/>
          </a:solidFill>
          <a:ln w="25400">
            <a:solidFill>
              <a:srgbClr val="C89B3C"/>
            </a:solidFill>
            <a:prstDash val="solid"/>
          </a:ln>
        </p:spPr>
        <p:txBody>
          <a:bodyPr/>
          <a:lstStyle/>
          <a:p>
            <a:endParaRPr lang="en-PK"/>
          </a:p>
        </p:txBody>
      </p:sp>
      <p:sp>
        <p:nvSpPr>
          <p:cNvPr id="46" name="Text 44"/>
          <p:cNvSpPr txBox="1"/>
          <p:nvPr/>
        </p:nvSpPr>
        <p:spPr>
          <a:xfrm>
            <a:off x="7256496" y="5230368"/>
            <a:ext cx="2101840" cy="1042416"/>
          </a:xfrm>
          <a:prstGeom prst="rect">
            <a:avLst/>
          </a:prstGeom>
          <a:noFill/>
          <a:ln/>
        </p:spPr>
        <p:txBody>
          <a:bodyPr wrap="square" lIns="0" tIns="0" rIns="0" bIns="0" rtlCol="0" anchor="ctr"/>
          <a:lstStyle/>
          <a:p>
            <a:pPr marL="0" indent="0" algn="ctr">
              <a:buNone/>
            </a:pPr>
            <a:r>
              <a:rPr lang="en-US" sz="1500" b="1" dirty="0">
                <a:solidFill>
                  <a:srgbClr val="8E6A1F"/>
                </a:solidFill>
                <a:latin typeface="Consolas" pitchFamily="34" charset="0"/>
                <a:ea typeface="Consolas" pitchFamily="34" charset="-122"/>
                <a:cs typeface="Consolas" pitchFamily="34" charset="-120"/>
              </a:rPr>
              <a:t>M4</a:t>
            </a:r>
            <a:endParaRPr lang="en-US" sz="1500" dirty="0"/>
          </a:p>
          <a:p>
            <a:pPr marL="0" indent="0" algn="ctr">
              <a:buNone/>
            </a:pPr>
            <a:r>
              <a:rPr lang="en-US" sz="2000" b="1" dirty="0">
                <a:solidFill>
                  <a:srgbClr val="1B202A"/>
                </a:solidFill>
                <a:latin typeface="Calibri" pitchFamily="34" charset="0"/>
                <a:ea typeface="Calibri" pitchFamily="34" charset="-122"/>
                <a:cs typeface="Calibri" pitchFamily="34" charset="-120"/>
              </a:rPr>
              <a:t>Benchmark released</a:t>
            </a:r>
            <a:endParaRPr lang="en-US" sz="1500" dirty="0"/>
          </a:p>
          <a:p>
            <a:pPr marL="0" indent="0" algn="ctr">
              <a:buNone/>
            </a:pPr>
            <a:r>
              <a:rPr lang="en-US" sz="1500" dirty="0">
                <a:solidFill>
                  <a:srgbClr val="596273"/>
                </a:solidFill>
                <a:latin typeface="Calibri" pitchFamily="34" charset="0"/>
                <a:ea typeface="Calibri" pitchFamily="34" charset="-122"/>
                <a:cs typeface="Calibri" pitchFamily="34" charset="-120"/>
              </a:rPr>
              <a:t>≥500 cases</a:t>
            </a:r>
            <a:endParaRPr lang="en-US" sz="1500" dirty="0"/>
          </a:p>
        </p:txBody>
      </p:sp>
      <p:sp>
        <p:nvSpPr>
          <p:cNvPr id="47" name="Shape 45"/>
          <p:cNvSpPr/>
          <p:nvPr/>
        </p:nvSpPr>
        <p:spPr>
          <a:xfrm>
            <a:off x="10381823" y="4837176"/>
            <a:ext cx="274320" cy="274320"/>
          </a:xfrm>
          <a:prstGeom prst="ellipse">
            <a:avLst/>
          </a:prstGeom>
          <a:solidFill>
            <a:srgbClr val="FBFBFC"/>
          </a:solidFill>
          <a:ln w="25400">
            <a:solidFill>
              <a:srgbClr val="C89B3C"/>
            </a:solidFill>
            <a:prstDash val="solid"/>
          </a:ln>
        </p:spPr>
        <p:txBody>
          <a:bodyPr/>
          <a:lstStyle/>
          <a:p>
            <a:endParaRPr lang="en-PK"/>
          </a:p>
        </p:txBody>
      </p:sp>
      <p:sp>
        <p:nvSpPr>
          <p:cNvPr id="48" name="Text 46"/>
          <p:cNvSpPr txBox="1"/>
          <p:nvPr/>
        </p:nvSpPr>
        <p:spPr>
          <a:xfrm>
            <a:off x="9468063" y="5230368"/>
            <a:ext cx="2101840" cy="1042416"/>
          </a:xfrm>
          <a:prstGeom prst="rect">
            <a:avLst/>
          </a:prstGeom>
          <a:noFill/>
          <a:ln/>
        </p:spPr>
        <p:txBody>
          <a:bodyPr wrap="square" lIns="0" tIns="0" rIns="0" bIns="0" rtlCol="0" anchor="ctr"/>
          <a:lstStyle/>
          <a:p>
            <a:pPr marL="0" indent="0" algn="ctr">
              <a:buNone/>
            </a:pPr>
            <a:r>
              <a:rPr lang="en-US" sz="1500" b="1" dirty="0">
                <a:solidFill>
                  <a:srgbClr val="8E6A1F"/>
                </a:solidFill>
                <a:latin typeface="Consolas" pitchFamily="34" charset="0"/>
                <a:ea typeface="Consolas" pitchFamily="34" charset="-122"/>
                <a:cs typeface="Consolas" pitchFamily="34" charset="-120"/>
              </a:rPr>
              <a:t>M5</a:t>
            </a:r>
            <a:endParaRPr lang="en-US" sz="1500" dirty="0"/>
          </a:p>
          <a:p>
            <a:pPr marL="0" indent="0" algn="ctr">
              <a:buNone/>
            </a:pPr>
            <a:r>
              <a:rPr lang="en-US" sz="2000" b="1" dirty="0">
                <a:solidFill>
                  <a:srgbClr val="1B202A"/>
                </a:solidFill>
                <a:latin typeface="Calibri" pitchFamily="34" charset="0"/>
                <a:ea typeface="Calibri" pitchFamily="34" charset="-122"/>
                <a:cs typeface="Calibri" pitchFamily="34" charset="-120"/>
              </a:rPr>
              <a:t>Full evaluation</a:t>
            </a:r>
            <a:endParaRPr lang="en-US" sz="1500" dirty="0"/>
          </a:p>
          <a:p>
            <a:pPr marL="0" indent="0" algn="ctr">
              <a:buNone/>
            </a:pPr>
            <a:r>
              <a:rPr lang="en-US" sz="1500" dirty="0">
                <a:solidFill>
                  <a:srgbClr val="596273"/>
                </a:solidFill>
                <a:latin typeface="Calibri" pitchFamily="34" charset="0"/>
                <a:ea typeface="Calibri" pitchFamily="34" charset="-122"/>
                <a:cs typeface="Calibri" pitchFamily="34" charset="-120"/>
              </a:rPr>
              <a:t>deployed</a:t>
            </a:r>
            <a:endParaRPr lang="en-US" sz="15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C"/>
        </a:solidFill>
        <a:effectLst/>
      </p:bgPr>
    </p:bg>
    <p:spTree>
      <p:nvGrpSpPr>
        <p:cNvPr id="1" name=""/>
        <p:cNvGrpSpPr/>
        <p:nvPr/>
      </p:nvGrpSpPr>
      <p:grpSpPr>
        <a:xfrm>
          <a:off x="0" y="0"/>
          <a:ext cx="0" cy="0"/>
          <a:chOff x="0" y="0"/>
          <a:chExt cx="0" cy="0"/>
        </a:xfrm>
      </p:grpSpPr>
      <p:sp>
        <p:nvSpPr>
          <p:cNvPr id="2" name="Shape 0"/>
          <p:cNvSpPr/>
          <p:nvPr/>
        </p:nvSpPr>
        <p:spPr>
          <a:xfrm>
            <a:off x="0" y="0"/>
            <a:ext cx="50292" cy="6858000"/>
          </a:xfrm>
          <a:prstGeom prst="rect">
            <a:avLst/>
          </a:prstGeom>
          <a:solidFill>
            <a:srgbClr val="C89B3C"/>
          </a:solidFill>
          <a:ln/>
        </p:spPr>
        <p:txBody>
          <a:bodyPr/>
          <a:lstStyle/>
          <a:p>
            <a:endParaRPr lang="en-PK"/>
          </a:p>
        </p:txBody>
      </p:sp>
      <p:sp>
        <p:nvSpPr>
          <p:cNvPr id="3" name="Shape 1"/>
          <p:cNvSpPr/>
          <p:nvPr/>
        </p:nvSpPr>
        <p:spPr>
          <a:xfrm rot="2700000">
            <a:off x="10618927" y="5285232"/>
            <a:ext cx="1005840" cy="1005840"/>
          </a:xfrm>
          <a:prstGeom prst="rect">
            <a:avLst/>
          </a:prstGeom>
          <a:ln w="12700">
            <a:solidFill>
              <a:srgbClr val="F4F5F7"/>
            </a:solidFill>
            <a:prstDash val="solid"/>
          </a:ln>
        </p:spPr>
        <p:txBody>
          <a:bodyPr/>
          <a:lstStyle/>
          <a:p>
            <a:endParaRPr lang="en-PK"/>
          </a:p>
        </p:txBody>
      </p:sp>
      <p:sp>
        <p:nvSpPr>
          <p:cNvPr id="4" name="Shape 2"/>
          <p:cNvSpPr/>
          <p:nvPr/>
        </p:nvSpPr>
        <p:spPr>
          <a:xfrm rot="2700000">
            <a:off x="10856671" y="5522976"/>
            <a:ext cx="530352" cy="530352"/>
          </a:xfrm>
          <a:prstGeom prst="rect">
            <a:avLst/>
          </a:prstGeom>
          <a:ln w="12700">
            <a:solidFill>
              <a:srgbClr val="F7F4ED"/>
            </a:solidFill>
            <a:prstDash val="solid"/>
          </a:ln>
        </p:spPr>
        <p:txBody>
          <a:bodyPr/>
          <a:lstStyle/>
          <a:p>
            <a:endParaRPr lang="en-PK"/>
          </a:p>
        </p:txBody>
      </p:sp>
      <p:sp>
        <p:nvSpPr>
          <p:cNvPr id="5" name="Text 3"/>
          <p:cNvSpPr txBox="1"/>
          <p:nvPr/>
        </p:nvSpPr>
        <p:spPr>
          <a:xfrm>
            <a:off x="566928" y="365760"/>
            <a:ext cx="11057839" cy="731520"/>
          </a:xfrm>
          <a:prstGeom prst="rect">
            <a:avLst/>
          </a:prstGeom>
          <a:noFill/>
          <a:ln/>
        </p:spPr>
        <p:txBody>
          <a:bodyPr wrap="square" lIns="0" tIns="0" rIns="0" bIns="0" rtlCol="0" anchor="ctr"/>
          <a:lstStyle/>
          <a:p>
            <a:pPr marL="0" indent="0">
              <a:buNone/>
            </a:pPr>
            <a:r>
              <a:rPr lang="en-US" sz="3200" b="1" dirty="0">
                <a:solidFill>
                  <a:srgbClr val="1B202A"/>
                </a:solidFill>
                <a:latin typeface="Georgia" pitchFamily="34" charset="0"/>
                <a:ea typeface="Georgia" pitchFamily="34" charset="-122"/>
                <a:cs typeface="Georgia" pitchFamily="34" charset="-120"/>
              </a:rPr>
              <a:t>DEI, Ethics &amp; Legal</a:t>
            </a:r>
            <a:endParaRPr lang="en-US" sz="3200" dirty="0"/>
          </a:p>
        </p:txBody>
      </p:sp>
      <p:sp>
        <p:nvSpPr>
          <p:cNvPr id="6" name="Shape 4"/>
          <p:cNvSpPr/>
          <p:nvPr/>
        </p:nvSpPr>
        <p:spPr>
          <a:xfrm>
            <a:off x="566928" y="1152144"/>
            <a:ext cx="566928" cy="36576"/>
          </a:xfrm>
          <a:prstGeom prst="rect">
            <a:avLst/>
          </a:prstGeom>
          <a:solidFill>
            <a:srgbClr val="C89B3C"/>
          </a:solidFill>
          <a:ln/>
        </p:spPr>
        <p:txBody>
          <a:bodyPr/>
          <a:lstStyle/>
          <a:p>
            <a:endParaRPr lang="en-PK"/>
          </a:p>
        </p:txBody>
      </p:sp>
      <p:sp>
        <p:nvSpPr>
          <p:cNvPr id="7" name="Shape 5"/>
          <p:cNvSpPr/>
          <p:nvPr/>
        </p:nvSpPr>
        <p:spPr>
          <a:xfrm>
            <a:off x="566928" y="6437376"/>
            <a:ext cx="11057839" cy="0"/>
          </a:xfrm>
          <a:prstGeom prst="line">
            <a:avLst/>
          </a:prstGeom>
          <a:noFill/>
          <a:ln w="9525">
            <a:solidFill>
              <a:srgbClr val="D9DCE3"/>
            </a:solidFill>
            <a:prstDash val="solid"/>
          </a:ln>
        </p:spPr>
        <p:txBody>
          <a:bodyPr/>
          <a:lstStyle/>
          <a:p>
            <a:endParaRPr lang="en-PK"/>
          </a:p>
        </p:txBody>
      </p:sp>
      <p:sp>
        <p:nvSpPr>
          <p:cNvPr id="8" name="Text 6"/>
          <p:cNvSpPr txBox="1"/>
          <p:nvPr/>
        </p:nvSpPr>
        <p:spPr>
          <a:xfrm>
            <a:off x="566928" y="6510528"/>
            <a:ext cx="5943600" cy="237744"/>
          </a:xfrm>
          <a:prstGeom prst="rect">
            <a:avLst/>
          </a:prstGeom>
          <a:noFill/>
          <a:ln/>
        </p:spPr>
        <p:txBody>
          <a:bodyPr wrap="square" lIns="0" tIns="0" rIns="0" bIns="0" rtlCol="0" anchor="ctr"/>
          <a:lstStyle/>
          <a:p>
            <a:pPr marL="0" indent="0">
              <a:buNone/>
            </a:pPr>
            <a:r>
              <a:rPr lang="en-US" sz="1300" kern="0" spc="50" dirty="0">
                <a:solidFill>
                  <a:srgbClr val="8B92A2"/>
                </a:solidFill>
                <a:latin typeface="Consolas" pitchFamily="34" charset="0"/>
                <a:ea typeface="Consolas" pitchFamily="34" charset="-122"/>
                <a:cs typeface="Consolas" pitchFamily="34" charset="-120"/>
              </a:rPr>
              <a:t>F26-060-GRANITE  ·  PROPOSAL DEFENSE  ·  STREAM A</a:t>
            </a:r>
            <a:endParaRPr lang="en-US" sz="1300" dirty="0"/>
          </a:p>
        </p:txBody>
      </p:sp>
      <p:sp>
        <p:nvSpPr>
          <p:cNvPr id="9" name="Text 7"/>
          <p:cNvSpPr txBox="1"/>
          <p:nvPr/>
        </p:nvSpPr>
        <p:spPr>
          <a:xfrm>
            <a:off x="10527487" y="6510528"/>
            <a:ext cx="1097280" cy="237744"/>
          </a:xfrm>
          <a:prstGeom prst="rect">
            <a:avLst/>
          </a:prstGeom>
          <a:noFill/>
          <a:ln/>
        </p:spPr>
        <p:txBody>
          <a:bodyPr wrap="square" lIns="0" tIns="0" rIns="0" bIns="0" rtlCol="0" anchor="ctr"/>
          <a:lstStyle/>
          <a:p>
            <a:pPr marL="0" indent="0" algn="r">
              <a:buNone/>
            </a:pPr>
            <a:r>
              <a:rPr lang="en-US" sz="1300" b="1" dirty="0">
                <a:solidFill>
                  <a:srgbClr val="8E6A1F"/>
                </a:solidFill>
                <a:latin typeface="Consolas" pitchFamily="34" charset="0"/>
                <a:ea typeface="Consolas" pitchFamily="34" charset="-122"/>
                <a:cs typeface="Consolas" pitchFamily="34" charset="-120"/>
              </a:rPr>
              <a:t>11 / 11</a:t>
            </a:r>
            <a:endParaRPr lang="en-US" sz="1300" dirty="0"/>
          </a:p>
        </p:txBody>
      </p:sp>
      <p:sp>
        <p:nvSpPr>
          <p:cNvPr id="10" name="Text 8"/>
          <p:cNvSpPr txBox="1"/>
          <p:nvPr/>
        </p:nvSpPr>
        <p:spPr>
          <a:xfrm>
            <a:off x="566928" y="1335024"/>
            <a:ext cx="11057839" cy="310896"/>
          </a:xfrm>
          <a:prstGeom prst="rect">
            <a:avLst/>
          </a:prstGeom>
          <a:noFill/>
          <a:ln/>
        </p:spPr>
        <p:txBody>
          <a:bodyPr wrap="square" lIns="0" tIns="0" rIns="0" bIns="0" rtlCol="0" anchor="ctr"/>
          <a:lstStyle/>
          <a:p>
            <a:pPr marL="0" indent="0">
              <a:buNone/>
            </a:pPr>
            <a:r>
              <a:rPr lang="en-US" sz="1800" b="1" kern="0" spc="60" dirty="0">
                <a:solidFill>
                  <a:srgbClr val="8E6A1F"/>
                </a:solidFill>
                <a:latin typeface="Consolas" pitchFamily="34" charset="0"/>
                <a:ea typeface="Consolas" pitchFamily="34" charset="-122"/>
                <a:cs typeface="Consolas" pitchFamily="34" charset="-120"/>
              </a:rPr>
              <a:t>COMMITMENTS THE PANEL CAN HOLD US TO</a:t>
            </a:r>
            <a:endParaRPr lang="en-US" sz="1800" dirty="0"/>
          </a:p>
        </p:txBody>
      </p:sp>
      <p:sp>
        <p:nvSpPr>
          <p:cNvPr id="11" name="Shape 9"/>
          <p:cNvSpPr/>
          <p:nvPr/>
        </p:nvSpPr>
        <p:spPr>
          <a:xfrm>
            <a:off x="566928" y="1792224"/>
            <a:ext cx="11057839" cy="1408176"/>
          </a:xfrm>
          <a:prstGeom prst="roundRect">
            <a:avLst>
              <a:gd name="adj" fmla="val 3247"/>
            </a:avLst>
          </a:prstGeom>
          <a:solidFill>
            <a:srgbClr val="FFFFFF"/>
          </a:solidFill>
          <a:ln w="19050">
            <a:solidFill>
              <a:srgbClr val="15707A"/>
            </a:solidFill>
            <a:prstDash val="solid"/>
          </a:ln>
        </p:spPr>
        <p:txBody>
          <a:bodyPr/>
          <a:lstStyle/>
          <a:p>
            <a:endParaRPr lang="en-PK"/>
          </a:p>
        </p:txBody>
      </p:sp>
      <p:sp>
        <p:nvSpPr>
          <p:cNvPr id="12" name="Shape 10"/>
          <p:cNvSpPr/>
          <p:nvPr/>
        </p:nvSpPr>
        <p:spPr>
          <a:xfrm>
            <a:off x="566928" y="1883664"/>
            <a:ext cx="45720" cy="1225296"/>
          </a:xfrm>
          <a:prstGeom prst="rect">
            <a:avLst/>
          </a:prstGeom>
          <a:solidFill>
            <a:srgbClr val="15707A"/>
          </a:solidFill>
          <a:ln/>
        </p:spPr>
        <p:txBody>
          <a:bodyPr/>
          <a:lstStyle/>
          <a:p>
            <a:endParaRPr lang="en-PK"/>
          </a:p>
        </p:txBody>
      </p:sp>
      <p:sp>
        <p:nvSpPr>
          <p:cNvPr id="13" name="Text 11"/>
          <p:cNvSpPr txBox="1"/>
          <p:nvPr/>
        </p:nvSpPr>
        <p:spPr>
          <a:xfrm>
            <a:off x="786384" y="1792224"/>
            <a:ext cx="1472184" cy="1408176"/>
          </a:xfrm>
          <a:prstGeom prst="rect">
            <a:avLst/>
          </a:prstGeom>
          <a:noFill/>
          <a:ln/>
        </p:spPr>
        <p:txBody>
          <a:bodyPr wrap="square" lIns="0" tIns="0" rIns="0" bIns="0" rtlCol="0" anchor="ctr"/>
          <a:lstStyle/>
          <a:p>
            <a:pPr marL="0" indent="0">
              <a:buNone/>
            </a:pPr>
            <a:r>
              <a:rPr lang="en-US" sz="1800" b="1" kern="0" spc="50" dirty="0">
                <a:solidFill>
                  <a:srgbClr val="15707A"/>
                </a:solidFill>
                <a:latin typeface="Consolas" pitchFamily="34" charset="0"/>
                <a:ea typeface="Consolas" pitchFamily="34" charset="-122"/>
                <a:cs typeface="Consolas" pitchFamily="34" charset="-120"/>
              </a:rPr>
              <a:t>DEI</a:t>
            </a:r>
            <a:endParaRPr lang="en-US" sz="1800" dirty="0"/>
          </a:p>
        </p:txBody>
      </p:sp>
      <p:sp>
        <p:nvSpPr>
          <p:cNvPr id="14" name="Shape 12"/>
          <p:cNvSpPr/>
          <p:nvPr/>
        </p:nvSpPr>
        <p:spPr>
          <a:xfrm>
            <a:off x="2359152" y="1975104"/>
            <a:ext cx="0" cy="1042416"/>
          </a:xfrm>
          <a:prstGeom prst="line">
            <a:avLst/>
          </a:prstGeom>
          <a:noFill/>
          <a:ln w="12700">
            <a:solidFill>
              <a:srgbClr val="D9DCE3"/>
            </a:solidFill>
            <a:prstDash val="solid"/>
          </a:ln>
        </p:spPr>
        <p:txBody>
          <a:bodyPr/>
          <a:lstStyle/>
          <a:p>
            <a:endParaRPr lang="en-PK"/>
          </a:p>
        </p:txBody>
      </p:sp>
      <p:sp>
        <p:nvSpPr>
          <p:cNvPr id="15" name="Text 13"/>
          <p:cNvSpPr txBox="1"/>
          <p:nvPr/>
        </p:nvSpPr>
        <p:spPr>
          <a:xfrm>
            <a:off x="2459736" y="1792224"/>
            <a:ext cx="8982151" cy="1408176"/>
          </a:xfrm>
          <a:prstGeom prst="rect">
            <a:avLst/>
          </a:prstGeom>
          <a:noFill/>
          <a:ln/>
        </p:spPr>
        <p:txBody>
          <a:bodyPr wrap="square" lIns="0" tIns="0" rIns="0" bIns="0" rtlCol="0" anchor="ctr"/>
          <a:lstStyle/>
          <a:p>
            <a:pPr marL="0" indent="0">
              <a:lnSpc>
                <a:spcPct val="125000"/>
              </a:lnSpc>
              <a:buNone/>
            </a:pPr>
            <a:r>
              <a:rPr lang="en-US" sz="1700" dirty="0">
                <a:solidFill>
                  <a:srgbClr val="1B202A"/>
                </a:solidFill>
                <a:latin typeface="Calibri" pitchFamily="34" charset="0"/>
                <a:ea typeface="Calibri" pitchFamily="34" charset="-122"/>
                <a:cs typeface="Calibri" pitchFamily="34" charset="-120"/>
              </a:rPr>
              <a:t>Open-source release widens access — SDG 9 access-equity     ·     Colour + text + shape, never colour alone — WCAG owed by Final-1     ·     Accuracy claims stated as English-only</a:t>
            </a:r>
            <a:endParaRPr lang="en-US" sz="1700" dirty="0"/>
          </a:p>
        </p:txBody>
      </p:sp>
      <p:sp>
        <p:nvSpPr>
          <p:cNvPr id="16" name="Shape 14"/>
          <p:cNvSpPr/>
          <p:nvPr/>
        </p:nvSpPr>
        <p:spPr>
          <a:xfrm>
            <a:off x="566928" y="3346704"/>
            <a:ext cx="11057839" cy="1408176"/>
          </a:xfrm>
          <a:prstGeom prst="roundRect">
            <a:avLst>
              <a:gd name="adj" fmla="val 3247"/>
            </a:avLst>
          </a:prstGeom>
          <a:solidFill>
            <a:srgbClr val="FFFFFF"/>
          </a:solidFill>
          <a:ln w="19050">
            <a:solidFill>
              <a:srgbClr val="A83A30"/>
            </a:solidFill>
            <a:prstDash val="solid"/>
          </a:ln>
        </p:spPr>
        <p:txBody>
          <a:bodyPr/>
          <a:lstStyle/>
          <a:p>
            <a:endParaRPr lang="en-PK"/>
          </a:p>
        </p:txBody>
      </p:sp>
      <p:sp>
        <p:nvSpPr>
          <p:cNvPr id="17" name="Shape 15"/>
          <p:cNvSpPr/>
          <p:nvPr/>
        </p:nvSpPr>
        <p:spPr>
          <a:xfrm>
            <a:off x="566928" y="3438144"/>
            <a:ext cx="45720" cy="1225296"/>
          </a:xfrm>
          <a:prstGeom prst="rect">
            <a:avLst/>
          </a:prstGeom>
          <a:solidFill>
            <a:srgbClr val="A83A30"/>
          </a:solidFill>
          <a:ln/>
        </p:spPr>
        <p:txBody>
          <a:bodyPr/>
          <a:lstStyle/>
          <a:p>
            <a:endParaRPr lang="en-PK"/>
          </a:p>
        </p:txBody>
      </p:sp>
      <p:sp>
        <p:nvSpPr>
          <p:cNvPr id="18" name="Text 16"/>
          <p:cNvSpPr txBox="1"/>
          <p:nvPr/>
        </p:nvSpPr>
        <p:spPr>
          <a:xfrm>
            <a:off x="786384" y="3346704"/>
            <a:ext cx="1472184" cy="1408176"/>
          </a:xfrm>
          <a:prstGeom prst="rect">
            <a:avLst/>
          </a:prstGeom>
          <a:noFill/>
          <a:ln/>
        </p:spPr>
        <p:txBody>
          <a:bodyPr wrap="square" lIns="0" tIns="0" rIns="0" bIns="0" rtlCol="0" anchor="ctr"/>
          <a:lstStyle/>
          <a:p>
            <a:pPr marL="0" indent="0">
              <a:buNone/>
            </a:pPr>
            <a:r>
              <a:rPr lang="en-US" sz="1800" b="1" kern="0" spc="50" dirty="0">
                <a:solidFill>
                  <a:srgbClr val="A83A30"/>
                </a:solidFill>
                <a:latin typeface="Consolas" pitchFamily="34" charset="0"/>
                <a:ea typeface="Consolas" pitchFamily="34" charset="-122"/>
                <a:cs typeface="Consolas" pitchFamily="34" charset="-120"/>
              </a:rPr>
              <a:t>ETHICAL</a:t>
            </a:r>
            <a:endParaRPr lang="en-US" sz="1800" dirty="0"/>
          </a:p>
        </p:txBody>
      </p:sp>
      <p:sp>
        <p:nvSpPr>
          <p:cNvPr id="19" name="Shape 17"/>
          <p:cNvSpPr/>
          <p:nvPr/>
        </p:nvSpPr>
        <p:spPr>
          <a:xfrm>
            <a:off x="2359152" y="3529584"/>
            <a:ext cx="0" cy="1042416"/>
          </a:xfrm>
          <a:prstGeom prst="line">
            <a:avLst/>
          </a:prstGeom>
          <a:noFill/>
          <a:ln w="12700">
            <a:solidFill>
              <a:srgbClr val="D9DCE3"/>
            </a:solidFill>
            <a:prstDash val="solid"/>
          </a:ln>
        </p:spPr>
        <p:txBody>
          <a:bodyPr/>
          <a:lstStyle/>
          <a:p>
            <a:endParaRPr lang="en-PK"/>
          </a:p>
        </p:txBody>
      </p:sp>
      <p:sp>
        <p:nvSpPr>
          <p:cNvPr id="20" name="Text 18"/>
          <p:cNvSpPr txBox="1"/>
          <p:nvPr/>
        </p:nvSpPr>
        <p:spPr>
          <a:xfrm>
            <a:off x="2459736" y="3346704"/>
            <a:ext cx="8982151" cy="1408176"/>
          </a:xfrm>
          <a:prstGeom prst="rect">
            <a:avLst/>
          </a:prstGeom>
          <a:noFill/>
          <a:ln/>
        </p:spPr>
        <p:txBody>
          <a:bodyPr wrap="square" lIns="0" tIns="0" rIns="0" bIns="0" rtlCol="0" anchor="ctr"/>
          <a:lstStyle/>
          <a:p>
            <a:pPr marL="0" indent="0">
              <a:lnSpc>
                <a:spcPct val="125000"/>
              </a:lnSpc>
              <a:buNone/>
            </a:pPr>
            <a:r>
              <a:rPr lang="en-US" sz="1700" dirty="0">
                <a:solidFill>
                  <a:srgbClr val="1B202A"/>
                </a:solidFill>
                <a:latin typeface="Calibri" pitchFamily="34" charset="0"/>
                <a:ea typeface="Calibri" pitchFamily="34" charset="-122"/>
                <a:cs typeface="Calibri" pitchFamily="34" charset="-120"/>
              </a:rPr>
              <a:t>Advisory only — every repair is human-gated     ·     Consent for real trace data; injection only on consenting systems     ·     Negative results published as found — Spike 7 not buried</a:t>
            </a:r>
            <a:endParaRPr lang="en-US" sz="1700" dirty="0"/>
          </a:p>
        </p:txBody>
      </p:sp>
      <p:sp>
        <p:nvSpPr>
          <p:cNvPr id="21" name="Shape 19"/>
          <p:cNvSpPr/>
          <p:nvPr/>
        </p:nvSpPr>
        <p:spPr>
          <a:xfrm>
            <a:off x="566928" y="4901184"/>
            <a:ext cx="11057839" cy="1408176"/>
          </a:xfrm>
          <a:prstGeom prst="roundRect">
            <a:avLst>
              <a:gd name="adj" fmla="val 3247"/>
            </a:avLst>
          </a:prstGeom>
          <a:solidFill>
            <a:srgbClr val="FFFFFF"/>
          </a:solidFill>
          <a:ln w="19050">
            <a:solidFill>
              <a:srgbClr val="31558F"/>
            </a:solidFill>
            <a:prstDash val="solid"/>
          </a:ln>
        </p:spPr>
        <p:txBody>
          <a:bodyPr/>
          <a:lstStyle/>
          <a:p>
            <a:endParaRPr lang="en-PK"/>
          </a:p>
        </p:txBody>
      </p:sp>
      <p:sp>
        <p:nvSpPr>
          <p:cNvPr id="22" name="Shape 20"/>
          <p:cNvSpPr/>
          <p:nvPr/>
        </p:nvSpPr>
        <p:spPr>
          <a:xfrm>
            <a:off x="566928" y="4992624"/>
            <a:ext cx="45720" cy="1225296"/>
          </a:xfrm>
          <a:prstGeom prst="rect">
            <a:avLst/>
          </a:prstGeom>
          <a:solidFill>
            <a:srgbClr val="31558F"/>
          </a:solidFill>
          <a:ln/>
        </p:spPr>
        <p:txBody>
          <a:bodyPr/>
          <a:lstStyle/>
          <a:p>
            <a:endParaRPr lang="en-PK"/>
          </a:p>
        </p:txBody>
      </p:sp>
      <p:sp>
        <p:nvSpPr>
          <p:cNvPr id="23" name="Text 21"/>
          <p:cNvSpPr txBox="1"/>
          <p:nvPr/>
        </p:nvSpPr>
        <p:spPr>
          <a:xfrm>
            <a:off x="786384" y="4901184"/>
            <a:ext cx="1472184" cy="1408176"/>
          </a:xfrm>
          <a:prstGeom prst="rect">
            <a:avLst/>
          </a:prstGeom>
          <a:noFill/>
          <a:ln/>
        </p:spPr>
        <p:txBody>
          <a:bodyPr wrap="square" lIns="0" tIns="0" rIns="0" bIns="0" rtlCol="0" anchor="ctr"/>
          <a:lstStyle/>
          <a:p>
            <a:pPr marL="0" indent="0">
              <a:buNone/>
            </a:pPr>
            <a:r>
              <a:rPr lang="en-US" sz="1800" b="1" kern="0" spc="50" dirty="0">
                <a:solidFill>
                  <a:srgbClr val="31558F"/>
                </a:solidFill>
                <a:latin typeface="Consolas" pitchFamily="34" charset="0"/>
                <a:ea typeface="Consolas" pitchFamily="34" charset="-122"/>
                <a:cs typeface="Consolas" pitchFamily="34" charset="-120"/>
              </a:rPr>
              <a:t>LEGAL</a:t>
            </a:r>
            <a:endParaRPr lang="en-US" sz="1800" dirty="0"/>
          </a:p>
        </p:txBody>
      </p:sp>
      <p:sp>
        <p:nvSpPr>
          <p:cNvPr id="24" name="Shape 22"/>
          <p:cNvSpPr/>
          <p:nvPr/>
        </p:nvSpPr>
        <p:spPr>
          <a:xfrm>
            <a:off x="2359152" y="5084064"/>
            <a:ext cx="0" cy="1042416"/>
          </a:xfrm>
          <a:prstGeom prst="line">
            <a:avLst/>
          </a:prstGeom>
          <a:noFill/>
          <a:ln w="12700">
            <a:solidFill>
              <a:srgbClr val="D9DCE3"/>
            </a:solidFill>
            <a:prstDash val="solid"/>
          </a:ln>
        </p:spPr>
        <p:txBody>
          <a:bodyPr/>
          <a:lstStyle/>
          <a:p>
            <a:endParaRPr lang="en-PK"/>
          </a:p>
        </p:txBody>
      </p:sp>
      <p:sp>
        <p:nvSpPr>
          <p:cNvPr id="25" name="Text 23"/>
          <p:cNvSpPr txBox="1"/>
          <p:nvPr/>
        </p:nvSpPr>
        <p:spPr>
          <a:xfrm>
            <a:off x="2459736" y="4901184"/>
            <a:ext cx="8982151" cy="1408176"/>
          </a:xfrm>
          <a:prstGeom prst="rect">
            <a:avLst/>
          </a:prstGeom>
          <a:noFill/>
          <a:ln/>
        </p:spPr>
        <p:txBody>
          <a:bodyPr wrap="square" lIns="0" tIns="0" rIns="0" bIns="0" rtlCol="0" anchor="ctr"/>
          <a:lstStyle/>
          <a:p>
            <a:pPr marL="0" indent="0">
              <a:lnSpc>
                <a:spcPct val="125000"/>
              </a:lnSpc>
              <a:buNone/>
            </a:pPr>
            <a:r>
              <a:rPr lang="en-US" sz="1700" dirty="0">
                <a:solidFill>
                  <a:srgbClr val="1B202A"/>
                </a:solidFill>
                <a:latin typeface="Calibri" pitchFamily="34" charset="0"/>
                <a:ea typeface="Calibri" pitchFamily="34" charset="-122"/>
                <a:cs typeface="Calibri" pitchFamily="34" charset="-120"/>
              </a:rPr>
              <a:t>Who&amp;When · GSM8K · tau-bench — all MIT, confirmed against the LICENSE file     ·     Released artefacts carry MIT / CC BY 4.0     ·     AI usage logged per session and disclosed to the team throughout</a:t>
            </a:r>
            <a:endParaRPr lang="en-US" sz="17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TotalTime>
  <Words>2897</Words>
  <Application>Microsoft Office PowerPoint</Application>
  <PresentationFormat>Widescreen</PresentationFormat>
  <Paragraphs>314</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FAST School of Computing, NUCES Islamabad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Granite — Proposal Defense (v2)</dc:title>
  <dc:subject>Stage 1 Proposal Defense — F26-060-Granite</dc:subject>
  <dc:creator>Granite — F26-060</dc:creator>
  <cp:lastModifiedBy>Shahoud Shahid</cp:lastModifiedBy>
  <cp:revision>1</cp:revision>
  <dcterms:created xsi:type="dcterms:W3CDTF">2026-09-10T13:23:47Z</dcterms:created>
  <dcterms:modified xsi:type="dcterms:W3CDTF">2026-09-11T00:31:11Z</dcterms:modified>
</cp:coreProperties>
</file>