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830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· STAKEHOLDERS · GAP · LINEAGE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33557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I / III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Nobody Can Name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607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well-formed, wrong answer — and no published method can reliably say which agent caused it, or verify a fix before it ships.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I/3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6620073" cy="960120"/>
          </a:xfrm>
          <a:prstGeom prst="roundRect">
            <a:avLst>
              <a:gd name="adj" fmla="val 5714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92224"/>
            <a:ext cx="32004" cy="77724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1810512"/>
            <a:ext cx="625431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200" i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multi-agent AI system fails — including when the wrong answer looks completely right — no published method can reliably say which agent caused it, and none can verify a fix before trusting it.”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14433" y="1700784"/>
            <a:ext cx="4474342" cy="960120"/>
          </a:xfrm>
          <a:prstGeom prst="roundRect">
            <a:avLst>
              <a:gd name="adj" fmla="val 5714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14433" y="1792224"/>
            <a:ext cx="32004" cy="777240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97313" y="1773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Shahoud Shahid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317553" y="1773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23i-2515 · Data/Benchmark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397313" y="2066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Noor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317553" y="20665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23i-2520 · Diagnosis Engine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397313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Shahzad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317553" y="2359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23i-2634 · Platform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807208"/>
            <a:ext cx="3631082" cy="3547872"/>
          </a:xfrm>
          <a:prstGeom prst="roundRect">
            <a:avLst>
              <a:gd name="adj" fmla="val 1546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898648"/>
            <a:ext cx="32004" cy="3364992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2898648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STAKEHOLDERS &amp; WORKFLOW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154680"/>
            <a:ext cx="328361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running multi-agent systems near production (tau-bench retail).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captured → human reads it → guesses the cause. No systematic silent-failure check. No fix verification.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0C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baseline: 14.2% step accuracy (Who&amp;When) — the number this project must beat.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80306" y="2807208"/>
            <a:ext cx="3631082" cy="3547872"/>
          </a:xfrm>
          <a:prstGeom prst="roundRect">
            <a:avLst>
              <a:gd name="adj" fmla="val 1546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0306" y="2898648"/>
            <a:ext cx="32004" cy="3364992"/>
          </a:xfrm>
          <a:prstGeom prst="rect">
            <a:avLst/>
          </a:prstGeom>
          <a:solidFill>
            <a:srgbClr val="E08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44898" y="2898648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GAP IS STRUCTURAL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63186" y="3172968"/>
          <a:ext cx="3265322" cy="1051560"/>
        </p:xfrm>
        <a:graphic>
          <a:graphicData uri="http://schemas.openxmlformats.org/drawingml/2006/table">
            <a:tbl>
              <a:tblPr/>
              <a:tblGrid>
                <a:gridCol w="914290"/>
                <a:gridCol w="783677"/>
                <a:gridCol w="783677"/>
                <a:gridCol w="783677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Attribution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Silent-fail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Fix-verify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ErrorProbe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59.5%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admits no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Manual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14.2%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Granite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 59.5%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scoped+meas.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recovery rate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4463186" y="4315968"/>
            <a:ext cx="326532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checked confirms attribution + silent-failure detection + counterfactual verification + cross-arch generalization, as one pipeline.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8057693" y="2807208"/>
            <a:ext cx="3631082" cy="3547872"/>
          </a:xfrm>
          <a:prstGeom prst="roundRect">
            <a:avLst>
              <a:gd name="adj" fmla="val 1546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57693" y="2898648"/>
            <a:ext cx="32004" cy="336499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22285" y="2898648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RESEARCH LINEAGE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77733" y="4017874"/>
            <a:ext cx="502920" cy="252374"/>
          </a:xfrm>
          <a:prstGeom prst="roundRect">
            <a:avLst>
              <a:gd name="adj" fmla="val 14493"/>
            </a:avLst>
          </a:prstGeom>
          <a:solidFill>
            <a:srgbClr val="D9A1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40573" y="379841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14.2%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194853" y="4325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Who&amp;When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ICML 25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9081821" y="3912718"/>
            <a:ext cx="502920" cy="357530"/>
          </a:xfrm>
          <a:prstGeom prst="roundRect">
            <a:avLst>
              <a:gd name="adj" fmla="val 10230"/>
            </a:avLst>
          </a:prstGeom>
          <a:solidFill>
            <a:srgbClr val="D9A15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944661" y="369326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8898941" y="4325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AgenTracer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ICLR 26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9785909" y="3218688"/>
            <a:ext cx="502920" cy="1051560"/>
          </a:xfrm>
          <a:prstGeom prst="roundRect">
            <a:avLst>
              <a:gd name="adj" fmla="val 7273"/>
            </a:avLst>
          </a:prstGeom>
          <a:solidFill>
            <a:srgbClr val="D9A15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648749" y="2999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59.5%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603029" y="4325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ErrorProbe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 26</a:t>
            </a:r>
            <a:endParaRPr lang="en-US" sz="730" dirty="0"/>
          </a:p>
        </p:txBody>
      </p:sp>
      <p:sp>
        <p:nvSpPr>
          <p:cNvPr id="40" name="Text 37"/>
          <p:cNvSpPr txBox="1"/>
          <p:nvPr/>
        </p:nvSpPr>
        <p:spPr>
          <a:xfrm>
            <a:off x="8240573" y="4681728"/>
            <a:ext cx="326532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chosen on performance, not recency. CrewAI+LangGraph used by none of 9 papers reviewed. Constraint-based SED, not LLM-judge (≤0.65 AUROC).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830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· ARCHITECTURE · PROOF OF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33557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II / III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Diagnosis, Proven Piece by Piece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607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→ execution graph → Semantic Error Diagnostic (parallel) → causal trace → Repair Agent → verified replay. Eight real spikes back every arrow.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II/3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66294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700784"/>
            <a:ext cx="66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184148" y="1700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48740" y="1700784"/>
            <a:ext cx="134874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48740" y="1700784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graph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1700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1700784"/>
            <a:ext cx="203454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1700784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Error Diagnostic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933188" y="1700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7780" y="170078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97780" y="17007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trace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259068" y="1700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23660" y="170078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3660" y="17007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 Agent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584948" y="1700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49540" y="1700784"/>
            <a:ext cx="1348740" cy="292608"/>
          </a:xfrm>
          <a:prstGeom prst="roundRect">
            <a:avLst>
              <a:gd name="adj" fmla="val 15625"/>
            </a:avLst>
          </a:prstGeom>
          <a:solidFill>
            <a:srgbClr val="1E2333"/>
          </a:solidFill>
          <a:ln w="6350">
            <a:solidFill>
              <a:srgbClr val="2B31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49540" y="1700784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replay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176272"/>
            <a:ext cx="4698059" cy="2606040"/>
          </a:xfrm>
          <a:prstGeom prst="roundRect">
            <a:avLst>
              <a:gd name="adj" fmla="val 2105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267712"/>
            <a:ext cx="32004" cy="2423160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" y="2267712"/>
            <a:ext cx="44237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COMPLEX COMPUTING — 8 OF 9 CLEAR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2542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2542032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reqs — depth vs. latency vs. privacy</a:t>
            </a:r>
            <a:endParaRPr lang="en-US" sz="86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7843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2784348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solution — best published 59.5% after 7 papers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30266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026664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knowledge — graph modeling, causal reasoning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2689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3268980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issues — non-determinism, cross-arch.</a:t>
            </a:r>
            <a:endParaRPr lang="en-US" sz="86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35112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3511296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standard practice — no off-the-shelf equivalent</a:t>
            </a:r>
            <a:endParaRPr lang="en-US" sz="86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37536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60120" y="3753612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0B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stakeholders — contact pending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9959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960120" y="3995928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consequences — a missed failure ships silently</a:t>
            </a:r>
            <a:endParaRPr lang="en-US" sz="86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2382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60120" y="4238244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 — the execution graph models it</a:t>
            </a:r>
            <a:endParaRPr lang="en-US" sz="86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4480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960120" y="4480560"/>
            <a:ext cx="405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Ill-defined cause — 3 unknowns at diagnosis time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5347283" y="2176272"/>
            <a:ext cx="6341492" cy="2606040"/>
          </a:xfrm>
          <a:prstGeom prst="roundRect">
            <a:avLst>
              <a:gd name="adj" fmla="val 2105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47283" y="2267712"/>
            <a:ext cx="32004" cy="2423160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511875" y="2267712"/>
            <a:ext cx="60671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EXHIBIT — ONE REAL DIAGNOSIS RUN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7323" y="272491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333"/>
          </a:solidFill>
          <a:ln w="15875">
            <a:solidFill>
              <a:srgbClr val="57C9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67323" y="2834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PriceExtractor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667323" y="3108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100.00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7355566" y="2953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09369" y="272491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333"/>
          </a:solidFill>
          <a:ln w="15875">
            <a:solidFill>
              <a:srgbClr val="57C98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09369" y="2834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TaxCalculator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809369" y="3108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108.00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9497612" y="2953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951415" y="2724912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E2333"/>
          </a:solidFill>
          <a:ln w="15875">
            <a:solidFill>
              <a:srgbClr val="57C98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51415" y="2834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9951415" y="3108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= true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530163" y="3648456"/>
            <a:ext cx="59757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3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Fault: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silently corrupted $100.00 → $90.00 → wrong total $97.20 (expected $108.00).
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57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Repair: 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flags mismatch → causal trace localizes PriceExtractor → Repair Agent proposes $100.00 → replayed: 97.20 → 108.00, recovery_success = true.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530163" y="4507992"/>
            <a:ext cx="58842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Chained from Spike 5 + Spike 8 case “tax_total” — the same run in the poc-demo console.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28616"/>
          <a:ext cx="11185855" cy="1472184"/>
        </p:xfrm>
        <a:graphic>
          <a:graphicData uri="http://schemas.openxmlformats.org/drawingml/2006/table">
            <a:tbl>
              <a:tblPr/>
              <a:tblGrid>
                <a:gridCol w="2684605"/>
                <a:gridCol w="2013454"/>
                <a:gridCol w="6487796"/>
              </a:tblGrid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3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ErrorProbe repro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71.4% mean · step 13.2% mean (5 runs)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CrewAI instrumentation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3-node, 2-edge trace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3/3b · Fault injection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unambiguous; one self-correction kept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Semantic Error Diagnostic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 vs $19.75 near-miss caught, zero false positives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Counterfactual replay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 → 108.0 recovered, recovery_success = true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Cyclic graph handling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proven load-bearing vs. 10,000-step cap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Preventive classifier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0B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honest negative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P/R/F1 = 0.25, near-random — reported, not hidden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  <a:tr h="1635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Repair Agent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7C9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demonstrated</a:t>
                      </a:r>
                      <a:endParaRPr lang="en-US" sz="8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repair_success_rate 4/6 (0.667)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8300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C0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· SCOPE &amp; RISK · PEOPLE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33557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 III / III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Verdict, Decided Before The Data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60704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below was written before any result exists — so the evidence judges the project, not the other way around.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502920" cy="27432"/>
          </a:xfrm>
          <a:prstGeom prst="rect">
            <a:avLst/>
          </a:prstGeom>
          <a:solidFill>
            <a:srgbClr val="D9A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Granite  ·  F26-060  ·  III/3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3631082" cy="4654296"/>
          </a:xfrm>
          <a:prstGeom prst="roundRect">
            <a:avLst>
              <a:gd name="adj" fmla="val 151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92224"/>
            <a:ext cx="32004" cy="4471416"/>
          </a:xfrm>
          <a:prstGeom prst="rect">
            <a:avLst/>
          </a:prstGeom>
          <a:solidFill>
            <a:srgbClr val="6EA8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1792224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EVALUATION PLAN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48256"/>
            <a:ext cx="32653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reproduced — pre-registered ±10pt band around 59.5%.
</a:t>
            </a:r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Who&amp;When (184) + new benchmark, floor 500 / stretch 1,000, 15–20% clean controls.
</a:t>
            </a:r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propagation F1 · silent-fail P/R+coverage · FP rate on clean controls · recovery rate · false repair rate · latency overhead (&lt;50%)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85800" y="3849624"/>
            <a:ext cx="738607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E370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49624"/>
            <a:ext cx="73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E3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1497559" y="3849624"/>
            <a:ext cx="738607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6B73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97559" y="3849624"/>
            <a:ext cx="73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acceptable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2309317" y="3849624"/>
            <a:ext cx="738607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4FB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09317" y="3849624"/>
            <a:ext cx="73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FB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121076" y="3849624"/>
            <a:ext cx="738607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57C9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1076" y="3849624"/>
            <a:ext cx="73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7C9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exceptional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251960"/>
            <a:ext cx="3265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FP-rate-on-clean-controls appears in zero reviewed papers or platforms.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280306" y="1700784"/>
            <a:ext cx="3631082" cy="4654296"/>
          </a:xfrm>
          <a:prstGeom prst="roundRect">
            <a:avLst>
              <a:gd name="adj" fmla="val 151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0306" y="1792224"/>
            <a:ext cx="32004" cy="4471416"/>
          </a:xfrm>
          <a:prstGeom prst="rect">
            <a:avLst/>
          </a:prstGeom>
          <a:solidFill>
            <a:srgbClr val="E0B5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44898" y="1792224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SCOPE, RISK &amp; $0 RESOURCING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463186" y="2048256"/>
            <a:ext cx="326532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10 items: </a:t>
            </a:r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57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8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real spike; </a:t>
            </a:r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0B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2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— Recovery Controller (no PoC yet), Verified Repair Memory (failed its one test, stated honestly).
</a:t>
            </a:r>
            <a:pPr indent="0" marL="0">
              <a:lnSpc>
                <a:spcPts val="1300"/>
              </a:lnSpc>
              <a:buNone/>
            </a:pPr>
            <a:r>
              <a:rPr lang="en-US" sz="93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</a:t>
            </a:r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local Ollama, full project. Paid alt priced (≈$353–$881) and explicitly rejected.</a:t>
            </a:r>
            <a:endParaRPr lang="en-US" sz="93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63186" y="3529584"/>
          <a:ext cx="3265322" cy="2688336"/>
        </p:xfrm>
        <a:graphic>
          <a:graphicData uri="http://schemas.openxmlformats.org/drawingml/2006/table">
            <a:tbl>
              <a:tblPr/>
              <a:tblGrid>
                <a:gridCol w="1469395"/>
                <a:gridCol w="1795927"/>
              </a:tblGrid>
              <a:tr h="537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Fallback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the ±10pt band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dual-reporting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Controller gate fails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via replay — Tier 1 delivers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Memory fails again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 as memory on/off ablation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 down at runtime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degraded state, not a crash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1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057693" y="1700784"/>
            <a:ext cx="3631082" cy="4654296"/>
          </a:xfrm>
          <a:prstGeom prst="roundRect">
            <a:avLst>
              <a:gd name="adj" fmla="val 1511"/>
            </a:avLst>
          </a:prstGeom>
          <a:solidFill>
            <a:srgbClr val="171B28"/>
          </a:solidFill>
          <a:ln w="9525">
            <a:solidFill>
              <a:srgbClr val="2B314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57693" y="1792224"/>
            <a:ext cx="32004" cy="4471416"/>
          </a:xfrm>
          <a:prstGeom prst="rect">
            <a:avLst/>
          </a:prstGeom>
          <a:solidFill>
            <a:srgbClr val="57C98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2285" y="1792224"/>
            <a:ext cx="3356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TEAM, TIMELINE &amp; DEI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240573" y="20848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FB3C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40573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06333" y="2066544"/>
            <a:ext cx="2899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Shahoud — Data/Benchmark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8606333" y="2286000"/>
            <a:ext cx="2899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cross-architecture benchmark exists.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240573" y="2651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8A5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40573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06333" y="2633472"/>
            <a:ext cx="2899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— Diagnosis Engine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606333" y="2852928"/>
            <a:ext cx="2899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attribution algorithm, no SED.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240573" y="32186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EA8E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240573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606333" y="3200400"/>
            <a:ext cx="2899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— Platform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606333" y="3419856"/>
            <a:ext cx="2899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nothing installs outside the dev machine.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8240573" y="3913632"/>
            <a:ext cx="1415936" cy="201168"/>
          </a:xfrm>
          <a:prstGeom prst="rect">
            <a:avLst/>
          </a:prstGeom>
          <a:solidFill>
            <a:srgbClr val="4FB3C4"/>
          </a:solidFill>
          <a:ln/>
        </p:spPr>
      </p:sp>
      <p:sp>
        <p:nvSpPr>
          <p:cNvPr id="42" name="Shape 39"/>
          <p:cNvSpPr/>
          <p:nvPr/>
        </p:nvSpPr>
        <p:spPr>
          <a:xfrm>
            <a:off x="9656509" y="3913632"/>
            <a:ext cx="1849386" cy="201168"/>
          </a:xfrm>
          <a:prstGeom prst="rect">
            <a:avLst/>
          </a:prstGeom>
          <a:solidFill>
            <a:srgbClr val="E08A55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40573" y="4151376"/>
            <a:ext cx="16326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FYP-1 · 490h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9873234" y="4151376"/>
            <a:ext cx="16326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3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FYP-2 · 640h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8240573" y="4370832"/>
            <a:ext cx="326532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30" dirty="0">
                <a:solidFill>
                  <a:srgbClr val="9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DEI: MIT/CC BY 4.0 release; color paired with text (WCAG owed Final-1). Ethics: advisory-only, human-gated fixes, informed consent for real trace data.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FAST School of Computing, 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Granite — Proposal Defense (3-Slide)</dc:title>
  <dc:subject>PptxGenJS Presentation</dc:subject>
  <dc:creator>Granite — F26-060</dc:creator>
  <cp:lastModifiedBy>Granite — F26-060</cp:lastModifiedBy>
  <cp:revision>1</cp:revision>
  <dcterms:created xsi:type="dcterms:W3CDTF">2026-09-05T06:44:36Z</dcterms:created>
  <dcterms:modified xsi:type="dcterms:W3CDTF">2026-09-05T06:44:36Z</dcterms:modified>
</cp:coreProperties>
</file>