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59" d="100"/>
          <a:sy n="59" d="100"/>
        </p:scale>
        <p:origin x="581"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Step accuracy</c:v>
                </c:pt>
              </c:strCache>
            </c:strRef>
          </c:tx>
          <c:spPr>
            <a:solidFill>
              <a:srgbClr val="C89B3C"/>
            </a:solidFill>
            <a:effectLst/>
          </c:spPr>
          <c:invertIfNegative val="0"/>
          <c:dLbls>
            <c:numFmt formatCode="0.0" sourceLinked="0"/>
            <c:spPr>
              <a:noFill/>
              <a:ln>
                <a:noFill/>
              </a:ln>
              <a:effectLst/>
            </c:spPr>
            <c:txPr>
              <a:bodyPr/>
              <a:lstStyle/>
              <a:p>
                <a:pPr>
                  <a:defRPr sz="1100" b="1" i="0" u="none" strike="noStrike">
                    <a:solidFill>
                      <a:srgbClr val="1B202A"/>
                    </a:solidFill>
                    <a:latin typeface="Arial"/>
                  </a:defRPr>
                </a:pPr>
                <a:endParaRPr lang="en-PK"/>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Who&amp;When
(single-LLM)</c:v>
                </c:pt>
                <c:pt idx="1">
                  <c:v>AgenTracer
(midpoint of range)</c:v>
                </c:pt>
                <c:pt idx="2">
                  <c:v>ErrorProbe
(baseline)</c:v>
                </c:pt>
              </c:strCache>
            </c:strRef>
          </c:cat>
          <c:val>
            <c:numRef>
              <c:f>Sheet1!$B$2:$B$4</c:f>
              <c:numCache>
                <c:formatCode>General</c:formatCode>
                <c:ptCount val="3"/>
                <c:pt idx="0">
                  <c:v>14.2</c:v>
                </c:pt>
                <c:pt idx="1">
                  <c:v>40</c:v>
                </c:pt>
                <c:pt idx="2">
                  <c:v>59.5</c:v>
                </c:pt>
              </c:numCache>
            </c:numRef>
          </c:val>
          <c:extLst>
            <c:ext xmlns:c16="http://schemas.microsoft.com/office/drawing/2014/chart" uri="{C3380CC4-5D6E-409C-BE32-E72D297353CC}">
              <c16:uniqueId val="{00000000-D64A-4B4B-8274-3E62F52CFB8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96273"/>
                </a:solidFill>
                <a:latin typeface="Calibri"/>
              </a:defRPr>
            </a:pPr>
            <a:endParaRPr lang="en-US"/>
          </a:p>
        </c:txPr>
        <c:crossAx val="2094734552"/>
        <c:crosses val="autoZero"/>
        <c:auto val="1"/>
        <c:lblAlgn val="ctr"/>
        <c:lblOffset val="100"/>
        <c:noMultiLvlLbl val="1"/>
      </c:catAx>
      <c:valAx>
        <c:axId val="2094734552"/>
        <c:scaling>
          <c:orientation val="minMax"/>
          <c:max val="70"/>
          <c:min val="0"/>
        </c:scaling>
        <c:delete val="0"/>
        <c:axPos val="l"/>
        <c:majorGridlines>
          <c:spPr>
            <a:ln w="6350" cap="flat">
              <a:solidFill>
                <a:srgbClr val="D9DC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6273"/>
                </a:solidFill>
                <a:latin typeface="Arial"/>
              </a:defRPr>
            </a:pPr>
            <a:endParaRPr lang="en-US"/>
          </a:p>
        </c:txPr>
        <c:crossAx val="2094734554"/>
        <c:crosses val="autoZero"/>
        <c:crossBetween val="between"/>
      </c:valAx>
      <c:spPr>
        <a:solidFill>
          <a:srgbClr val="FBFBFC"/>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9681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one-line problem exactly as written — WHO (teams running multi-agent systems), WHAT fails (attribution + silent failures), WHY it matters (nobody can verify a fix), in one breath. Do not explain the title word-by-word — slide 6 does that. Three names, three distinct subsystems, said aloud here sets the ownership tone before the panel has to ask.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 is the field's own measured baseline for 'a human reads the trace' — the number the whole project is trying to beat. On stakeholders: state plainly that this is Stream A, that the problem's reality rests on published evidence and a commercial market, and that live practitioner contact is scheduled in the Mid-2 acceptance study (C.13.1) — declared open, not claimed as done. Do not overclaim contact that has not happened — risk-register R33. Citations: plan §0.1 · §0.05 (SDG) · Full_Literature_Landscape_Analysis.md.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the correction story: an early draft said 'nobody automates this' — direct vendor checks proved that stale, corrected on the record (R9). On prior FYPs, give the number unprompted: 660 titles across every published cohort back to 2019, checked structurally, not by title. Other analogs use 'multi-agent' only as an application pattern (PropPal, LawSphere, CampusHive); nearest detect-then-repair is AutoVulRepair (fuzzing/C++) — name it before a panelist finds it. The gap is the combination, not any single missing feature. Citations: plan §0.095 (full 660-title comparison) · Commercial_Product_Comparison.md · risk-register R9/R33.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backbone-confound caveat before being asked. Name that credible unpublished preprints exist in adjacent territory and the team made a recorded decision not to chase every one — the strategy is beating a peer-reviewed baseline, not pre-empting unpublished work. Full R4/Annex A.2 wording: a win partly reflects backbone strength, dual-reported. Citations: Full_Literature_Landscape_Analysis.md · ErrorProbe_Baseline_Selection.md · plan §0.08.</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panel uses to decide whether the project deserves capstone status. Do not read the nine boxes — point at them and speak the bottom band instead: concede immediately that the wrapper is a weekend's work, then name precisely what such a version would get wrong (no benchmark on unseen architectures, no way to tell a silent failure from a correct answer, no measured false-positive rate on clean controls, no evidence its fix works). Characteristic 6 is amber on purpose; say so before they spot it — 8 of 9 clear, matching the guide's own worked 'Strong' examples (6 to 9). Read characteristic 9's resolution aloud if pressed on complexity. Citations: 02_Panel_Defense_Question_Bank.md Q8a · plan §1 (three-tier CCP) · §2 (9-characteristic rating).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unprompted: 'controlled, not deterministic' — the replay protocol is deterministic, LLM-step variance is measured over N replays, never assumed away (R25). Say unprompted: the Semantic Error Diagnostic abstains where no checkable constraint exists, and the abstention rate is reported as a metric, not hidden. Full traceable spec behind this diagram: Use Case Model + diagram, 3 System Sequence Diagrams, SRS, Test Plan, Software Development Plan, Traceability Matrix, 16-screen wireframes — architecture atlas, tab 'Requirements &amp; Design'. Citations: Software_Design_Specification.md §2–§6 · plan §7.0 (frozen scope) · architecture-sketch.md.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Spike 7's negative result and Spike 8's failure analysis — quote the guide's own words on this directly: a POC that disproved an assumption is more valuable than one that confirmed it. Every number on this slide is real and recomputable from files in the repository; offer to open one. In progress: full 3-stage reproduction, top FYP-1 priority. Planned: Recovery Controller + Verified Repair Memory Tier-2 gates, pre-registered Mid-1 criteria, not yet run. Citations: dev/spikes/poc/ (8 scripts + output JSONs on disk) · markdowns/04-poc-evidence/POC_Spike_Outputs_Full.md.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false-positive-rate-on-clean-controls metric is absent from every paper in the reviewed corpus and every platform checked — say this is the field's gap, not just ours. Deliver the risk column as confidence, not confession: each decision rule was pre-registered before results exist. Outside the acceptance band, both numbers are reported transparently per Annex A.2, declared before the run, not after. Full GenAI boundary line: every external component classified Support / Core-assist / Core-replacement on Form 13; the contribution survives swapping the LLM. Citations: plan §11 (acceptance band, pre-registered) · Form13_GenAI_Disclosure_Sheet.md · risk-register.md (R4/R25/R37).</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member states their own subsystem in one sentence, aloud — the panel is applying the guide's four ownership questions (explain / justify against an alternative / predict what breaks / modify under questioning), and hearing three distinct voices here sets that tone early. The 'if removed' line under each card is the guide's own scope test, answered honestly rather than asserted. Full effort-budget line: balanced depth, not identical tasks — each lane carries decisions, implementation and validation. Citations: plan §3 (ownership) · §7.0 (frozen scope) · §12 (effort) · cost-estimate.md · 06_Expanded_Scope_and_Feasibility_Plan.md.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DEI line is a real, checkable commitment, not a decorative label — say the access-equity sentence in your own words. Name Level 2 out loud and say why it is not Level 3: accreditation requires the graduate to have done the design and evaluation, and delegating that would forfeit the attribute — Level 3 would relocate exactly the design/eval work Seoul Accord GA-4 requires us to demonstrate. Authorship of keystrokes is not the test. If asked about AI use at all, the answer is that it is logged per session, disclosed on Form 13, and that every CCP-relevant component has a member who can defend it live — offer to demonstrate that on any component they pick. Per guide §C.5 the shared list remains a team responsibility even where one member leads the component. Citations: plan §3 (ownership) · guide §C.5 (shared responsibilities) · AI_Usage_Log.md · Form13_GenAI_Disclosure_Sheet.md · risk-register R30/R38.</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219"/>
        </a:solidFill>
        <a:effectLst/>
      </p:bgPr>
    </p:bg>
    <p:spTree>
      <p:nvGrpSpPr>
        <p:cNvPr id="1" name=""/>
        <p:cNvGrpSpPr/>
        <p:nvPr/>
      </p:nvGrpSpPr>
      <p:grpSpPr>
        <a:xfrm>
          <a:off x="0" y="0"/>
          <a:ext cx="0" cy="0"/>
          <a:chOff x="0" y="0"/>
          <a:chExt cx="0" cy="0"/>
        </a:xfrm>
      </p:grpSpPr>
      <p:sp>
        <p:nvSpPr>
          <p:cNvPr id="2" name="Shape 0"/>
          <p:cNvSpPr/>
          <p:nvPr/>
        </p:nvSpPr>
        <p:spPr>
          <a:xfrm rot="2700000">
            <a:off x="9448495" y="1051560"/>
            <a:ext cx="1371600" cy="1371600"/>
          </a:xfrm>
          <a:prstGeom prst="rect">
            <a:avLst/>
          </a:prstGeom>
          <a:solidFill>
            <a:srgbClr val="171C26"/>
          </a:solidFill>
          <a:ln w="12700">
            <a:solidFill>
              <a:srgbClr val="8E6A1F"/>
            </a:solidFill>
            <a:prstDash val="solid"/>
          </a:ln>
        </p:spPr>
        <p:txBody>
          <a:bodyPr/>
          <a:lstStyle/>
          <a:p>
            <a:endParaRPr lang="en-PK"/>
          </a:p>
        </p:txBody>
      </p:sp>
      <p:sp>
        <p:nvSpPr>
          <p:cNvPr id="3" name="Shape 1"/>
          <p:cNvSpPr/>
          <p:nvPr/>
        </p:nvSpPr>
        <p:spPr>
          <a:xfrm rot="2700000">
            <a:off x="9686239" y="1289304"/>
            <a:ext cx="896112" cy="896112"/>
          </a:xfrm>
          <a:prstGeom prst="rect">
            <a:avLst/>
          </a:prstGeom>
          <a:solidFill>
            <a:srgbClr val="C89B3C"/>
          </a:solidFill>
          <a:ln/>
        </p:spPr>
        <p:txBody>
          <a:bodyPr/>
          <a:lstStyle/>
          <a:p>
            <a:endParaRPr lang="en-PK"/>
          </a:p>
        </p:txBody>
      </p:sp>
      <p:sp>
        <p:nvSpPr>
          <p:cNvPr id="4" name="Shape 2"/>
          <p:cNvSpPr/>
          <p:nvPr/>
        </p:nvSpPr>
        <p:spPr>
          <a:xfrm rot="2700000">
            <a:off x="9905695" y="1508760"/>
            <a:ext cx="457200" cy="457200"/>
          </a:xfrm>
          <a:prstGeom prst="rect">
            <a:avLst/>
          </a:prstGeom>
          <a:solidFill>
            <a:srgbClr val="0F1219"/>
          </a:solidFill>
          <a:ln w="12700">
            <a:solidFill>
              <a:srgbClr val="E3BC6E"/>
            </a:solidFill>
            <a:prstDash val="solid"/>
          </a:ln>
        </p:spPr>
        <p:txBody>
          <a:bodyPr/>
          <a:lstStyle/>
          <a:p>
            <a:endParaRPr lang="en-PK"/>
          </a:p>
        </p:txBody>
      </p:sp>
      <p:sp>
        <p:nvSpPr>
          <p:cNvPr id="5" name="Shape 3"/>
          <p:cNvSpPr/>
          <p:nvPr/>
        </p:nvSpPr>
        <p:spPr>
          <a:xfrm>
            <a:off x="0" y="0"/>
            <a:ext cx="80467" cy="6858000"/>
          </a:xfrm>
          <a:prstGeom prst="rect">
            <a:avLst/>
          </a:prstGeom>
          <a:solidFill>
            <a:srgbClr val="C89B3C"/>
          </a:solidFill>
          <a:ln/>
        </p:spPr>
        <p:txBody>
          <a:bodyPr/>
          <a:lstStyle/>
          <a:p>
            <a:endParaRPr lang="en-PK"/>
          </a:p>
        </p:txBody>
      </p:sp>
      <p:sp>
        <p:nvSpPr>
          <p:cNvPr id="6" name="Text 4"/>
          <p:cNvSpPr txBox="1"/>
          <p:nvPr/>
        </p:nvSpPr>
        <p:spPr>
          <a:xfrm>
            <a:off x="566928" y="1325880"/>
            <a:ext cx="8412480" cy="274320"/>
          </a:xfrm>
          <a:prstGeom prst="rect">
            <a:avLst/>
          </a:prstGeom>
          <a:noFill/>
          <a:ln/>
        </p:spPr>
        <p:txBody>
          <a:bodyPr wrap="square" lIns="0" tIns="0" rIns="0" bIns="0" rtlCol="0" anchor="ctr"/>
          <a:lstStyle/>
          <a:p>
            <a:pPr marL="0" indent="0">
              <a:buNone/>
            </a:pPr>
            <a:r>
              <a:rPr lang="en-US" sz="1450" b="1" kern="0" spc="160" dirty="0">
                <a:solidFill>
                  <a:srgbClr val="E3BC6E"/>
                </a:solidFill>
                <a:latin typeface="Consolas" pitchFamily="34" charset="0"/>
                <a:ea typeface="Consolas" pitchFamily="34" charset="-122"/>
                <a:cs typeface="Consolas" pitchFamily="34" charset="-120"/>
              </a:rPr>
              <a:t>F26-060  ·  PROPOSAL DEFENSE  ·  STREAM A — RESEARCH-DERIVED</a:t>
            </a:r>
            <a:endParaRPr lang="en-US" sz="1450" dirty="0"/>
          </a:p>
        </p:txBody>
      </p:sp>
      <p:sp>
        <p:nvSpPr>
          <p:cNvPr id="7" name="Text 5"/>
          <p:cNvSpPr txBox="1"/>
          <p:nvPr/>
        </p:nvSpPr>
        <p:spPr>
          <a:xfrm>
            <a:off x="566928" y="1645920"/>
            <a:ext cx="8412480" cy="1051560"/>
          </a:xfrm>
          <a:prstGeom prst="rect">
            <a:avLst/>
          </a:prstGeom>
          <a:noFill/>
          <a:ln/>
        </p:spPr>
        <p:txBody>
          <a:bodyPr wrap="square" lIns="0" tIns="0" rIns="0" bIns="0" rtlCol="0" anchor="ctr"/>
          <a:lstStyle/>
          <a:p>
            <a:pPr marL="0" indent="0">
              <a:buNone/>
            </a:pPr>
            <a:r>
              <a:rPr lang="en-US" sz="6950" b="1" dirty="0">
                <a:solidFill>
                  <a:srgbClr val="F5F6F8"/>
                </a:solidFill>
                <a:latin typeface="Georgia" pitchFamily="34" charset="0"/>
                <a:ea typeface="Georgia" pitchFamily="34" charset="-122"/>
                <a:cs typeface="Georgia" pitchFamily="34" charset="-120"/>
              </a:rPr>
              <a:t>Granite</a:t>
            </a:r>
            <a:endParaRPr lang="en-US" sz="6950" dirty="0"/>
          </a:p>
        </p:txBody>
      </p:sp>
      <p:sp>
        <p:nvSpPr>
          <p:cNvPr id="8" name="Text 6"/>
          <p:cNvSpPr txBox="1"/>
          <p:nvPr/>
        </p:nvSpPr>
        <p:spPr>
          <a:xfrm>
            <a:off x="566928" y="2724912"/>
            <a:ext cx="7680960" cy="566928"/>
          </a:xfrm>
          <a:prstGeom prst="rect">
            <a:avLst/>
          </a:prstGeom>
          <a:noFill/>
          <a:ln/>
        </p:spPr>
        <p:txBody>
          <a:bodyPr wrap="square" lIns="0" tIns="0" rIns="0" bIns="0" rtlCol="0" anchor="ctr"/>
          <a:lstStyle/>
          <a:p>
            <a:pPr marL="0" indent="0">
              <a:buNone/>
            </a:pPr>
            <a:r>
              <a:rPr lang="en-US" sz="1850" i="1" dirty="0">
                <a:solidFill>
                  <a:srgbClr val="A9B0BE"/>
                </a:solidFill>
                <a:latin typeface="Calibri" pitchFamily="34" charset="0"/>
                <a:ea typeface="Calibri" pitchFamily="34" charset="-122"/>
                <a:cs typeface="Calibri" pitchFamily="34" charset="-120"/>
              </a:rPr>
              <a:t>A Self-Healing Multi-Agent System for Semantic Error Diagnosis, Verified Repair and Recovery</a:t>
            </a:r>
            <a:endParaRPr lang="en-US" sz="1850" dirty="0"/>
          </a:p>
        </p:txBody>
      </p:sp>
      <p:sp>
        <p:nvSpPr>
          <p:cNvPr id="9" name="Shape 7"/>
          <p:cNvSpPr/>
          <p:nvPr/>
        </p:nvSpPr>
        <p:spPr>
          <a:xfrm>
            <a:off x="566928" y="3456432"/>
            <a:ext cx="1005840" cy="32004"/>
          </a:xfrm>
          <a:prstGeom prst="rect">
            <a:avLst/>
          </a:prstGeom>
          <a:solidFill>
            <a:srgbClr val="C89B3C"/>
          </a:solidFill>
          <a:ln/>
        </p:spPr>
        <p:txBody>
          <a:bodyPr/>
          <a:lstStyle/>
          <a:p>
            <a:endParaRPr lang="en-PK"/>
          </a:p>
        </p:txBody>
      </p:sp>
      <p:sp>
        <p:nvSpPr>
          <p:cNvPr id="10" name="Text 8"/>
          <p:cNvSpPr txBox="1"/>
          <p:nvPr/>
        </p:nvSpPr>
        <p:spPr>
          <a:xfrm>
            <a:off x="566928" y="3657600"/>
            <a:ext cx="7863840" cy="1005840"/>
          </a:xfrm>
          <a:prstGeom prst="rect">
            <a:avLst/>
          </a:prstGeom>
          <a:noFill/>
          <a:ln/>
        </p:spPr>
        <p:txBody>
          <a:bodyPr wrap="square" lIns="0" tIns="0" rIns="0" bIns="0" rtlCol="0" anchor="ctr"/>
          <a:lstStyle/>
          <a:p>
            <a:pPr marL="0" indent="0">
              <a:buNone/>
            </a:pPr>
            <a:r>
              <a:rPr lang="en-US" sz="2150" i="1" dirty="0">
                <a:solidFill>
                  <a:srgbClr val="F5F6F8"/>
                </a:solidFill>
                <a:latin typeface="Georgia" pitchFamily="34" charset="0"/>
                <a:ea typeface="Georgia" pitchFamily="34" charset="-122"/>
                <a:cs typeface="Georgia" pitchFamily="34" charset="-120"/>
              </a:rPr>
              <a:t>When a multi-agent AI system fails — including when the wrong answer looks completely right — no published method can reliably say which agent caused it, and none can verify a fix before trusting it.</a:t>
            </a:r>
            <a:endParaRPr lang="en-US" sz="2150" dirty="0"/>
          </a:p>
        </p:txBody>
      </p:sp>
      <p:sp>
        <p:nvSpPr>
          <p:cNvPr id="11" name="Shape 9"/>
          <p:cNvSpPr/>
          <p:nvPr/>
        </p:nvSpPr>
        <p:spPr>
          <a:xfrm>
            <a:off x="566928" y="5029200"/>
            <a:ext cx="7680960" cy="0"/>
          </a:xfrm>
          <a:prstGeom prst="line">
            <a:avLst/>
          </a:prstGeom>
          <a:noFill/>
          <a:ln w="12700">
            <a:solidFill>
              <a:srgbClr val="2C3340"/>
            </a:solidFill>
            <a:prstDash val="solid"/>
          </a:ln>
        </p:spPr>
        <p:txBody>
          <a:bodyPr/>
          <a:lstStyle/>
          <a:p>
            <a:endParaRPr lang="en-PK"/>
          </a:p>
        </p:txBody>
      </p:sp>
      <p:sp>
        <p:nvSpPr>
          <p:cNvPr id="12" name="Text 10"/>
          <p:cNvSpPr txBox="1"/>
          <p:nvPr/>
        </p:nvSpPr>
        <p:spPr>
          <a:xfrm>
            <a:off x="566928" y="5138928"/>
            <a:ext cx="2560320" cy="566928"/>
          </a:xfrm>
          <a:prstGeom prst="rect">
            <a:avLst/>
          </a:prstGeom>
          <a:noFill/>
          <a:ln/>
        </p:spPr>
        <p:txBody>
          <a:bodyPr wrap="square" lIns="0" tIns="0" rIns="0" bIns="0" rtlCol="0" anchor="ctr"/>
          <a:lstStyle/>
          <a:p>
            <a:pPr marL="0" indent="0">
              <a:buNone/>
            </a:pPr>
            <a:r>
              <a:rPr lang="en-US" sz="1550" b="1" dirty="0">
                <a:solidFill>
                  <a:srgbClr val="F5F6F8"/>
                </a:solidFill>
                <a:latin typeface="Calibri" pitchFamily="34" charset="0"/>
                <a:ea typeface="Calibri" pitchFamily="34" charset="-122"/>
                <a:cs typeface="Calibri" pitchFamily="34" charset="-120"/>
              </a:rPr>
              <a:t>Shahoud Shahid</a:t>
            </a:r>
            <a:endParaRPr lang="en-US" sz="1550" dirty="0"/>
          </a:p>
          <a:p>
            <a:pPr marL="0" indent="0">
              <a:buNone/>
            </a:pPr>
            <a:r>
              <a:rPr lang="en-US" sz="1300" dirty="0">
                <a:solidFill>
                  <a:srgbClr val="A9B0BE"/>
                </a:solidFill>
                <a:latin typeface="Calibri" pitchFamily="34" charset="0"/>
                <a:ea typeface="Calibri" pitchFamily="34" charset="-122"/>
                <a:cs typeface="Calibri" pitchFamily="34" charset="-120"/>
              </a:rPr>
              <a:t>23i-2515  ·  </a:t>
            </a:r>
            <a:r>
              <a:rPr lang="en-US" sz="1300" dirty="0">
                <a:solidFill>
                  <a:srgbClr val="E3BC6E"/>
                </a:solidFill>
                <a:latin typeface="Calibri" pitchFamily="34" charset="0"/>
                <a:ea typeface="Calibri" pitchFamily="34" charset="-122"/>
                <a:cs typeface="Calibri" pitchFamily="34" charset="-120"/>
              </a:rPr>
              <a:t>Data / Benchmark</a:t>
            </a:r>
            <a:endParaRPr lang="en-US" sz="1550" dirty="0"/>
          </a:p>
        </p:txBody>
      </p:sp>
      <p:sp>
        <p:nvSpPr>
          <p:cNvPr id="13" name="Text 11"/>
          <p:cNvSpPr txBox="1"/>
          <p:nvPr/>
        </p:nvSpPr>
        <p:spPr>
          <a:xfrm>
            <a:off x="3172968" y="5138928"/>
            <a:ext cx="2560320" cy="566928"/>
          </a:xfrm>
          <a:prstGeom prst="rect">
            <a:avLst/>
          </a:prstGeom>
          <a:noFill/>
          <a:ln/>
        </p:spPr>
        <p:txBody>
          <a:bodyPr wrap="square" lIns="0" tIns="0" rIns="0" bIns="0" rtlCol="0" anchor="ctr"/>
          <a:lstStyle/>
          <a:p>
            <a:pPr marL="0" indent="0">
              <a:buNone/>
            </a:pPr>
            <a:r>
              <a:rPr lang="en-US" sz="1550" b="1" dirty="0">
                <a:solidFill>
                  <a:srgbClr val="F5F6F8"/>
                </a:solidFill>
                <a:latin typeface="Calibri" pitchFamily="34" charset="0"/>
                <a:ea typeface="Calibri" pitchFamily="34" charset="-122"/>
                <a:cs typeface="Calibri" pitchFamily="34" charset="-120"/>
              </a:rPr>
              <a:t>Muhammad Noor</a:t>
            </a:r>
            <a:endParaRPr lang="en-US" sz="1550" dirty="0"/>
          </a:p>
          <a:p>
            <a:pPr marL="0" indent="0">
              <a:buNone/>
            </a:pPr>
            <a:r>
              <a:rPr lang="en-US" sz="1300" dirty="0">
                <a:solidFill>
                  <a:srgbClr val="A9B0BE"/>
                </a:solidFill>
                <a:latin typeface="Calibri" pitchFamily="34" charset="0"/>
                <a:ea typeface="Calibri" pitchFamily="34" charset="-122"/>
                <a:cs typeface="Calibri" pitchFamily="34" charset="-120"/>
              </a:rPr>
              <a:t>23i-2520  ·  </a:t>
            </a:r>
            <a:r>
              <a:rPr lang="en-US" sz="1300" dirty="0">
                <a:solidFill>
                  <a:srgbClr val="E3BC6E"/>
                </a:solidFill>
                <a:latin typeface="Calibri" pitchFamily="34" charset="0"/>
                <a:ea typeface="Calibri" pitchFamily="34" charset="-122"/>
                <a:cs typeface="Calibri" pitchFamily="34" charset="-120"/>
              </a:rPr>
              <a:t>Diagnosis Engine</a:t>
            </a:r>
            <a:endParaRPr lang="en-US" sz="1550" dirty="0"/>
          </a:p>
        </p:txBody>
      </p:sp>
      <p:sp>
        <p:nvSpPr>
          <p:cNvPr id="14" name="Text 12"/>
          <p:cNvSpPr txBox="1"/>
          <p:nvPr/>
        </p:nvSpPr>
        <p:spPr>
          <a:xfrm>
            <a:off x="5779008" y="5138928"/>
            <a:ext cx="2560320" cy="566928"/>
          </a:xfrm>
          <a:prstGeom prst="rect">
            <a:avLst/>
          </a:prstGeom>
          <a:noFill/>
          <a:ln/>
        </p:spPr>
        <p:txBody>
          <a:bodyPr wrap="square" lIns="0" tIns="0" rIns="0" bIns="0" rtlCol="0" anchor="ctr"/>
          <a:lstStyle/>
          <a:p>
            <a:pPr marL="0" indent="0">
              <a:buNone/>
            </a:pPr>
            <a:r>
              <a:rPr lang="en-US" sz="1550" b="1" dirty="0">
                <a:solidFill>
                  <a:srgbClr val="F5F6F8"/>
                </a:solidFill>
                <a:latin typeface="Calibri" pitchFamily="34" charset="0"/>
                <a:ea typeface="Calibri" pitchFamily="34" charset="-122"/>
                <a:cs typeface="Calibri" pitchFamily="34" charset="-120"/>
              </a:rPr>
              <a:t>Saif Shahzad</a:t>
            </a:r>
            <a:endParaRPr lang="en-US" sz="1550" dirty="0"/>
          </a:p>
          <a:p>
            <a:pPr marL="0" indent="0">
              <a:buNone/>
            </a:pPr>
            <a:r>
              <a:rPr lang="en-US" sz="1300" dirty="0">
                <a:solidFill>
                  <a:srgbClr val="A9B0BE"/>
                </a:solidFill>
                <a:latin typeface="Calibri" pitchFamily="34" charset="0"/>
                <a:ea typeface="Calibri" pitchFamily="34" charset="-122"/>
                <a:cs typeface="Calibri" pitchFamily="34" charset="-120"/>
              </a:rPr>
              <a:t>23i-2634  ·  </a:t>
            </a:r>
            <a:r>
              <a:rPr lang="en-US" sz="1300" dirty="0">
                <a:solidFill>
                  <a:srgbClr val="E3BC6E"/>
                </a:solidFill>
                <a:latin typeface="Calibri" pitchFamily="34" charset="0"/>
                <a:ea typeface="Calibri" pitchFamily="34" charset="-122"/>
                <a:cs typeface="Calibri" pitchFamily="34" charset="-120"/>
              </a:rPr>
              <a:t>Platform</a:t>
            </a:r>
            <a:endParaRPr lang="en-US" sz="1550" dirty="0"/>
          </a:p>
        </p:txBody>
      </p:sp>
      <p:sp>
        <p:nvSpPr>
          <p:cNvPr id="15" name="Text 13"/>
          <p:cNvSpPr txBox="1"/>
          <p:nvPr/>
        </p:nvSpPr>
        <p:spPr>
          <a:xfrm>
            <a:off x="566928" y="5961888"/>
            <a:ext cx="5486400" cy="548640"/>
          </a:xfrm>
          <a:prstGeom prst="rect">
            <a:avLst/>
          </a:prstGeom>
          <a:noFill/>
          <a:ln/>
        </p:spPr>
        <p:txBody>
          <a:bodyPr wrap="square" lIns="0" tIns="0" rIns="0" bIns="0" rtlCol="0" anchor="ctr"/>
          <a:lstStyle/>
          <a:p>
            <a:pPr marL="0" indent="0">
              <a:buNone/>
            </a:pPr>
            <a:r>
              <a:rPr lang="en-US" sz="1350" dirty="0">
                <a:solidFill>
                  <a:srgbClr val="A9B0BE"/>
                </a:solidFill>
                <a:latin typeface="Calibri" pitchFamily="34" charset="0"/>
                <a:ea typeface="Calibri" pitchFamily="34" charset="-122"/>
                <a:cs typeface="Calibri" pitchFamily="34" charset="-120"/>
              </a:rPr>
              <a:t>Supervisor   </a:t>
            </a:r>
            <a:r>
              <a:rPr lang="en-US" sz="1550" b="1" dirty="0">
                <a:solidFill>
                  <a:srgbClr val="F5F6F8"/>
                </a:solidFill>
                <a:latin typeface="Calibri" pitchFamily="34" charset="0"/>
                <a:ea typeface="Calibri" pitchFamily="34" charset="-122"/>
                <a:cs typeface="Calibri" pitchFamily="34" charset="-120"/>
              </a:rPr>
              <a:t>Dr. Adil Majeed</a:t>
            </a:r>
            <a:endParaRPr lang="en-US" sz="1350" dirty="0"/>
          </a:p>
          <a:p>
            <a:pPr marL="0" indent="0">
              <a:buNone/>
            </a:pPr>
            <a:r>
              <a:rPr lang="en-US" sz="1300" dirty="0">
                <a:solidFill>
                  <a:srgbClr val="A9B0BE"/>
                </a:solidFill>
                <a:latin typeface="Calibri" pitchFamily="34" charset="0"/>
                <a:ea typeface="Calibri" pitchFamily="34" charset="-122"/>
                <a:cs typeface="Calibri" pitchFamily="34" charset="-120"/>
              </a:rPr>
              <a:t>FAST School of Computing, NUCES Islamabad</a:t>
            </a:r>
            <a:endParaRPr lang="en-US" sz="1350" dirty="0"/>
          </a:p>
        </p:txBody>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C"/>
        </a:solidFill>
        <a:effectLst/>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txBody>
          <a:bodyPr/>
          <a:lstStyle/>
          <a:p>
            <a:endParaRPr lang="en-PK"/>
          </a:p>
        </p:txBody>
      </p:sp>
      <p:sp>
        <p:nvSpPr>
          <p:cNvPr id="3" name="Shape 1"/>
          <p:cNvSpPr/>
          <p:nvPr/>
        </p:nvSpPr>
        <p:spPr>
          <a:xfrm rot="2700000">
            <a:off x="10618927" y="5285232"/>
            <a:ext cx="1005840" cy="1005840"/>
          </a:xfrm>
          <a:prstGeom prst="rect">
            <a:avLst/>
          </a:prstGeom>
          <a:ln w="12700">
            <a:solidFill>
              <a:srgbClr val="F4F5F7"/>
            </a:solidFill>
            <a:prstDash val="solid"/>
          </a:ln>
        </p:spPr>
        <p:txBody>
          <a:bodyPr/>
          <a:lstStyle/>
          <a:p>
            <a:endParaRPr lang="en-PK"/>
          </a:p>
        </p:txBody>
      </p:sp>
      <p:sp>
        <p:nvSpPr>
          <p:cNvPr id="4" name="Shape 2"/>
          <p:cNvSpPr/>
          <p:nvPr/>
        </p:nvSpPr>
        <p:spPr>
          <a:xfrm rot="2700000">
            <a:off x="10856671" y="5522976"/>
            <a:ext cx="530352" cy="530352"/>
          </a:xfrm>
          <a:prstGeom prst="rect">
            <a:avLst/>
          </a:prstGeom>
          <a:ln w="12700">
            <a:solidFill>
              <a:srgbClr val="F7F4ED"/>
            </a:solidFill>
            <a:prstDash val="solid"/>
          </a:ln>
        </p:spPr>
        <p:txBody>
          <a:bodyPr/>
          <a:lstStyle/>
          <a:p>
            <a:endParaRPr lang="en-PK"/>
          </a:p>
        </p:txBody>
      </p:sp>
      <p:sp>
        <p:nvSpPr>
          <p:cNvPr id="5" name="Text 3"/>
          <p:cNvSpPr txBox="1"/>
          <p:nvPr/>
        </p:nvSpPr>
        <p:spPr>
          <a:xfrm>
            <a:off x="566928" y="292608"/>
            <a:ext cx="11057839" cy="256032"/>
          </a:xfrm>
          <a:prstGeom prst="rect">
            <a:avLst/>
          </a:prstGeom>
          <a:noFill/>
          <a:ln/>
        </p:spPr>
        <p:txBody>
          <a:bodyPr wrap="square" lIns="0" tIns="0" rIns="0" bIns="0" rtlCol="0" anchor="ctr"/>
          <a:lstStyle/>
          <a:p>
            <a:pPr marL="0" indent="0">
              <a:buNone/>
            </a:pPr>
            <a:r>
              <a:rPr lang="en-US" sz="1350" b="1" kern="0" spc="160" dirty="0">
                <a:solidFill>
                  <a:srgbClr val="8E6A1F"/>
                </a:solidFill>
                <a:latin typeface="Consolas" pitchFamily="34" charset="0"/>
                <a:ea typeface="Consolas" pitchFamily="34" charset="-122"/>
                <a:cs typeface="Consolas" pitchFamily="34" charset="-120"/>
              </a:rPr>
              <a:t>WHO HAS THIS, HOW IT IS HANDLED TODAY, WHY IT MATTERS</a:t>
            </a:r>
            <a:endParaRPr lang="en-US" sz="13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marL="0" indent="0">
              <a:buNone/>
            </a:pPr>
            <a:r>
              <a:rPr lang="en-US" sz="2950" b="1" dirty="0">
                <a:solidFill>
                  <a:srgbClr val="1B202A"/>
                </a:solidFill>
                <a:latin typeface="Georgia" pitchFamily="34" charset="0"/>
                <a:ea typeface="Georgia" pitchFamily="34" charset="-122"/>
                <a:cs typeface="Georgia" pitchFamily="34" charset="-120"/>
              </a:rPr>
              <a:t>Problem &amp; Users</a:t>
            </a:r>
            <a:endParaRPr lang="en-US" sz="2950" dirty="0"/>
          </a:p>
        </p:txBody>
      </p:sp>
      <p:sp>
        <p:nvSpPr>
          <p:cNvPr id="7" name="Shape 5"/>
          <p:cNvSpPr/>
          <p:nvPr/>
        </p:nvSpPr>
        <p:spPr>
          <a:xfrm>
            <a:off x="566928" y="1188720"/>
            <a:ext cx="566928" cy="36576"/>
          </a:xfrm>
          <a:prstGeom prst="rect">
            <a:avLst/>
          </a:prstGeom>
          <a:solidFill>
            <a:srgbClr val="C89B3C"/>
          </a:solidFill>
          <a:ln/>
        </p:spPr>
        <p:txBody>
          <a:bodyPr/>
          <a:lstStyle/>
          <a:p>
            <a:endParaRPr lang="en-PK"/>
          </a:p>
        </p:txBody>
      </p:sp>
      <p:sp>
        <p:nvSpPr>
          <p:cNvPr id="8" name="Shape 6"/>
          <p:cNvSpPr/>
          <p:nvPr/>
        </p:nvSpPr>
        <p:spPr>
          <a:xfrm>
            <a:off x="566928" y="6437376"/>
            <a:ext cx="11057839" cy="0"/>
          </a:xfrm>
          <a:prstGeom prst="line">
            <a:avLst/>
          </a:prstGeom>
          <a:noFill/>
          <a:ln w="9525">
            <a:solidFill>
              <a:srgbClr val="D9DCE3"/>
            </a:solidFill>
            <a:prstDash val="solid"/>
          </a:ln>
        </p:spPr>
        <p:txBody>
          <a:bodyPr/>
          <a:lstStyle/>
          <a:p>
            <a:endParaRPr lang="en-PK"/>
          </a:p>
        </p:txBody>
      </p:sp>
      <p:sp>
        <p:nvSpPr>
          <p:cNvPr id="9" name="Text 7"/>
          <p:cNvSpPr txBox="1"/>
          <p:nvPr/>
        </p:nvSpPr>
        <p:spPr>
          <a:xfrm>
            <a:off x="566928" y="6510528"/>
            <a:ext cx="5943600" cy="237744"/>
          </a:xfrm>
          <a:prstGeom prst="rect">
            <a:avLst/>
          </a:prstGeom>
          <a:noFill/>
          <a:ln/>
        </p:spPr>
        <p:txBody>
          <a:bodyPr wrap="square" lIns="0" tIns="0" rIns="0" bIns="0" rtlCol="0" anchor="ctr"/>
          <a:lstStyle/>
          <a:p>
            <a:pPr marL="0" indent="0">
              <a:buNone/>
            </a:pPr>
            <a:r>
              <a:rPr lang="en-US" sz="1050" kern="0" spc="7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10" name="Text 8"/>
          <p:cNvSpPr txBox="1"/>
          <p:nvPr/>
        </p:nvSpPr>
        <p:spPr>
          <a:xfrm>
            <a:off x="10527487" y="6510528"/>
            <a:ext cx="1097280" cy="237744"/>
          </a:xfrm>
          <a:prstGeom prst="rect">
            <a:avLst/>
          </a:prstGeom>
          <a:noFill/>
          <a:ln/>
        </p:spPr>
        <p:txBody>
          <a:bodyPr wrap="square" lIns="0" tIns="0" rIns="0" bIns="0" rtlCol="0" anchor="ctr"/>
          <a:lstStyle/>
          <a:p>
            <a:pPr marL="0" indent="0" algn="r">
              <a:buNone/>
            </a:pPr>
            <a:r>
              <a:rPr lang="en-US" sz="1050" b="1" dirty="0">
                <a:solidFill>
                  <a:srgbClr val="8E6A1F"/>
                </a:solidFill>
                <a:latin typeface="Consolas" pitchFamily="34" charset="0"/>
                <a:ea typeface="Consolas" pitchFamily="34" charset="-122"/>
                <a:cs typeface="Consolas" pitchFamily="34" charset="-120"/>
              </a:rPr>
              <a:t>2 / 10</a:t>
            </a:r>
            <a:endParaRPr lang="en-US" sz="1050" dirty="0"/>
          </a:p>
        </p:txBody>
      </p:sp>
      <p:sp>
        <p:nvSpPr>
          <p:cNvPr id="11" name="Shape 9"/>
          <p:cNvSpPr/>
          <p:nvPr/>
        </p:nvSpPr>
        <p:spPr>
          <a:xfrm>
            <a:off x="587045" y="1415491"/>
            <a:ext cx="4983480" cy="2240280"/>
          </a:xfrm>
          <a:prstGeom prst="roundRect">
            <a:avLst>
              <a:gd name="adj" fmla="val 2449"/>
            </a:avLst>
          </a:prstGeom>
          <a:solidFill>
            <a:srgbClr val="E4E6EB"/>
          </a:solidFill>
          <a:ln/>
        </p:spPr>
        <p:txBody>
          <a:bodyPr/>
          <a:lstStyle/>
          <a:p>
            <a:endParaRPr lang="en-PK"/>
          </a:p>
        </p:txBody>
      </p:sp>
      <p:sp>
        <p:nvSpPr>
          <p:cNvPr id="12" name="Shape 10"/>
          <p:cNvSpPr/>
          <p:nvPr/>
        </p:nvSpPr>
        <p:spPr>
          <a:xfrm>
            <a:off x="566928" y="1389888"/>
            <a:ext cx="4983480" cy="2240280"/>
          </a:xfrm>
          <a:prstGeom prst="roundRect">
            <a:avLst>
              <a:gd name="adj" fmla="val 2449"/>
            </a:avLst>
          </a:prstGeom>
          <a:solidFill>
            <a:srgbClr val="F1F2F5"/>
          </a:solidFill>
          <a:ln w="9525">
            <a:solidFill>
              <a:srgbClr val="D9DCE3"/>
            </a:solidFill>
            <a:prstDash val="solid"/>
          </a:ln>
        </p:spPr>
        <p:txBody>
          <a:bodyPr/>
          <a:lstStyle/>
          <a:p>
            <a:endParaRPr lang="en-PK"/>
          </a:p>
        </p:txBody>
      </p:sp>
      <p:sp>
        <p:nvSpPr>
          <p:cNvPr id="13" name="Shape 11"/>
          <p:cNvSpPr/>
          <p:nvPr/>
        </p:nvSpPr>
        <p:spPr>
          <a:xfrm>
            <a:off x="566928" y="1444752"/>
            <a:ext cx="41148" cy="2130552"/>
          </a:xfrm>
          <a:prstGeom prst="rect">
            <a:avLst/>
          </a:prstGeom>
          <a:solidFill>
            <a:srgbClr val="15707A"/>
          </a:solidFill>
          <a:ln/>
        </p:spPr>
        <p:txBody>
          <a:bodyPr/>
          <a:lstStyle/>
          <a:p>
            <a:endParaRPr lang="en-PK"/>
          </a:p>
        </p:txBody>
      </p:sp>
      <p:sp>
        <p:nvSpPr>
          <p:cNvPr id="14" name="Text 12"/>
          <p:cNvSpPr txBox="1"/>
          <p:nvPr/>
        </p:nvSpPr>
        <p:spPr>
          <a:xfrm>
            <a:off x="822960" y="1536192"/>
            <a:ext cx="4572000" cy="256032"/>
          </a:xfrm>
          <a:prstGeom prst="rect">
            <a:avLst/>
          </a:prstGeom>
          <a:noFill/>
          <a:ln/>
        </p:spPr>
        <p:txBody>
          <a:bodyPr wrap="square" lIns="0" tIns="0" rIns="0" bIns="0" rtlCol="0" anchor="ctr"/>
          <a:lstStyle/>
          <a:p>
            <a:pPr marL="0" indent="0">
              <a:buNone/>
            </a:pPr>
            <a:r>
              <a:rPr lang="en-US" sz="1400" b="1" kern="0" spc="100" dirty="0">
                <a:solidFill>
                  <a:srgbClr val="8E6A1F"/>
                </a:solidFill>
                <a:latin typeface="Consolas" pitchFamily="34" charset="0"/>
                <a:ea typeface="Consolas" pitchFamily="34" charset="-122"/>
                <a:cs typeface="Consolas" pitchFamily="34" charset="-120"/>
              </a:rPr>
              <a:t>STAKEHOLDERS</a:t>
            </a:r>
            <a:endParaRPr lang="en-US" sz="1400" dirty="0"/>
          </a:p>
        </p:txBody>
      </p:sp>
      <p:sp>
        <p:nvSpPr>
          <p:cNvPr id="15" name="Text 13"/>
          <p:cNvSpPr txBox="1"/>
          <p:nvPr/>
        </p:nvSpPr>
        <p:spPr>
          <a:xfrm>
            <a:off x="822960" y="1847088"/>
            <a:ext cx="4526280" cy="1737360"/>
          </a:xfrm>
          <a:prstGeom prst="rect">
            <a:avLst/>
          </a:prstGeom>
          <a:noFill/>
          <a:ln/>
        </p:spPr>
        <p:txBody>
          <a:bodyPr wrap="square" lIns="0" tIns="0" rIns="0" bIns="0" rtlCol="0" anchor="t"/>
          <a:lstStyle/>
          <a:p>
            <a:pPr marL="190500" indent="-190500">
              <a:spcAft>
                <a:spcPts val="900"/>
              </a:spcAft>
              <a:buSzPct val="100000"/>
              <a:buChar char="▪"/>
            </a:pPr>
            <a:r>
              <a:rPr lang="en-US" sz="1650" dirty="0">
                <a:solidFill>
                  <a:srgbClr val="1B202A"/>
                </a:solidFill>
                <a:latin typeface="Calibri" pitchFamily="34" charset="0"/>
                <a:ea typeface="Calibri" pitchFamily="34" charset="-122"/>
                <a:cs typeface="Calibri" pitchFamily="34" charset="-120"/>
              </a:rPr>
              <a:t>Primary — an engineering team running a multi-agent AI system in or near production</a:t>
            </a:r>
            <a:endParaRPr lang="en-US" sz="1650" dirty="0"/>
          </a:p>
          <a:p>
            <a:pPr marL="190500" indent="-190500">
              <a:spcAft>
                <a:spcPts val="900"/>
              </a:spcAft>
              <a:buSzPct val="100000"/>
              <a:buChar char="▪"/>
            </a:pPr>
            <a:r>
              <a:rPr lang="en-US" sz="1650" dirty="0">
                <a:solidFill>
                  <a:srgbClr val="1B202A"/>
                </a:solidFill>
                <a:latin typeface="Calibri" pitchFamily="34" charset="0"/>
                <a:ea typeface="Calibri" pitchFamily="34" charset="-122"/>
                <a:cs typeface="Calibri" pitchFamily="34" charset="-120"/>
              </a:rPr>
              <a:t>Secondary — downstream product teams</a:t>
            </a:r>
            <a:endParaRPr lang="en-US" sz="1650" dirty="0"/>
          </a:p>
          <a:p>
            <a:pPr marL="190500" indent="-190500">
              <a:spcAft>
                <a:spcPts val="900"/>
              </a:spcAft>
              <a:buSzPct val="100000"/>
              <a:buChar char="▪"/>
            </a:pPr>
            <a:r>
              <a:rPr lang="en-US" sz="1650" dirty="0">
                <a:solidFill>
                  <a:srgbClr val="1B202A"/>
                </a:solidFill>
                <a:latin typeface="Calibri" pitchFamily="34" charset="0"/>
                <a:ea typeface="Calibri" pitchFamily="34" charset="-122"/>
                <a:cs typeface="Calibri" pitchFamily="34" charset="-120"/>
              </a:rPr>
              <a:t>Secondary — auditors needing traceable evidence</a:t>
            </a:r>
            <a:endParaRPr lang="en-US" sz="1650" dirty="0"/>
          </a:p>
        </p:txBody>
      </p:sp>
      <p:sp>
        <p:nvSpPr>
          <p:cNvPr id="16" name="Shape 14"/>
          <p:cNvSpPr/>
          <p:nvPr/>
        </p:nvSpPr>
        <p:spPr>
          <a:xfrm>
            <a:off x="587045" y="3774643"/>
            <a:ext cx="4983480" cy="841248"/>
          </a:xfrm>
          <a:prstGeom prst="roundRect">
            <a:avLst>
              <a:gd name="adj" fmla="val 6522"/>
            </a:avLst>
          </a:prstGeom>
          <a:solidFill>
            <a:srgbClr val="E4E6EB"/>
          </a:solidFill>
          <a:ln/>
        </p:spPr>
        <p:txBody>
          <a:bodyPr/>
          <a:lstStyle/>
          <a:p>
            <a:endParaRPr lang="en-PK"/>
          </a:p>
        </p:txBody>
      </p:sp>
      <p:sp>
        <p:nvSpPr>
          <p:cNvPr id="17" name="Shape 15"/>
          <p:cNvSpPr/>
          <p:nvPr/>
        </p:nvSpPr>
        <p:spPr>
          <a:xfrm>
            <a:off x="566928" y="3749040"/>
            <a:ext cx="4983480" cy="841248"/>
          </a:xfrm>
          <a:prstGeom prst="roundRect">
            <a:avLst>
              <a:gd name="adj" fmla="val 6522"/>
            </a:avLst>
          </a:prstGeom>
          <a:solidFill>
            <a:srgbClr val="E3EFF1"/>
          </a:solidFill>
          <a:ln w="9525">
            <a:solidFill>
              <a:srgbClr val="D9DCE3"/>
            </a:solidFill>
            <a:prstDash val="solid"/>
          </a:ln>
        </p:spPr>
        <p:txBody>
          <a:bodyPr/>
          <a:lstStyle/>
          <a:p>
            <a:endParaRPr lang="en-PK"/>
          </a:p>
        </p:txBody>
      </p:sp>
      <p:sp>
        <p:nvSpPr>
          <p:cNvPr id="18" name="Text 16"/>
          <p:cNvSpPr txBox="1"/>
          <p:nvPr/>
        </p:nvSpPr>
        <p:spPr>
          <a:xfrm>
            <a:off x="822960" y="3877056"/>
            <a:ext cx="4526280" cy="603504"/>
          </a:xfrm>
          <a:prstGeom prst="rect">
            <a:avLst/>
          </a:prstGeom>
          <a:noFill/>
          <a:ln/>
        </p:spPr>
        <p:txBody>
          <a:bodyPr wrap="square" lIns="0" tIns="0" rIns="0" bIns="0" rtlCol="0" anchor="ctr"/>
          <a:lstStyle/>
          <a:p>
            <a:pPr marL="0" indent="0">
              <a:buNone/>
            </a:pPr>
            <a:r>
              <a:rPr lang="en-US" sz="1650" b="1" dirty="0">
                <a:solidFill>
                  <a:srgbClr val="15707A"/>
                </a:solidFill>
                <a:latin typeface="Calibri" pitchFamily="34" charset="0"/>
                <a:ea typeface="Calibri" pitchFamily="34" charset="-122"/>
                <a:cs typeface="Calibri" pitchFamily="34" charset="-120"/>
              </a:rPr>
              <a:t>SDG 9  </a:t>
            </a:r>
            <a:r>
              <a:rPr lang="en-US" sz="1550" dirty="0">
                <a:solidFill>
                  <a:srgbClr val="1B202A"/>
                </a:solidFill>
                <a:latin typeface="Calibri" pitchFamily="34" charset="0"/>
                <a:ea typeface="Calibri" pitchFamily="34" charset="-122"/>
                <a:cs typeface="Calibri" pitchFamily="34" charset="-120"/>
              </a:rPr>
              <a:t>Industry, Innovation &amp; Infrastructure — reliability tooling, new industrial category</a:t>
            </a:r>
            <a:endParaRPr lang="en-US" sz="1650" dirty="0"/>
          </a:p>
        </p:txBody>
      </p:sp>
      <p:sp>
        <p:nvSpPr>
          <p:cNvPr id="19" name="Shape 17"/>
          <p:cNvSpPr/>
          <p:nvPr/>
        </p:nvSpPr>
        <p:spPr>
          <a:xfrm>
            <a:off x="587045" y="4734763"/>
            <a:ext cx="4983480" cy="1188720"/>
          </a:xfrm>
          <a:prstGeom prst="roundRect">
            <a:avLst>
              <a:gd name="adj" fmla="val 4615"/>
            </a:avLst>
          </a:prstGeom>
          <a:solidFill>
            <a:srgbClr val="E4E6EB"/>
          </a:solidFill>
          <a:ln/>
        </p:spPr>
        <p:txBody>
          <a:bodyPr/>
          <a:lstStyle/>
          <a:p>
            <a:endParaRPr lang="en-PK"/>
          </a:p>
        </p:txBody>
      </p:sp>
      <p:sp>
        <p:nvSpPr>
          <p:cNvPr id="20" name="Shape 18"/>
          <p:cNvSpPr/>
          <p:nvPr/>
        </p:nvSpPr>
        <p:spPr>
          <a:xfrm>
            <a:off x="566928" y="4709160"/>
            <a:ext cx="4983480" cy="1188720"/>
          </a:xfrm>
          <a:prstGeom prst="roundRect">
            <a:avLst>
              <a:gd name="adj" fmla="val 4615"/>
            </a:avLst>
          </a:prstGeom>
          <a:solidFill>
            <a:srgbClr val="F6E6E3"/>
          </a:solidFill>
          <a:ln w="9525">
            <a:solidFill>
              <a:srgbClr val="D9DCE3"/>
            </a:solidFill>
            <a:prstDash val="solid"/>
          </a:ln>
        </p:spPr>
        <p:txBody>
          <a:bodyPr/>
          <a:lstStyle/>
          <a:p>
            <a:endParaRPr lang="en-PK"/>
          </a:p>
        </p:txBody>
      </p:sp>
      <p:sp>
        <p:nvSpPr>
          <p:cNvPr id="21" name="Shape 19"/>
          <p:cNvSpPr/>
          <p:nvPr/>
        </p:nvSpPr>
        <p:spPr>
          <a:xfrm>
            <a:off x="566928" y="4764024"/>
            <a:ext cx="41148" cy="1078992"/>
          </a:xfrm>
          <a:prstGeom prst="rect">
            <a:avLst/>
          </a:prstGeom>
          <a:solidFill>
            <a:srgbClr val="A83A30"/>
          </a:solidFill>
          <a:ln/>
        </p:spPr>
        <p:txBody>
          <a:bodyPr/>
          <a:lstStyle/>
          <a:p>
            <a:endParaRPr lang="en-PK"/>
          </a:p>
        </p:txBody>
      </p:sp>
      <p:sp>
        <p:nvSpPr>
          <p:cNvPr id="22" name="Text 20"/>
          <p:cNvSpPr txBox="1"/>
          <p:nvPr/>
        </p:nvSpPr>
        <p:spPr>
          <a:xfrm>
            <a:off x="822960" y="4846320"/>
            <a:ext cx="4572000" cy="256032"/>
          </a:xfrm>
          <a:prstGeom prst="rect">
            <a:avLst/>
          </a:prstGeom>
          <a:noFill/>
          <a:ln/>
        </p:spPr>
        <p:txBody>
          <a:bodyPr wrap="square" lIns="0" tIns="0" rIns="0" bIns="0" rtlCol="0" anchor="ctr"/>
          <a:lstStyle/>
          <a:p>
            <a:pPr marL="0" indent="0">
              <a:buNone/>
            </a:pPr>
            <a:r>
              <a:rPr lang="en-US" sz="1400" b="1" kern="0" spc="100" dirty="0">
                <a:solidFill>
                  <a:srgbClr val="A83A30"/>
                </a:solidFill>
                <a:latin typeface="Consolas" pitchFamily="34" charset="0"/>
                <a:ea typeface="Consolas" pitchFamily="34" charset="-122"/>
                <a:cs typeface="Consolas" pitchFamily="34" charset="-120"/>
              </a:rPr>
              <a:t>CONSEQUENCE OF FAILURE</a:t>
            </a:r>
            <a:endParaRPr lang="en-US" sz="1400" dirty="0"/>
          </a:p>
        </p:txBody>
      </p:sp>
      <p:sp>
        <p:nvSpPr>
          <p:cNvPr id="23" name="Text 21"/>
          <p:cNvSpPr txBox="1"/>
          <p:nvPr/>
        </p:nvSpPr>
        <p:spPr>
          <a:xfrm>
            <a:off x="822960" y="5138928"/>
            <a:ext cx="4526280" cy="731520"/>
          </a:xfrm>
          <a:prstGeom prst="rect">
            <a:avLst/>
          </a:prstGeom>
          <a:noFill/>
          <a:ln/>
        </p:spPr>
        <p:txBody>
          <a:bodyPr wrap="square" lIns="0" tIns="0" rIns="0" bIns="0" rtlCol="0" anchor="ctr"/>
          <a:lstStyle/>
          <a:p>
            <a:pPr marL="0" indent="0">
              <a:buNone/>
            </a:pPr>
            <a:r>
              <a:rPr lang="en-US" sz="1650" i="1" dirty="0">
                <a:solidFill>
                  <a:srgbClr val="1B202A"/>
                </a:solidFill>
                <a:latin typeface="Calibri" pitchFamily="34" charset="0"/>
                <a:ea typeface="Calibri" pitchFamily="34" charset="-122"/>
                <a:cs typeface="Calibri" pitchFamily="34" charset="-120"/>
              </a:rPr>
              <a:t>Ships a confident, wrong answer — no crash, no error, no signal anything went wrong.</a:t>
            </a:r>
            <a:endParaRPr lang="en-US" sz="1650" dirty="0"/>
          </a:p>
        </p:txBody>
      </p:sp>
      <p:sp>
        <p:nvSpPr>
          <p:cNvPr id="24" name="Text 22"/>
          <p:cNvSpPr txBox="1"/>
          <p:nvPr/>
        </p:nvSpPr>
        <p:spPr>
          <a:xfrm>
            <a:off x="5870448" y="1389888"/>
            <a:ext cx="5754319" cy="256032"/>
          </a:xfrm>
          <a:prstGeom prst="rect">
            <a:avLst/>
          </a:prstGeom>
          <a:noFill/>
          <a:ln/>
        </p:spPr>
        <p:txBody>
          <a:bodyPr wrap="square" lIns="0" tIns="0" rIns="0" bIns="0" rtlCol="0" anchor="ctr"/>
          <a:lstStyle/>
          <a:p>
            <a:pPr marL="0" indent="0">
              <a:buNone/>
            </a:pPr>
            <a:r>
              <a:rPr lang="en-US" sz="1400" b="1" kern="0" spc="100" dirty="0">
                <a:solidFill>
                  <a:srgbClr val="596273"/>
                </a:solidFill>
                <a:latin typeface="Consolas" pitchFamily="34" charset="0"/>
                <a:ea typeface="Consolas" pitchFamily="34" charset="-122"/>
                <a:cs typeface="Consolas" pitchFamily="34" charset="-120"/>
              </a:rPr>
              <a:t>CURRENT WORKFLOW — WITHOUT GRANITE</a:t>
            </a:r>
            <a:endParaRPr lang="en-US" sz="1400" dirty="0"/>
          </a:p>
        </p:txBody>
      </p:sp>
      <p:sp>
        <p:nvSpPr>
          <p:cNvPr id="25" name="Shape 23"/>
          <p:cNvSpPr/>
          <p:nvPr/>
        </p:nvSpPr>
        <p:spPr>
          <a:xfrm>
            <a:off x="5870448" y="1792224"/>
            <a:ext cx="402336" cy="402336"/>
          </a:xfrm>
          <a:prstGeom prst="ellipse">
            <a:avLst/>
          </a:prstGeom>
          <a:solidFill>
            <a:srgbClr val="E4E9F2"/>
          </a:solidFill>
          <a:ln/>
        </p:spPr>
        <p:txBody>
          <a:bodyPr/>
          <a:lstStyle/>
          <a:p>
            <a:endParaRPr lang="en-PK"/>
          </a:p>
        </p:txBody>
      </p:sp>
      <p:sp>
        <p:nvSpPr>
          <p:cNvPr id="26" name="Text 24"/>
          <p:cNvSpPr txBox="1"/>
          <p:nvPr/>
        </p:nvSpPr>
        <p:spPr>
          <a:xfrm>
            <a:off x="5870448" y="1792224"/>
            <a:ext cx="402336" cy="402336"/>
          </a:xfrm>
          <a:prstGeom prst="rect">
            <a:avLst/>
          </a:prstGeom>
          <a:noFill/>
          <a:ln/>
        </p:spPr>
        <p:txBody>
          <a:bodyPr wrap="square" lIns="0" tIns="0" rIns="0" bIns="0" rtlCol="0" anchor="ctr"/>
          <a:lstStyle/>
          <a:p>
            <a:pPr marL="0" indent="0" algn="ctr">
              <a:buNone/>
            </a:pPr>
            <a:r>
              <a:rPr lang="en-US" sz="1450" b="1" dirty="0">
                <a:solidFill>
                  <a:srgbClr val="31558F"/>
                </a:solidFill>
                <a:latin typeface="Georgia" pitchFamily="34" charset="0"/>
                <a:ea typeface="Georgia" pitchFamily="34" charset="-122"/>
                <a:cs typeface="Georgia" pitchFamily="34" charset="-120"/>
              </a:rPr>
              <a:t>1</a:t>
            </a:r>
            <a:endParaRPr lang="en-US" sz="1450" dirty="0"/>
          </a:p>
        </p:txBody>
      </p:sp>
      <p:sp>
        <p:nvSpPr>
          <p:cNvPr id="27" name="Text 25"/>
          <p:cNvSpPr txBox="1"/>
          <p:nvPr/>
        </p:nvSpPr>
        <p:spPr>
          <a:xfrm>
            <a:off x="6419088" y="1737360"/>
            <a:ext cx="5187391" cy="804672"/>
          </a:xfrm>
          <a:prstGeom prst="rect">
            <a:avLst/>
          </a:prstGeom>
          <a:noFill/>
          <a:ln/>
        </p:spPr>
        <p:txBody>
          <a:bodyPr wrap="square" lIns="0" tIns="0" rIns="0" bIns="0" rtlCol="0" anchor="ctr"/>
          <a:lstStyle/>
          <a:p>
            <a:pPr marL="0" indent="0">
              <a:buNone/>
            </a:pPr>
            <a:r>
              <a:rPr lang="en-US" sz="1700" b="1" dirty="0">
                <a:solidFill>
                  <a:srgbClr val="1B202A"/>
                </a:solidFill>
                <a:latin typeface="Calibri" pitchFamily="34" charset="0"/>
                <a:ea typeface="Calibri" pitchFamily="34" charset="-122"/>
                <a:cs typeface="Calibri" pitchFamily="34" charset="-120"/>
              </a:rPr>
              <a:t>Trace captured</a:t>
            </a:r>
            <a:endParaRPr lang="en-US" sz="1700" dirty="0"/>
          </a:p>
          <a:p>
            <a:pPr marL="0" indent="0">
              <a:buNone/>
            </a:pPr>
            <a:r>
              <a:rPr lang="en-US" sz="1450" dirty="0">
                <a:solidFill>
                  <a:srgbClr val="596273"/>
                </a:solidFill>
                <a:latin typeface="Calibri" pitchFamily="34" charset="0"/>
                <a:ea typeface="Calibri" pitchFamily="34" charset="-122"/>
                <a:cs typeface="Calibri" pitchFamily="34" charset="-120"/>
              </a:rPr>
              <a:t>LangSmith / Langfuse / Braintrust / Arize</a:t>
            </a:r>
            <a:endParaRPr lang="en-US" sz="1700" dirty="0"/>
          </a:p>
        </p:txBody>
      </p:sp>
      <p:sp>
        <p:nvSpPr>
          <p:cNvPr id="28" name="Shape 26"/>
          <p:cNvSpPr/>
          <p:nvPr/>
        </p:nvSpPr>
        <p:spPr>
          <a:xfrm>
            <a:off x="6071616" y="2194560"/>
            <a:ext cx="0" cy="384048"/>
          </a:xfrm>
          <a:prstGeom prst="line">
            <a:avLst/>
          </a:prstGeom>
          <a:noFill/>
          <a:ln w="19050">
            <a:solidFill>
              <a:srgbClr val="D9DCE3"/>
            </a:solidFill>
            <a:prstDash val="dash"/>
          </a:ln>
        </p:spPr>
        <p:txBody>
          <a:bodyPr/>
          <a:lstStyle/>
          <a:p>
            <a:endParaRPr lang="en-PK"/>
          </a:p>
        </p:txBody>
      </p:sp>
      <p:sp>
        <p:nvSpPr>
          <p:cNvPr id="29" name="Shape 27"/>
          <p:cNvSpPr/>
          <p:nvPr/>
        </p:nvSpPr>
        <p:spPr>
          <a:xfrm>
            <a:off x="5870448" y="2889504"/>
            <a:ext cx="402336" cy="402336"/>
          </a:xfrm>
          <a:prstGeom prst="ellipse">
            <a:avLst/>
          </a:prstGeom>
          <a:solidFill>
            <a:srgbClr val="F6EADD"/>
          </a:solidFill>
          <a:ln/>
        </p:spPr>
        <p:txBody>
          <a:bodyPr/>
          <a:lstStyle/>
          <a:p>
            <a:endParaRPr lang="en-PK"/>
          </a:p>
        </p:txBody>
      </p:sp>
      <p:sp>
        <p:nvSpPr>
          <p:cNvPr id="30" name="Text 28"/>
          <p:cNvSpPr txBox="1"/>
          <p:nvPr/>
        </p:nvSpPr>
        <p:spPr>
          <a:xfrm>
            <a:off x="5870448" y="2889504"/>
            <a:ext cx="402336" cy="402336"/>
          </a:xfrm>
          <a:prstGeom prst="rect">
            <a:avLst/>
          </a:prstGeom>
          <a:noFill/>
          <a:ln/>
        </p:spPr>
        <p:txBody>
          <a:bodyPr wrap="square" lIns="0" tIns="0" rIns="0" bIns="0" rtlCol="0" anchor="ctr"/>
          <a:lstStyle/>
          <a:p>
            <a:pPr marL="0" indent="0" algn="ctr">
              <a:buNone/>
            </a:pPr>
            <a:r>
              <a:rPr lang="en-US" sz="1450" b="1" dirty="0">
                <a:solidFill>
                  <a:srgbClr val="B05C1C"/>
                </a:solidFill>
                <a:latin typeface="Georgia" pitchFamily="34" charset="0"/>
                <a:ea typeface="Georgia" pitchFamily="34" charset="-122"/>
                <a:cs typeface="Georgia" pitchFamily="34" charset="-120"/>
              </a:rPr>
              <a:t>2</a:t>
            </a:r>
            <a:endParaRPr lang="en-US" sz="1450" dirty="0"/>
          </a:p>
        </p:txBody>
      </p:sp>
      <p:sp>
        <p:nvSpPr>
          <p:cNvPr id="31" name="Text 29"/>
          <p:cNvSpPr txBox="1"/>
          <p:nvPr/>
        </p:nvSpPr>
        <p:spPr>
          <a:xfrm>
            <a:off x="6419088" y="2834640"/>
            <a:ext cx="5187391" cy="804672"/>
          </a:xfrm>
          <a:prstGeom prst="rect">
            <a:avLst/>
          </a:prstGeom>
          <a:noFill/>
          <a:ln/>
        </p:spPr>
        <p:txBody>
          <a:bodyPr wrap="square" lIns="0" tIns="0" rIns="0" bIns="0" rtlCol="0" anchor="ctr"/>
          <a:lstStyle/>
          <a:p>
            <a:pPr marL="0" indent="0">
              <a:buNone/>
            </a:pPr>
            <a:r>
              <a:rPr lang="en-US" sz="1700" b="1" dirty="0">
                <a:solidFill>
                  <a:srgbClr val="1B202A"/>
                </a:solidFill>
                <a:latin typeface="Calibri" pitchFamily="34" charset="0"/>
                <a:ea typeface="Calibri" pitchFamily="34" charset="-122"/>
                <a:cs typeface="Calibri" pitchFamily="34" charset="-120"/>
              </a:rPr>
              <a:t>Human guesses the root cause</a:t>
            </a:r>
            <a:endParaRPr lang="en-US" sz="1700" dirty="0"/>
          </a:p>
          <a:p>
            <a:pPr marL="0" indent="0">
              <a:buNone/>
            </a:pPr>
            <a:r>
              <a:rPr lang="en-US" sz="1450" dirty="0">
                <a:solidFill>
                  <a:srgbClr val="596273"/>
                </a:solidFill>
                <a:latin typeface="Calibri" pitchFamily="34" charset="0"/>
                <a:ea typeface="Calibri" pitchFamily="34" charset="-122"/>
                <a:cs typeface="Calibri" pitchFamily="34" charset="-120"/>
              </a:rPr>
              <a:t>no published accuracy</a:t>
            </a:r>
            <a:endParaRPr lang="en-US" sz="1700" dirty="0"/>
          </a:p>
        </p:txBody>
      </p:sp>
      <p:sp>
        <p:nvSpPr>
          <p:cNvPr id="32" name="Shape 30"/>
          <p:cNvSpPr/>
          <p:nvPr/>
        </p:nvSpPr>
        <p:spPr>
          <a:xfrm>
            <a:off x="6071616" y="3291840"/>
            <a:ext cx="0" cy="384048"/>
          </a:xfrm>
          <a:prstGeom prst="line">
            <a:avLst/>
          </a:prstGeom>
          <a:noFill/>
          <a:ln w="19050">
            <a:solidFill>
              <a:srgbClr val="D9DCE3"/>
            </a:solidFill>
            <a:prstDash val="dash"/>
          </a:ln>
        </p:spPr>
        <p:txBody>
          <a:bodyPr/>
          <a:lstStyle/>
          <a:p>
            <a:endParaRPr lang="en-PK"/>
          </a:p>
        </p:txBody>
      </p:sp>
      <p:sp>
        <p:nvSpPr>
          <p:cNvPr id="33" name="Shape 31"/>
          <p:cNvSpPr/>
          <p:nvPr/>
        </p:nvSpPr>
        <p:spPr>
          <a:xfrm>
            <a:off x="5870448" y="3986784"/>
            <a:ext cx="402336" cy="402336"/>
          </a:xfrm>
          <a:prstGeom prst="ellipse">
            <a:avLst/>
          </a:prstGeom>
          <a:solidFill>
            <a:srgbClr val="F6E6E3"/>
          </a:solidFill>
          <a:ln/>
        </p:spPr>
        <p:txBody>
          <a:bodyPr/>
          <a:lstStyle/>
          <a:p>
            <a:endParaRPr lang="en-PK"/>
          </a:p>
        </p:txBody>
      </p:sp>
      <p:sp>
        <p:nvSpPr>
          <p:cNvPr id="34" name="Text 32"/>
          <p:cNvSpPr txBox="1"/>
          <p:nvPr/>
        </p:nvSpPr>
        <p:spPr>
          <a:xfrm>
            <a:off x="5870448" y="3986784"/>
            <a:ext cx="402336" cy="402336"/>
          </a:xfrm>
          <a:prstGeom prst="rect">
            <a:avLst/>
          </a:prstGeom>
          <a:noFill/>
          <a:ln/>
        </p:spPr>
        <p:txBody>
          <a:bodyPr wrap="square" lIns="0" tIns="0" rIns="0" bIns="0" rtlCol="0" anchor="ctr"/>
          <a:lstStyle/>
          <a:p>
            <a:pPr marL="0" indent="0" algn="ctr">
              <a:buNone/>
            </a:pPr>
            <a:r>
              <a:rPr lang="en-US" sz="1450" b="1" dirty="0">
                <a:solidFill>
                  <a:srgbClr val="A83A30"/>
                </a:solidFill>
                <a:latin typeface="Georgia" pitchFamily="34" charset="0"/>
                <a:ea typeface="Georgia" pitchFamily="34" charset="-122"/>
                <a:cs typeface="Georgia" pitchFamily="34" charset="-120"/>
              </a:rPr>
              <a:t>3</a:t>
            </a:r>
            <a:endParaRPr lang="en-US" sz="1450" dirty="0"/>
          </a:p>
        </p:txBody>
      </p:sp>
      <p:sp>
        <p:nvSpPr>
          <p:cNvPr id="35" name="Text 33"/>
          <p:cNvSpPr txBox="1"/>
          <p:nvPr/>
        </p:nvSpPr>
        <p:spPr>
          <a:xfrm>
            <a:off x="6419088" y="3931920"/>
            <a:ext cx="5187391" cy="804672"/>
          </a:xfrm>
          <a:prstGeom prst="rect">
            <a:avLst/>
          </a:prstGeom>
          <a:noFill/>
          <a:ln/>
        </p:spPr>
        <p:txBody>
          <a:bodyPr wrap="square" lIns="0" tIns="0" rIns="0" bIns="0" rtlCol="0" anchor="ctr"/>
          <a:lstStyle/>
          <a:p>
            <a:pPr marL="0" indent="0">
              <a:buNone/>
            </a:pPr>
            <a:r>
              <a:rPr lang="en-US" sz="1700" b="1" dirty="0">
                <a:solidFill>
                  <a:srgbClr val="1B202A"/>
                </a:solidFill>
                <a:latin typeface="Calibri" pitchFamily="34" charset="0"/>
                <a:ea typeface="Calibri" pitchFamily="34" charset="-122"/>
                <a:cs typeface="Calibri" pitchFamily="34" charset="-120"/>
              </a:rPr>
              <a:t>No silent-failure check</a:t>
            </a:r>
            <a:endParaRPr lang="en-US" sz="1700" dirty="0"/>
          </a:p>
          <a:p>
            <a:pPr marL="0" indent="0">
              <a:buNone/>
            </a:pPr>
            <a:r>
              <a:rPr lang="en-US" sz="1450" dirty="0">
                <a:solidFill>
                  <a:srgbClr val="596273"/>
                </a:solidFill>
                <a:latin typeface="Calibri" pitchFamily="34" charset="0"/>
                <a:ea typeface="Calibri" pitchFamily="34" charset="-122"/>
                <a:cs typeface="Calibri" pitchFamily="34" charset="-120"/>
              </a:rPr>
              <a:t>a confident, wrong answer passes unnoticed</a:t>
            </a:r>
            <a:endParaRPr lang="en-US" sz="1700" dirty="0"/>
          </a:p>
        </p:txBody>
      </p:sp>
      <p:sp>
        <p:nvSpPr>
          <p:cNvPr id="36" name="Shape 34"/>
          <p:cNvSpPr/>
          <p:nvPr/>
        </p:nvSpPr>
        <p:spPr>
          <a:xfrm>
            <a:off x="6071616" y="4389120"/>
            <a:ext cx="0" cy="384048"/>
          </a:xfrm>
          <a:prstGeom prst="line">
            <a:avLst/>
          </a:prstGeom>
          <a:noFill/>
          <a:ln w="19050">
            <a:solidFill>
              <a:srgbClr val="D9DCE3"/>
            </a:solidFill>
            <a:prstDash val="dash"/>
          </a:ln>
        </p:spPr>
        <p:txBody>
          <a:bodyPr/>
          <a:lstStyle/>
          <a:p>
            <a:endParaRPr lang="en-PK"/>
          </a:p>
        </p:txBody>
      </p:sp>
      <p:sp>
        <p:nvSpPr>
          <p:cNvPr id="37" name="Shape 35"/>
          <p:cNvSpPr/>
          <p:nvPr/>
        </p:nvSpPr>
        <p:spPr>
          <a:xfrm>
            <a:off x="5870448" y="5084064"/>
            <a:ext cx="402336" cy="402336"/>
          </a:xfrm>
          <a:prstGeom prst="ellipse">
            <a:avLst/>
          </a:prstGeom>
          <a:solidFill>
            <a:srgbClr val="F6E6E3"/>
          </a:solidFill>
          <a:ln/>
        </p:spPr>
        <p:txBody>
          <a:bodyPr/>
          <a:lstStyle/>
          <a:p>
            <a:endParaRPr lang="en-PK"/>
          </a:p>
        </p:txBody>
      </p:sp>
      <p:sp>
        <p:nvSpPr>
          <p:cNvPr id="38" name="Text 36"/>
          <p:cNvSpPr txBox="1"/>
          <p:nvPr/>
        </p:nvSpPr>
        <p:spPr>
          <a:xfrm>
            <a:off x="5870448" y="5084064"/>
            <a:ext cx="402336" cy="402336"/>
          </a:xfrm>
          <a:prstGeom prst="rect">
            <a:avLst/>
          </a:prstGeom>
          <a:noFill/>
          <a:ln/>
        </p:spPr>
        <p:txBody>
          <a:bodyPr wrap="square" lIns="0" tIns="0" rIns="0" bIns="0" rtlCol="0" anchor="ctr"/>
          <a:lstStyle/>
          <a:p>
            <a:pPr marL="0" indent="0" algn="ctr">
              <a:buNone/>
            </a:pPr>
            <a:r>
              <a:rPr lang="en-US" sz="1450" b="1" dirty="0">
                <a:solidFill>
                  <a:srgbClr val="A83A30"/>
                </a:solidFill>
                <a:latin typeface="Georgia" pitchFamily="34" charset="0"/>
                <a:ea typeface="Georgia" pitchFamily="34" charset="-122"/>
                <a:cs typeface="Georgia" pitchFamily="34" charset="-120"/>
              </a:rPr>
              <a:t>4</a:t>
            </a:r>
            <a:endParaRPr lang="en-US" sz="1450" dirty="0"/>
          </a:p>
        </p:txBody>
      </p:sp>
      <p:sp>
        <p:nvSpPr>
          <p:cNvPr id="39" name="Text 37"/>
          <p:cNvSpPr txBox="1"/>
          <p:nvPr/>
        </p:nvSpPr>
        <p:spPr>
          <a:xfrm>
            <a:off x="6419088" y="5029200"/>
            <a:ext cx="5187391" cy="804672"/>
          </a:xfrm>
          <a:prstGeom prst="rect">
            <a:avLst/>
          </a:prstGeom>
          <a:noFill/>
          <a:ln/>
        </p:spPr>
        <p:txBody>
          <a:bodyPr wrap="square" lIns="0" tIns="0" rIns="0" bIns="0" rtlCol="0" anchor="ctr"/>
          <a:lstStyle/>
          <a:p>
            <a:pPr marL="0" indent="0">
              <a:buNone/>
            </a:pPr>
            <a:r>
              <a:rPr lang="en-US" sz="1700" b="1" dirty="0">
                <a:solidFill>
                  <a:srgbClr val="1B202A"/>
                </a:solidFill>
                <a:latin typeface="Calibri" pitchFamily="34" charset="0"/>
                <a:ea typeface="Calibri" pitchFamily="34" charset="-122"/>
                <a:cs typeface="Calibri" pitchFamily="34" charset="-120"/>
              </a:rPr>
              <a:t>No way to test a fix first</a:t>
            </a:r>
            <a:endParaRPr lang="en-US" sz="1700" dirty="0"/>
          </a:p>
          <a:p>
            <a:pPr marL="0" indent="0">
              <a:buNone/>
            </a:pPr>
            <a:r>
              <a:rPr lang="en-US" sz="1450" dirty="0">
                <a:solidFill>
                  <a:srgbClr val="596273"/>
                </a:solidFill>
                <a:latin typeface="Calibri" pitchFamily="34" charset="0"/>
                <a:ea typeface="Calibri" pitchFamily="34" charset="-122"/>
                <a:cs typeface="Calibri" pitchFamily="34" charset="-120"/>
              </a:rPr>
              <a:t>field baseline: 14.2% step accuracy (Who&amp;When)</a:t>
            </a:r>
            <a:endParaRPr lang="en-US" sz="1700" dirty="0"/>
          </a:p>
        </p:txBody>
      </p:sp>
      <p:sp>
        <p:nvSpPr>
          <p:cNvPr id="40" name="Shape 38"/>
          <p:cNvSpPr/>
          <p:nvPr/>
        </p:nvSpPr>
        <p:spPr>
          <a:xfrm>
            <a:off x="5890565" y="5786323"/>
            <a:ext cx="5754319" cy="475488"/>
          </a:xfrm>
          <a:prstGeom prst="roundRect">
            <a:avLst>
              <a:gd name="adj" fmla="val 11538"/>
            </a:avLst>
          </a:prstGeom>
          <a:solidFill>
            <a:srgbClr val="E4E6EB"/>
          </a:solidFill>
          <a:ln/>
        </p:spPr>
        <p:txBody>
          <a:bodyPr/>
          <a:lstStyle/>
          <a:p>
            <a:endParaRPr lang="en-PK"/>
          </a:p>
        </p:txBody>
      </p:sp>
      <p:sp>
        <p:nvSpPr>
          <p:cNvPr id="41" name="Shape 39"/>
          <p:cNvSpPr/>
          <p:nvPr/>
        </p:nvSpPr>
        <p:spPr>
          <a:xfrm>
            <a:off x="5870448" y="5760720"/>
            <a:ext cx="5754319" cy="475488"/>
          </a:xfrm>
          <a:prstGeom prst="roundRect">
            <a:avLst>
              <a:gd name="adj" fmla="val 11538"/>
            </a:avLst>
          </a:prstGeom>
          <a:solidFill>
            <a:srgbClr val="F7EFDC"/>
          </a:solidFill>
          <a:ln w="9525">
            <a:solidFill>
              <a:srgbClr val="D9DCE3"/>
            </a:solidFill>
            <a:prstDash val="solid"/>
          </a:ln>
        </p:spPr>
        <p:txBody>
          <a:bodyPr/>
          <a:lstStyle/>
          <a:p>
            <a:endParaRPr lang="en-PK"/>
          </a:p>
        </p:txBody>
      </p:sp>
      <p:sp>
        <p:nvSpPr>
          <p:cNvPr id="42" name="Text 40"/>
          <p:cNvSpPr txBox="1"/>
          <p:nvPr/>
        </p:nvSpPr>
        <p:spPr>
          <a:xfrm>
            <a:off x="6053328" y="5760720"/>
            <a:ext cx="5388559" cy="475488"/>
          </a:xfrm>
          <a:prstGeom prst="rect">
            <a:avLst/>
          </a:prstGeom>
          <a:noFill/>
          <a:ln/>
        </p:spPr>
        <p:txBody>
          <a:bodyPr wrap="square" lIns="0" tIns="0" rIns="0" bIns="0" rtlCol="0" anchor="ctr"/>
          <a:lstStyle/>
          <a:p>
            <a:pPr marL="0" indent="0">
              <a:buNone/>
            </a:pPr>
            <a:r>
              <a:rPr lang="en-US" sz="1400" b="1" dirty="0">
                <a:solidFill>
                  <a:srgbClr val="A8760F"/>
                </a:solidFill>
                <a:latin typeface="Calibri" pitchFamily="34" charset="0"/>
                <a:ea typeface="Calibri" pitchFamily="34" charset="-122"/>
                <a:cs typeface="Calibri" pitchFamily="34" charset="-120"/>
              </a:rPr>
              <a:t>Stakeholder evidence today:  </a:t>
            </a:r>
            <a:r>
              <a:rPr lang="en-US" sz="1400" dirty="0">
                <a:solidFill>
                  <a:srgbClr val="1B202A"/>
                </a:solidFill>
                <a:latin typeface="Calibri" pitchFamily="34" charset="0"/>
                <a:ea typeface="Calibri" pitchFamily="34" charset="-122"/>
                <a:cs typeface="Calibri" pitchFamily="34" charset="-120"/>
              </a:rPr>
              <a:t>literature + 7 commercial vendors</a:t>
            </a:r>
            <a:endParaRPr lang="en-US" sz="14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C"/>
        </a:solidFill>
        <a:effectLst/>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txBody>
          <a:bodyPr/>
          <a:lstStyle/>
          <a:p>
            <a:endParaRPr lang="en-PK"/>
          </a:p>
        </p:txBody>
      </p:sp>
      <p:sp>
        <p:nvSpPr>
          <p:cNvPr id="3" name="Shape 1"/>
          <p:cNvSpPr/>
          <p:nvPr/>
        </p:nvSpPr>
        <p:spPr>
          <a:xfrm rot="2700000">
            <a:off x="10618927" y="5285232"/>
            <a:ext cx="1005840" cy="1005840"/>
          </a:xfrm>
          <a:prstGeom prst="rect">
            <a:avLst/>
          </a:prstGeom>
          <a:ln w="12700">
            <a:solidFill>
              <a:srgbClr val="F4F5F7"/>
            </a:solidFill>
            <a:prstDash val="solid"/>
          </a:ln>
        </p:spPr>
        <p:txBody>
          <a:bodyPr/>
          <a:lstStyle/>
          <a:p>
            <a:endParaRPr lang="en-PK"/>
          </a:p>
        </p:txBody>
      </p:sp>
      <p:sp>
        <p:nvSpPr>
          <p:cNvPr id="4" name="Shape 2"/>
          <p:cNvSpPr/>
          <p:nvPr/>
        </p:nvSpPr>
        <p:spPr>
          <a:xfrm rot="2700000">
            <a:off x="10856671" y="5522976"/>
            <a:ext cx="530352" cy="530352"/>
          </a:xfrm>
          <a:prstGeom prst="rect">
            <a:avLst/>
          </a:prstGeom>
          <a:ln w="12700">
            <a:solidFill>
              <a:srgbClr val="F7F4ED"/>
            </a:solidFill>
            <a:prstDash val="solid"/>
          </a:ln>
        </p:spPr>
        <p:txBody>
          <a:bodyPr/>
          <a:lstStyle/>
          <a:p>
            <a:endParaRPr lang="en-PK"/>
          </a:p>
        </p:txBody>
      </p:sp>
      <p:sp>
        <p:nvSpPr>
          <p:cNvPr id="5" name="Text 3"/>
          <p:cNvSpPr txBox="1"/>
          <p:nvPr/>
        </p:nvSpPr>
        <p:spPr>
          <a:xfrm>
            <a:off x="566928" y="292608"/>
            <a:ext cx="11057839" cy="256032"/>
          </a:xfrm>
          <a:prstGeom prst="rect">
            <a:avLst/>
          </a:prstGeom>
          <a:noFill/>
          <a:ln/>
        </p:spPr>
        <p:txBody>
          <a:bodyPr wrap="square" lIns="0" tIns="0" rIns="0" bIns="0" rtlCol="0" anchor="ctr"/>
          <a:lstStyle/>
          <a:p>
            <a:pPr marL="0" indent="0">
              <a:buNone/>
            </a:pPr>
            <a:r>
              <a:rPr lang="en-US" sz="1350" b="1" kern="0" spc="160" dirty="0">
                <a:solidFill>
                  <a:srgbClr val="8E6A1F"/>
                </a:solidFill>
                <a:latin typeface="Consolas" pitchFamily="34" charset="0"/>
                <a:ea typeface="Consolas" pitchFamily="34" charset="-122"/>
                <a:cs typeface="Consolas" pitchFamily="34" charset="-120"/>
              </a:rPr>
              <a:t>PROVING THE GAP IS STRUCTURAL, NOT A MISSING FEATURE</a:t>
            </a:r>
            <a:endParaRPr lang="en-US" sz="13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marL="0" indent="0">
              <a:buNone/>
            </a:pPr>
            <a:r>
              <a:rPr lang="en-US" sz="2950" b="1" dirty="0">
                <a:solidFill>
                  <a:srgbClr val="1B202A"/>
                </a:solidFill>
                <a:latin typeface="Georgia" pitchFamily="34" charset="0"/>
                <a:ea typeface="Georgia" pitchFamily="34" charset="-122"/>
                <a:cs typeface="Georgia" pitchFamily="34" charset="-120"/>
              </a:rPr>
              <a:t>Existing Solutions &amp; Prior FYP Comparison</a:t>
            </a:r>
            <a:endParaRPr lang="en-US" sz="2950" dirty="0"/>
          </a:p>
        </p:txBody>
      </p:sp>
      <p:sp>
        <p:nvSpPr>
          <p:cNvPr id="7" name="Shape 5"/>
          <p:cNvSpPr/>
          <p:nvPr/>
        </p:nvSpPr>
        <p:spPr>
          <a:xfrm>
            <a:off x="566928" y="1188720"/>
            <a:ext cx="566928" cy="36576"/>
          </a:xfrm>
          <a:prstGeom prst="rect">
            <a:avLst/>
          </a:prstGeom>
          <a:solidFill>
            <a:srgbClr val="C89B3C"/>
          </a:solidFill>
          <a:ln/>
        </p:spPr>
        <p:txBody>
          <a:bodyPr/>
          <a:lstStyle/>
          <a:p>
            <a:endParaRPr lang="en-PK"/>
          </a:p>
        </p:txBody>
      </p:sp>
      <p:sp>
        <p:nvSpPr>
          <p:cNvPr id="8" name="Shape 6"/>
          <p:cNvSpPr/>
          <p:nvPr/>
        </p:nvSpPr>
        <p:spPr>
          <a:xfrm>
            <a:off x="566928" y="6437376"/>
            <a:ext cx="11057839" cy="0"/>
          </a:xfrm>
          <a:prstGeom prst="line">
            <a:avLst/>
          </a:prstGeom>
          <a:noFill/>
          <a:ln w="9525">
            <a:solidFill>
              <a:srgbClr val="D9DCE3"/>
            </a:solidFill>
            <a:prstDash val="solid"/>
          </a:ln>
        </p:spPr>
        <p:txBody>
          <a:bodyPr/>
          <a:lstStyle/>
          <a:p>
            <a:endParaRPr lang="en-PK"/>
          </a:p>
        </p:txBody>
      </p:sp>
      <p:sp>
        <p:nvSpPr>
          <p:cNvPr id="9" name="Text 7"/>
          <p:cNvSpPr txBox="1"/>
          <p:nvPr/>
        </p:nvSpPr>
        <p:spPr>
          <a:xfrm>
            <a:off x="566928" y="6510528"/>
            <a:ext cx="5943600" cy="237744"/>
          </a:xfrm>
          <a:prstGeom prst="rect">
            <a:avLst/>
          </a:prstGeom>
          <a:noFill/>
          <a:ln/>
        </p:spPr>
        <p:txBody>
          <a:bodyPr wrap="square" lIns="0" tIns="0" rIns="0" bIns="0" rtlCol="0" anchor="ctr"/>
          <a:lstStyle/>
          <a:p>
            <a:pPr marL="0" indent="0">
              <a:buNone/>
            </a:pPr>
            <a:r>
              <a:rPr lang="en-US" sz="1050" kern="0" spc="7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10" name="Text 8"/>
          <p:cNvSpPr txBox="1"/>
          <p:nvPr/>
        </p:nvSpPr>
        <p:spPr>
          <a:xfrm>
            <a:off x="10527487" y="6510528"/>
            <a:ext cx="1097280" cy="237744"/>
          </a:xfrm>
          <a:prstGeom prst="rect">
            <a:avLst/>
          </a:prstGeom>
          <a:noFill/>
          <a:ln/>
        </p:spPr>
        <p:txBody>
          <a:bodyPr wrap="square" lIns="0" tIns="0" rIns="0" bIns="0" rtlCol="0" anchor="ctr"/>
          <a:lstStyle/>
          <a:p>
            <a:pPr marL="0" indent="0" algn="r">
              <a:buNone/>
            </a:pPr>
            <a:r>
              <a:rPr lang="en-US" sz="1050" b="1" dirty="0">
                <a:solidFill>
                  <a:srgbClr val="8E6A1F"/>
                </a:solidFill>
                <a:latin typeface="Consolas" pitchFamily="34" charset="0"/>
                <a:ea typeface="Consolas" pitchFamily="34" charset="-122"/>
                <a:cs typeface="Consolas" pitchFamily="34" charset="-120"/>
              </a:rPr>
              <a:t>3 / 10</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57839" cy="3675888"/>
        </p:xfrm>
        <a:graphic>
          <a:graphicData uri="http://schemas.openxmlformats.org/drawingml/2006/table">
            <a:tbl>
              <a:tblPr/>
              <a:tblGrid>
                <a:gridCol w="157276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gridCol w="1709928">
                  <a:extLst>
                    <a:ext uri="{9D8B030D-6E8A-4147-A177-3AD203B41FA5}">
                      <a16:colId xmlns:a16="http://schemas.microsoft.com/office/drawing/2014/main" val="20005"/>
                    </a:ext>
                  </a:extLst>
                </a:gridCol>
              </a:tblGrid>
              <a:tr h="525127">
                <a:tc>
                  <a:txBody>
                    <a:bodyPr/>
                    <a:lstStyle/>
                    <a:p>
                      <a:pPr marL="0" indent="0" algn="ctr">
                        <a:buNone/>
                      </a:pP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marL="0" indent="0" algn="ctr">
                        <a:buNone/>
                      </a:pPr>
                      <a:r>
                        <a:rPr lang="en-US" sz="1100" b="1" dirty="0">
                          <a:solidFill>
                            <a:srgbClr val="F5F6F8"/>
                          </a:solidFill>
                          <a:latin typeface="Calibri" pitchFamily="34" charset="0"/>
                          <a:ea typeface="Calibri" pitchFamily="34" charset="-122"/>
                          <a:cs typeface="Calibri" pitchFamily="34" charset="-120"/>
                        </a:rPr>
                        <a:t>Core approach</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marL="0" indent="0" algn="ctr">
                        <a:buNone/>
                      </a:pPr>
                      <a:r>
                        <a:rPr lang="en-US" sz="1100" b="1" dirty="0">
                          <a:solidFill>
                            <a:srgbClr val="F5F6F8"/>
                          </a:solidFill>
                          <a:latin typeface="Calibri" pitchFamily="34" charset="0"/>
                          <a:ea typeface="Calibri" pitchFamily="34" charset="-122"/>
                          <a:cs typeface="Calibri" pitchFamily="34" charset="-120"/>
                        </a:rPr>
                        <a:t>Step-level attribution</a:t>
                      </a:r>
                      <a:endParaRPr lang="en-US" sz="1100" dirty="0">
                        <a:latin typeface="Calibri" charset="0"/>
                        <a:ea typeface="Calibri" charset="0"/>
                        <a:cs typeface="Calibri" charset="0"/>
                      </a:endParaRPr>
                    </a:p>
                    <a:p>
                      <a:pPr marL="0" indent="0" algn="ctr">
                        <a:buNone/>
                      </a:pPr>
                      <a:r>
                        <a:rPr lang="en-US" sz="1100" b="1" dirty="0">
                          <a:solidFill>
                            <a:srgbClr val="F5F6F8"/>
                          </a:solidFill>
                          <a:latin typeface="Calibri" pitchFamily="34" charset="0"/>
                          <a:ea typeface="Calibri" pitchFamily="34" charset="-122"/>
                          <a:cs typeface="Calibri" pitchFamily="34" charset="-120"/>
                        </a:rPr>
                        <a:t>(published accuracy)</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marL="0" indent="0" algn="ctr">
                        <a:buNone/>
                      </a:pPr>
                      <a:r>
                        <a:rPr lang="en-US" sz="1100" b="1" dirty="0">
                          <a:solidFill>
                            <a:srgbClr val="F5F6F8"/>
                          </a:solidFill>
                          <a:latin typeface="Calibri" pitchFamily="34" charset="0"/>
                          <a:ea typeface="Calibri" pitchFamily="34" charset="-122"/>
                          <a:cs typeface="Calibri" pitchFamily="34" charset="-120"/>
                        </a:rPr>
                        <a:t>Silent-failure</a:t>
                      </a:r>
                      <a:endParaRPr lang="en-US" sz="1100" dirty="0">
                        <a:latin typeface="Calibri" charset="0"/>
                        <a:ea typeface="Calibri" charset="0"/>
                        <a:cs typeface="Calibri" charset="0"/>
                      </a:endParaRPr>
                    </a:p>
                    <a:p>
                      <a:pPr marL="0" indent="0" algn="ctr">
                        <a:buNone/>
                      </a:pPr>
                      <a:r>
                        <a:rPr lang="en-US" sz="1100" b="1" dirty="0">
                          <a:solidFill>
                            <a:srgbClr val="F5F6F8"/>
                          </a:solidFill>
                          <a:latin typeface="Calibri" pitchFamily="34" charset="0"/>
                          <a:ea typeface="Calibri" pitchFamily="34" charset="-122"/>
                          <a:cs typeface="Calibri" pitchFamily="34" charset="-120"/>
                        </a:rPr>
                        <a:t>detection</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marL="0" indent="0" algn="ctr">
                        <a:buNone/>
                      </a:pPr>
                      <a:r>
                        <a:rPr lang="en-US" sz="1100" b="1" dirty="0">
                          <a:solidFill>
                            <a:srgbClr val="F5F6F8"/>
                          </a:solidFill>
                          <a:latin typeface="Calibri" pitchFamily="34" charset="0"/>
                          <a:ea typeface="Calibri" pitchFamily="34" charset="-122"/>
                          <a:cs typeface="Calibri" pitchFamily="34" charset="-120"/>
                        </a:rPr>
                        <a:t>Counterfactual fix-</a:t>
                      </a:r>
                      <a:endParaRPr lang="en-US" sz="1100" dirty="0">
                        <a:latin typeface="Calibri" charset="0"/>
                        <a:ea typeface="Calibri" charset="0"/>
                        <a:cs typeface="Calibri" charset="0"/>
                      </a:endParaRPr>
                    </a:p>
                    <a:p>
                      <a:pPr marL="0" indent="0" algn="ctr">
                        <a:buNone/>
                      </a:pPr>
                      <a:r>
                        <a:rPr lang="en-US" sz="1100" b="1" dirty="0">
                          <a:solidFill>
                            <a:srgbClr val="F5F6F8"/>
                          </a:solidFill>
                          <a:latin typeface="Calibri" pitchFamily="34" charset="0"/>
                          <a:ea typeface="Calibri" pitchFamily="34" charset="-122"/>
                          <a:cs typeface="Calibri" pitchFamily="34" charset="-120"/>
                        </a:rPr>
                        <a:t>testing, measured</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marL="0" indent="0" algn="ctr">
                        <a:buNone/>
                      </a:pPr>
                      <a:r>
                        <a:rPr lang="en-US" sz="1100" b="1" dirty="0">
                          <a:solidFill>
                            <a:srgbClr val="F5F6F8"/>
                          </a:solidFill>
                          <a:latin typeface="Calibri" pitchFamily="34" charset="0"/>
                          <a:ea typeface="Calibri" pitchFamily="34" charset="-122"/>
                          <a:cs typeface="Calibri" pitchFamily="34" charset="-120"/>
                        </a:rPr>
                        <a:t>Framework-</a:t>
                      </a:r>
                      <a:endParaRPr lang="en-US" sz="1100" dirty="0">
                        <a:latin typeface="Calibri" charset="0"/>
                        <a:ea typeface="Calibri" charset="0"/>
                        <a:cs typeface="Calibri" charset="0"/>
                      </a:endParaRPr>
                    </a:p>
                    <a:p>
                      <a:pPr marL="0" indent="0" algn="ctr">
                        <a:buNone/>
                      </a:pPr>
                      <a:r>
                        <a:rPr lang="en-US" sz="1100" b="1" dirty="0">
                          <a:solidFill>
                            <a:srgbClr val="F5F6F8"/>
                          </a:solidFill>
                          <a:latin typeface="Calibri" pitchFamily="34" charset="0"/>
                          <a:ea typeface="Calibri" pitchFamily="34" charset="-122"/>
                          <a:cs typeface="Calibri" pitchFamily="34" charset="-120"/>
                        </a:rPr>
                        <a:t>agnostic</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extLst>
                  <a:ext uri="{0D108BD9-81ED-4DB2-BD59-A6C34878D82A}">
                    <a16:rowId xmlns:a16="http://schemas.microsoft.com/office/drawing/2014/main" val="10000"/>
                  </a:ext>
                </a:extLst>
              </a:tr>
              <a:tr h="525127">
                <a:tc>
                  <a:txBody>
                    <a:bodyPr/>
                    <a:lstStyle/>
                    <a:p>
                      <a:pPr marL="0" indent="0" algn="l">
                        <a:buNone/>
                      </a:pPr>
                      <a:r>
                        <a:rPr lang="en-US" sz="1100" b="1" dirty="0">
                          <a:solidFill>
                            <a:srgbClr val="1B202A"/>
                          </a:solidFill>
                          <a:latin typeface="Calibri" pitchFamily="34" charset="0"/>
                          <a:ea typeface="Calibri" pitchFamily="34" charset="-122"/>
                          <a:cs typeface="Calibri" pitchFamily="34" charset="-120"/>
                        </a:rPr>
                        <a:t>ErrorProbe</a:t>
                      </a:r>
                      <a:endParaRPr lang="en-US" sz="1100" dirty="0">
                        <a:latin typeface="Calibri" charset="0"/>
                        <a:ea typeface="Calibri" charset="0"/>
                        <a:cs typeface="Calibri" charset="0"/>
                      </a:endParaRPr>
                    </a:p>
                    <a:p>
                      <a:pPr marL="0" indent="0" algn="l">
                        <a:buNone/>
                      </a:pPr>
                      <a:r>
                        <a:rPr lang="en-US" sz="1100" b="1" dirty="0">
                          <a:solidFill>
                            <a:srgbClr val="1B202A"/>
                          </a:solidFill>
                          <a:latin typeface="Calibri" pitchFamily="34" charset="0"/>
                          <a:ea typeface="Calibri" pitchFamily="34" charset="-122"/>
                          <a:cs typeface="Calibri" pitchFamily="34" charset="-120"/>
                        </a:rPr>
                        <a:t>(ACL 2026)</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3-stage LLM diagnosis</a:t>
                      </a:r>
                      <a:endParaRPr lang="en-US" sz="1100" dirty="0">
                        <a:latin typeface="Calibri" charset="0"/>
                        <a:ea typeface="Calibri" charset="0"/>
                        <a:cs typeface="Calibri" charset="0"/>
                      </a:endParaRPr>
                    </a:p>
                    <a:p>
                      <a:pPr marL="0" indent="0" algn="ctr">
                        <a:buNone/>
                      </a:pPr>
                      <a:r>
                        <a:rPr lang="en-US" sz="1100" dirty="0">
                          <a:solidFill>
                            <a:srgbClr val="1B202A"/>
                          </a:solidFill>
                          <a:latin typeface="Calibri" pitchFamily="34" charset="0"/>
                          <a:ea typeface="Calibri" pitchFamily="34" charset="-122"/>
                          <a:cs typeface="Calibri" pitchFamily="34" charset="-120"/>
                        </a:rPr>
                        <a:t>+ memory</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59.5%</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 admits</a:t>
                      </a:r>
                      <a:endParaRPr lang="en-US" sz="1100" dirty="0">
                        <a:latin typeface="Calibri" charset="0"/>
                        <a:ea typeface="Calibri" charset="0"/>
                        <a:cs typeface="Calibri" charset="0"/>
                      </a:endParaRPr>
                    </a:p>
                    <a:p>
                      <a:pPr marL="0" indent="0" algn="ctr">
                        <a:buNone/>
                      </a:pPr>
                      <a:r>
                        <a:rPr lang="en-US" sz="1100" dirty="0">
                          <a:solidFill>
                            <a:srgbClr val="1B202A"/>
                          </a:solidFill>
                          <a:latin typeface="Calibri" pitchFamily="34" charset="0"/>
                          <a:ea typeface="Calibri" pitchFamily="34" charset="-122"/>
                          <a:cs typeface="Calibri" pitchFamily="34" charset="-120"/>
                        </a:rPr>
                        <a:t>it cannot</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 2 archs only</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extLst>
                  <a:ext uri="{0D108BD9-81ED-4DB2-BD59-A6C34878D82A}">
                    <a16:rowId xmlns:a16="http://schemas.microsoft.com/office/drawing/2014/main" val="10001"/>
                  </a:ext>
                </a:extLst>
              </a:tr>
              <a:tr h="525127">
                <a:tc>
                  <a:txBody>
                    <a:bodyPr/>
                    <a:lstStyle/>
                    <a:p>
                      <a:pPr marL="0" indent="0" algn="l">
                        <a:buNone/>
                      </a:pPr>
                      <a:r>
                        <a:rPr lang="en-US" sz="1100" b="1" dirty="0">
                          <a:solidFill>
                            <a:srgbClr val="1B202A"/>
                          </a:solidFill>
                          <a:latin typeface="Calibri" pitchFamily="34" charset="0"/>
                          <a:ea typeface="Calibri" pitchFamily="34" charset="-122"/>
                          <a:cs typeface="Calibri" pitchFamily="34" charset="-120"/>
                        </a:rPr>
                        <a:t>LangSmith Engine /</a:t>
                      </a:r>
                      <a:endParaRPr lang="en-US" sz="1100" dirty="0">
                        <a:latin typeface="Calibri" charset="0"/>
                        <a:ea typeface="Calibri" charset="0"/>
                        <a:cs typeface="Calibri" charset="0"/>
                      </a:endParaRPr>
                    </a:p>
                    <a:p>
                      <a:pPr marL="0" indent="0" algn="l">
                        <a:buNone/>
                      </a:pPr>
                      <a:r>
                        <a:rPr lang="en-US" sz="1100" b="1" dirty="0">
                          <a:solidFill>
                            <a:srgbClr val="1B202A"/>
                          </a:solidFill>
                          <a:latin typeface="Calibri" pitchFamily="34" charset="0"/>
                          <a:ea typeface="Calibri" pitchFamily="34" charset="-122"/>
                          <a:cs typeface="Calibri" pitchFamily="34" charset="-120"/>
                        </a:rPr>
                        <a:t>Arize Alyx (2026)</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Automated RCA</a:t>
                      </a:r>
                      <a:endParaRPr lang="en-US" sz="1100" dirty="0">
                        <a:latin typeface="Calibri" charset="0"/>
                        <a:ea typeface="Calibri" charset="0"/>
                        <a:cs typeface="Calibri" charset="0"/>
                      </a:endParaRPr>
                    </a:p>
                    <a:p>
                      <a:pPr marL="0" indent="0" algn="ctr">
                        <a:buNone/>
                      </a:pPr>
                      <a:r>
                        <a:rPr lang="en-US" sz="1100" dirty="0">
                          <a:solidFill>
                            <a:srgbClr val="1B202A"/>
                          </a:solidFill>
                          <a:latin typeface="Calibri" pitchFamily="34" charset="0"/>
                          <a:ea typeface="Calibri" pitchFamily="34" charset="-122"/>
                          <a:cs typeface="Calibri" pitchFamily="34" charset="-120"/>
                        </a:rPr>
                        <a:t>+ fix drafting</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not published</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 stack-locked</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extLst>
                  <a:ext uri="{0D108BD9-81ED-4DB2-BD59-A6C34878D82A}">
                    <a16:rowId xmlns:a16="http://schemas.microsoft.com/office/drawing/2014/main" val="10002"/>
                  </a:ext>
                </a:extLst>
              </a:tr>
              <a:tr h="525127">
                <a:tc>
                  <a:txBody>
                    <a:bodyPr/>
                    <a:lstStyle/>
                    <a:p>
                      <a:pPr marL="0" indent="0" algn="l">
                        <a:buNone/>
                      </a:pPr>
                      <a:r>
                        <a:rPr lang="en-US" sz="1100" b="1" dirty="0">
                          <a:solidFill>
                            <a:srgbClr val="1B202A"/>
                          </a:solidFill>
                          <a:latin typeface="Calibri" pitchFamily="34" charset="0"/>
                          <a:ea typeface="Calibri" pitchFamily="34" charset="-122"/>
                          <a:cs typeface="Calibri" pitchFamily="34" charset="-120"/>
                        </a:rPr>
                        <a:t>Langfuse / Braintrust /</a:t>
                      </a:r>
                      <a:endParaRPr lang="en-US" sz="1100" dirty="0">
                        <a:latin typeface="Calibri" charset="0"/>
                        <a:ea typeface="Calibri" charset="0"/>
                        <a:cs typeface="Calibri" charset="0"/>
                      </a:endParaRPr>
                    </a:p>
                    <a:p>
                      <a:pPr marL="0" indent="0" algn="l">
                        <a:buNone/>
                      </a:pPr>
                      <a:r>
                        <a:rPr lang="en-US" sz="1100" b="1" dirty="0">
                          <a:solidFill>
                            <a:srgbClr val="1B202A"/>
                          </a:solidFill>
                          <a:latin typeface="Calibri" pitchFamily="34" charset="0"/>
                          <a:ea typeface="Calibri" pitchFamily="34" charset="-122"/>
                          <a:cs typeface="Calibri" pitchFamily="34" charset="-120"/>
                        </a:rPr>
                        <a:t>Phoenix / Maxim / Opik</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Trace capture</a:t>
                      </a:r>
                      <a:endParaRPr lang="en-US" sz="1100" dirty="0">
                        <a:latin typeface="Calibri" charset="0"/>
                        <a:ea typeface="Calibri" charset="0"/>
                        <a:cs typeface="Calibri" charset="0"/>
                      </a:endParaRPr>
                    </a:p>
                    <a:p>
                      <a:pPr marL="0" indent="0" algn="ctr">
                        <a:buNone/>
                      </a:pPr>
                      <a:r>
                        <a:rPr lang="en-US" sz="1100" dirty="0">
                          <a:solidFill>
                            <a:srgbClr val="1B202A"/>
                          </a:solidFill>
                          <a:latin typeface="Calibri" pitchFamily="34" charset="0"/>
                          <a:ea typeface="Calibri" pitchFamily="34" charset="-122"/>
                          <a:cs typeface="Calibri" pitchFamily="34" charset="-120"/>
                        </a:rPr>
                        <a:t>+ eval</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human-driven</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RAG only</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extLst>
                  <a:ext uri="{0D108BD9-81ED-4DB2-BD59-A6C34878D82A}">
                    <a16:rowId xmlns:a16="http://schemas.microsoft.com/office/drawing/2014/main" val="10003"/>
                  </a:ext>
                </a:extLst>
              </a:tr>
              <a:tr h="525127">
                <a:tc>
                  <a:txBody>
                    <a:bodyPr/>
                    <a:lstStyle/>
                    <a:p>
                      <a:pPr marL="0" indent="0" algn="l">
                        <a:buNone/>
                      </a:pPr>
                      <a:r>
                        <a:rPr lang="en-US" sz="1100" b="1" dirty="0">
                          <a:solidFill>
                            <a:srgbClr val="1B202A"/>
                          </a:solidFill>
                          <a:latin typeface="Calibri" pitchFamily="34" charset="0"/>
                          <a:ea typeface="Calibri" pitchFamily="34" charset="-122"/>
                          <a:cs typeface="Calibri" pitchFamily="34" charset="-120"/>
                        </a:rPr>
                        <a:t>Closest prior FYP</a:t>
                      </a:r>
                      <a:endParaRPr lang="en-US" sz="1100" dirty="0">
                        <a:latin typeface="Calibri" charset="0"/>
                        <a:ea typeface="Calibri" charset="0"/>
                        <a:cs typeface="Calibri" charset="0"/>
                      </a:endParaRPr>
                    </a:p>
                    <a:p>
                      <a:pPr marL="0" indent="0" algn="l">
                        <a:buNone/>
                      </a:pPr>
                      <a:r>
                        <a:rPr lang="en-US" sz="1100" b="1" dirty="0">
                          <a:solidFill>
                            <a:srgbClr val="1B202A"/>
                          </a:solidFill>
                          <a:latin typeface="Calibri" pitchFamily="34" charset="0"/>
                          <a:ea typeface="Calibri" pitchFamily="34" charset="-122"/>
                          <a:cs typeface="Calibri" pitchFamily="34" charset="-120"/>
                        </a:rPr>
                        <a:t>(S24-011-D-HDLM,</a:t>
                      </a:r>
                      <a:endParaRPr lang="en-US" sz="1100" dirty="0">
                        <a:latin typeface="Calibri" charset="0"/>
                        <a:ea typeface="Calibri" charset="0"/>
                        <a:cs typeface="Calibri" charset="0"/>
                      </a:endParaRPr>
                    </a:p>
                    <a:p>
                      <a:pPr marL="0" indent="0" algn="l">
                        <a:buNone/>
                      </a:pPr>
                      <a:r>
                        <a:rPr lang="en-US" sz="1100" b="1" dirty="0">
                          <a:solidFill>
                            <a:srgbClr val="1B202A"/>
                          </a:solidFill>
                          <a:latin typeface="Calibri" pitchFamily="34" charset="0"/>
                          <a:ea typeface="Calibri" pitchFamily="34" charset="-122"/>
                          <a:cs typeface="Calibri" pitchFamily="34" charset="-120"/>
                        </a:rPr>
                        <a:t>Spring 2024)</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hallucination detection</a:t>
                      </a:r>
                      <a:endParaRPr lang="en-US" sz="1100" dirty="0">
                        <a:latin typeface="Calibri" charset="0"/>
                        <a:ea typeface="Calibri" charset="0"/>
                        <a:cs typeface="Calibri" charset="0"/>
                      </a:endParaRPr>
                    </a:p>
                    <a:p>
                      <a:pPr marL="0" indent="0" algn="ctr">
                        <a:buNone/>
                      </a:pPr>
                      <a:r>
                        <a:rPr lang="en-US" sz="1100" dirty="0">
                          <a:solidFill>
                            <a:srgbClr val="1B202A"/>
                          </a:solidFill>
                          <a:latin typeface="Calibri" pitchFamily="34" charset="0"/>
                          <a:ea typeface="Calibri" pitchFamily="34" charset="-122"/>
                          <a:cs typeface="Calibri" pitchFamily="34" charset="-120"/>
                        </a:rPr>
                        <a:t>in single-LLM text</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p>
                      <a:pPr marL="0" indent="0" algn="ctr">
                        <a:buNone/>
                      </a:pPr>
                      <a:r>
                        <a:rPr lang="en-US" sz="1100" dirty="0">
                          <a:solidFill>
                            <a:srgbClr val="1B202A"/>
                          </a:solidFill>
                          <a:latin typeface="Calibri" pitchFamily="34" charset="0"/>
                          <a:ea typeface="Calibri" pitchFamily="34" charset="-122"/>
                          <a:cs typeface="Calibri" pitchFamily="34" charset="-120"/>
                        </a:rPr>
                        <a:t>no attribution at all</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partial — single-LLM</a:t>
                      </a:r>
                      <a:endParaRPr lang="en-US" sz="1100" dirty="0">
                        <a:latin typeface="Calibri" charset="0"/>
                        <a:ea typeface="Calibri" charset="0"/>
                        <a:cs typeface="Calibri" charset="0"/>
                      </a:endParaRPr>
                    </a:p>
                    <a:p>
                      <a:pPr marL="0" indent="0" algn="ctr">
                        <a:buNone/>
                      </a:pPr>
                      <a:r>
                        <a:rPr lang="en-US" sz="1100" dirty="0">
                          <a:solidFill>
                            <a:srgbClr val="1B202A"/>
                          </a:solidFill>
                          <a:latin typeface="Calibri" pitchFamily="34" charset="0"/>
                          <a:ea typeface="Calibri" pitchFamily="34" charset="-122"/>
                          <a:cs typeface="Calibri" pitchFamily="34" charset="-120"/>
                        </a:rPr>
                        <a:t>text only</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 no repair /</a:t>
                      </a:r>
                      <a:endParaRPr lang="en-US" sz="1100" dirty="0">
                        <a:latin typeface="Calibri" charset="0"/>
                        <a:ea typeface="Calibri" charset="0"/>
                        <a:cs typeface="Calibri" charset="0"/>
                      </a:endParaRPr>
                    </a:p>
                    <a:p>
                      <a:pPr marL="0" indent="0" algn="ctr">
                        <a:buNone/>
                      </a:pPr>
                      <a:r>
                        <a:rPr lang="en-US" sz="1100" dirty="0">
                          <a:solidFill>
                            <a:srgbClr val="1B202A"/>
                          </a:solidFill>
                          <a:latin typeface="Calibri" pitchFamily="34" charset="0"/>
                          <a:ea typeface="Calibri" pitchFamily="34" charset="-122"/>
                          <a:cs typeface="Calibri" pitchFamily="34" charset="-120"/>
                        </a:rPr>
                        <a:t>replay step</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N/A — not a</a:t>
                      </a:r>
                      <a:endParaRPr lang="en-US" sz="1100" dirty="0">
                        <a:latin typeface="Calibri" charset="0"/>
                        <a:ea typeface="Calibri" charset="0"/>
                        <a:cs typeface="Calibri" charset="0"/>
                      </a:endParaRPr>
                    </a:p>
                    <a:p>
                      <a:pPr marL="0" indent="0" algn="ctr">
                        <a:buNone/>
                      </a:pPr>
                      <a:r>
                        <a:rPr lang="en-US" sz="1100" dirty="0">
                          <a:solidFill>
                            <a:srgbClr val="1B202A"/>
                          </a:solidFill>
                          <a:latin typeface="Calibri" pitchFamily="34" charset="0"/>
                          <a:ea typeface="Calibri" pitchFamily="34" charset="-122"/>
                          <a:cs typeface="Calibri" pitchFamily="34" charset="-120"/>
                        </a:rPr>
                        <a:t>multi-agent system</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extLst>
                  <a:ext uri="{0D108BD9-81ED-4DB2-BD59-A6C34878D82A}">
                    <a16:rowId xmlns:a16="http://schemas.microsoft.com/office/drawing/2014/main" val="10004"/>
                  </a:ext>
                </a:extLst>
              </a:tr>
              <a:tr h="525127">
                <a:tc>
                  <a:txBody>
                    <a:bodyPr/>
                    <a:lstStyle/>
                    <a:p>
                      <a:pPr marL="0" indent="0" algn="l">
                        <a:buNone/>
                      </a:pPr>
                      <a:r>
                        <a:rPr lang="en-US" sz="1100" b="1" dirty="0">
                          <a:solidFill>
                            <a:srgbClr val="1B202A"/>
                          </a:solidFill>
                          <a:latin typeface="Calibri" pitchFamily="34" charset="0"/>
                          <a:ea typeface="Calibri" pitchFamily="34" charset="-122"/>
                          <a:cs typeface="Calibri" pitchFamily="34" charset="-120"/>
                        </a:rPr>
                        <a:t>Current manual</a:t>
                      </a:r>
                      <a:endParaRPr lang="en-US" sz="1100" dirty="0">
                        <a:latin typeface="Calibri" charset="0"/>
                        <a:ea typeface="Calibri" charset="0"/>
                        <a:cs typeface="Calibri" charset="0"/>
                      </a:endParaRPr>
                    </a:p>
                    <a:p>
                      <a:pPr marL="0" indent="0" algn="l">
                        <a:buNone/>
                      </a:pPr>
                      <a:r>
                        <a:rPr lang="en-US" sz="1100" b="1" dirty="0">
                          <a:solidFill>
                            <a:srgbClr val="1B202A"/>
                          </a:solidFill>
                          <a:latin typeface="Calibri" pitchFamily="34" charset="0"/>
                          <a:ea typeface="Calibri" pitchFamily="34" charset="-122"/>
                          <a:cs typeface="Calibri" pitchFamily="34" charset="-120"/>
                        </a:rPr>
                        <a:t>workflow</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human reads,</a:t>
                      </a:r>
                      <a:endParaRPr lang="en-US" sz="1100" dirty="0">
                        <a:latin typeface="Calibri" charset="0"/>
                        <a:ea typeface="Calibri" charset="0"/>
                        <a:cs typeface="Calibri" charset="0"/>
                      </a:endParaRPr>
                    </a:p>
                    <a:p>
                      <a:pPr marL="0" indent="0" algn="ctr">
                        <a:buNone/>
                      </a:pPr>
                      <a:r>
                        <a:rPr lang="en-US" sz="1100" dirty="0">
                          <a:solidFill>
                            <a:srgbClr val="1B202A"/>
                          </a:solidFill>
                          <a:latin typeface="Calibri" pitchFamily="34" charset="0"/>
                          <a:ea typeface="Calibri" pitchFamily="34" charset="-122"/>
                          <a:cs typeface="Calibri" pitchFamily="34" charset="-120"/>
                        </a:rPr>
                        <a:t>guesses</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14.2%</a:t>
                      </a:r>
                      <a:endParaRPr lang="en-US" sz="1100" dirty="0">
                        <a:latin typeface="Calibri" charset="0"/>
                        <a:ea typeface="Calibri" charset="0"/>
                        <a:cs typeface="Calibri" charset="0"/>
                      </a:endParaRPr>
                    </a:p>
                    <a:p>
                      <a:pPr marL="0" indent="0" algn="ctr">
                        <a:buNone/>
                      </a:pPr>
                      <a:r>
                        <a:rPr lang="en-US" sz="1100" dirty="0">
                          <a:solidFill>
                            <a:srgbClr val="1B202A"/>
                          </a:solidFill>
                          <a:latin typeface="Calibri" pitchFamily="34" charset="0"/>
                          <a:ea typeface="Calibri" pitchFamily="34" charset="-122"/>
                          <a:cs typeface="Calibri" pitchFamily="34" charset="-120"/>
                        </a:rPr>
                        <a:t>(Who&amp;When)</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ctr">
                        <a:buNone/>
                      </a:pPr>
                      <a:r>
                        <a:rPr lang="en-US" sz="1100" dirty="0">
                          <a:solidFill>
                            <a:srgbClr val="1B202A"/>
                          </a:solidFill>
                          <a:latin typeface="Calibri" pitchFamily="34" charset="0"/>
                          <a:ea typeface="Calibri" pitchFamily="34" charset="-122"/>
                          <a:cs typeface="Calibri" pitchFamily="34" charset="-120"/>
                        </a:rPr>
                        <a:t>N/A</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extLst>
                  <a:ext uri="{0D108BD9-81ED-4DB2-BD59-A6C34878D82A}">
                    <a16:rowId xmlns:a16="http://schemas.microsoft.com/office/drawing/2014/main" val="10005"/>
                  </a:ext>
                </a:extLst>
              </a:tr>
              <a:tr h="525127">
                <a:tc>
                  <a:txBody>
                    <a:bodyPr/>
                    <a:lstStyle/>
                    <a:p>
                      <a:pPr marL="0" indent="0" algn="l">
                        <a:buNone/>
                      </a:pPr>
                      <a:r>
                        <a:rPr lang="en-US" sz="1100" b="1" dirty="0">
                          <a:solidFill>
                            <a:srgbClr val="1B202A"/>
                          </a:solidFill>
                          <a:latin typeface="Calibri" pitchFamily="34" charset="0"/>
                          <a:ea typeface="Calibri" pitchFamily="34" charset="-122"/>
                          <a:cs typeface="Calibri" pitchFamily="34" charset="-120"/>
                        </a:rPr>
                        <a:t>Granite</a:t>
                      </a:r>
                      <a:endParaRPr lang="en-US" sz="1100" dirty="0">
                        <a:latin typeface="Calibri" charset="0"/>
                        <a:ea typeface="Calibri" charset="0"/>
                        <a:cs typeface="Calibri" charset="0"/>
                      </a:endParaRPr>
                    </a:p>
                    <a:p>
                      <a:pPr marL="0" indent="0" algn="l">
                        <a:buNone/>
                      </a:pPr>
                      <a:r>
                        <a:rPr lang="en-US" sz="1100" b="1" dirty="0">
                          <a:solidFill>
                            <a:srgbClr val="1B202A"/>
                          </a:solidFill>
                          <a:latin typeface="Calibri" pitchFamily="34" charset="0"/>
                          <a:ea typeface="Calibri" pitchFamily="34" charset="-122"/>
                          <a:cs typeface="Calibri" pitchFamily="34" charset="-120"/>
                        </a:rPr>
                        <a:t>(proposed)</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marL="0" indent="0" algn="ctr">
                        <a:buNone/>
                      </a:pPr>
                      <a:r>
                        <a:rPr lang="en-US" sz="1100" b="1" dirty="0">
                          <a:solidFill>
                            <a:srgbClr val="1B202A"/>
                          </a:solidFill>
                          <a:latin typeface="Calibri" pitchFamily="34" charset="0"/>
                          <a:ea typeface="Calibri" pitchFamily="34" charset="-122"/>
                          <a:cs typeface="Calibri" pitchFamily="34" charset="-120"/>
                        </a:rPr>
                        <a:t>Constraint-based SED</a:t>
                      </a:r>
                      <a:endParaRPr lang="en-US" sz="1100" dirty="0">
                        <a:latin typeface="Calibri" charset="0"/>
                        <a:ea typeface="Calibri" charset="0"/>
                        <a:cs typeface="Calibri" charset="0"/>
                      </a:endParaRPr>
                    </a:p>
                    <a:p>
                      <a:pPr marL="0" indent="0" algn="ctr">
                        <a:buNone/>
                      </a:pPr>
                      <a:r>
                        <a:rPr lang="en-US" sz="1100" b="1" dirty="0">
                          <a:solidFill>
                            <a:srgbClr val="1B202A"/>
                          </a:solidFill>
                          <a:latin typeface="Calibri" pitchFamily="34" charset="0"/>
                          <a:ea typeface="Calibri" pitchFamily="34" charset="-122"/>
                          <a:cs typeface="Calibri" pitchFamily="34" charset="-120"/>
                        </a:rPr>
                        <a:t>+ verified repair loop</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marL="0" indent="0" algn="ctr">
                        <a:buNone/>
                      </a:pPr>
                      <a:r>
                        <a:rPr lang="en-US" sz="1100" b="1" dirty="0">
                          <a:solidFill>
                            <a:srgbClr val="1B202A"/>
                          </a:solidFill>
                          <a:latin typeface="Calibri" pitchFamily="34" charset="0"/>
                          <a:ea typeface="Calibri" pitchFamily="34" charset="-122"/>
                          <a:cs typeface="Calibri" pitchFamily="34" charset="-120"/>
                        </a:rPr>
                        <a:t>building on</a:t>
                      </a:r>
                      <a:endParaRPr lang="en-US" sz="1100" dirty="0">
                        <a:latin typeface="Calibri" charset="0"/>
                        <a:ea typeface="Calibri" charset="0"/>
                        <a:cs typeface="Calibri" charset="0"/>
                      </a:endParaRPr>
                    </a:p>
                    <a:p>
                      <a:pPr marL="0" indent="0" algn="ctr">
                        <a:buNone/>
                      </a:pPr>
                      <a:r>
                        <a:rPr lang="en-US" sz="1100" b="1" dirty="0">
                          <a:solidFill>
                            <a:srgbClr val="1B202A"/>
                          </a:solidFill>
                          <a:latin typeface="Calibri" pitchFamily="34" charset="0"/>
                          <a:ea typeface="Calibri" pitchFamily="34" charset="-122"/>
                          <a:cs typeface="Calibri" pitchFamily="34" charset="-120"/>
                        </a:rPr>
                        <a:t>ErrorProbe</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marL="0" indent="0" algn="ctr">
                        <a:buNone/>
                      </a:pPr>
                      <a:r>
                        <a:rPr lang="en-US" sz="1100" b="1" dirty="0">
                          <a:solidFill>
                            <a:srgbClr val="1B202A"/>
                          </a:solidFill>
                          <a:latin typeface="Calibri" pitchFamily="34" charset="0"/>
                          <a:ea typeface="Calibri" pitchFamily="34" charset="-122"/>
                          <a:cs typeface="Calibri" pitchFamily="34" charset="-120"/>
                        </a:rPr>
                        <a:t>✓ scoped &amp;</a:t>
                      </a:r>
                      <a:endParaRPr lang="en-US" sz="1100" dirty="0">
                        <a:latin typeface="Calibri" charset="0"/>
                        <a:ea typeface="Calibri" charset="0"/>
                        <a:cs typeface="Calibri" charset="0"/>
                      </a:endParaRPr>
                    </a:p>
                    <a:p>
                      <a:pPr marL="0" indent="0" algn="ctr">
                        <a:buNone/>
                      </a:pPr>
                      <a:r>
                        <a:rPr lang="en-US" sz="1100" b="1" dirty="0">
                          <a:solidFill>
                            <a:srgbClr val="1B202A"/>
                          </a:solidFill>
                          <a:latin typeface="Calibri" pitchFamily="34" charset="0"/>
                          <a:ea typeface="Calibri" pitchFamily="34" charset="-122"/>
                          <a:cs typeface="Calibri" pitchFamily="34" charset="-120"/>
                        </a:rPr>
                        <a:t>measured</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marL="0" indent="0" algn="ctr">
                        <a:buNone/>
                      </a:pPr>
                      <a:r>
                        <a:rPr lang="en-US" sz="1100" b="1" dirty="0">
                          <a:solidFill>
                            <a:srgbClr val="1B202A"/>
                          </a:solidFill>
                          <a:latin typeface="Calibri" pitchFamily="34" charset="0"/>
                          <a:ea typeface="Calibri" pitchFamily="34" charset="-122"/>
                          <a:cs typeface="Calibri" pitchFamily="34" charset="-120"/>
                        </a:rPr>
                        <a:t>✓ recovery rate</a:t>
                      </a:r>
                      <a:endParaRPr lang="en-US" sz="1100" dirty="0">
                        <a:latin typeface="Calibri" charset="0"/>
                        <a:ea typeface="Calibri" charset="0"/>
                        <a:cs typeface="Calibri" charset="0"/>
                      </a:endParaRPr>
                    </a:p>
                    <a:p>
                      <a:pPr marL="0" indent="0" algn="ctr">
                        <a:buNone/>
                      </a:pPr>
                      <a:r>
                        <a:rPr lang="en-US" sz="1100" b="1" dirty="0">
                          <a:solidFill>
                            <a:srgbClr val="1B202A"/>
                          </a:solidFill>
                          <a:latin typeface="Calibri" pitchFamily="34" charset="0"/>
                          <a:ea typeface="Calibri" pitchFamily="34" charset="-122"/>
                          <a:cs typeface="Calibri" pitchFamily="34" charset="-120"/>
                        </a:rPr>
                        <a:t>over N replays</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marL="0" indent="0" algn="ctr">
                        <a:buNone/>
                      </a:pPr>
                      <a:r>
                        <a:rPr lang="en-US" sz="1100" b="1" dirty="0">
                          <a:solidFill>
                            <a:srgbClr val="1B202A"/>
                          </a:solidFill>
                          <a:latin typeface="Calibri" pitchFamily="34" charset="0"/>
                          <a:ea typeface="Calibri" pitchFamily="34" charset="-122"/>
                          <a:cs typeface="Calibri" pitchFamily="34" charset="-120"/>
                        </a:rPr>
                        <a:t>✓ CrewAI +</a:t>
                      </a:r>
                      <a:endParaRPr lang="en-US" sz="1100" dirty="0">
                        <a:latin typeface="Calibri" charset="0"/>
                        <a:ea typeface="Calibri" charset="0"/>
                        <a:cs typeface="Calibri" charset="0"/>
                      </a:endParaRPr>
                    </a:p>
                    <a:p>
                      <a:pPr marL="0" indent="0" algn="ctr">
                        <a:buNone/>
                      </a:pPr>
                      <a:r>
                        <a:rPr lang="en-US" sz="1100" b="1" dirty="0">
                          <a:solidFill>
                            <a:srgbClr val="1B202A"/>
                          </a:solidFill>
                          <a:latin typeface="Calibri" pitchFamily="34" charset="0"/>
                          <a:ea typeface="Calibri" pitchFamily="34" charset="-122"/>
                          <a:cs typeface="Calibri" pitchFamily="34" charset="-120"/>
                        </a:rPr>
                        <a:t>LangGraph, unseen</a:t>
                      </a:r>
                      <a:endParaRPr lang="en-US" sz="110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extLst>
                  <a:ext uri="{0D108BD9-81ED-4DB2-BD59-A6C34878D82A}">
                    <a16:rowId xmlns:a16="http://schemas.microsoft.com/office/drawing/2014/main" val="10006"/>
                  </a:ext>
                </a:extLst>
              </a:tr>
            </a:tbl>
          </a:graphicData>
        </a:graphic>
      </p:graphicFrame>
      <p:sp>
        <p:nvSpPr>
          <p:cNvPr id="12" name="Shape 9"/>
          <p:cNvSpPr/>
          <p:nvPr/>
        </p:nvSpPr>
        <p:spPr>
          <a:xfrm>
            <a:off x="587045" y="5383987"/>
            <a:ext cx="5532120" cy="1042416"/>
          </a:xfrm>
          <a:prstGeom prst="roundRect">
            <a:avLst>
              <a:gd name="adj" fmla="val 5263"/>
            </a:avLst>
          </a:prstGeom>
          <a:solidFill>
            <a:srgbClr val="E4E6EB"/>
          </a:solidFill>
          <a:ln/>
        </p:spPr>
        <p:txBody>
          <a:bodyPr/>
          <a:lstStyle/>
          <a:p>
            <a:endParaRPr lang="en-PK"/>
          </a:p>
        </p:txBody>
      </p:sp>
      <p:sp>
        <p:nvSpPr>
          <p:cNvPr id="13" name="Shape 10"/>
          <p:cNvSpPr/>
          <p:nvPr/>
        </p:nvSpPr>
        <p:spPr>
          <a:xfrm>
            <a:off x="566928" y="5358384"/>
            <a:ext cx="5532120" cy="1042416"/>
          </a:xfrm>
          <a:prstGeom prst="roundRect">
            <a:avLst>
              <a:gd name="adj" fmla="val 5263"/>
            </a:avLst>
          </a:prstGeom>
          <a:solidFill>
            <a:srgbClr val="E6F1EB"/>
          </a:solidFill>
          <a:ln w="9525">
            <a:solidFill>
              <a:srgbClr val="D9DCE3"/>
            </a:solidFill>
            <a:prstDash val="solid"/>
          </a:ln>
        </p:spPr>
        <p:txBody>
          <a:bodyPr/>
          <a:lstStyle/>
          <a:p>
            <a:endParaRPr lang="en-PK"/>
          </a:p>
        </p:txBody>
      </p:sp>
      <p:sp>
        <p:nvSpPr>
          <p:cNvPr id="14" name="Shape 11"/>
          <p:cNvSpPr/>
          <p:nvPr/>
        </p:nvSpPr>
        <p:spPr>
          <a:xfrm>
            <a:off x="566928" y="5413248"/>
            <a:ext cx="41148" cy="932688"/>
          </a:xfrm>
          <a:prstGeom prst="rect">
            <a:avLst/>
          </a:prstGeom>
          <a:solidFill>
            <a:srgbClr val="1E7A52"/>
          </a:solidFill>
          <a:ln/>
        </p:spPr>
        <p:txBody>
          <a:bodyPr/>
          <a:lstStyle/>
          <a:p>
            <a:endParaRPr lang="en-PK"/>
          </a:p>
        </p:txBody>
      </p:sp>
      <p:sp>
        <p:nvSpPr>
          <p:cNvPr id="15" name="Text 12"/>
          <p:cNvSpPr txBox="1"/>
          <p:nvPr/>
        </p:nvSpPr>
        <p:spPr>
          <a:xfrm>
            <a:off x="768096" y="5449824"/>
            <a:ext cx="5120640" cy="256032"/>
          </a:xfrm>
          <a:prstGeom prst="rect">
            <a:avLst/>
          </a:prstGeom>
          <a:noFill/>
          <a:ln/>
        </p:spPr>
        <p:txBody>
          <a:bodyPr wrap="square" lIns="0" tIns="0" rIns="0" bIns="0" rtlCol="0" anchor="ctr"/>
          <a:lstStyle/>
          <a:p>
            <a:pPr marL="0" indent="0">
              <a:buNone/>
            </a:pPr>
            <a:r>
              <a:rPr lang="en-US" sz="1400" b="1" kern="0" spc="100" dirty="0">
                <a:solidFill>
                  <a:srgbClr val="1E7A52"/>
                </a:solidFill>
                <a:latin typeface="Consolas" pitchFamily="34" charset="0"/>
                <a:ea typeface="Consolas" pitchFamily="34" charset="-122"/>
                <a:cs typeface="Consolas" pitchFamily="34" charset="-120"/>
              </a:rPr>
              <a:t>PRIOR-FYP CHECK — CLOSED</a:t>
            </a:r>
            <a:endParaRPr lang="en-US" sz="1400" dirty="0"/>
          </a:p>
        </p:txBody>
      </p:sp>
      <p:sp>
        <p:nvSpPr>
          <p:cNvPr id="16" name="Text 13"/>
          <p:cNvSpPr txBox="1"/>
          <p:nvPr/>
        </p:nvSpPr>
        <p:spPr>
          <a:xfrm>
            <a:off x="768096" y="5705856"/>
            <a:ext cx="5166360" cy="658368"/>
          </a:xfrm>
          <a:prstGeom prst="rect">
            <a:avLst/>
          </a:prstGeom>
          <a:noFill/>
          <a:ln/>
        </p:spPr>
        <p:txBody>
          <a:bodyPr wrap="square" lIns="0" tIns="0" rIns="0" bIns="0" rtlCol="0" anchor="ctr"/>
          <a:lstStyle/>
          <a:p>
            <a:pPr marL="0" indent="0">
              <a:buNone/>
            </a:pPr>
            <a:r>
              <a:rPr lang="en-US" sz="1250" dirty="0">
                <a:solidFill>
                  <a:srgbClr val="1B202A"/>
                </a:solidFill>
                <a:latin typeface="Calibri" pitchFamily="34" charset="0"/>
                <a:ea typeface="Calibri" pitchFamily="34" charset="-122"/>
                <a:cs typeface="Calibri" pitchFamily="34" charset="-120"/>
              </a:rPr>
              <a:t>660 titles, 12 cohorts since 2019, checked structurally. Closest: </a:t>
            </a:r>
            <a:r>
              <a:rPr lang="en-US" sz="1250" b="1" dirty="0">
                <a:solidFill>
                  <a:srgbClr val="1E7A52"/>
                </a:solidFill>
                <a:latin typeface="Calibri" pitchFamily="34" charset="0"/>
                <a:ea typeface="Calibri" pitchFamily="34" charset="-122"/>
                <a:cs typeface="Calibri" pitchFamily="34" charset="-120"/>
              </a:rPr>
              <a:t>S24-011-D-HDLM</a:t>
            </a:r>
            <a:r>
              <a:rPr lang="en-US" sz="1250" dirty="0">
                <a:solidFill>
                  <a:srgbClr val="1B202A"/>
                </a:solidFill>
                <a:latin typeface="Calibri" pitchFamily="34" charset="0"/>
                <a:ea typeface="Calibri" pitchFamily="34" charset="-122"/>
                <a:cs typeface="Calibri" pitchFamily="34" charset="-120"/>
              </a:rPr>
              <a:t> — hallucination detection in single-LLM text: same core problem, ~1 of our 4 stages.</a:t>
            </a:r>
            <a:endParaRPr lang="en-US" sz="1250" dirty="0"/>
          </a:p>
        </p:txBody>
      </p:sp>
      <p:sp>
        <p:nvSpPr>
          <p:cNvPr id="17" name="Shape 14"/>
          <p:cNvSpPr/>
          <p:nvPr/>
        </p:nvSpPr>
        <p:spPr>
          <a:xfrm>
            <a:off x="6302045" y="5383987"/>
            <a:ext cx="5342839" cy="1042416"/>
          </a:xfrm>
          <a:prstGeom prst="roundRect">
            <a:avLst>
              <a:gd name="adj" fmla="val 5263"/>
            </a:avLst>
          </a:prstGeom>
          <a:solidFill>
            <a:srgbClr val="E4E6EB"/>
          </a:solidFill>
          <a:ln/>
        </p:spPr>
        <p:txBody>
          <a:bodyPr/>
          <a:lstStyle/>
          <a:p>
            <a:endParaRPr lang="en-PK"/>
          </a:p>
        </p:txBody>
      </p:sp>
      <p:sp>
        <p:nvSpPr>
          <p:cNvPr id="18" name="Shape 15"/>
          <p:cNvSpPr/>
          <p:nvPr/>
        </p:nvSpPr>
        <p:spPr>
          <a:xfrm>
            <a:off x="6281928" y="5358384"/>
            <a:ext cx="5342839" cy="1042416"/>
          </a:xfrm>
          <a:prstGeom prst="roundRect">
            <a:avLst>
              <a:gd name="adj" fmla="val 5263"/>
            </a:avLst>
          </a:prstGeom>
          <a:solidFill>
            <a:srgbClr val="F7EFDC"/>
          </a:solidFill>
          <a:ln w="9525">
            <a:solidFill>
              <a:srgbClr val="D9DCE3"/>
            </a:solidFill>
            <a:prstDash val="solid"/>
          </a:ln>
        </p:spPr>
        <p:txBody>
          <a:bodyPr/>
          <a:lstStyle/>
          <a:p>
            <a:endParaRPr lang="en-PK"/>
          </a:p>
        </p:txBody>
      </p:sp>
      <p:sp>
        <p:nvSpPr>
          <p:cNvPr id="19" name="Shape 16"/>
          <p:cNvSpPr/>
          <p:nvPr/>
        </p:nvSpPr>
        <p:spPr>
          <a:xfrm>
            <a:off x="6281928" y="5413248"/>
            <a:ext cx="41148" cy="932688"/>
          </a:xfrm>
          <a:prstGeom prst="rect">
            <a:avLst/>
          </a:prstGeom>
          <a:solidFill>
            <a:srgbClr val="A8760F"/>
          </a:solidFill>
          <a:ln/>
        </p:spPr>
        <p:txBody>
          <a:bodyPr/>
          <a:lstStyle/>
          <a:p>
            <a:endParaRPr lang="en-PK"/>
          </a:p>
        </p:txBody>
      </p:sp>
      <p:sp>
        <p:nvSpPr>
          <p:cNvPr id="20" name="Text 17"/>
          <p:cNvSpPr txBox="1"/>
          <p:nvPr/>
        </p:nvSpPr>
        <p:spPr>
          <a:xfrm>
            <a:off x="6483096" y="5449824"/>
            <a:ext cx="4937760" cy="256032"/>
          </a:xfrm>
          <a:prstGeom prst="rect">
            <a:avLst/>
          </a:prstGeom>
          <a:noFill/>
          <a:ln/>
        </p:spPr>
        <p:txBody>
          <a:bodyPr wrap="square" lIns="0" tIns="0" rIns="0" bIns="0" rtlCol="0" anchor="ctr"/>
          <a:lstStyle/>
          <a:p>
            <a:pPr marL="0" indent="0">
              <a:buNone/>
            </a:pPr>
            <a:r>
              <a:rPr lang="en-US" sz="1400" b="1" kern="0" spc="100" dirty="0">
                <a:solidFill>
                  <a:srgbClr val="A8760F"/>
                </a:solidFill>
                <a:latin typeface="Consolas" pitchFamily="34" charset="0"/>
                <a:ea typeface="Consolas" pitchFamily="34" charset="-122"/>
                <a:cs typeface="Consolas" pitchFamily="34" charset="-120"/>
              </a:rPr>
              <a:t>THE REAL GAP</a:t>
            </a:r>
            <a:endParaRPr lang="en-US" sz="1400" dirty="0"/>
          </a:p>
        </p:txBody>
      </p:sp>
      <p:sp>
        <p:nvSpPr>
          <p:cNvPr id="21" name="Text 18"/>
          <p:cNvSpPr txBox="1"/>
          <p:nvPr/>
        </p:nvSpPr>
        <p:spPr>
          <a:xfrm>
            <a:off x="6483096" y="5705856"/>
            <a:ext cx="4931359" cy="658368"/>
          </a:xfrm>
          <a:prstGeom prst="rect">
            <a:avLst/>
          </a:prstGeom>
          <a:noFill/>
          <a:ln/>
        </p:spPr>
        <p:txBody>
          <a:bodyPr wrap="square" lIns="0" tIns="0" rIns="0" bIns="0" rtlCol="0" anchor="ctr"/>
          <a:lstStyle/>
          <a:p>
            <a:pPr marL="0" indent="0">
              <a:buNone/>
            </a:pPr>
            <a:r>
              <a:rPr lang="en-US" sz="1250" dirty="0">
                <a:solidFill>
                  <a:srgbClr val="1B202A"/>
                </a:solidFill>
                <a:latin typeface="Calibri" pitchFamily="34" charset="0"/>
                <a:ea typeface="Calibri" pitchFamily="34" charset="-122"/>
                <a:cs typeface="Calibri" pitchFamily="34" charset="-120"/>
              </a:rPr>
              <a:t>No system combines attribution + silent-failure detection + verified repair + cross-arch generalization in one pipeline.</a:t>
            </a:r>
            <a:endParaRPr lang="en-US" sz="12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C"/>
        </a:solidFill>
        <a:effectLst/>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txBody>
          <a:bodyPr/>
          <a:lstStyle/>
          <a:p>
            <a:endParaRPr lang="en-PK"/>
          </a:p>
        </p:txBody>
      </p:sp>
      <p:sp>
        <p:nvSpPr>
          <p:cNvPr id="3" name="Shape 1"/>
          <p:cNvSpPr/>
          <p:nvPr/>
        </p:nvSpPr>
        <p:spPr>
          <a:xfrm rot="2700000">
            <a:off x="10618927" y="5285232"/>
            <a:ext cx="1005840" cy="1005840"/>
          </a:xfrm>
          <a:prstGeom prst="rect">
            <a:avLst/>
          </a:prstGeom>
          <a:ln w="12700">
            <a:solidFill>
              <a:srgbClr val="F4F5F7"/>
            </a:solidFill>
            <a:prstDash val="solid"/>
          </a:ln>
        </p:spPr>
        <p:txBody>
          <a:bodyPr/>
          <a:lstStyle/>
          <a:p>
            <a:endParaRPr lang="en-PK"/>
          </a:p>
        </p:txBody>
      </p:sp>
      <p:sp>
        <p:nvSpPr>
          <p:cNvPr id="4" name="Shape 2"/>
          <p:cNvSpPr/>
          <p:nvPr/>
        </p:nvSpPr>
        <p:spPr>
          <a:xfrm rot="2700000">
            <a:off x="10856671" y="5522976"/>
            <a:ext cx="530352" cy="530352"/>
          </a:xfrm>
          <a:prstGeom prst="rect">
            <a:avLst/>
          </a:prstGeom>
          <a:ln w="12700">
            <a:solidFill>
              <a:srgbClr val="F7F4ED"/>
            </a:solidFill>
            <a:prstDash val="solid"/>
          </a:ln>
        </p:spPr>
        <p:txBody>
          <a:bodyPr/>
          <a:lstStyle/>
          <a:p>
            <a:endParaRPr lang="en-PK"/>
          </a:p>
        </p:txBody>
      </p:sp>
      <p:sp>
        <p:nvSpPr>
          <p:cNvPr id="5" name="Text 3"/>
          <p:cNvSpPr txBox="1"/>
          <p:nvPr/>
        </p:nvSpPr>
        <p:spPr>
          <a:xfrm>
            <a:off x="566928" y="292608"/>
            <a:ext cx="11057839" cy="256032"/>
          </a:xfrm>
          <a:prstGeom prst="rect">
            <a:avLst/>
          </a:prstGeom>
          <a:noFill/>
          <a:ln/>
        </p:spPr>
        <p:txBody>
          <a:bodyPr wrap="square" lIns="0" tIns="0" rIns="0" bIns="0" rtlCol="0" anchor="ctr"/>
          <a:lstStyle/>
          <a:p>
            <a:pPr marL="0" indent="0">
              <a:buNone/>
            </a:pPr>
            <a:r>
              <a:rPr lang="en-US" sz="1350" b="1" kern="0" spc="160" dirty="0">
                <a:solidFill>
                  <a:srgbClr val="8E6A1F"/>
                </a:solidFill>
                <a:latin typeface="Consolas" pitchFamily="34" charset="0"/>
                <a:ea typeface="Consolas" pitchFamily="34" charset="-122"/>
                <a:cs typeface="Consolas" pitchFamily="34" charset="-120"/>
              </a:rPr>
              <a:t>9+ PAPERS READ IN FULL — DECISIONS, NOT DECORATION</a:t>
            </a:r>
            <a:endParaRPr lang="en-US" sz="13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marL="0" indent="0">
              <a:buNone/>
            </a:pPr>
            <a:r>
              <a:rPr lang="en-US" sz="2950" b="1" dirty="0">
                <a:solidFill>
                  <a:srgbClr val="1B202A"/>
                </a:solidFill>
                <a:latin typeface="Georgia" pitchFamily="34" charset="0"/>
                <a:ea typeface="Georgia" pitchFamily="34" charset="-122"/>
                <a:cs typeface="Georgia" pitchFamily="34" charset="-120"/>
              </a:rPr>
              <a:t>Research &amp; Technical Basis</a:t>
            </a:r>
            <a:endParaRPr lang="en-US" sz="2950" dirty="0"/>
          </a:p>
        </p:txBody>
      </p:sp>
      <p:sp>
        <p:nvSpPr>
          <p:cNvPr id="7" name="Shape 5"/>
          <p:cNvSpPr/>
          <p:nvPr/>
        </p:nvSpPr>
        <p:spPr>
          <a:xfrm>
            <a:off x="566928" y="1188720"/>
            <a:ext cx="566928" cy="36576"/>
          </a:xfrm>
          <a:prstGeom prst="rect">
            <a:avLst/>
          </a:prstGeom>
          <a:solidFill>
            <a:srgbClr val="C89B3C"/>
          </a:solidFill>
          <a:ln/>
        </p:spPr>
        <p:txBody>
          <a:bodyPr/>
          <a:lstStyle/>
          <a:p>
            <a:endParaRPr lang="en-PK"/>
          </a:p>
        </p:txBody>
      </p:sp>
      <p:sp>
        <p:nvSpPr>
          <p:cNvPr id="8" name="Shape 6"/>
          <p:cNvSpPr/>
          <p:nvPr/>
        </p:nvSpPr>
        <p:spPr>
          <a:xfrm>
            <a:off x="566928" y="6437376"/>
            <a:ext cx="11057839" cy="0"/>
          </a:xfrm>
          <a:prstGeom prst="line">
            <a:avLst/>
          </a:prstGeom>
          <a:noFill/>
          <a:ln w="9525">
            <a:solidFill>
              <a:srgbClr val="D9DCE3"/>
            </a:solidFill>
            <a:prstDash val="solid"/>
          </a:ln>
        </p:spPr>
        <p:txBody>
          <a:bodyPr/>
          <a:lstStyle/>
          <a:p>
            <a:endParaRPr lang="en-PK"/>
          </a:p>
        </p:txBody>
      </p:sp>
      <p:sp>
        <p:nvSpPr>
          <p:cNvPr id="9" name="Text 7"/>
          <p:cNvSpPr txBox="1"/>
          <p:nvPr/>
        </p:nvSpPr>
        <p:spPr>
          <a:xfrm>
            <a:off x="566928" y="6510528"/>
            <a:ext cx="5943600" cy="237744"/>
          </a:xfrm>
          <a:prstGeom prst="rect">
            <a:avLst/>
          </a:prstGeom>
          <a:noFill/>
          <a:ln/>
        </p:spPr>
        <p:txBody>
          <a:bodyPr wrap="square" lIns="0" tIns="0" rIns="0" bIns="0" rtlCol="0" anchor="ctr"/>
          <a:lstStyle/>
          <a:p>
            <a:pPr marL="0" indent="0">
              <a:buNone/>
            </a:pPr>
            <a:r>
              <a:rPr lang="en-US" sz="1050" kern="0" spc="7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10" name="Text 8"/>
          <p:cNvSpPr txBox="1"/>
          <p:nvPr/>
        </p:nvSpPr>
        <p:spPr>
          <a:xfrm>
            <a:off x="10527487" y="6510528"/>
            <a:ext cx="1097280" cy="237744"/>
          </a:xfrm>
          <a:prstGeom prst="rect">
            <a:avLst/>
          </a:prstGeom>
          <a:noFill/>
          <a:ln/>
        </p:spPr>
        <p:txBody>
          <a:bodyPr wrap="square" lIns="0" tIns="0" rIns="0" bIns="0" rtlCol="0" anchor="ctr"/>
          <a:lstStyle/>
          <a:p>
            <a:pPr marL="0" indent="0" algn="r">
              <a:buNone/>
            </a:pPr>
            <a:r>
              <a:rPr lang="en-US" sz="1050" b="1" dirty="0">
                <a:solidFill>
                  <a:srgbClr val="8E6A1F"/>
                </a:solidFill>
                <a:latin typeface="Consolas" pitchFamily="34" charset="0"/>
                <a:ea typeface="Consolas" pitchFamily="34" charset="-122"/>
                <a:cs typeface="Consolas" pitchFamily="34" charset="-120"/>
              </a:rPr>
              <a:t>4 / 10</a:t>
            </a:r>
            <a:endParaRPr lang="en-US" sz="1050" dirty="0"/>
          </a:p>
        </p:txBody>
      </p:sp>
      <p:sp>
        <p:nvSpPr>
          <p:cNvPr id="11" name="Text 9"/>
          <p:cNvSpPr txBox="1"/>
          <p:nvPr/>
        </p:nvSpPr>
        <p:spPr>
          <a:xfrm>
            <a:off x="566928" y="1389888"/>
            <a:ext cx="5943600" cy="256032"/>
          </a:xfrm>
          <a:prstGeom prst="rect">
            <a:avLst/>
          </a:prstGeom>
          <a:noFill/>
          <a:ln/>
        </p:spPr>
        <p:txBody>
          <a:bodyPr wrap="square" lIns="0" tIns="0" rIns="0" bIns="0" rtlCol="0" anchor="ctr"/>
          <a:lstStyle/>
          <a:p>
            <a:pPr marL="0" indent="0">
              <a:buNone/>
            </a:pPr>
            <a:r>
              <a:rPr lang="en-US" sz="1400" b="1" kern="0" spc="100" dirty="0">
                <a:solidFill>
                  <a:srgbClr val="8E6A1F"/>
                </a:solidFill>
                <a:latin typeface="Consolas" pitchFamily="34" charset="0"/>
                <a:ea typeface="Consolas" pitchFamily="34" charset="-122"/>
                <a:cs typeface="Consolas" pitchFamily="34" charset="-120"/>
              </a:rPr>
              <a:t>DECISIONS THE LITERATURE ACTUALLY CHANGED</a:t>
            </a:r>
            <a:endParaRPr lang="en-US" sz="1400" dirty="0"/>
          </a:p>
        </p:txBody>
      </p:sp>
      <p:sp>
        <p:nvSpPr>
          <p:cNvPr id="12" name="Shape 10"/>
          <p:cNvSpPr/>
          <p:nvPr/>
        </p:nvSpPr>
        <p:spPr>
          <a:xfrm>
            <a:off x="566928" y="1737360"/>
            <a:ext cx="310896" cy="310896"/>
          </a:xfrm>
          <a:prstGeom prst="ellipse">
            <a:avLst/>
          </a:prstGeom>
          <a:solidFill>
            <a:srgbClr val="E3BC6E"/>
          </a:solidFill>
          <a:ln/>
        </p:spPr>
        <p:txBody>
          <a:bodyPr/>
          <a:lstStyle/>
          <a:p>
            <a:endParaRPr lang="en-PK"/>
          </a:p>
        </p:txBody>
      </p:sp>
      <p:sp>
        <p:nvSpPr>
          <p:cNvPr id="13" name="Text 11"/>
          <p:cNvSpPr txBox="1"/>
          <p:nvPr/>
        </p:nvSpPr>
        <p:spPr>
          <a:xfrm>
            <a:off x="566928" y="1737360"/>
            <a:ext cx="310896" cy="310896"/>
          </a:xfrm>
          <a:prstGeom prst="rect">
            <a:avLst/>
          </a:prstGeom>
          <a:noFill/>
          <a:ln/>
        </p:spPr>
        <p:txBody>
          <a:bodyPr wrap="square" lIns="0" tIns="0" rIns="0" bIns="0" rtlCol="0" anchor="ctr"/>
          <a:lstStyle/>
          <a:p>
            <a:pPr marL="0" indent="0" algn="ctr">
              <a:buNone/>
            </a:pPr>
            <a:r>
              <a:rPr lang="en-US" sz="1450" b="1" dirty="0">
                <a:solidFill>
                  <a:srgbClr val="0F1219"/>
                </a:solidFill>
                <a:latin typeface="Georgia" pitchFamily="34" charset="0"/>
                <a:ea typeface="Georgia" pitchFamily="34" charset="-122"/>
                <a:cs typeface="Georgia" pitchFamily="34" charset="-120"/>
              </a:rPr>
              <a:t>✓</a:t>
            </a:r>
            <a:endParaRPr lang="en-US" sz="1450" dirty="0"/>
          </a:p>
        </p:txBody>
      </p:sp>
      <p:sp>
        <p:nvSpPr>
          <p:cNvPr id="14" name="Text 12"/>
          <p:cNvSpPr txBox="1"/>
          <p:nvPr/>
        </p:nvSpPr>
        <p:spPr>
          <a:xfrm>
            <a:off x="1005840" y="1673352"/>
            <a:ext cx="5468112" cy="841248"/>
          </a:xfrm>
          <a:prstGeom prst="rect">
            <a:avLst/>
          </a:prstGeom>
          <a:noFill/>
          <a:ln/>
        </p:spPr>
        <p:txBody>
          <a:bodyPr wrap="square" lIns="0" tIns="0" rIns="0" bIns="0" rtlCol="0" anchor="ctr"/>
          <a:lstStyle/>
          <a:p>
            <a:pPr marL="0" indent="0">
              <a:buNone/>
            </a:pPr>
            <a:r>
              <a:rPr lang="en-US" sz="1650" b="1" dirty="0">
                <a:solidFill>
                  <a:srgbClr val="1B202A"/>
                </a:solidFill>
                <a:latin typeface="Calibri" pitchFamily="34" charset="0"/>
                <a:ea typeface="Calibri" pitchFamily="34" charset="-122"/>
                <a:cs typeface="Calibri" pitchFamily="34" charset="-120"/>
              </a:rPr>
              <a:t>ErrorProbe chosen as baseline</a:t>
            </a:r>
            <a:endParaRPr lang="en-US" sz="1650" dirty="0"/>
          </a:p>
          <a:p>
            <a:pPr marL="0" indent="0">
              <a:buNone/>
            </a:pPr>
            <a:r>
              <a:rPr lang="en-US" sz="1450" dirty="0">
                <a:solidFill>
                  <a:srgbClr val="596273"/>
                </a:solidFill>
                <a:latin typeface="Calibri" pitchFamily="34" charset="0"/>
                <a:ea typeface="Calibri" pitchFamily="34" charset="-122"/>
                <a:cs typeface="Calibri" pitchFamily="34" charset="-120"/>
              </a:rPr>
              <a:t>On performance (59.5%), not recency</a:t>
            </a:r>
            <a:endParaRPr lang="en-US" sz="1650" dirty="0"/>
          </a:p>
        </p:txBody>
      </p:sp>
      <p:sp>
        <p:nvSpPr>
          <p:cNvPr id="15" name="Shape 13"/>
          <p:cNvSpPr/>
          <p:nvPr/>
        </p:nvSpPr>
        <p:spPr>
          <a:xfrm>
            <a:off x="566928" y="2706624"/>
            <a:ext cx="310896" cy="310896"/>
          </a:xfrm>
          <a:prstGeom prst="ellipse">
            <a:avLst/>
          </a:prstGeom>
          <a:solidFill>
            <a:srgbClr val="E3BC6E"/>
          </a:solidFill>
          <a:ln/>
        </p:spPr>
        <p:txBody>
          <a:bodyPr/>
          <a:lstStyle/>
          <a:p>
            <a:endParaRPr lang="en-PK"/>
          </a:p>
        </p:txBody>
      </p:sp>
      <p:sp>
        <p:nvSpPr>
          <p:cNvPr id="16" name="Text 14"/>
          <p:cNvSpPr txBox="1"/>
          <p:nvPr/>
        </p:nvSpPr>
        <p:spPr>
          <a:xfrm>
            <a:off x="566928" y="2706624"/>
            <a:ext cx="310896" cy="310896"/>
          </a:xfrm>
          <a:prstGeom prst="rect">
            <a:avLst/>
          </a:prstGeom>
          <a:noFill/>
          <a:ln/>
        </p:spPr>
        <p:txBody>
          <a:bodyPr wrap="square" lIns="0" tIns="0" rIns="0" bIns="0" rtlCol="0" anchor="ctr"/>
          <a:lstStyle/>
          <a:p>
            <a:pPr marL="0" indent="0" algn="ctr">
              <a:buNone/>
            </a:pPr>
            <a:r>
              <a:rPr lang="en-US" sz="1450" b="1" dirty="0">
                <a:solidFill>
                  <a:srgbClr val="0F1219"/>
                </a:solidFill>
                <a:latin typeface="Georgia" pitchFamily="34" charset="0"/>
                <a:ea typeface="Georgia" pitchFamily="34" charset="-122"/>
                <a:cs typeface="Georgia" pitchFamily="34" charset="-120"/>
              </a:rPr>
              <a:t>✓</a:t>
            </a:r>
            <a:endParaRPr lang="en-US" sz="1450" dirty="0"/>
          </a:p>
        </p:txBody>
      </p:sp>
      <p:sp>
        <p:nvSpPr>
          <p:cNvPr id="17" name="Text 15"/>
          <p:cNvSpPr txBox="1"/>
          <p:nvPr/>
        </p:nvSpPr>
        <p:spPr>
          <a:xfrm>
            <a:off x="1005840" y="2642616"/>
            <a:ext cx="5468112" cy="841248"/>
          </a:xfrm>
          <a:prstGeom prst="rect">
            <a:avLst/>
          </a:prstGeom>
          <a:noFill/>
          <a:ln/>
        </p:spPr>
        <p:txBody>
          <a:bodyPr wrap="square" lIns="0" tIns="0" rIns="0" bIns="0" rtlCol="0" anchor="ctr"/>
          <a:lstStyle/>
          <a:p>
            <a:pPr marL="0" indent="0">
              <a:buNone/>
            </a:pPr>
            <a:r>
              <a:rPr lang="en-US" sz="1650" b="1" dirty="0">
                <a:solidFill>
                  <a:srgbClr val="1B202A"/>
                </a:solidFill>
                <a:latin typeface="Calibri" pitchFamily="34" charset="0"/>
                <a:ea typeface="Calibri" pitchFamily="34" charset="-122"/>
                <a:cs typeface="Calibri" pitchFamily="34" charset="-120"/>
              </a:rPr>
              <a:t>CrewAI + LangGraph committed</a:t>
            </a:r>
            <a:endParaRPr lang="en-US" sz="1650" dirty="0"/>
          </a:p>
          <a:p>
            <a:pPr marL="0" indent="0">
              <a:buNone/>
            </a:pPr>
            <a:r>
              <a:rPr lang="en-US" sz="1450" dirty="0">
                <a:solidFill>
                  <a:srgbClr val="596273"/>
                </a:solidFill>
                <a:latin typeface="Calibri" pitchFamily="34" charset="0"/>
                <a:ea typeface="Calibri" pitchFamily="34" charset="-122"/>
                <a:cs typeface="Calibri" pitchFamily="34" charset="-120"/>
              </a:rPr>
              <a:t>Unused by all 9 papers reviewed</a:t>
            </a:r>
            <a:endParaRPr lang="en-US" sz="1650" dirty="0"/>
          </a:p>
        </p:txBody>
      </p:sp>
      <p:sp>
        <p:nvSpPr>
          <p:cNvPr id="18" name="Shape 16"/>
          <p:cNvSpPr/>
          <p:nvPr/>
        </p:nvSpPr>
        <p:spPr>
          <a:xfrm>
            <a:off x="566928" y="3675888"/>
            <a:ext cx="310896" cy="310896"/>
          </a:xfrm>
          <a:prstGeom prst="ellipse">
            <a:avLst/>
          </a:prstGeom>
          <a:solidFill>
            <a:srgbClr val="E3BC6E"/>
          </a:solidFill>
          <a:ln/>
        </p:spPr>
        <p:txBody>
          <a:bodyPr/>
          <a:lstStyle/>
          <a:p>
            <a:endParaRPr lang="en-PK"/>
          </a:p>
        </p:txBody>
      </p:sp>
      <p:sp>
        <p:nvSpPr>
          <p:cNvPr id="19" name="Text 17"/>
          <p:cNvSpPr txBox="1"/>
          <p:nvPr/>
        </p:nvSpPr>
        <p:spPr>
          <a:xfrm>
            <a:off x="566928" y="3675888"/>
            <a:ext cx="310896" cy="310896"/>
          </a:xfrm>
          <a:prstGeom prst="rect">
            <a:avLst/>
          </a:prstGeom>
          <a:noFill/>
          <a:ln/>
        </p:spPr>
        <p:txBody>
          <a:bodyPr wrap="square" lIns="0" tIns="0" rIns="0" bIns="0" rtlCol="0" anchor="ctr"/>
          <a:lstStyle/>
          <a:p>
            <a:pPr marL="0" indent="0" algn="ctr">
              <a:buNone/>
            </a:pPr>
            <a:r>
              <a:rPr lang="en-US" sz="1450" b="1" dirty="0">
                <a:solidFill>
                  <a:srgbClr val="0F1219"/>
                </a:solidFill>
                <a:latin typeface="Georgia" pitchFamily="34" charset="0"/>
                <a:ea typeface="Georgia" pitchFamily="34" charset="-122"/>
                <a:cs typeface="Georgia" pitchFamily="34" charset="-120"/>
              </a:rPr>
              <a:t>✓</a:t>
            </a:r>
            <a:endParaRPr lang="en-US" sz="1450" dirty="0"/>
          </a:p>
        </p:txBody>
      </p:sp>
      <p:sp>
        <p:nvSpPr>
          <p:cNvPr id="20" name="Text 18"/>
          <p:cNvSpPr txBox="1"/>
          <p:nvPr/>
        </p:nvSpPr>
        <p:spPr>
          <a:xfrm>
            <a:off x="1005840" y="3611880"/>
            <a:ext cx="5468112" cy="841248"/>
          </a:xfrm>
          <a:prstGeom prst="rect">
            <a:avLst/>
          </a:prstGeom>
          <a:noFill/>
          <a:ln/>
        </p:spPr>
        <p:txBody>
          <a:bodyPr wrap="square" lIns="0" tIns="0" rIns="0" bIns="0" rtlCol="0" anchor="ctr"/>
          <a:lstStyle/>
          <a:p>
            <a:pPr marL="0" indent="0">
              <a:buNone/>
            </a:pPr>
            <a:r>
              <a:rPr lang="en-US" sz="1650" b="1" dirty="0">
                <a:solidFill>
                  <a:srgbClr val="1B202A"/>
                </a:solidFill>
                <a:latin typeface="Calibri" pitchFamily="34" charset="0"/>
                <a:ea typeface="Calibri" pitchFamily="34" charset="-122"/>
                <a:cs typeface="Calibri" pitchFamily="34" charset="-120"/>
              </a:rPr>
              <a:t>Constraint-based SED, not LLM-judge</a:t>
            </a:r>
            <a:endParaRPr lang="en-US" sz="1650" dirty="0"/>
          </a:p>
          <a:p>
            <a:pPr marL="0" indent="0">
              <a:buNone/>
            </a:pPr>
            <a:r>
              <a:rPr lang="en-US" sz="1450" dirty="0">
                <a:solidFill>
                  <a:srgbClr val="596273"/>
                </a:solidFill>
                <a:latin typeface="Calibri" pitchFamily="34" charset="0"/>
                <a:ea typeface="Calibri" pitchFamily="34" charset="-122"/>
                <a:cs typeface="Calibri" pitchFamily="34" charset="-120"/>
              </a:rPr>
              <a:t>LLM-judge AUROC ≤ 0.65 — barely above chance</a:t>
            </a:r>
            <a:endParaRPr lang="en-US" sz="1650" dirty="0"/>
          </a:p>
        </p:txBody>
      </p:sp>
      <p:sp>
        <p:nvSpPr>
          <p:cNvPr id="21" name="Shape 19"/>
          <p:cNvSpPr/>
          <p:nvPr/>
        </p:nvSpPr>
        <p:spPr>
          <a:xfrm>
            <a:off x="566928" y="4645152"/>
            <a:ext cx="310896" cy="310896"/>
          </a:xfrm>
          <a:prstGeom prst="ellipse">
            <a:avLst/>
          </a:prstGeom>
          <a:solidFill>
            <a:srgbClr val="E3BC6E"/>
          </a:solidFill>
          <a:ln/>
        </p:spPr>
        <p:txBody>
          <a:bodyPr/>
          <a:lstStyle/>
          <a:p>
            <a:endParaRPr lang="en-PK"/>
          </a:p>
        </p:txBody>
      </p:sp>
      <p:sp>
        <p:nvSpPr>
          <p:cNvPr id="22" name="Text 20"/>
          <p:cNvSpPr txBox="1"/>
          <p:nvPr/>
        </p:nvSpPr>
        <p:spPr>
          <a:xfrm>
            <a:off x="566928" y="4645152"/>
            <a:ext cx="310896" cy="310896"/>
          </a:xfrm>
          <a:prstGeom prst="rect">
            <a:avLst/>
          </a:prstGeom>
          <a:noFill/>
          <a:ln/>
        </p:spPr>
        <p:txBody>
          <a:bodyPr wrap="square" lIns="0" tIns="0" rIns="0" bIns="0" rtlCol="0" anchor="ctr"/>
          <a:lstStyle/>
          <a:p>
            <a:pPr marL="0" indent="0" algn="ctr">
              <a:buNone/>
            </a:pPr>
            <a:r>
              <a:rPr lang="en-US" sz="1450" b="1" dirty="0">
                <a:solidFill>
                  <a:srgbClr val="0F1219"/>
                </a:solidFill>
                <a:latin typeface="Georgia" pitchFamily="34" charset="0"/>
                <a:ea typeface="Georgia" pitchFamily="34" charset="-122"/>
                <a:cs typeface="Georgia" pitchFamily="34" charset="-120"/>
              </a:rPr>
              <a:t>✓</a:t>
            </a:r>
            <a:endParaRPr lang="en-US" sz="1450" dirty="0"/>
          </a:p>
        </p:txBody>
      </p:sp>
      <p:sp>
        <p:nvSpPr>
          <p:cNvPr id="23" name="Text 21"/>
          <p:cNvSpPr txBox="1"/>
          <p:nvPr/>
        </p:nvSpPr>
        <p:spPr>
          <a:xfrm>
            <a:off x="1005840" y="4581144"/>
            <a:ext cx="5468112" cy="841248"/>
          </a:xfrm>
          <a:prstGeom prst="rect">
            <a:avLst/>
          </a:prstGeom>
          <a:noFill/>
          <a:ln/>
        </p:spPr>
        <p:txBody>
          <a:bodyPr wrap="square" lIns="0" tIns="0" rIns="0" bIns="0" rtlCol="0" anchor="ctr"/>
          <a:lstStyle/>
          <a:p>
            <a:pPr marL="0" indent="0">
              <a:buNone/>
            </a:pPr>
            <a:r>
              <a:rPr lang="en-US" sz="1650" b="1" dirty="0">
                <a:solidFill>
                  <a:srgbClr val="1B202A"/>
                </a:solidFill>
                <a:latin typeface="Calibri" pitchFamily="34" charset="0"/>
                <a:ea typeface="Calibri" pitchFamily="34" charset="-122"/>
                <a:cs typeface="Calibri" pitchFamily="34" charset="-120"/>
              </a:rPr>
              <a:t>Single-framework narrowing rejected</a:t>
            </a:r>
            <a:endParaRPr lang="en-US" sz="1650" dirty="0"/>
          </a:p>
          <a:p>
            <a:pPr marL="0" indent="0">
              <a:buNone/>
            </a:pPr>
            <a:r>
              <a:rPr lang="en-US" sz="1450" dirty="0">
                <a:solidFill>
                  <a:srgbClr val="596273"/>
                </a:solidFill>
                <a:latin typeface="Calibri" pitchFamily="34" charset="0"/>
                <a:ea typeface="Calibri" pitchFamily="34" charset="-122"/>
                <a:cs typeface="Calibri" pitchFamily="34" charset="-120"/>
              </a:rPr>
              <a:t>Market survey's own advice, declined (R19)</a:t>
            </a:r>
            <a:endParaRPr lang="en-US" sz="1650" dirty="0"/>
          </a:p>
        </p:txBody>
      </p:sp>
      <p:sp>
        <p:nvSpPr>
          <p:cNvPr id="24" name="Text 22"/>
          <p:cNvSpPr txBox="1"/>
          <p:nvPr/>
        </p:nvSpPr>
        <p:spPr>
          <a:xfrm>
            <a:off x="6784848" y="1389888"/>
            <a:ext cx="4839919" cy="256032"/>
          </a:xfrm>
          <a:prstGeom prst="rect">
            <a:avLst/>
          </a:prstGeom>
          <a:noFill/>
          <a:ln/>
        </p:spPr>
        <p:txBody>
          <a:bodyPr wrap="square" lIns="0" tIns="0" rIns="0" bIns="0" rtlCol="0" anchor="ctr"/>
          <a:lstStyle/>
          <a:p>
            <a:pPr marL="0" indent="0">
              <a:buNone/>
            </a:pPr>
            <a:r>
              <a:rPr lang="en-US" sz="1400" b="1" kern="0" spc="100" dirty="0">
                <a:solidFill>
                  <a:srgbClr val="8E6A1F"/>
                </a:solidFill>
                <a:latin typeface="Consolas" pitchFamily="34" charset="0"/>
                <a:ea typeface="Consolas" pitchFamily="34" charset="-122"/>
                <a:cs typeface="Consolas" pitchFamily="34" charset="-120"/>
              </a:rPr>
              <a:t>PUBLISHED STEP-ACCURACY LINEAGE</a:t>
            </a:r>
            <a:endParaRPr lang="en-US" sz="1400" dirty="0"/>
          </a:p>
        </p:txBody>
      </p:sp>
      <p:graphicFrame>
        <p:nvGraphicFramePr>
          <p:cNvPr id="25" name="Chart 0"/>
          <p:cNvGraphicFramePr/>
          <p:nvPr/>
        </p:nvGraphicFramePr>
        <p:xfrm>
          <a:off x="6784848" y="1682496"/>
          <a:ext cx="4839919" cy="1956816"/>
        </p:xfrm>
        <a:graphic>
          <a:graphicData uri="http://schemas.openxmlformats.org/drawingml/2006/chart">
            <c:chart xmlns:c="http://schemas.openxmlformats.org/drawingml/2006/chart" xmlns:r="http://schemas.openxmlformats.org/officeDocument/2006/relationships" r:id="rId3"/>
          </a:graphicData>
        </a:graphic>
      </p:graphicFrame>
      <p:sp>
        <p:nvSpPr>
          <p:cNvPr id="26" name="Text 23"/>
          <p:cNvSpPr txBox="1"/>
          <p:nvPr/>
        </p:nvSpPr>
        <p:spPr>
          <a:xfrm>
            <a:off x="6784848" y="3657600"/>
            <a:ext cx="4839919" cy="274320"/>
          </a:xfrm>
          <a:prstGeom prst="rect">
            <a:avLst/>
          </a:prstGeom>
          <a:noFill/>
          <a:ln/>
        </p:spPr>
        <p:txBody>
          <a:bodyPr wrap="square" lIns="0" tIns="0" rIns="0" bIns="0" rtlCol="0" anchor="ctr"/>
          <a:lstStyle/>
          <a:p>
            <a:pPr marL="0" indent="0">
              <a:buNone/>
            </a:pPr>
            <a:r>
              <a:rPr lang="en-US" sz="1250" i="1" dirty="0">
                <a:solidFill>
                  <a:srgbClr val="596273"/>
                </a:solidFill>
                <a:latin typeface="Calibri" pitchFamily="34" charset="0"/>
                <a:ea typeface="Calibri" pitchFamily="34" charset="-122"/>
                <a:cs typeface="Calibri" pitchFamily="34" charset="-120"/>
              </a:rPr>
              <a:t>Step-level accuracy on Who&amp;When, % · AgenTracer-8B is a published 37–43% range — midpoint plotted.</a:t>
            </a:r>
            <a:endParaRPr lang="en-US" sz="1250" dirty="0"/>
          </a:p>
        </p:txBody>
      </p:sp>
      <p:sp>
        <p:nvSpPr>
          <p:cNvPr id="27" name="Shape 24"/>
          <p:cNvSpPr/>
          <p:nvPr/>
        </p:nvSpPr>
        <p:spPr>
          <a:xfrm>
            <a:off x="6804965" y="4012387"/>
            <a:ext cx="4839919" cy="932688"/>
          </a:xfrm>
          <a:prstGeom prst="roundRect">
            <a:avLst>
              <a:gd name="adj" fmla="val 5882"/>
            </a:avLst>
          </a:prstGeom>
          <a:solidFill>
            <a:srgbClr val="E4E6EB"/>
          </a:solidFill>
          <a:ln/>
        </p:spPr>
        <p:txBody>
          <a:bodyPr/>
          <a:lstStyle/>
          <a:p>
            <a:endParaRPr lang="en-PK"/>
          </a:p>
        </p:txBody>
      </p:sp>
      <p:sp>
        <p:nvSpPr>
          <p:cNvPr id="28" name="Shape 25"/>
          <p:cNvSpPr/>
          <p:nvPr/>
        </p:nvSpPr>
        <p:spPr>
          <a:xfrm>
            <a:off x="6784848" y="3986784"/>
            <a:ext cx="4839919" cy="932688"/>
          </a:xfrm>
          <a:prstGeom prst="roundRect">
            <a:avLst>
              <a:gd name="adj" fmla="val 5882"/>
            </a:avLst>
          </a:prstGeom>
          <a:solidFill>
            <a:srgbClr val="F6E6E3"/>
          </a:solidFill>
          <a:ln w="9525">
            <a:solidFill>
              <a:srgbClr val="D9DCE3"/>
            </a:solidFill>
            <a:prstDash val="solid"/>
          </a:ln>
        </p:spPr>
        <p:txBody>
          <a:bodyPr/>
          <a:lstStyle/>
          <a:p>
            <a:endParaRPr lang="en-PK"/>
          </a:p>
        </p:txBody>
      </p:sp>
      <p:sp>
        <p:nvSpPr>
          <p:cNvPr id="29" name="Shape 26"/>
          <p:cNvSpPr/>
          <p:nvPr/>
        </p:nvSpPr>
        <p:spPr>
          <a:xfrm>
            <a:off x="6784848" y="4041648"/>
            <a:ext cx="41148" cy="822960"/>
          </a:xfrm>
          <a:prstGeom prst="rect">
            <a:avLst/>
          </a:prstGeom>
          <a:solidFill>
            <a:srgbClr val="A83A30"/>
          </a:solidFill>
          <a:ln/>
        </p:spPr>
        <p:txBody>
          <a:bodyPr/>
          <a:lstStyle/>
          <a:p>
            <a:endParaRPr lang="en-PK"/>
          </a:p>
        </p:txBody>
      </p:sp>
      <p:sp>
        <p:nvSpPr>
          <p:cNvPr id="30" name="Text 27"/>
          <p:cNvSpPr txBox="1"/>
          <p:nvPr/>
        </p:nvSpPr>
        <p:spPr>
          <a:xfrm>
            <a:off x="6986016" y="3986784"/>
            <a:ext cx="4437583" cy="932688"/>
          </a:xfrm>
          <a:prstGeom prst="rect">
            <a:avLst/>
          </a:prstGeom>
          <a:noFill/>
          <a:ln/>
        </p:spPr>
        <p:txBody>
          <a:bodyPr wrap="square" lIns="0" tIns="0" rIns="0" bIns="0" rtlCol="0" anchor="ctr"/>
          <a:lstStyle/>
          <a:p>
            <a:pPr marL="0" indent="0">
              <a:buNone/>
            </a:pPr>
            <a:r>
              <a:rPr lang="en-US" sz="1550" b="1" dirty="0">
                <a:solidFill>
                  <a:srgbClr val="A83A30"/>
                </a:solidFill>
                <a:latin typeface="Calibri" pitchFamily="34" charset="0"/>
                <a:ea typeface="Calibri" pitchFamily="34" charset="-122"/>
                <a:cs typeface="Calibri" pitchFamily="34" charset="-120"/>
              </a:rPr>
              <a:t>40.5 points still wrong  </a:t>
            </a:r>
            <a:r>
              <a:rPr lang="en-US" sz="1550" dirty="0">
                <a:solidFill>
                  <a:srgbClr val="1B202A"/>
                </a:solidFill>
                <a:latin typeface="Calibri" pitchFamily="34" charset="0"/>
                <a:ea typeface="Calibri" pitchFamily="34" charset="-122"/>
                <a:cs typeface="Calibri" pitchFamily="34" charset="-120"/>
              </a:rPr>
              <a:t>— misattributes 4 of 10 steps; cannot see silent failures at all.</a:t>
            </a:r>
            <a:endParaRPr lang="en-US" sz="1550" dirty="0"/>
          </a:p>
        </p:txBody>
      </p:sp>
      <p:sp>
        <p:nvSpPr>
          <p:cNvPr id="31" name="Shape 28"/>
          <p:cNvSpPr/>
          <p:nvPr/>
        </p:nvSpPr>
        <p:spPr>
          <a:xfrm>
            <a:off x="6804965" y="5054803"/>
            <a:ext cx="4839919" cy="896112"/>
          </a:xfrm>
          <a:prstGeom prst="roundRect">
            <a:avLst>
              <a:gd name="adj" fmla="val 6122"/>
            </a:avLst>
          </a:prstGeom>
          <a:solidFill>
            <a:srgbClr val="E4E6EB"/>
          </a:solidFill>
          <a:ln/>
        </p:spPr>
        <p:txBody>
          <a:bodyPr/>
          <a:lstStyle/>
          <a:p>
            <a:endParaRPr lang="en-PK"/>
          </a:p>
        </p:txBody>
      </p:sp>
      <p:sp>
        <p:nvSpPr>
          <p:cNvPr id="32" name="Shape 29"/>
          <p:cNvSpPr/>
          <p:nvPr/>
        </p:nvSpPr>
        <p:spPr>
          <a:xfrm>
            <a:off x="6784848" y="5029200"/>
            <a:ext cx="4839919" cy="896112"/>
          </a:xfrm>
          <a:prstGeom prst="roundRect">
            <a:avLst>
              <a:gd name="adj" fmla="val 6122"/>
            </a:avLst>
          </a:prstGeom>
          <a:solidFill>
            <a:srgbClr val="F1F2F5"/>
          </a:solidFill>
          <a:ln w="9525">
            <a:solidFill>
              <a:srgbClr val="D9DCE3"/>
            </a:solidFill>
            <a:prstDash val="solid"/>
          </a:ln>
        </p:spPr>
        <p:txBody>
          <a:bodyPr/>
          <a:lstStyle/>
          <a:p>
            <a:endParaRPr lang="en-PK"/>
          </a:p>
        </p:txBody>
      </p:sp>
      <p:sp>
        <p:nvSpPr>
          <p:cNvPr id="33" name="Text 30"/>
          <p:cNvSpPr txBox="1"/>
          <p:nvPr/>
        </p:nvSpPr>
        <p:spPr>
          <a:xfrm>
            <a:off x="6986016" y="5138928"/>
            <a:ext cx="4437583" cy="256032"/>
          </a:xfrm>
          <a:prstGeom prst="rect">
            <a:avLst/>
          </a:prstGeom>
          <a:noFill/>
          <a:ln/>
        </p:spPr>
        <p:txBody>
          <a:bodyPr wrap="square" lIns="0" tIns="0" rIns="0" bIns="0" rtlCol="0" anchor="ctr"/>
          <a:lstStyle/>
          <a:p>
            <a:pPr marL="0" indent="0">
              <a:buNone/>
            </a:pPr>
            <a:r>
              <a:rPr lang="en-US" sz="1400" b="1" kern="0" spc="100" dirty="0">
                <a:solidFill>
                  <a:srgbClr val="596273"/>
                </a:solidFill>
                <a:latin typeface="Consolas" pitchFamily="34" charset="0"/>
                <a:ea typeface="Consolas" pitchFamily="34" charset="-122"/>
                <a:cs typeface="Consolas" pitchFamily="34" charset="-120"/>
              </a:rPr>
              <a:t>BACKBONE-CONFOUND CAVEAT</a:t>
            </a:r>
            <a:endParaRPr lang="en-US" sz="1400" dirty="0"/>
          </a:p>
        </p:txBody>
      </p:sp>
      <p:sp>
        <p:nvSpPr>
          <p:cNvPr id="34" name="Text 31"/>
          <p:cNvSpPr txBox="1"/>
          <p:nvPr/>
        </p:nvSpPr>
        <p:spPr>
          <a:xfrm>
            <a:off x="6986016" y="5394960"/>
            <a:ext cx="4437583" cy="475488"/>
          </a:xfrm>
          <a:prstGeom prst="rect">
            <a:avLst/>
          </a:prstGeom>
          <a:noFill/>
          <a:ln/>
        </p:spPr>
        <p:txBody>
          <a:bodyPr wrap="square" lIns="0" tIns="0" rIns="0" bIns="0" rtlCol="0" anchor="ctr"/>
          <a:lstStyle/>
          <a:p>
            <a:pPr marL="0" indent="0">
              <a:buNone/>
            </a:pPr>
            <a:r>
              <a:rPr lang="en-US" sz="1500" dirty="0">
                <a:solidFill>
                  <a:srgbClr val="1B202A"/>
                </a:solidFill>
                <a:latin typeface="Calibri" pitchFamily="34" charset="0"/>
                <a:ea typeface="Calibri" pitchFamily="34" charset="-122"/>
                <a:cs typeface="Calibri" pitchFamily="34" charset="-120"/>
              </a:rPr>
              <a:t>Cross-paper backbones differ — controlled within our own experiments.</a:t>
            </a:r>
            <a:endParaRPr lang="en-US" sz="15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C"/>
        </a:solidFill>
        <a:effectLst/>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txBody>
          <a:bodyPr/>
          <a:lstStyle/>
          <a:p>
            <a:endParaRPr lang="en-PK"/>
          </a:p>
        </p:txBody>
      </p:sp>
      <p:sp>
        <p:nvSpPr>
          <p:cNvPr id="3" name="Shape 1"/>
          <p:cNvSpPr/>
          <p:nvPr/>
        </p:nvSpPr>
        <p:spPr>
          <a:xfrm rot="2700000">
            <a:off x="10618927" y="5285232"/>
            <a:ext cx="1005840" cy="1005840"/>
          </a:xfrm>
          <a:prstGeom prst="rect">
            <a:avLst/>
          </a:prstGeom>
          <a:ln w="12700">
            <a:solidFill>
              <a:srgbClr val="F4F5F7"/>
            </a:solidFill>
            <a:prstDash val="solid"/>
          </a:ln>
        </p:spPr>
        <p:txBody>
          <a:bodyPr/>
          <a:lstStyle/>
          <a:p>
            <a:endParaRPr lang="en-PK"/>
          </a:p>
        </p:txBody>
      </p:sp>
      <p:sp>
        <p:nvSpPr>
          <p:cNvPr id="4" name="Shape 2"/>
          <p:cNvSpPr/>
          <p:nvPr/>
        </p:nvSpPr>
        <p:spPr>
          <a:xfrm rot="2700000">
            <a:off x="10856671" y="5522976"/>
            <a:ext cx="530352" cy="530352"/>
          </a:xfrm>
          <a:prstGeom prst="rect">
            <a:avLst/>
          </a:prstGeom>
          <a:ln w="12700">
            <a:solidFill>
              <a:srgbClr val="F7F4ED"/>
            </a:solidFill>
            <a:prstDash val="solid"/>
          </a:ln>
        </p:spPr>
        <p:txBody>
          <a:bodyPr/>
          <a:lstStyle/>
          <a:p>
            <a:endParaRPr lang="en-PK"/>
          </a:p>
        </p:txBody>
      </p:sp>
      <p:sp>
        <p:nvSpPr>
          <p:cNvPr id="5" name="Text 3"/>
          <p:cNvSpPr txBox="1"/>
          <p:nvPr/>
        </p:nvSpPr>
        <p:spPr>
          <a:xfrm>
            <a:off x="566928" y="292608"/>
            <a:ext cx="11057839" cy="256032"/>
          </a:xfrm>
          <a:prstGeom prst="rect">
            <a:avLst/>
          </a:prstGeom>
          <a:noFill/>
          <a:ln/>
        </p:spPr>
        <p:txBody>
          <a:bodyPr wrap="square" lIns="0" tIns="0" rIns="0" bIns="0" rtlCol="0" anchor="ctr"/>
          <a:lstStyle/>
          <a:p>
            <a:pPr marL="0" indent="0">
              <a:buNone/>
            </a:pPr>
            <a:r>
              <a:rPr lang="en-US" sz="1350" b="1" kern="0" spc="160" dirty="0">
                <a:solidFill>
                  <a:srgbClr val="8E6A1F"/>
                </a:solidFill>
                <a:latin typeface="Consolas" pitchFamily="34" charset="0"/>
                <a:ea typeface="Consolas" pitchFamily="34" charset="-122"/>
                <a:cs typeface="Consolas" pitchFamily="34" charset="-120"/>
              </a:rPr>
              <a:t>WHAT IS TECHNICALLY HARD — AND WHY THIS IS NOT A COURSE PROJECT</a:t>
            </a:r>
            <a:endParaRPr lang="en-US" sz="13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marL="0" indent="0">
              <a:buNone/>
            </a:pPr>
            <a:r>
              <a:rPr lang="en-US" sz="2950" b="1" dirty="0">
                <a:solidFill>
                  <a:srgbClr val="1B202A"/>
                </a:solidFill>
                <a:latin typeface="Georgia" pitchFamily="34" charset="0"/>
                <a:ea typeface="Georgia" pitchFamily="34" charset="-122"/>
                <a:cs typeface="Georgia" pitchFamily="34" charset="-120"/>
              </a:rPr>
              <a:t>Complex Computing Challenge</a:t>
            </a:r>
            <a:endParaRPr lang="en-US" sz="2950" dirty="0"/>
          </a:p>
        </p:txBody>
      </p:sp>
      <p:sp>
        <p:nvSpPr>
          <p:cNvPr id="7" name="Shape 5"/>
          <p:cNvSpPr/>
          <p:nvPr/>
        </p:nvSpPr>
        <p:spPr>
          <a:xfrm>
            <a:off x="566928" y="1188720"/>
            <a:ext cx="566928" cy="36576"/>
          </a:xfrm>
          <a:prstGeom prst="rect">
            <a:avLst/>
          </a:prstGeom>
          <a:solidFill>
            <a:srgbClr val="C89B3C"/>
          </a:solidFill>
          <a:ln/>
        </p:spPr>
        <p:txBody>
          <a:bodyPr/>
          <a:lstStyle/>
          <a:p>
            <a:endParaRPr lang="en-PK"/>
          </a:p>
        </p:txBody>
      </p:sp>
      <p:sp>
        <p:nvSpPr>
          <p:cNvPr id="8" name="Shape 6"/>
          <p:cNvSpPr/>
          <p:nvPr/>
        </p:nvSpPr>
        <p:spPr>
          <a:xfrm>
            <a:off x="566928" y="6437376"/>
            <a:ext cx="11057839" cy="0"/>
          </a:xfrm>
          <a:prstGeom prst="line">
            <a:avLst/>
          </a:prstGeom>
          <a:noFill/>
          <a:ln w="9525">
            <a:solidFill>
              <a:srgbClr val="D9DCE3"/>
            </a:solidFill>
            <a:prstDash val="solid"/>
          </a:ln>
        </p:spPr>
        <p:txBody>
          <a:bodyPr/>
          <a:lstStyle/>
          <a:p>
            <a:endParaRPr lang="en-PK"/>
          </a:p>
        </p:txBody>
      </p:sp>
      <p:sp>
        <p:nvSpPr>
          <p:cNvPr id="9" name="Text 7"/>
          <p:cNvSpPr txBox="1"/>
          <p:nvPr/>
        </p:nvSpPr>
        <p:spPr>
          <a:xfrm>
            <a:off x="566928" y="6510528"/>
            <a:ext cx="5943600" cy="237744"/>
          </a:xfrm>
          <a:prstGeom prst="rect">
            <a:avLst/>
          </a:prstGeom>
          <a:noFill/>
          <a:ln/>
        </p:spPr>
        <p:txBody>
          <a:bodyPr wrap="square" lIns="0" tIns="0" rIns="0" bIns="0" rtlCol="0" anchor="ctr"/>
          <a:lstStyle/>
          <a:p>
            <a:pPr marL="0" indent="0">
              <a:buNone/>
            </a:pPr>
            <a:r>
              <a:rPr lang="en-US" sz="1050" kern="0" spc="7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10" name="Text 8"/>
          <p:cNvSpPr txBox="1"/>
          <p:nvPr/>
        </p:nvSpPr>
        <p:spPr>
          <a:xfrm>
            <a:off x="10527487" y="6510528"/>
            <a:ext cx="1097280" cy="237744"/>
          </a:xfrm>
          <a:prstGeom prst="rect">
            <a:avLst/>
          </a:prstGeom>
          <a:noFill/>
          <a:ln/>
        </p:spPr>
        <p:txBody>
          <a:bodyPr wrap="square" lIns="0" tIns="0" rIns="0" bIns="0" rtlCol="0" anchor="ctr"/>
          <a:lstStyle/>
          <a:p>
            <a:pPr marL="0" indent="0" algn="r">
              <a:buNone/>
            </a:pPr>
            <a:r>
              <a:rPr lang="en-US" sz="1050" b="1" dirty="0">
                <a:solidFill>
                  <a:srgbClr val="8E6A1F"/>
                </a:solidFill>
                <a:latin typeface="Consolas" pitchFamily="34" charset="0"/>
                <a:ea typeface="Consolas" pitchFamily="34" charset="-122"/>
                <a:cs typeface="Consolas" pitchFamily="34" charset="-120"/>
              </a:rPr>
              <a:t>5 / 10</a:t>
            </a:r>
            <a:endParaRPr lang="en-US" sz="1050" dirty="0"/>
          </a:p>
        </p:txBody>
      </p:sp>
      <p:sp>
        <p:nvSpPr>
          <p:cNvPr id="11" name="Shape 9"/>
          <p:cNvSpPr/>
          <p:nvPr/>
        </p:nvSpPr>
        <p:spPr>
          <a:xfrm>
            <a:off x="587045" y="1324051"/>
            <a:ext cx="3521354" cy="1078992"/>
          </a:xfrm>
          <a:prstGeom prst="roundRect">
            <a:avLst>
              <a:gd name="adj" fmla="val 5085"/>
            </a:avLst>
          </a:prstGeom>
          <a:solidFill>
            <a:srgbClr val="E4E6EB"/>
          </a:solidFill>
          <a:ln/>
        </p:spPr>
        <p:txBody>
          <a:bodyPr/>
          <a:lstStyle/>
          <a:p>
            <a:endParaRPr lang="en-PK"/>
          </a:p>
        </p:txBody>
      </p:sp>
      <p:sp>
        <p:nvSpPr>
          <p:cNvPr id="12" name="Shape 10"/>
          <p:cNvSpPr/>
          <p:nvPr/>
        </p:nvSpPr>
        <p:spPr>
          <a:xfrm>
            <a:off x="566928" y="1298448"/>
            <a:ext cx="3521354" cy="1078992"/>
          </a:xfrm>
          <a:prstGeom prst="roundRect">
            <a:avLst>
              <a:gd name="adj" fmla="val 5085"/>
            </a:avLst>
          </a:prstGeom>
          <a:solidFill>
            <a:srgbClr val="E6F1EB"/>
          </a:solidFill>
          <a:ln w="9525">
            <a:solidFill>
              <a:srgbClr val="D9DCE3"/>
            </a:solidFill>
            <a:prstDash val="solid"/>
          </a:ln>
        </p:spPr>
        <p:txBody>
          <a:bodyPr/>
          <a:lstStyle/>
          <a:p>
            <a:endParaRPr lang="en-PK"/>
          </a:p>
        </p:txBody>
      </p:sp>
      <p:sp>
        <p:nvSpPr>
          <p:cNvPr id="13" name="Shape 11"/>
          <p:cNvSpPr/>
          <p:nvPr/>
        </p:nvSpPr>
        <p:spPr>
          <a:xfrm>
            <a:off x="566928" y="1353312"/>
            <a:ext cx="41148" cy="969264"/>
          </a:xfrm>
          <a:prstGeom prst="rect">
            <a:avLst/>
          </a:prstGeom>
          <a:solidFill>
            <a:srgbClr val="1E7A52"/>
          </a:solidFill>
          <a:ln/>
        </p:spPr>
        <p:txBody>
          <a:bodyPr/>
          <a:lstStyle/>
          <a:p>
            <a:endParaRPr lang="en-PK"/>
          </a:p>
        </p:txBody>
      </p:sp>
      <p:sp>
        <p:nvSpPr>
          <p:cNvPr id="14" name="Shape 12"/>
          <p:cNvSpPr/>
          <p:nvPr/>
        </p:nvSpPr>
        <p:spPr>
          <a:xfrm>
            <a:off x="713232" y="1435608"/>
            <a:ext cx="310896" cy="310896"/>
          </a:xfrm>
          <a:prstGeom prst="ellipse">
            <a:avLst/>
          </a:prstGeom>
          <a:solidFill>
            <a:srgbClr val="1E7A52"/>
          </a:solidFill>
          <a:ln/>
        </p:spPr>
        <p:txBody>
          <a:bodyPr/>
          <a:lstStyle/>
          <a:p>
            <a:endParaRPr lang="en-PK"/>
          </a:p>
        </p:txBody>
      </p:sp>
      <p:sp>
        <p:nvSpPr>
          <p:cNvPr id="15" name="Text 13"/>
          <p:cNvSpPr txBox="1"/>
          <p:nvPr/>
        </p:nvSpPr>
        <p:spPr>
          <a:xfrm>
            <a:off x="713232" y="1435608"/>
            <a:ext cx="310896" cy="310896"/>
          </a:xfrm>
          <a:prstGeom prst="rect">
            <a:avLst/>
          </a:prstGeom>
          <a:noFill/>
          <a:ln/>
        </p:spPr>
        <p:txBody>
          <a:bodyPr wrap="square" lIns="0" tIns="0" rIns="0" bIns="0" rtlCol="0" anchor="ctr"/>
          <a:lstStyle/>
          <a:p>
            <a:pPr marL="0" indent="0" algn="ctr">
              <a:buNone/>
            </a:pPr>
            <a:r>
              <a:rPr lang="en-US" sz="1450" b="1" dirty="0">
                <a:solidFill>
                  <a:srgbClr val="F5F6F8"/>
                </a:solidFill>
                <a:latin typeface="Georgia" pitchFamily="34" charset="0"/>
                <a:ea typeface="Georgia" pitchFamily="34" charset="-122"/>
                <a:cs typeface="Georgia" pitchFamily="34" charset="-120"/>
              </a:rPr>
              <a:t>1</a:t>
            </a:r>
            <a:endParaRPr lang="en-US" sz="1450" dirty="0"/>
          </a:p>
        </p:txBody>
      </p:sp>
      <p:sp>
        <p:nvSpPr>
          <p:cNvPr id="16" name="Text 14"/>
          <p:cNvSpPr txBox="1"/>
          <p:nvPr/>
        </p:nvSpPr>
        <p:spPr>
          <a:xfrm>
            <a:off x="1115568" y="1417320"/>
            <a:ext cx="2862986" cy="329184"/>
          </a:xfrm>
          <a:prstGeom prst="rect">
            <a:avLst/>
          </a:prstGeom>
          <a:noFill/>
          <a:ln/>
        </p:spPr>
        <p:txBody>
          <a:bodyPr wrap="square" lIns="0" tIns="0" rIns="0" bIns="0" rtlCol="0" anchor="ctr"/>
          <a:lstStyle/>
          <a:p>
            <a:pPr marL="0" indent="0">
              <a:buNone/>
            </a:pPr>
            <a:r>
              <a:rPr lang="en-US" sz="1600" b="1" dirty="0">
                <a:solidFill>
                  <a:srgbClr val="1B202A"/>
                </a:solidFill>
                <a:latin typeface="Georgia" pitchFamily="34" charset="0"/>
                <a:ea typeface="Georgia" pitchFamily="34" charset="-122"/>
                <a:cs typeface="Georgia" pitchFamily="34" charset="-120"/>
              </a:rPr>
              <a:t>Conflicting requirements</a:t>
            </a:r>
            <a:endParaRPr lang="en-US" sz="1600" dirty="0"/>
          </a:p>
        </p:txBody>
      </p:sp>
      <p:sp>
        <p:nvSpPr>
          <p:cNvPr id="17" name="Text 15"/>
          <p:cNvSpPr txBox="1"/>
          <p:nvPr/>
        </p:nvSpPr>
        <p:spPr>
          <a:xfrm>
            <a:off x="713232" y="1792224"/>
            <a:ext cx="3247034" cy="548640"/>
          </a:xfrm>
          <a:prstGeom prst="rect">
            <a:avLst/>
          </a:prstGeom>
          <a:noFill/>
          <a:ln/>
        </p:spPr>
        <p:txBody>
          <a:bodyPr wrap="square" lIns="0" tIns="0" rIns="0" bIns="0" rtlCol="0" anchor="ctr"/>
          <a:lstStyle/>
          <a:p>
            <a:pPr marL="0" indent="0">
              <a:buNone/>
            </a:pPr>
            <a:r>
              <a:rPr lang="en-US" sz="1350" dirty="0">
                <a:solidFill>
                  <a:srgbClr val="596273"/>
                </a:solidFill>
                <a:latin typeface="Calibri" pitchFamily="34" charset="0"/>
                <a:ea typeface="Calibri" pitchFamily="34" charset="-122"/>
                <a:cs typeface="Calibri" pitchFamily="34" charset="-120"/>
              </a:rPr>
              <a:t>Depth vs. latency; privacy vs. completeness</a:t>
            </a:r>
            <a:endParaRPr lang="en-US" sz="1350" dirty="0"/>
          </a:p>
        </p:txBody>
      </p:sp>
      <p:sp>
        <p:nvSpPr>
          <p:cNvPr id="18" name="Shape 16"/>
          <p:cNvSpPr/>
          <p:nvPr/>
        </p:nvSpPr>
        <p:spPr>
          <a:xfrm>
            <a:off x="4272991" y="1324051"/>
            <a:ext cx="3521354" cy="1078992"/>
          </a:xfrm>
          <a:prstGeom prst="roundRect">
            <a:avLst>
              <a:gd name="adj" fmla="val 5085"/>
            </a:avLst>
          </a:prstGeom>
          <a:solidFill>
            <a:srgbClr val="E4E6EB"/>
          </a:solidFill>
          <a:ln/>
        </p:spPr>
        <p:txBody>
          <a:bodyPr/>
          <a:lstStyle/>
          <a:p>
            <a:endParaRPr lang="en-PK"/>
          </a:p>
        </p:txBody>
      </p:sp>
      <p:sp>
        <p:nvSpPr>
          <p:cNvPr id="19" name="Shape 17"/>
          <p:cNvSpPr/>
          <p:nvPr/>
        </p:nvSpPr>
        <p:spPr>
          <a:xfrm>
            <a:off x="4252874" y="1298448"/>
            <a:ext cx="3521354" cy="1078992"/>
          </a:xfrm>
          <a:prstGeom prst="roundRect">
            <a:avLst>
              <a:gd name="adj" fmla="val 5085"/>
            </a:avLst>
          </a:prstGeom>
          <a:solidFill>
            <a:srgbClr val="E6F1EB"/>
          </a:solidFill>
          <a:ln w="9525">
            <a:solidFill>
              <a:srgbClr val="D9DCE3"/>
            </a:solidFill>
            <a:prstDash val="solid"/>
          </a:ln>
        </p:spPr>
        <p:txBody>
          <a:bodyPr/>
          <a:lstStyle/>
          <a:p>
            <a:endParaRPr lang="en-PK"/>
          </a:p>
        </p:txBody>
      </p:sp>
      <p:sp>
        <p:nvSpPr>
          <p:cNvPr id="20" name="Shape 18"/>
          <p:cNvSpPr/>
          <p:nvPr/>
        </p:nvSpPr>
        <p:spPr>
          <a:xfrm>
            <a:off x="4252874" y="1353312"/>
            <a:ext cx="41148" cy="969264"/>
          </a:xfrm>
          <a:prstGeom prst="rect">
            <a:avLst/>
          </a:prstGeom>
          <a:solidFill>
            <a:srgbClr val="1E7A52"/>
          </a:solidFill>
          <a:ln/>
        </p:spPr>
        <p:txBody>
          <a:bodyPr/>
          <a:lstStyle/>
          <a:p>
            <a:endParaRPr lang="en-PK"/>
          </a:p>
        </p:txBody>
      </p:sp>
      <p:sp>
        <p:nvSpPr>
          <p:cNvPr id="21" name="Shape 19"/>
          <p:cNvSpPr/>
          <p:nvPr/>
        </p:nvSpPr>
        <p:spPr>
          <a:xfrm>
            <a:off x="4399178" y="1435608"/>
            <a:ext cx="310896" cy="310896"/>
          </a:xfrm>
          <a:prstGeom prst="ellipse">
            <a:avLst/>
          </a:prstGeom>
          <a:solidFill>
            <a:srgbClr val="1E7A52"/>
          </a:solidFill>
          <a:ln/>
        </p:spPr>
        <p:txBody>
          <a:bodyPr/>
          <a:lstStyle/>
          <a:p>
            <a:endParaRPr lang="en-PK"/>
          </a:p>
        </p:txBody>
      </p:sp>
      <p:sp>
        <p:nvSpPr>
          <p:cNvPr id="22" name="Text 20"/>
          <p:cNvSpPr txBox="1"/>
          <p:nvPr/>
        </p:nvSpPr>
        <p:spPr>
          <a:xfrm>
            <a:off x="4399178" y="1435608"/>
            <a:ext cx="310896" cy="310896"/>
          </a:xfrm>
          <a:prstGeom prst="rect">
            <a:avLst/>
          </a:prstGeom>
          <a:noFill/>
          <a:ln/>
        </p:spPr>
        <p:txBody>
          <a:bodyPr wrap="square" lIns="0" tIns="0" rIns="0" bIns="0" rtlCol="0" anchor="ctr"/>
          <a:lstStyle/>
          <a:p>
            <a:pPr marL="0" indent="0" algn="ctr">
              <a:buNone/>
            </a:pPr>
            <a:r>
              <a:rPr lang="en-US" sz="1450" b="1" dirty="0">
                <a:solidFill>
                  <a:srgbClr val="F5F6F8"/>
                </a:solidFill>
                <a:latin typeface="Georgia" pitchFamily="34" charset="0"/>
                <a:ea typeface="Georgia" pitchFamily="34" charset="-122"/>
                <a:cs typeface="Georgia" pitchFamily="34" charset="-120"/>
              </a:rPr>
              <a:t>2</a:t>
            </a:r>
            <a:endParaRPr lang="en-US" sz="1450" dirty="0"/>
          </a:p>
        </p:txBody>
      </p:sp>
      <p:sp>
        <p:nvSpPr>
          <p:cNvPr id="23" name="Text 21"/>
          <p:cNvSpPr txBox="1"/>
          <p:nvPr/>
        </p:nvSpPr>
        <p:spPr>
          <a:xfrm>
            <a:off x="4801514" y="1417320"/>
            <a:ext cx="2862986" cy="329184"/>
          </a:xfrm>
          <a:prstGeom prst="rect">
            <a:avLst/>
          </a:prstGeom>
          <a:noFill/>
          <a:ln/>
        </p:spPr>
        <p:txBody>
          <a:bodyPr wrap="square" lIns="0" tIns="0" rIns="0" bIns="0" rtlCol="0" anchor="ctr"/>
          <a:lstStyle/>
          <a:p>
            <a:pPr marL="0" indent="0">
              <a:buNone/>
            </a:pPr>
            <a:r>
              <a:rPr lang="en-US" sz="1600" b="1" dirty="0">
                <a:solidFill>
                  <a:srgbClr val="1B202A"/>
                </a:solidFill>
                <a:latin typeface="Georgia" pitchFamily="34" charset="0"/>
                <a:ea typeface="Georgia" pitchFamily="34" charset="-122"/>
                <a:cs typeface="Georgia" pitchFamily="34" charset="-120"/>
              </a:rPr>
              <a:t>No obvious solution</a:t>
            </a:r>
            <a:endParaRPr lang="en-US" sz="1600" dirty="0"/>
          </a:p>
        </p:txBody>
      </p:sp>
      <p:sp>
        <p:nvSpPr>
          <p:cNvPr id="24" name="Text 22"/>
          <p:cNvSpPr txBox="1"/>
          <p:nvPr/>
        </p:nvSpPr>
        <p:spPr>
          <a:xfrm>
            <a:off x="4399178" y="1792224"/>
            <a:ext cx="3247034" cy="548640"/>
          </a:xfrm>
          <a:prstGeom prst="rect">
            <a:avLst/>
          </a:prstGeom>
          <a:noFill/>
          <a:ln/>
        </p:spPr>
        <p:txBody>
          <a:bodyPr wrap="square" lIns="0" tIns="0" rIns="0" bIns="0" rtlCol="0" anchor="ctr"/>
          <a:lstStyle/>
          <a:p>
            <a:pPr marL="0" indent="0">
              <a:buNone/>
            </a:pPr>
            <a:r>
              <a:rPr lang="en-US" sz="1350" dirty="0">
                <a:solidFill>
                  <a:srgbClr val="596273"/>
                </a:solidFill>
                <a:latin typeface="Calibri" pitchFamily="34" charset="0"/>
                <a:ea typeface="Calibri" pitchFamily="34" charset="-122"/>
                <a:cs typeface="Calibri" pitchFamily="34" charset="-120"/>
              </a:rPr>
              <a:t>Best published: 59.5% after 15 months, 7 papers</a:t>
            </a:r>
            <a:endParaRPr lang="en-US" sz="1350" dirty="0"/>
          </a:p>
        </p:txBody>
      </p:sp>
      <p:sp>
        <p:nvSpPr>
          <p:cNvPr id="25" name="Shape 23"/>
          <p:cNvSpPr/>
          <p:nvPr/>
        </p:nvSpPr>
        <p:spPr>
          <a:xfrm>
            <a:off x="7958938" y="1324051"/>
            <a:ext cx="3521354" cy="1078992"/>
          </a:xfrm>
          <a:prstGeom prst="roundRect">
            <a:avLst>
              <a:gd name="adj" fmla="val 5085"/>
            </a:avLst>
          </a:prstGeom>
          <a:solidFill>
            <a:srgbClr val="E4E6EB"/>
          </a:solidFill>
          <a:ln/>
        </p:spPr>
        <p:txBody>
          <a:bodyPr/>
          <a:lstStyle/>
          <a:p>
            <a:endParaRPr lang="en-PK"/>
          </a:p>
        </p:txBody>
      </p:sp>
      <p:sp>
        <p:nvSpPr>
          <p:cNvPr id="26" name="Shape 24"/>
          <p:cNvSpPr/>
          <p:nvPr/>
        </p:nvSpPr>
        <p:spPr>
          <a:xfrm>
            <a:off x="7938821" y="1298448"/>
            <a:ext cx="3521354" cy="1078992"/>
          </a:xfrm>
          <a:prstGeom prst="roundRect">
            <a:avLst>
              <a:gd name="adj" fmla="val 5085"/>
            </a:avLst>
          </a:prstGeom>
          <a:solidFill>
            <a:srgbClr val="E6F1EB"/>
          </a:solidFill>
          <a:ln w="9525">
            <a:solidFill>
              <a:srgbClr val="D9DCE3"/>
            </a:solidFill>
            <a:prstDash val="solid"/>
          </a:ln>
        </p:spPr>
        <p:txBody>
          <a:bodyPr/>
          <a:lstStyle/>
          <a:p>
            <a:endParaRPr lang="en-PK"/>
          </a:p>
        </p:txBody>
      </p:sp>
      <p:sp>
        <p:nvSpPr>
          <p:cNvPr id="27" name="Shape 25"/>
          <p:cNvSpPr/>
          <p:nvPr/>
        </p:nvSpPr>
        <p:spPr>
          <a:xfrm>
            <a:off x="7938821" y="1353312"/>
            <a:ext cx="41148" cy="969264"/>
          </a:xfrm>
          <a:prstGeom prst="rect">
            <a:avLst/>
          </a:prstGeom>
          <a:solidFill>
            <a:srgbClr val="1E7A52"/>
          </a:solidFill>
          <a:ln/>
        </p:spPr>
        <p:txBody>
          <a:bodyPr/>
          <a:lstStyle/>
          <a:p>
            <a:endParaRPr lang="en-PK"/>
          </a:p>
        </p:txBody>
      </p:sp>
      <p:sp>
        <p:nvSpPr>
          <p:cNvPr id="28" name="Shape 26"/>
          <p:cNvSpPr/>
          <p:nvPr/>
        </p:nvSpPr>
        <p:spPr>
          <a:xfrm>
            <a:off x="8085125" y="1435608"/>
            <a:ext cx="310896" cy="310896"/>
          </a:xfrm>
          <a:prstGeom prst="ellipse">
            <a:avLst/>
          </a:prstGeom>
          <a:solidFill>
            <a:srgbClr val="1E7A52"/>
          </a:solidFill>
          <a:ln/>
        </p:spPr>
        <p:txBody>
          <a:bodyPr/>
          <a:lstStyle/>
          <a:p>
            <a:endParaRPr lang="en-PK"/>
          </a:p>
        </p:txBody>
      </p:sp>
      <p:sp>
        <p:nvSpPr>
          <p:cNvPr id="29" name="Text 27"/>
          <p:cNvSpPr txBox="1"/>
          <p:nvPr/>
        </p:nvSpPr>
        <p:spPr>
          <a:xfrm>
            <a:off x="8085125" y="1435608"/>
            <a:ext cx="310896" cy="310896"/>
          </a:xfrm>
          <a:prstGeom prst="rect">
            <a:avLst/>
          </a:prstGeom>
          <a:noFill/>
          <a:ln/>
        </p:spPr>
        <p:txBody>
          <a:bodyPr wrap="square" lIns="0" tIns="0" rIns="0" bIns="0" rtlCol="0" anchor="ctr"/>
          <a:lstStyle/>
          <a:p>
            <a:pPr marL="0" indent="0" algn="ctr">
              <a:buNone/>
            </a:pPr>
            <a:r>
              <a:rPr lang="en-US" sz="1450" b="1" dirty="0">
                <a:solidFill>
                  <a:srgbClr val="F5F6F8"/>
                </a:solidFill>
                <a:latin typeface="Georgia" pitchFamily="34" charset="0"/>
                <a:ea typeface="Georgia" pitchFamily="34" charset="-122"/>
                <a:cs typeface="Georgia" pitchFamily="34" charset="-120"/>
              </a:rPr>
              <a:t>3</a:t>
            </a:r>
            <a:endParaRPr lang="en-US" sz="1450" dirty="0"/>
          </a:p>
        </p:txBody>
      </p:sp>
      <p:sp>
        <p:nvSpPr>
          <p:cNvPr id="30" name="Text 28"/>
          <p:cNvSpPr txBox="1"/>
          <p:nvPr/>
        </p:nvSpPr>
        <p:spPr>
          <a:xfrm>
            <a:off x="8487461" y="1417320"/>
            <a:ext cx="2862986" cy="329184"/>
          </a:xfrm>
          <a:prstGeom prst="rect">
            <a:avLst/>
          </a:prstGeom>
          <a:noFill/>
          <a:ln/>
        </p:spPr>
        <p:txBody>
          <a:bodyPr wrap="square" lIns="0" tIns="0" rIns="0" bIns="0" rtlCol="0" anchor="ctr"/>
          <a:lstStyle/>
          <a:p>
            <a:pPr marL="0" indent="0">
              <a:buNone/>
            </a:pPr>
            <a:r>
              <a:rPr lang="en-US" sz="1600" b="1" dirty="0">
                <a:solidFill>
                  <a:srgbClr val="1B202A"/>
                </a:solidFill>
                <a:latin typeface="Georgia" pitchFamily="34" charset="0"/>
                <a:ea typeface="Georgia" pitchFamily="34" charset="-122"/>
                <a:cs typeface="Georgia" pitchFamily="34" charset="-120"/>
              </a:rPr>
              <a:t>Depth of knowledge</a:t>
            </a:r>
            <a:endParaRPr lang="en-US" sz="1600" dirty="0"/>
          </a:p>
        </p:txBody>
      </p:sp>
      <p:sp>
        <p:nvSpPr>
          <p:cNvPr id="31" name="Text 29"/>
          <p:cNvSpPr txBox="1"/>
          <p:nvPr/>
        </p:nvSpPr>
        <p:spPr>
          <a:xfrm>
            <a:off x="8085125" y="1792224"/>
            <a:ext cx="3247034" cy="548640"/>
          </a:xfrm>
          <a:prstGeom prst="rect">
            <a:avLst/>
          </a:prstGeom>
          <a:noFill/>
          <a:ln/>
        </p:spPr>
        <p:txBody>
          <a:bodyPr wrap="square" lIns="0" tIns="0" rIns="0" bIns="0" rtlCol="0" anchor="ctr"/>
          <a:lstStyle/>
          <a:p>
            <a:pPr marL="0" indent="0">
              <a:buNone/>
            </a:pPr>
            <a:r>
              <a:rPr lang="en-US" sz="1350" dirty="0">
                <a:solidFill>
                  <a:srgbClr val="596273"/>
                </a:solidFill>
                <a:latin typeface="Calibri" pitchFamily="34" charset="0"/>
                <a:ea typeface="Calibri" pitchFamily="34" charset="-122"/>
                <a:cs typeface="Calibri" pitchFamily="34" charset="-120"/>
              </a:rPr>
              <a:t>Graph modeling, causal reasoning, tracing</a:t>
            </a:r>
            <a:endParaRPr lang="en-US" sz="1350" dirty="0"/>
          </a:p>
        </p:txBody>
      </p:sp>
      <p:sp>
        <p:nvSpPr>
          <p:cNvPr id="32" name="Shape 30"/>
          <p:cNvSpPr/>
          <p:nvPr/>
        </p:nvSpPr>
        <p:spPr>
          <a:xfrm>
            <a:off x="587045" y="2512771"/>
            <a:ext cx="3521354" cy="1078992"/>
          </a:xfrm>
          <a:prstGeom prst="roundRect">
            <a:avLst>
              <a:gd name="adj" fmla="val 5085"/>
            </a:avLst>
          </a:prstGeom>
          <a:solidFill>
            <a:srgbClr val="E4E6EB"/>
          </a:solidFill>
          <a:ln/>
        </p:spPr>
        <p:txBody>
          <a:bodyPr/>
          <a:lstStyle/>
          <a:p>
            <a:endParaRPr lang="en-PK"/>
          </a:p>
        </p:txBody>
      </p:sp>
      <p:sp>
        <p:nvSpPr>
          <p:cNvPr id="33" name="Shape 31"/>
          <p:cNvSpPr/>
          <p:nvPr/>
        </p:nvSpPr>
        <p:spPr>
          <a:xfrm>
            <a:off x="566928" y="2487168"/>
            <a:ext cx="3521354" cy="1078992"/>
          </a:xfrm>
          <a:prstGeom prst="roundRect">
            <a:avLst>
              <a:gd name="adj" fmla="val 5085"/>
            </a:avLst>
          </a:prstGeom>
          <a:solidFill>
            <a:srgbClr val="E6F1EB"/>
          </a:solidFill>
          <a:ln w="9525">
            <a:solidFill>
              <a:srgbClr val="D9DCE3"/>
            </a:solidFill>
            <a:prstDash val="solid"/>
          </a:ln>
        </p:spPr>
        <p:txBody>
          <a:bodyPr/>
          <a:lstStyle/>
          <a:p>
            <a:endParaRPr lang="en-PK"/>
          </a:p>
        </p:txBody>
      </p:sp>
      <p:sp>
        <p:nvSpPr>
          <p:cNvPr id="34" name="Shape 32"/>
          <p:cNvSpPr/>
          <p:nvPr/>
        </p:nvSpPr>
        <p:spPr>
          <a:xfrm>
            <a:off x="566928" y="2542032"/>
            <a:ext cx="41148" cy="969264"/>
          </a:xfrm>
          <a:prstGeom prst="rect">
            <a:avLst/>
          </a:prstGeom>
          <a:solidFill>
            <a:srgbClr val="1E7A52"/>
          </a:solidFill>
          <a:ln/>
        </p:spPr>
        <p:txBody>
          <a:bodyPr/>
          <a:lstStyle/>
          <a:p>
            <a:endParaRPr lang="en-PK"/>
          </a:p>
        </p:txBody>
      </p:sp>
      <p:sp>
        <p:nvSpPr>
          <p:cNvPr id="35" name="Shape 33"/>
          <p:cNvSpPr/>
          <p:nvPr/>
        </p:nvSpPr>
        <p:spPr>
          <a:xfrm>
            <a:off x="713232" y="2624328"/>
            <a:ext cx="310896" cy="310896"/>
          </a:xfrm>
          <a:prstGeom prst="ellipse">
            <a:avLst/>
          </a:prstGeom>
          <a:solidFill>
            <a:srgbClr val="1E7A52"/>
          </a:solidFill>
          <a:ln/>
        </p:spPr>
        <p:txBody>
          <a:bodyPr/>
          <a:lstStyle/>
          <a:p>
            <a:endParaRPr lang="en-PK"/>
          </a:p>
        </p:txBody>
      </p:sp>
      <p:sp>
        <p:nvSpPr>
          <p:cNvPr id="36" name="Text 34"/>
          <p:cNvSpPr txBox="1"/>
          <p:nvPr/>
        </p:nvSpPr>
        <p:spPr>
          <a:xfrm>
            <a:off x="713232" y="2624328"/>
            <a:ext cx="310896" cy="310896"/>
          </a:xfrm>
          <a:prstGeom prst="rect">
            <a:avLst/>
          </a:prstGeom>
          <a:noFill/>
          <a:ln/>
        </p:spPr>
        <p:txBody>
          <a:bodyPr wrap="square" lIns="0" tIns="0" rIns="0" bIns="0" rtlCol="0" anchor="ctr"/>
          <a:lstStyle/>
          <a:p>
            <a:pPr marL="0" indent="0" algn="ctr">
              <a:buNone/>
            </a:pPr>
            <a:r>
              <a:rPr lang="en-US" sz="1450" b="1" dirty="0">
                <a:solidFill>
                  <a:srgbClr val="F5F6F8"/>
                </a:solidFill>
                <a:latin typeface="Georgia" pitchFamily="34" charset="0"/>
                <a:ea typeface="Georgia" pitchFamily="34" charset="-122"/>
                <a:cs typeface="Georgia" pitchFamily="34" charset="-120"/>
              </a:rPr>
              <a:t>4</a:t>
            </a:r>
            <a:endParaRPr lang="en-US" sz="1450" dirty="0"/>
          </a:p>
        </p:txBody>
      </p:sp>
      <p:sp>
        <p:nvSpPr>
          <p:cNvPr id="37" name="Text 35"/>
          <p:cNvSpPr txBox="1"/>
          <p:nvPr/>
        </p:nvSpPr>
        <p:spPr>
          <a:xfrm>
            <a:off x="1115568" y="2606040"/>
            <a:ext cx="2862986" cy="329184"/>
          </a:xfrm>
          <a:prstGeom prst="rect">
            <a:avLst/>
          </a:prstGeom>
          <a:noFill/>
          <a:ln/>
        </p:spPr>
        <p:txBody>
          <a:bodyPr wrap="square" lIns="0" tIns="0" rIns="0" bIns="0" rtlCol="0" anchor="ctr"/>
          <a:lstStyle/>
          <a:p>
            <a:pPr marL="0" indent="0">
              <a:buNone/>
            </a:pPr>
            <a:r>
              <a:rPr lang="en-US" sz="1600" b="1" dirty="0">
                <a:solidFill>
                  <a:srgbClr val="1B202A"/>
                </a:solidFill>
                <a:latin typeface="Georgia" pitchFamily="34" charset="0"/>
                <a:ea typeface="Georgia" pitchFamily="34" charset="-122"/>
                <a:cs typeface="Georgia" pitchFamily="34" charset="-120"/>
              </a:rPr>
              <a:t>Unfamiliar issues</a:t>
            </a:r>
            <a:endParaRPr lang="en-US" sz="1600" dirty="0"/>
          </a:p>
        </p:txBody>
      </p:sp>
      <p:sp>
        <p:nvSpPr>
          <p:cNvPr id="38" name="Text 36"/>
          <p:cNvSpPr txBox="1"/>
          <p:nvPr/>
        </p:nvSpPr>
        <p:spPr>
          <a:xfrm>
            <a:off x="713232" y="2980944"/>
            <a:ext cx="3247034" cy="548640"/>
          </a:xfrm>
          <a:prstGeom prst="rect">
            <a:avLst/>
          </a:prstGeom>
          <a:noFill/>
          <a:ln/>
        </p:spPr>
        <p:txBody>
          <a:bodyPr wrap="square" lIns="0" tIns="0" rIns="0" bIns="0" rtlCol="0" anchor="ctr"/>
          <a:lstStyle/>
          <a:p>
            <a:pPr marL="0" indent="0">
              <a:buNone/>
            </a:pPr>
            <a:r>
              <a:rPr lang="en-US" sz="1350" dirty="0">
                <a:solidFill>
                  <a:srgbClr val="596273"/>
                </a:solidFill>
                <a:latin typeface="Calibri" pitchFamily="34" charset="0"/>
                <a:ea typeface="Calibri" pitchFamily="34" charset="-122"/>
                <a:cs typeface="Calibri" pitchFamily="34" charset="-120"/>
              </a:rPr>
              <a:t>Delayed errors, non-determinism, cross-arch</a:t>
            </a:r>
            <a:endParaRPr lang="en-US" sz="1350" dirty="0"/>
          </a:p>
        </p:txBody>
      </p:sp>
      <p:sp>
        <p:nvSpPr>
          <p:cNvPr id="39" name="Shape 37"/>
          <p:cNvSpPr/>
          <p:nvPr/>
        </p:nvSpPr>
        <p:spPr>
          <a:xfrm>
            <a:off x="4272991" y="2512771"/>
            <a:ext cx="3521354" cy="1078992"/>
          </a:xfrm>
          <a:prstGeom prst="roundRect">
            <a:avLst>
              <a:gd name="adj" fmla="val 5085"/>
            </a:avLst>
          </a:prstGeom>
          <a:solidFill>
            <a:srgbClr val="E4E6EB"/>
          </a:solidFill>
          <a:ln/>
        </p:spPr>
        <p:txBody>
          <a:bodyPr/>
          <a:lstStyle/>
          <a:p>
            <a:endParaRPr lang="en-PK"/>
          </a:p>
        </p:txBody>
      </p:sp>
      <p:sp>
        <p:nvSpPr>
          <p:cNvPr id="40" name="Shape 38"/>
          <p:cNvSpPr/>
          <p:nvPr/>
        </p:nvSpPr>
        <p:spPr>
          <a:xfrm>
            <a:off x="4252874" y="2487168"/>
            <a:ext cx="3521354" cy="1078992"/>
          </a:xfrm>
          <a:prstGeom prst="roundRect">
            <a:avLst>
              <a:gd name="adj" fmla="val 5085"/>
            </a:avLst>
          </a:prstGeom>
          <a:solidFill>
            <a:srgbClr val="E6F1EB"/>
          </a:solidFill>
          <a:ln w="9525">
            <a:solidFill>
              <a:srgbClr val="D9DCE3"/>
            </a:solidFill>
            <a:prstDash val="solid"/>
          </a:ln>
        </p:spPr>
        <p:txBody>
          <a:bodyPr/>
          <a:lstStyle/>
          <a:p>
            <a:endParaRPr lang="en-PK"/>
          </a:p>
        </p:txBody>
      </p:sp>
      <p:sp>
        <p:nvSpPr>
          <p:cNvPr id="41" name="Shape 39"/>
          <p:cNvSpPr/>
          <p:nvPr/>
        </p:nvSpPr>
        <p:spPr>
          <a:xfrm>
            <a:off x="4252874" y="2542032"/>
            <a:ext cx="41148" cy="969264"/>
          </a:xfrm>
          <a:prstGeom prst="rect">
            <a:avLst/>
          </a:prstGeom>
          <a:solidFill>
            <a:srgbClr val="1E7A52"/>
          </a:solidFill>
          <a:ln/>
        </p:spPr>
        <p:txBody>
          <a:bodyPr/>
          <a:lstStyle/>
          <a:p>
            <a:endParaRPr lang="en-PK"/>
          </a:p>
        </p:txBody>
      </p:sp>
      <p:sp>
        <p:nvSpPr>
          <p:cNvPr id="42" name="Shape 40"/>
          <p:cNvSpPr/>
          <p:nvPr/>
        </p:nvSpPr>
        <p:spPr>
          <a:xfrm>
            <a:off x="4399178" y="2624328"/>
            <a:ext cx="310896" cy="310896"/>
          </a:xfrm>
          <a:prstGeom prst="ellipse">
            <a:avLst/>
          </a:prstGeom>
          <a:solidFill>
            <a:srgbClr val="1E7A52"/>
          </a:solidFill>
          <a:ln/>
        </p:spPr>
        <p:txBody>
          <a:bodyPr/>
          <a:lstStyle/>
          <a:p>
            <a:endParaRPr lang="en-PK"/>
          </a:p>
        </p:txBody>
      </p:sp>
      <p:sp>
        <p:nvSpPr>
          <p:cNvPr id="43" name="Text 41"/>
          <p:cNvSpPr txBox="1"/>
          <p:nvPr/>
        </p:nvSpPr>
        <p:spPr>
          <a:xfrm>
            <a:off x="4399178" y="2624328"/>
            <a:ext cx="310896" cy="310896"/>
          </a:xfrm>
          <a:prstGeom prst="rect">
            <a:avLst/>
          </a:prstGeom>
          <a:noFill/>
          <a:ln/>
        </p:spPr>
        <p:txBody>
          <a:bodyPr wrap="square" lIns="0" tIns="0" rIns="0" bIns="0" rtlCol="0" anchor="ctr"/>
          <a:lstStyle/>
          <a:p>
            <a:pPr marL="0" indent="0" algn="ctr">
              <a:buNone/>
            </a:pPr>
            <a:r>
              <a:rPr lang="en-US" sz="1450" b="1" dirty="0">
                <a:solidFill>
                  <a:srgbClr val="F5F6F8"/>
                </a:solidFill>
                <a:latin typeface="Georgia" pitchFamily="34" charset="0"/>
                <a:ea typeface="Georgia" pitchFamily="34" charset="-122"/>
                <a:cs typeface="Georgia" pitchFamily="34" charset="-120"/>
              </a:rPr>
              <a:t>5</a:t>
            </a:r>
            <a:endParaRPr lang="en-US" sz="1450" dirty="0"/>
          </a:p>
        </p:txBody>
      </p:sp>
      <p:sp>
        <p:nvSpPr>
          <p:cNvPr id="44" name="Text 42"/>
          <p:cNvSpPr txBox="1"/>
          <p:nvPr/>
        </p:nvSpPr>
        <p:spPr>
          <a:xfrm>
            <a:off x="4801514" y="2606040"/>
            <a:ext cx="2862986" cy="329184"/>
          </a:xfrm>
          <a:prstGeom prst="rect">
            <a:avLst/>
          </a:prstGeom>
          <a:noFill/>
          <a:ln/>
        </p:spPr>
        <p:txBody>
          <a:bodyPr wrap="square" lIns="0" tIns="0" rIns="0" bIns="0" rtlCol="0" anchor="ctr"/>
          <a:lstStyle/>
          <a:p>
            <a:pPr marL="0" indent="0">
              <a:buNone/>
            </a:pPr>
            <a:r>
              <a:rPr lang="en-US" sz="1600" b="1" dirty="0">
                <a:solidFill>
                  <a:srgbClr val="1B202A"/>
                </a:solidFill>
                <a:latin typeface="Georgia" pitchFamily="34" charset="0"/>
                <a:ea typeface="Georgia" pitchFamily="34" charset="-122"/>
                <a:cs typeface="Georgia" pitchFamily="34" charset="-120"/>
              </a:rPr>
              <a:t>Beyond standard practice</a:t>
            </a:r>
            <a:endParaRPr lang="en-US" sz="1600" dirty="0"/>
          </a:p>
        </p:txBody>
      </p:sp>
      <p:sp>
        <p:nvSpPr>
          <p:cNvPr id="45" name="Text 43"/>
          <p:cNvSpPr txBox="1"/>
          <p:nvPr/>
        </p:nvSpPr>
        <p:spPr>
          <a:xfrm>
            <a:off x="4399178" y="2980944"/>
            <a:ext cx="3247034" cy="548640"/>
          </a:xfrm>
          <a:prstGeom prst="rect">
            <a:avLst/>
          </a:prstGeom>
          <a:noFill/>
          <a:ln/>
        </p:spPr>
        <p:txBody>
          <a:bodyPr wrap="square" lIns="0" tIns="0" rIns="0" bIns="0" rtlCol="0" anchor="ctr"/>
          <a:lstStyle/>
          <a:p>
            <a:pPr marL="0" indent="0">
              <a:buNone/>
            </a:pPr>
            <a:r>
              <a:rPr lang="en-US" sz="1350" dirty="0">
                <a:solidFill>
                  <a:srgbClr val="596273"/>
                </a:solidFill>
                <a:latin typeface="Calibri" pitchFamily="34" charset="0"/>
                <a:ea typeface="Calibri" pitchFamily="34" charset="-122"/>
                <a:cs typeface="Calibri" pitchFamily="34" charset="-120"/>
              </a:rPr>
              <a:t>No framework does attribution + detection + recovery</a:t>
            </a:r>
            <a:endParaRPr lang="en-US" sz="1350" dirty="0"/>
          </a:p>
        </p:txBody>
      </p:sp>
      <p:sp>
        <p:nvSpPr>
          <p:cNvPr id="46" name="Shape 44"/>
          <p:cNvSpPr/>
          <p:nvPr/>
        </p:nvSpPr>
        <p:spPr>
          <a:xfrm>
            <a:off x="7958938" y="2512771"/>
            <a:ext cx="3521354" cy="1078992"/>
          </a:xfrm>
          <a:prstGeom prst="roundRect">
            <a:avLst>
              <a:gd name="adj" fmla="val 5085"/>
            </a:avLst>
          </a:prstGeom>
          <a:solidFill>
            <a:srgbClr val="E4E6EB"/>
          </a:solidFill>
          <a:ln/>
        </p:spPr>
        <p:txBody>
          <a:bodyPr/>
          <a:lstStyle/>
          <a:p>
            <a:endParaRPr lang="en-PK"/>
          </a:p>
        </p:txBody>
      </p:sp>
      <p:sp>
        <p:nvSpPr>
          <p:cNvPr id="47" name="Shape 45"/>
          <p:cNvSpPr/>
          <p:nvPr/>
        </p:nvSpPr>
        <p:spPr>
          <a:xfrm>
            <a:off x="7938821" y="2487168"/>
            <a:ext cx="3521354" cy="1078992"/>
          </a:xfrm>
          <a:prstGeom prst="roundRect">
            <a:avLst>
              <a:gd name="adj" fmla="val 5085"/>
            </a:avLst>
          </a:prstGeom>
          <a:solidFill>
            <a:srgbClr val="F7EFDC"/>
          </a:solidFill>
          <a:ln w="9525">
            <a:solidFill>
              <a:srgbClr val="D9DCE3"/>
            </a:solidFill>
            <a:prstDash val="solid"/>
          </a:ln>
        </p:spPr>
        <p:txBody>
          <a:bodyPr/>
          <a:lstStyle/>
          <a:p>
            <a:endParaRPr lang="en-PK"/>
          </a:p>
        </p:txBody>
      </p:sp>
      <p:sp>
        <p:nvSpPr>
          <p:cNvPr id="48" name="Shape 46"/>
          <p:cNvSpPr/>
          <p:nvPr/>
        </p:nvSpPr>
        <p:spPr>
          <a:xfrm>
            <a:off x="7938821" y="2542032"/>
            <a:ext cx="41148" cy="969264"/>
          </a:xfrm>
          <a:prstGeom prst="rect">
            <a:avLst/>
          </a:prstGeom>
          <a:solidFill>
            <a:srgbClr val="A8760F"/>
          </a:solidFill>
          <a:ln/>
        </p:spPr>
        <p:txBody>
          <a:bodyPr/>
          <a:lstStyle/>
          <a:p>
            <a:endParaRPr lang="en-PK"/>
          </a:p>
        </p:txBody>
      </p:sp>
      <p:sp>
        <p:nvSpPr>
          <p:cNvPr id="49" name="Shape 47"/>
          <p:cNvSpPr/>
          <p:nvPr/>
        </p:nvSpPr>
        <p:spPr>
          <a:xfrm>
            <a:off x="8085125" y="2624328"/>
            <a:ext cx="310896" cy="310896"/>
          </a:xfrm>
          <a:prstGeom prst="ellipse">
            <a:avLst/>
          </a:prstGeom>
          <a:solidFill>
            <a:srgbClr val="A8760F"/>
          </a:solidFill>
          <a:ln/>
        </p:spPr>
        <p:txBody>
          <a:bodyPr/>
          <a:lstStyle/>
          <a:p>
            <a:endParaRPr lang="en-PK"/>
          </a:p>
        </p:txBody>
      </p:sp>
      <p:sp>
        <p:nvSpPr>
          <p:cNvPr id="50" name="Text 48"/>
          <p:cNvSpPr txBox="1"/>
          <p:nvPr/>
        </p:nvSpPr>
        <p:spPr>
          <a:xfrm>
            <a:off x="8085125" y="2624328"/>
            <a:ext cx="310896" cy="310896"/>
          </a:xfrm>
          <a:prstGeom prst="rect">
            <a:avLst/>
          </a:prstGeom>
          <a:noFill/>
          <a:ln/>
        </p:spPr>
        <p:txBody>
          <a:bodyPr wrap="square" lIns="0" tIns="0" rIns="0" bIns="0" rtlCol="0" anchor="ctr"/>
          <a:lstStyle/>
          <a:p>
            <a:pPr marL="0" indent="0" algn="ctr">
              <a:buNone/>
            </a:pPr>
            <a:r>
              <a:rPr lang="en-US" sz="1450" b="1" dirty="0">
                <a:solidFill>
                  <a:srgbClr val="F5F6F8"/>
                </a:solidFill>
                <a:latin typeface="Georgia" pitchFamily="34" charset="0"/>
                <a:ea typeface="Georgia" pitchFamily="34" charset="-122"/>
                <a:cs typeface="Georgia" pitchFamily="34" charset="-120"/>
              </a:rPr>
              <a:t>6</a:t>
            </a:r>
            <a:endParaRPr lang="en-US" sz="1450" dirty="0"/>
          </a:p>
        </p:txBody>
      </p:sp>
      <p:sp>
        <p:nvSpPr>
          <p:cNvPr id="51" name="Text 49"/>
          <p:cNvSpPr txBox="1"/>
          <p:nvPr/>
        </p:nvSpPr>
        <p:spPr>
          <a:xfrm>
            <a:off x="8487461" y="2606040"/>
            <a:ext cx="2862986" cy="329184"/>
          </a:xfrm>
          <a:prstGeom prst="rect">
            <a:avLst/>
          </a:prstGeom>
          <a:noFill/>
          <a:ln/>
        </p:spPr>
        <p:txBody>
          <a:bodyPr wrap="square" lIns="0" tIns="0" rIns="0" bIns="0" rtlCol="0" anchor="ctr"/>
          <a:lstStyle/>
          <a:p>
            <a:pPr marL="0" indent="0">
              <a:buNone/>
            </a:pPr>
            <a:r>
              <a:rPr lang="en-US" sz="1600" b="1" dirty="0">
                <a:solidFill>
                  <a:srgbClr val="1B202A"/>
                </a:solidFill>
                <a:latin typeface="Georgia" pitchFamily="34" charset="0"/>
                <a:ea typeface="Georgia" pitchFamily="34" charset="-122"/>
                <a:cs typeface="Georgia" pitchFamily="34" charset="-120"/>
              </a:rPr>
              <a:t>Diverse stakeholders</a:t>
            </a:r>
            <a:endParaRPr lang="en-US" sz="1600" dirty="0"/>
          </a:p>
        </p:txBody>
      </p:sp>
      <p:sp>
        <p:nvSpPr>
          <p:cNvPr id="52" name="Text 50"/>
          <p:cNvSpPr txBox="1"/>
          <p:nvPr/>
        </p:nvSpPr>
        <p:spPr>
          <a:xfrm>
            <a:off x="8085125" y="2980944"/>
            <a:ext cx="3247034" cy="548640"/>
          </a:xfrm>
          <a:prstGeom prst="rect">
            <a:avLst/>
          </a:prstGeom>
          <a:noFill/>
          <a:ln/>
        </p:spPr>
        <p:txBody>
          <a:bodyPr wrap="square" lIns="0" tIns="0" rIns="0" bIns="0" rtlCol="0" anchor="ctr"/>
          <a:lstStyle/>
          <a:p>
            <a:pPr marL="0" indent="0">
              <a:buNone/>
            </a:pPr>
            <a:r>
              <a:rPr lang="en-US" sz="1350" dirty="0">
                <a:solidFill>
                  <a:srgbClr val="596273"/>
                </a:solidFill>
                <a:latin typeface="Calibri" pitchFamily="34" charset="0"/>
                <a:ea typeface="Calibri" pitchFamily="34" charset="-122"/>
                <a:cs typeface="Calibri" pitchFamily="34" charset="-120"/>
              </a:rPr>
              <a:t>Named; live contact scheduled Mid-2</a:t>
            </a:r>
            <a:endParaRPr lang="en-US" sz="1350" dirty="0"/>
          </a:p>
        </p:txBody>
      </p:sp>
      <p:sp>
        <p:nvSpPr>
          <p:cNvPr id="53" name="Shape 51"/>
          <p:cNvSpPr/>
          <p:nvPr/>
        </p:nvSpPr>
        <p:spPr>
          <a:xfrm>
            <a:off x="587045" y="3701491"/>
            <a:ext cx="3521354" cy="1078992"/>
          </a:xfrm>
          <a:prstGeom prst="roundRect">
            <a:avLst>
              <a:gd name="adj" fmla="val 5085"/>
            </a:avLst>
          </a:prstGeom>
          <a:solidFill>
            <a:srgbClr val="E4E6EB"/>
          </a:solidFill>
          <a:ln/>
        </p:spPr>
        <p:txBody>
          <a:bodyPr/>
          <a:lstStyle/>
          <a:p>
            <a:endParaRPr lang="en-PK"/>
          </a:p>
        </p:txBody>
      </p:sp>
      <p:sp>
        <p:nvSpPr>
          <p:cNvPr id="54" name="Shape 52"/>
          <p:cNvSpPr/>
          <p:nvPr/>
        </p:nvSpPr>
        <p:spPr>
          <a:xfrm>
            <a:off x="566928" y="3675888"/>
            <a:ext cx="3521354" cy="1078992"/>
          </a:xfrm>
          <a:prstGeom prst="roundRect">
            <a:avLst>
              <a:gd name="adj" fmla="val 5085"/>
            </a:avLst>
          </a:prstGeom>
          <a:solidFill>
            <a:srgbClr val="E6F1EB"/>
          </a:solidFill>
          <a:ln w="9525">
            <a:solidFill>
              <a:srgbClr val="D9DCE3"/>
            </a:solidFill>
            <a:prstDash val="solid"/>
          </a:ln>
        </p:spPr>
        <p:txBody>
          <a:bodyPr/>
          <a:lstStyle/>
          <a:p>
            <a:endParaRPr lang="en-PK"/>
          </a:p>
        </p:txBody>
      </p:sp>
      <p:sp>
        <p:nvSpPr>
          <p:cNvPr id="55" name="Shape 53"/>
          <p:cNvSpPr/>
          <p:nvPr/>
        </p:nvSpPr>
        <p:spPr>
          <a:xfrm>
            <a:off x="566928" y="3730752"/>
            <a:ext cx="41148" cy="969264"/>
          </a:xfrm>
          <a:prstGeom prst="rect">
            <a:avLst/>
          </a:prstGeom>
          <a:solidFill>
            <a:srgbClr val="1E7A52"/>
          </a:solidFill>
          <a:ln/>
        </p:spPr>
        <p:txBody>
          <a:bodyPr/>
          <a:lstStyle/>
          <a:p>
            <a:endParaRPr lang="en-PK"/>
          </a:p>
        </p:txBody>
      </p:sp>
      <p:sp>
        <p:nvSpPr>
          <p:cNvPr id="56" name="Shape 54"/>
          <p:cNvSpPr/>
          <p:nvPr/>
        </p:nvSpPr>
        <p:spPr>
          <a:xfrm>
            <a:off x="713232" y="3813048"/>
            <a:ext cx="310896" cy="310896"/>
          </a:xfrm>
          <a:prstGeom prst="ellipse">
            <a:avLst/>
          </a:prstGeom>
          <a:solidFill>
            <a:srgbClr val="1E7A52"/>
          </a:solidFill>
          <a:ln/>
        </p:spPr>
        <p:txBody>
          <a:bodyPr/>
          <a:lstStyle/>
          <a:p>
            <a:endParaRPr lang="en-PK"/>
          </a:p>
        </p:txBody>
      </p:sp>
      <p:sp>
        <p:nvSpPr>
          <p:cNvPr id="57" name="Text 55"/>
          <p:cNvSpPr txBox="1"/>
          <p:nvPr/>
        </p:nvSpPr>
        <p:spPr>
          <a:xfrm>
            <a:off x="713232" y="3813048"/>
            <a:ext cx="310896" cy="310896"/>
          </a:xfrm>
          <a:prstGeom prst="rect">
            <a:avLst/>
          </a:prstGeom>
          <a:noFill/>
          <a:ln/>
        </p:spPr>
        <p:txBody>
          <a:bodyPr wrap="square" lIns="0" tIns="0" rIns="0" bIns="0" rtlCol="0" anchor="ctr"/>
          <a:lstStyle/>
          <a:p>
            <a:pPr marL="0" indent="0" algn="ctr">
              <a:buNone/>
            </a:pPr>
            <a:r>
              <a:rPr lang="en-US" sz="1450" b="1" dirty="0">
                <a:solidFill>
                  <a:srgbClr val="F5F6F8"/>
                </a:solidFill>
                <a:latin typeface="Georgia" pitchFamily="34" charset="0"/>
                <a:ea typeface="Georgia" pitchFamily="34" charset="-122"/>
                <a:cs typeface="Georgia" pitchFamily="34" charset="-120"/>
              </a:rPr>
              <a:t>7</a:t>
            </a:r>
            <a:endParaRPr lang="en-US" sz="1450" dirty="0"/>
          </a:p>
        </p:txBody>
      </p:sp>
      <p:sp>
        <p:nvSpPr>
          <p:cNvPr id="58" name="Text 56"/>
          <p:cNvSpPr txBox="1"/>
          <p:nvPr/>
        </p:nvSpPr>
        <p:spPr>
          <a:xfrm>
            <a:off x="1115568" y="3794760"/>
            <a:ext cx="2862986" cy="329184"/>
          </a:xfrm>
          <a:prstGeom prst="rect">
            <a:avLst/>
          </a:prstGeom>
          <a:noFill/>
          <a:ln/>
        </p:spPr>
        <p:txBody>
          <a:bodyPr wrap="square" lIns="0" tIns="0" rIns="0" bIns="0" rtlCol="0" anchor="ctr"/>
          <a:lstStyle/>
          <a:p>
            <a:pPr marL="0" indent="0">
              <a:buNone/>
            </a:pPr>
            <a:r>
              <a:rPr lang="en-US" sz="1600" b="1" dirty="0">
                <a:solidFill>
                  <a:srgbClr val="1B202A"/>
                </a:solidFill>
                <a:latin typeface="Georgia" pitchFamily="34" charset="0"/>
                <a:ea typeface="Georgia" pitchFamily="34" charset="-122"/>
                <a:cs typeface="Georgia" pitchFamily="34" charset="-120"/>
              </a:rPr>
              <a:t>Significant consequences</a:t>
            </a:r>
            <a:endParaRPr lang="en-US" sz="1600" dirty="0"/>
          </a:p>
        </p:txBody>
      </p:sp>
      <p:sp>
        <p:nvSpPr>
          <p:cNvPr id="59" name="Text 57"/>
          <p:cNvSpPr txBox="1"/>
          <p:nvPr/>
        </p:nvSpPr>
        <p:spPr>
          <a:xfrm>
            <a:off x="713232" y="4169664"/>
            <a:ext cx="3247034" cy="548640"/>
          </a:xfrm>
          <a:prstGeom prst="rect">
            <a:avLst/>
          </a:prstGeom>
          <a:noFill/>
          <a:ln/>
        </p:spPr>
        <p:txBody>
          <a:bodyPr wrap="square" lIns="0" tIns="0" rIns="0" bIns="0" rtlCol="0" anchor="ctr"/>
          <a:lstStyle/>
          <a:p>
            <a:pPr marL="0" indent="0">
              <a:buNone/>
            </a:pPr>
            <a:r>
              <a:rPr lang="en-US" sz="1350" dirty="0">
                <a:solidFill>
                  <a:srgbClr val="596273"/>
                </a:solidFill>
                <a:latin typeface="Calibri" pitchFamily="34" charset="0"/>
                <a:ea typeface="Calibri" pitchFamily="34" charset="-122"/>
                <a:cs typeface="Calibri" pitchFamily="34" charset="-120"/>
              </a:rPr>
              <a:t>A missed failure ships a wrong answer, undetected</a:t>
            </a:r>
            <a:endParaRPr lang="en-US" sz="1350" dirty="0"/>
          </a:p>
        </p:txBody>
      </p:sp>
      <p:sp>
        <p:nvSpPr>
          <p:cNvPr id="60" name="Shape 58"/>
          <p:cNvSpPr/>
          <p:nvPr/>
        </p:nvSpPr>
        <p:spPr>
          <a:xfrm>
            <a:off x="4272991" y="3701491"/>
            <a:ext cx="3521354" cy="1078992"/>
          </a:xfrm>
          <a:prstGeom prst="roundRect">
            <a:avLst>
              <a:gd name="adj" fmla="val 5085"/>
            </a:avLst>
          </a:prstGeom>
          <a:solidFill>
            <a:srgbClr val="E4E6EB"/>
          </a:solidFill>
          <a:ln/>
        </p:spPr>
        <p:txBody>
          <a:bodyPr/>
          <a:lstStyle/>
          <a:p>
            <a:endParaRPr lang="en-PK"/>
          </a:p>
        </p:txBody>
      </p:sp>
      <p:sp>
        <p:nvSpPr>
          <p:cNvPr id="61" name="Shape 59"/>
          <p:cNvSpPr/>
          <p:nvPr/>
        </p:nvSpPr>
        <p:spPr>
          <a:xfrm>
            <a:off x="4252874" y="3675888"/>
            <a:ext cx="3521354" cy="1078992"/>
          </a:xfrm>
          <a:prstGeom prst="roundRect">
            <a:avLst>
              <a:gd name="adj" fmla="val 5085"/>
            </a:avLst>
          </a:prstGeom>
          <a:solidFill>
            <a:srgbClr val="E6F1EB"/>
          </a:solidFill>
          <a:ln w="9525">
            <a:solidFill>
              <a:srgbClr val="D9DCE3"/>
            </a:solidFill>
            <a:prstDash val="solid"/>
          </a:ln>
        </p:spPr>
        <p:txBody>
          <a:bodyPr/>
          <a:lstStyle/>
          <a:p>
            <a:endParaRPr lang="en-PK"/>
          </a:p>
        </p:txBody>
      </p:sp>
      <p:sp>
        <p:nvSpPr>
          <p:cNvPr id="62" name="Shape 60"/>
          <p:cNvSpPr/>
          <p:nvPr/>
        </p:nvSpPr>
        <p:spPr>
          <a:xfrm>
            <a:off x="4252874" y="3730752"/>
            <a:ext cx="41148" cy="969264"/>
          </a:xfrm>
          <a:prstGeom prst="rect">
            <a:avLst/>
          </a:prstGeom>
          <a:solidFill>
            <a:srgbClr val="1E7A52"/>
          </a:solidFill>
          <a:ln/>
        </p:spPr>
        <p:txBody>
          <a:bodyPr/>
          <a:lstStyle/>
          <a:p>
            <a:endParaRPr lang="en-PK"/>
          </a:p>
        </p:txBody>
      </p:sp>
      <p:sp>
        <p:nvSpPr>
          <p:cNvPr id="63" name="Shape 61"/>
          <p:cNvSpPr/>
          <p:nvPr/>
        </p:nvSpPr>
        <p:spPr>
          <a:xfrm>
            <a:off x="4399178" y="3813048"/>
            <a:ext cx="310896" cy="310896"/>
          </a:xfrm>
          <a:prstGeom prst="ellipse">
            <a:avLst/>
          </a:prstGeom>
          <a:solidFill>
            <a:srgbClr val="1E7A52"/>
          </a:solidFill>
          <a:ln/>
        </p:spPr>
        <p:txBody>
          <a:bodyPr/>
          <a:lstStyle/>
          <a:p>
            <a:endParaRPr lang="en-PK"/>
          </a:p>
        </p:txBody>
      </p:sp>
      <p:sp>
        <p:nvSpPr>
          <p:cNvPr id="64" name="Text 62"/>
          <p:cNvSpPr txBox="1"/>
          <p:nvPr/>
        </p:nvSpPr>
        <p:spPr>
          <a:xfrm>
            <a:off x="4399178" y="3813048"/>
            <a:ext cx="310896" cy="310896"/>
          </a:xfrm>
          <a:prstGeom prst="rect">
            <a:avLst/>
          </a:prstGeom>
          <a:noFill/>
          <a:ln/>
        </p:spPr>
        <p:txBody>
          <a:bodyPr wrap="square" lIns="0" tIns="0" rIns="0" bIns="0" rtlCol="0" anchor="ctr"/>
          <a:lstStyle/>
          <a:p>
            <a:pPr marL="0" indent="0" algn="ctr">
              <a:buNone/>
            </a:pPr>
            <a:r>
              <a:rPr lang="en-US" sz="1450" b="1" dirty="0">
                <a:solidFill>
                  <a:srgbClr val="F5F6F8"/>
                </a:solidFill>
                <a:latin typeface="Georgia" pitchFamily="34" charset="0"/>
                <a:ea typeface="Georgia" pitchFamily="34" charset="-122"/>
                <a:cs typeface="Georgia" pitchFamily="34" charset="-120"/>
              </a:rPr>
              <a:t>8</a:t>
            </a:r>
            <a:endParaRPr lang="en-US" sz="1450" dirty="0"/>
          </a:p>
        </p:txBody>
      </p:sp>
      <p:sp>
        <p:nvSpPr>
          <p:cNvPr id="65" name="Text 63"/>
          <p:cNvSpPr txBox="1"/>
          <p:nvPr/>
        </p:nvSpPr>
        <p:spPr>
          <a:xfrm>
            <a:off x="4801514" y="3794760"/>
            <a:ext cx="2862986" cy="329184"/>
          </a:xfrm>
          <a:prstGeom prst="rect">
            <a:avLst/>
          </a:prstGeom>
          <a:noFill/>
          <a:ln/>
        </p:spPr>
        <p:txBody>
          <a:bodyPr wrap="square" lIns="0" tIns="0" rIns="0" bIns="0" rtlCol="0" anchor="ctr"/>
          <a:lstStyle/>
          <a:p>
            <a:pPr marL="0" indent="0">
              <a:buNone/>
            </a:pPr>
            <a:r>
              <a:rPr lang="en-US" sz="1600" b="1" dirty="0">
                <a:solidFill>
                  <a:srgbClr val="1B202A"/>
                </a:solidFill>
                <a:latin typeface="Georgia" pitchFamily="34" charset="0"/>
                <a:ea typeface="Georgia" pitchFamily="34" charset="-122"/>
                <a:cs typeface="Georgia" pitchFamily="34" charset="-120"/>
              </a:rPr>
              <a:t>Interdependence</a:t>
            </a:r>
            <a:endParaRPr lang="en-US" sz="1600" dirty="0"/>
          </a:p>
        </p:txBody>
      </p:sp>
      <p:sp>
        <p:nvSpPr>
          <p:cNvPr id="66" name="Text 64"/>
          <p:cNvSpPr txBox="1"/>
          <p:nvPr/>
        </p:nvSpPr>
        <p:spPr>
          <a:xfrm>
            <a:off x="4399178" y="4169664"/>
            <a:ext cx="3247034" cy="548640"/>
          </a:xfrm>
          <a:prstGeom prst="rect">
            <a:avLst/>
          </a:prstGeom>
          <a:noFill/>
          <a:ln/>
        </p:spPr>
        <p:txBody>
          <a:bodyPr wrap="square" lIns="0" tIns="0" rIns="0" bIns="0" rtlCol="0" anchor="ctr"/>
          <a:lstStyle/>
          <a:p>
            <a:pPr marL="0" indent="0">
              <a:buNone/>
            </a:pPr>
            <a:r>
              <a:rPr lang="en-US" sz="1350" dirty="0">
                <a:solidFill>
                  <a:srgbClr val="596273"/>
                </a:solidFill>
                <a:latin typeface="Calibri" pitchFamily="34" charset="0"/>
                <a:ea typeface="Calibri" pitchFamily="34" charset="-122"/>
                <a:cs typeface="Calibri" pitchFamily="34" charset="-120"/>
              </a:rPr>
              <a:t>Failures propagate; graph models it directly</a:t>
            </a:r>
            <a:endParaRPr lang="en-US" sz="1350" dirty="0"/>
          </a:p>
        </p:txBody>
      </p:sp>
      <p:sp>
        <p:nvSpPr>
          <p:cNvPr id="67" name="Shape 65"/>
          <p:cNvSpPr/>
          <p:nvPr/>
        </p:nvSpPr>
        <p:spPr>
          <a:xfrm>
            <a:off x="7958938" y="3701491"/>
            <a:ext cx="3521354" cy="1078992"/>
          </a:xfrm>
          <a:prstGeom prst="roundRect">
            <a:avLst>
              <a:gd name="adj" fmla="val 5085"/>
            </a:avLst>
          </a:prstGeom>
          <a:solidFill>
            <a:srgbClr val="E4E6EB"/>
          </a:solidFill>
          <a:ln/>
        </p:spPr>
        <p:txBody>
          <a:bodyPr/>
          <a:lstStyle/>
          <a:p>
            <a:endParaRPr lang="en-PK"/>
          </a:p>
        </p:txBody>
      </p:sp>
      <p:sp>
        <p:nvSpPr>
          <p:cNvPr id="68" name="Shape 66"/>
          <p:cNvSpPr/>
          <p:nvPr/>
        </p:nvSpPr>
        <p:spPr>
          <a:xfrm>
            <a:off x="7938821" y="3675888"/>
            <a:ext cx="3521354" cy="1078992"/>
          </a:xfrm>
          <a:prstGeom prst="roundRect">
            <a:avLst>
              <a:gd name="adj" fmla="val 5085"/>
            </a:avLst>
          </a:prstGeom>
          <a:solidFill>
            <a:srgbClr val="E6F1EB"/>
          </a:solidFill>
          <a:ln w="9525">
            <a:solidFill>
              <a:srgbClr val="D9DCE3"/>
            </a:solidFill>
            <a:prstDash val="solid"/>
          </a:ln>
        </p:spPr>
        <p:txBody>
          <a:bodyPr/>
          <a:lstStyle/>
          <a:p>
            <a:endParaRPr lang="en-PK"/>
          </a:p>
        </p:txBody>
      </p:sp>
      <p:sp>
        <p:nvSpPr>
          <p:cNvPr id="69" name="Shape 67"/>
          <p:cNvSpPr/>
          <p:nvPr/>
        </p:nvSpPr>
        <p:spPr>
          <a:xfrm>
            <a:off x="7938821" y="3730752"/>
            <a:ext cx="41148" cy="969264"/>
          </a:xfrm>
          <a:prstGeom prst="rect">
            <a:avLst/>
          </a:prstGeom>
          <a:solidFill>
            <a:srgbClr val="1E7A52"/>
          </a:solidFill>
          <a:ln/>
        </p:spPr>
        <p:txBody>
          <a:bodyPr/>
          <a:lstStyle/>
          <a:p>
            <a:endParaRPr lang="en-PK"/>
          </a:p>
        </p:txBody>
      </p:sp>
      <p:sp>
        <p:nvSpPr>
          <p:cNvPr id="70" name="Shape 68"/>
          <p:cNvSpPr/>
          <p:nvPr/>
        </p:nvSpPr>
        <p:spPr>
          <a:xfrm>
            <a:off x="8085125" y="3813048"/>
            <a:ext cx="310896" cy="310896"/>
          </a:xfrm>
          <a:prstGeom prst="ellipse">
            <a:avLst/>
          </a:prstGeom>
          <a:solidFill>
            <a:srgbClr val="1E7A52"/>
          </a:solidFill>
          <a:ln/>
        </p:spPr>
        <p:txBody>
          <a:bodyPr/>
          <a:lstStyle/>
          <a:p>
            <a:endParaRPr lang="en-PK"/>
          </a:p>
        </p:txBody>
      </p:sp>
      <p:sp>
        <p:nvSpPr>
          <p:cNvPr id="71" name="Text 69"/>
          <p:cNvSpPr txBox="1"/>
          <p:nvPr/>
        </p:nvSpPr>
        <p:spPr>
          <a:xfrm>
            <a:off x="8085125" y="3813048"/>
            <a:ext cx="310896" cy="310896"/>
          </a:xfrm>
          <a:prstGeom prst="rect">
            <a:avLst/>
          </a:prstGeom>
          <a:noFill/>
          <a:ln/>
        </p:spPr>
        <p:txBody>
          <a:bodyPr wrap="square" lIns="0" tIns="0" rIns="0" bIns="0" rtlCol="0" anchor="ctr"/>
          <a:lstStyle/>
          <a:p>
            <a:pPr marL="0" indent="0" algn="ctr">
              <a:buNone/>
            </a:pPr>
            <a:r>
              <a:rPr lang="en-US" sz="1450" b="1" dirty="0">
                <a:solidFill>
                  <a:srgbClr val="F5F6F8"/>
                </a:solidFill>
                <a:latin typeface="Georgia" pitchFamily="34" charset="0"/>
                <a:ea typeface="Georgia" pitchFamily="34" charset="-122"/>
                <a:cs typeface="Georgia" pitchFamily="34" charset="-120"/>
              </a:rPr>
              <a:t>9</a:t>
            </a:r>
            <a:endParaRPr lang="en-US" sz="1450" dirty="0"/>
          </a:p>
        </p:txBody>
      </p:sp>
      <p:sp>
        <p:nvSpPr>
          <p:cNvPr id="72" name="Text 70"/>
          <p:cNvSpPr txBox="1"/>
          <p:nvPr/>
        </p:nvSpPr>
        <p:spPr>
          <a:xfrm>
            <a:off x="8487461" y="3794760"/>
            <a:ext cx="2862986" cy="329184"/>
          </a:xfrm>
          <a:prstGeom prst="rect">
            <a:avLst/>
          </a:prstGeom>
          <a:noFill/>
          <a:ln/>
        </p:spPr>
        <p:txBody>
          <a:bodyPr wrap="square" lIns="0" tIns="0" rIns="0" bIns="0" rtlCol="0" anchor="ctr"/>
          <a:lstStyle/>
          <a:p>
            <a:pPr marL="0" indent="0">
              <a:buNone/>
            </a:pPr>
            <a:r>
              <a:rPr lang="en-US" sz="1600" b="1" dirty="0">
                <a:solidFill>
                  <a:srgbClr val="1B202A"/>
                </a:solidFill>
                <a:latin typeface="Georgia" pitchFamily="34" charset="0"/>
                <a:ea typeface="Georgia" pitchFamily="34" charset="-122"/>
                <a:cs typeface="Georgia" pitchFamily="34" charset="-120"/>
              </a:rPr>
              <a:t>Ill-defined cause</a:t>
            </a:r>
            <a:endParaRPr lang="en-US" sz="1600" dirty="0"/>
          </a:p>
        </p:txBody>
      </p:sp>
      <p:sp>
        <p:nvSpPr>
          <p:cNvPr id="73" name="Text 71"/>
          <p:cNvSpPr txBox="1"/>
          <p:nvPr/>
        </p:nvSpPr>
        <p:spPr>
          <a:xfrm>
            <a:off x="8085125" y="4169664"/>
            <a:ext cx="3247034" cy="548640"/>
          </a:xfrm>
          <a:prstGeom prst="rect">
            <a:avLst/>
          </a:prstGeom>
          <a:noFill/>
          <a:ln/>
        </p:spPr>
        <p:txBody>
          <a:bodyPr wrap="square" lIns="0" tIns="0" rIns="0" bIns="0" rtlCol="0" anchor="ctr"/>
          <a:lstStyle/>
          <a:p>
            <a:pPr marL="0" indent="0">
              <a:buNone/>
            </a:pPr>
            <a:r>
              <a:rPr lang="en-US" sz="1350" dirty="0">
                <a:solidFill>
                  <a:srgbClr val="596273"/>
                </a:solidFill>
                <a:latin typeface="Calibri" pitchFamily="34" charset="0"/>
                <a:ea typeface="Calibri" pitchFamily="34" charset="-122"/>
                <a:cs typeface="Calibri" pitchFamily="34" charset="-120"/>
              </a:rPr>
              <a:t>3 unknowns: whether, which step, what's correct</a:t>
            </a:r>
            <a:endParaRPr lang="en-US" sz="1350" dirty="0"/>
          </a:p>
        </p:txBody>
      </p:sp>
      <p:sp>
        <p:nvSpPr>
          <p:cNvPr id="74" name="Shape 72"/>
          <p:cNvSpPr/>
          <p:nvPr/>
        </p:nvSpPr>
        <p:spPr>
          <a:xfrm>
            <a:off x="587045" y="4926787"/>
            <a:ext cx="11057839" cy="1243584"/>
          </a:xfrm>
          <a:prstGeom prst="roundRect">
            <a:avLst>
              <a:gd name="adj" fmla="val 4412"/>
            </a:avLst>
          </a:prstGeom>
          <a:solidFill>
            <a:srgbClr val="E4E6EB"/>
          </a:solidFill>
          <a:ln/>
        </p:spPr>
        <p:txBody>
          <a:bodyPr/>
          <a:lstStyle/>
          <a:p>
            <a:endParaRPr lang="en-PK"/>
          </a:p>
        </p:txBody>
      </p:sp>
      <p:sp>
        <p:nvSpPr>
          <p:cNvPr id="75" name="Shape 73"/>
          <p:cNvSpPr/>
          <p:nvPr/>
        </p:nvSpPr>
        <p:spPr>
          <a:xfrm>
            <a:off x="566928" y="4901184"/>
            <a:ext cx="11057839" cy="1243584"/>
          </a:xfrm>
          <a:prstGeom prst="roundRect">
            <a:avLst>
              <a:gd name="adj" fmla="val 4412"/>
            </a:avLst>
          </a:prstGeom>
          <a:solidFill>
            <a:srgbClr val="171C26"/>
          </a:solidFill>
          <a:ln w="9525">
            <a:solidFill>
              <a:srgbClr val="D9DCE3"/>
            </a:solidFill>
            <a:prstDash val="solid"/>
          </a:ln>
        </p:spPr>
        <p:txBody>
          <a:bodyPr/>
          <a:lstStyle/>
          <a:p>
            <a:endParaRPr lang="en-PK"/>
          </a:p>
        </p:txBody>
      </p:sp>
      <p:sp>
        <p:nvSpPr>
          <p:cNvPr id="76" name="Text 74"/>
          <p:cNvSpPr txBox="1"/>
          <p:nvPr/>
        </p:nvSpPr>
        <p:spPr>
          <a:xfrm>
            <a:off x="822960" y="4992624"/>
            <a:ext cx="10545775" cy="292608"/>
          </a:xfrm>
          <a:prstGeom prst="rect">
            <a:avLst/>
          </a:prstGeom>
          <a:noFill/>
          <a:ln/>
        </p:spPr>
        <p:txBody>
          <a:bodyPr wrap="square" lIns="0" tIns="0" rIns="0" bIns="0" rtlCol="0" anchor="ctr"/>
          <a:lstStyle/>
          <a:p>
            <a:pPr marL="0" indent="0">
              <a:buNone/>
            </a:pPr>
            <a:r>
              <a:rPr lang="en-US" sz="1350" b="1" kern="0" spc="30" dirty="0">
                <a:solidFill>
                  <a:srgbClr val="E3BC6E"/>
                </a:solidFill>
                <a:latin typeface="Consolas" pitchFamily="34" charset="0"/>
                <a:ea typeface="Consolas" pitchFamily="34" charset="-122"/>
                <a:cs typeface="Consolas" pitchFamily="34" charset="-120"/>
              </a:rPr>
              <a:t>THE HANDBOOK'S OWN TEST (C.7):  “Could a strong student with AI assistance build this in a week?”</a:t>
            </a:r>
            <a:endParaRPr lang="en-US" sz="1350" dirty="0"/>
          </a:p>
        </p:txBody>
      </p:sp>
      <p:sp>
        <p:nvSpPr>
          <p:cNvPr id="77" name="Text 75"/>
          <p:cNvSpPr txBox="1"/>
          <p:nvPr/>
        </p:nvSpPr>
        <p:spPr>
          <a:xfrm>
            <a:off x="822960" y="5321808"/>
            <a:ext cx="3411626" cy="786384"/>
          </a:xfrm>
          <a:prstGeom prst="rect">
            <a:avLst/>
          </a:prstGeom>
          <a:noFill/>
          <a:ln/>
        </p:spPr>
        <p:txBody>
          <a:bodyPr wrap="square" lIns="0" tIns="0" rIns="0" bIns="0" rtlCol="0" anchor="ctr"/>
          <a:lstStyle/>
          <a:p>
            <a:pPr marL="0" indent="0">
              <a:buNone/>
            </a:pPr>
            <a:r>
              <a:rPr lang="en-US" sz="1200" b="1" kern="0" spc="50" dirty="0">
                <a:solidFill>
                  <a:srgbClr val="C89B3C"/>
                </a:solidFill>
                <a:latin typeface="Consolas" pitchFamily="34" charset="0"/>
                <a:ea typeface="Consolas" pitchFamily="34" charset="-122"/>
                <a:cs typeface="Consolas" pitchFamily="34" charset="-120"/>
              </a:rPr>
              <a:t>THE WRAPPER</a:t>
            </a:r>
            <a:endParaRPr lang="en-US" sz="1200" dirty="0"/>
          </a:p>
          <a:p>
            <a:pPr marL="0" indent="0">
              <a:buNone/>
            </a:pPr>
            <a:r>
              <a:rPr lang="en-US" sz="1500" b="1" dirty="0">
                <a:solidFill>
                  <a:srgbClr val="F5F6F8"/>
                </a:solidFill>
                <a:latin typeface="Calibri" pitchFamily="34" charset="0"/>
                <a:ea typeface="Calibri" pitchFamily="34" charset="-122"/>
                <a:cs typeface="Calibri" pitchFamily="34" charset="-120"/>
              </a:rPr>
              <a:t>yes — in a weekend</a:t>
            </a:r>
            <a:endParaRPr lang="en-US" sz="1200" dirty="0"/>
          </a:p>
          <a:p>
            <a:pPr marL="0" indent="0">
              <a:buNone/>
            </a:pPr>
            <a:r>
              <a:rPr lang="en-US" sz="1280" dirty="0">
                <a:solidFill>
                  <a:srgbClr val="A9B0BE"/>
                </a:solidFill>
                <a:latin typeface="Calibri" pitchFamily="34" charset="0"/>
                <a:ea typeface="Calibri" pitchFamily="34" charset="-122"/>
                <a:cs typeface="Calibri" pitchFamily="34" charset="-120"/>
              </a:rPr>
              <a:t>Trace capture + LLM guess = a weekend.</a:t>
            </a:r>
            <a:endParaRPr lang="en-US" sz="1200" dirty="0"/>
          </a:p>
        </p:txBody>
      </p:sp>
      <p:sp>
        <p:nvSpPr>
          <p:cNvPr id="78" name="Text 76"/>
          <p:cNvSpPr txBox="1"/>
          <p:nvPr/>
        </p:nvSpPr>
        <p:spPr>
          <a:xfrm>
            <a:off x="4390034" y="5321808"/>
            <a:ext cx="3411626" cy="786384"/>
          </a:xfrm>
          <a:prstGeom prst="rect">
            <a:avLst/>
          </a:prstGeom>
          <a:noFill/>
          <a:ln/>
        </p:spPr>
        <p:txBody>
          <a:bodyPr wrap="square" lIns="0" tIns="0" rIns="0" bIns="0" rtlCol="0" anchor="ctr"/>
          <a:lstStyle/>
          <a:p>
            <a:pPr marL="0" indent="0">
              <a:buNone/>
            </a:pPr>
            <a:r>
              <a:rPr lang="en-US" sz="1200" b="1" kern="0" spc="50" dirty="0">
                <a:solidFill>
                  <a:srgbClr val="C89B3C"/>
                </a:solidFill>
                <a:latin typeface="Consolas" pitchFamily="34" charset="0"/>
                <a:ea typeface="Consolas" pitchFamily="34" charset="-122"/>
                <a:cs typeface="Consolas" pitchFamily="34" charset="-120"/>
              </a:rPr>
              <a:t>WHAT IT WOULD GET WRONG</a:t>
            </a:r>
            <a:endParaRPr lang="en-US" sz="1200" dirty="0"/>
          </a:p>
          <a:p>
            <a:pPr marL="0" indent="0">
              <a:buNone/>
            </a:pPr>
            <a:r>
              <a:rPr lang="en-US" sz="1500" b="1" dirty="0">
                <a:solidFill>
                  <a:srgbClr val="F5F6F8"/>
                </a:solidFill>
                <a:latin typeface="Calibri" pitchFamily="34" charset="0"/>
                <a:ea typeface="Calibri" pitchFamily="34" charset="-122"/>
                <a:cs typeface="Calibri" pitchFamily="34" charset="-120"/>
              </a:rPr>
              <a:t>everything that carries the marks</a:t>
            </a:r>
            <a:endParaRPr lang="en-US" sz="1200" dirty="0"/>
          </a:p>
          <a:p>
            <a:pPr marL="0" indent="0">
              <a:buNone/>
            </a:pPr>
            <a:r>
              <a:rPr lang="en-US" sz="1280" dirty="0">
                <a:solidFill>
                  <a:srgbClr val="F5F6F8"/>
                </a:solidFill>
                <a:latin typeface="Calibri" pitchFamily="34" charset="0"/>
                <a:ea typeface="Calibri" pitchFamily="34" charset="-122"/>
                <a:cs typeface="Calibri" pitchFamily="34" charset="-120"/>
              </a:rPr>
              <a:t>No unseen-arch benchmark, no silent-failure test, no FPR, no proof its fix works.</a:t>
            </a:r>
            <a:endParaRPr lang="en-US" sz="1200" dirty="0"/>
          </a:p>
        </p:txBody>
      </p:sp>
      <p:sp>
        <p:nvSpPr>
          <p:cNvPr id="79" name="Text 77"/>
          <p:cNvSpPr txBox="1"/>
          <p:nvPr/>
        </p:nvSpPr>
        <p:spPr>
          <a:xfrm>
            <a:off x="7957109" y="5321808"/>
            <a:ext cx="3411626" cy="786384"/>
          </a:xfrm>
          <a:prstGeom prst="rect">
            <a:avLst/>
          </a:prstGeom>
          <a:noFill/>
          <a:ln/>
        </p:spPr>
        <p:txBody>
          <a:bodyPr wrap="square" lIns="0" tIns="0" rIns="0" bIns="0" rtlCol="0" anchor="ctr"/>
          <a:lstStyle/>
          <a:p>
            <a:pPr marL="0" indent="0">
              <a:buNone/>
            </a:pPr>
            <a:r>
              <a:rPr lang="en-US" sz="1200" b="1" kern="0" spc="50" dirty="0">
                <a:solidFill>
                  <a:srgbClr val="C89B3C"/>
                </a:solidFill>
                <a:latin typeface="Consolas" pitchFamily="34" charset="0"/>
                <a:ea typeface="Consolas" pitchFamily="34" charset="-122"/>
                <a:cs typeface="Consolas" pitchFamily="34" charset="-120"/>
              </a:rPr>
              <a:t>WHERE OUR DIFFICULTY SITS</a:t>
            </a:r>
            <a:endParaRPr lang="en-US" sz="1200" dirty="0"/>
          </a:p>
          <a:p>
            <a:pPr marL="0" indent="0">
              <a:buNone/>
            </a:pPr>
            <a:r>
              <a:rPr lang="en-US" sz="1500" b="1" dirty="0">
                <a:solidFill>
                  <a:srgbClr val="F5F6F8"/>
                </a:solidFill>
                <a:latin typeface="Calibri" pitchFamily="34" charset="0"/>
                <a:ea typeface="Calibri" pitchFamily="34" charset="-122"/>
                <a:cs typeface="Calibri" pitchFamily="34" charset="-120"/>
              </a:rPr>
              <a:t>data, evaluation, constraints</a:t>
            </a:r>
            <a:endParaRPr lang="en-US" sz="1200" dirty="0"/>
          </a:p>
          <a:p>
            <a:pPr marL="0" indent="0">
              <a:buNone/>
            </a:pPr>
            <a:r>
              <a:rPr lang="en-US" sz="1280" dirty="0">
                <a:solidFill>
                  <a:srgbClr val="F5F6F8"/>
                </a:solidFill>
                <a:latin typeface="Calibri" pitchFamily="34" charset="0"/>
                <a:ea typeface="Calibri" pitchFamily="34" charset="-122"/>
                <a:cs typeface="Calibri" pitchFamily="34" charset="-120"/>
              </a:rPr>
              <a:t>The benchmark, the constraints, the proof — not the wrapper.</a:t>
            </a:r>
            <a:endParaRPr lang="en-US" sz="12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C"/>
        </a:solidFill>
        <a:effectLst/>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txBody>
          <a:bodyPr/>
          <a:lstStyle/>
          <a:p>
            <a:endParaRPr lang="en-PK"/>
          </a:p>
        </p:txBody>
      </p:sp>
      <p:sp>
        <p:nvSpPr>
          <p:cNvPr id="3" name="Shape 1"/>
          <p:cNvSpPr/>
          <p:nvPr/>
        </p:nvSpPr>
        <p:spPr>
          <a:xfrm rot="2700000">
            <a:off x="10618927" y="5285232"/>
            <a:ext cx="1005840" cy="1005840"/>
          </a:xfrm>
          <a:prstGeom prst="rect">
            <a:avLst/>
          </a:prstGeom>
          <a:ln w="12700">
            <a:solidFill>
              <a:srgbClr val="F4F5F7"/>
            </a:solidFill>
            <a:prstDash val="solid"/>
          </a:ln>
        </p:spPr>
        <p:txBody>
          <a:bodyPr/>
          <a:lstStyle/>
          <a:p>
            <a:endParaRPr lang="en-PK"/>
          </a:p>
        </p:txBody>
      </p:sp>
      <p:sp>
        <p:nvSpPr>
          <p:cNvPr id="4" name="Shape 2"/>
          <p:cNvSpPr/>
          <p:nvPr/>
        </p:nvSpPr>
        <p:spPr>
          <a:xfrm rot="2700000">
            <a:off x="10856671" y="5522976"/>
            <a:ext cx="530352" cy="530352"/>
          </a:xfrm>
          <a:prstGeom prst="rect">
            <a:avLst/>
          </a:prstGeom>
          <a:ln w="12700">
            <a:solidFill>
              <a:srgbClr val="F7F4ED"/>
            </a:solidFill>
            <a:prstDash val="solid"/>
          </a:ln>
        </p:spPr>
        <p:txBody>
          <a:bodyPr/>
          <a:lstStyle/>
          <a:p>
            <a:endParaRPr lang="en-PK"/>
          </a:p>
        </p:txBody>
      </p:sp>
      <p:sp>
        <p:nvSpPr>
          <p:cNvPr id="5" name="Text 3"/>
          <p:cNvSpPr txBox="1"/>
          <p:nvPr/>
        </p:nvSpPr>
        <p:spPr>
          <a:xfrm>
            <a:off x="566928" y="292608"/>
            <a:ext cx="11057839" cy="256032"/>
          </a:xfrm>
          <a:prstGeom prst="rect">
            <a:avLst/>
          </a:prstGeom>
          <a:noFill/>
          <a:ln/>
        </p:spPr>
        <p:txBody>
          <a:bodyPr wrap="square" lIns="0" tIns="0" rIns="0" bIns="0" rtlCol="0" anchor="ctr"/>
          <a:lstStyle/>
          <a:p>
            <a:pPr marL="0" indent="0">
              <a:buNone/>
            </a:pPr>
            <a:r>
              <a:rPr lang="en-US" sz="1350" b="1" kern="0" spc="160" dirty="0">
                <a:solidFill>
                  <a:srgbClr val="8E6A1F"/>
                </a:solidFill>
                <a:latin typeface="Consolas" pitchFamily="34" charset="0"/>
                <a:ea typeface="Consolas" pitchFamily="34" charset="-122"/>
                <a:cs typeface="Consolas" pitchFamily="34" charset="-120"/>
              </a:rPr>
              <a:t>WHAT IS BEING BUILT, AND WHERE THE BOUNDARY SITS</a:t>
            </a:r>
            <a:endParaRPr lang="en-US" sz="13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marL="0" indent="0">
              <a:buNone/>
            </a:pPr>
            <a:r>
              <a:rPr lang="en-US" sz="2950" b="1" dirty="0">
                <a:solidFill>
                  <a:srgbClr val="1B202A"/>
                </a:solidFill>
                <a:latin typeface="Georgia" pitchFamily="34" charset="0"/>
                <a:ea typeface="Georgia" pitchFamily="34" charset="-122"/>
                <a:cs typeface="Georgia" pitchFamily="34" charset="-120"/>
              </a:rPr>
              <a:t>Proposed Solution &amp; Contribution</a:t>
            </a:r>
            <a:endParaRPr lang="en-US" sz="2950" dirty="0"/>
          </a:p>
        </p:txBody>
      </p:sp>
      <p:sp>
        <p:nvSpPr>
          <p:cNvPr id="7" name="Shape 5"/>
          <p:cNvSpPr/>
          <p:nvPr/>
        </p:nvSpPr>
        <p:spPr>
          <a:xfrm>
            <a:off x="566928" y="1188720"/>
            <a:ext cx="566928" cy="36576"/>
          </a:xfrm>
          <a:prstGeom prst="rect">
            <a:avLst/>
          </a:prstGeom>
          <a:solidFill>
            <a:srgbClr val="C89B3C"/>
          </a:solidFill>
          <a:ln/>
        </p:spPr>
        <p:txBody>
          <a:bodyPr/>
          <a:lstStyle/>
          <a:p>
            <a:endParaRPr lang="en-PK"/>
          </a:p>
        </p:txBody>
      </p:sp>
      <p:sp>
        <p:nvSpPr>
          <p:cNvPr id="8" name="Shape 6"/>
          <p:cNvSpPr/>
          <p:nvPr/>
        </p:nvSpPr>
        <p:spPr>
          <a:xfrm>
            <a:off x="566928" y="6437376"/>
            <a:ext cx="11057839" cy="0"/>
          </a:xfrm>
          <a:prstGeom prst="line">
            <a:avLst/>
          </a:prstGeom>
          <a:noFill/>
          <a:ln w="9525">
            <a:solidFill>
              <a:srgbClr val="D9DCE3"/>
            </a:solidFill>
            <a:prstDash val="solid"/>
          </a:ln>
        </p:spPr>
        <p:txBody>
          <a:bodyPr/>
          <a:lstStyle/>
          <a:p>
            <a:endParaRPr lang="en-PK"/>
          </a:p>
        </p:txBody>
      </p:sp>
      <p:sp>
        <p:nvSpPr>
          <p:cNvPr id="9" name="Text 7"/>
          <p:cNvSpPr txBox="1"/>
          <p:nvPr/>
        </p:nvSpPr>
        <p:spPr>
          <a:xfrm>
            <a:off x="566928" y="6510528"/>
            <a:ext cx="5943600" cy="237744"/>
          </a:xfrm>
          <a:prstGeom prst="rect">
            <a:avLst/>
          </a:prstGeom>
          <a:noFill/>
          <a:ln/>
        </p:spPr>
        <p:txBody>
          <a:bodyPr wrap="square" lIns="0" tIns="0" rIns="0" bIns="0" rtlCol="0" anchor="ctr"/>
          <a:lstStyle/>
          <a:p>
            <a:pPr marL="0" indent="0">
              <a:buNone/>
            </a:pPr>
            <a:r>
              <a:rPr lang="en-US" sz="1050" kern="0" spc="7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10" name="Text 8"/>
          <p:cNvSpPr txBox="1"/>
          <p:nvPr/>
        </p:nvSpPr>
        <p:spPr>
          <a:xfrm>
            <a:off x="10527487" y="6510528"/>
            <a:ext cx="1097280" cy="237744"/>
          </a:xfrm>
          <a:prstGeom prst="rect">
            <a:avLst/>
          </a:prstGeom>
          <a:noFill/>
          <a:ln/>
        </p:spPr>
        <p:txBody>
          <a:bodyPr wrap="square" lIns="0" tIns="0" rIns="0" bIns="0" rtlCol="0" anchor="ctr"/>
          <a:lstStyle/>
          <a:p>
            <a:pPr marL="0" indent="0" algn="r">
              <a:buNone/>
            </a:pPr>
            <a:r>
              <a:rPr lang="en-US" sz="1050" b="1" dirty="0">
                <a:solidFill>
                  <a:srgbClr val="8E6A1F"/>
                </a:solidFill>
                <a:latin typeface="Consolas" pitchFamily="34" charset="0"/>
                <a:ea typeface="Consolas" pitchFamily="34" charset="-122"/>
                <a:cs typeface="Consolas" pitchFamily="34" charset="-120"/>
              </a:rPr>
              <a:t>6 / 10</a:t>
            </a:r>
            <a:endParaRPr lang="en-US" sz="1050" dirty="0"/>
          </a:p>
        </p:txBody>
      </p:sp>
      <p:sp>
        <p:nvSpPr>
          <p:cNvPr id="11" name="Shape 9"/>
          <p:cNvSpPr/>
          <p:nvPr/>
        </p:nvSpPr>
        <p:spPr>
          <a:xfrm>
            <a:off x="587045" y="1378915"/>
            <a:ext cx="11057839" cy="932688"/>
          </a:xfrm>
          <a:prstGeom prst="roundRect">
            <a:avLst>
              <a:gd name="adj" fmla="val 5882"/>
            </a:avLst>
          </a:prstGeom>
          <a:solidFill>
            <a:srgbClr val="E4E6EB"/>
          </a:solidFill>
          <a:ln/>
        </p:spPr>
        <p:txBody>
          <a:bodyPr/>
          <a:lstStyle/>
          <a:p>
            <a:endParaRPr lang="en-PK"/>
          </a:p>
        </p:txBody>
      </p:sp>
      <p:sp>
        <p:nvSpPr>
          <p:cNvPr id="12" name="Shape 10"/>
          <p:cNvSpPr/>
          <p:nvPr/>
        </p:nvSpPr>
        <p:spPr>
          <a:xfrm>
            <a:off x="566928" y="1353312"/>
            <a:ext cx="11057839" cy="932688"/>
          </a:xfrm>
          <a:prstGeom prst="roundRect">
            <a:avLst>
              <a:gd name="adj" fmla="val 5882"/>
            </a:avLst>
          </a:prstGeom>
          <a:solidFill>
            <a:srgbClr val="F1F2F5"/>
          </a:solidFill>
          <a:ln w="9525">
            <a:solidFill>
              <a:srgbClr val="D9DCE3"/>
            </a:solidFill>
            <a:prstDash val="solid"/>
          </a:ln>
        </p:spPr>
        <p:txBody>
          <a:bodyPr/>
          <a:lstStyle/>
          <a:p>
            <a:endParaRPr lang="en-PK"/>
          </a:p>
        </p:txBody>
      </p:sp>
      <p:sp>
        <p:nvSpPr>
          <p:cNvPr id="13" name="Shape 11"/>
          <p:cNvSpPr/>
          <p:nvPr/>
        </p:nvSpPr>
        <p:spPr>
          <a:xfrm>
            <a:off x="566928" y="1408176"/>
            <a:ext cx="41148" cy="822960"/>
          </a:xfrm>
          <a:prstGeom prst="rect">
            <a:avLst/>
          </a:prstGeom>
          <a:solidFill>
            <a:srgbClr val="C89B3C"/>
          </a:solidFill>
          <a:ln/>
        </p:spPr>
        <p:txBody>
          <a:bodyPr/>
          <a:lstStyle/>
          <a:p>
            <a:endParaRPr lang="en-PK"/>
          </a:p>
        </p:txBody>
      </p:sp>
      <p:sp>
        <p:nvSpPr>
          <p:cNvPr id="14" name="Text 12"/>
          <p:cNvSpPr txBox="1"/>
          <p:nvPr/>
        </p:nvSpPr>
        <p:spPr>
          <a:xfrm>
            <a:off x="822960" y="1353312"/>
            <a:ext cx="10545775" cy="932688"/>
          </a:xfrm>
          <a:prstGeom prst="rect">
            <a:avLst/>
          </a:prstGeom>
          <a:noFill/>
          <a:ln/>
        </p:spPr>
        <p:txBody>
          <a:bodyPr wrap="square" lIns="0" tIns="0" rIns="0" bIns="0" rtlCol="0" anchor="ctr"/>
          <a:lstStyle/>
          <a:p>
            <a:pPr marL="0" indent="0">
              <a:buNone/>
            </a:pPr>
            <a:r>
              <a:rPr lang="en-US" sz="1650" b="1" dirty="0">
                <a:solidFill>
                  <a:srgbClr val="8E6A1F"/>
                </a:solidFill>
                <a:latin typeface="Calibri" pitchFamily="34" charset="0"/>
                <a:ea typeface="Calibri" pitchFamily="34" charset="-122"/>
                <a:cs typeface="Calibri" pitchFamily="34" charset="-120"/>
              </a:rPr>
              <a:t>Contribution.  </a:t>
            </a:r>
            <a:r>
              <a:rPr lang="en-US" sz="1550" dirty="0">
                <a:solidFill>
                  <a:srgbClr val="1B202A"/>
                </a:solidFill>
                <a:latin typeface="Calibri" pitchFamily="34" charset="0"/>
                <a:ea typeface="Calibri" pitchFamily="34" charset="-122"/>
                <a:cs typeface="Calibri" pitchFamily="34" charset="-120"/>
              </a:rPr>
              <a:t>Best method: 59.5% — but untested on unseen architectures, and admits it misses silent failures. We build a cross-architecture benchmark and a diagnosis pipeline with constraint-based silent-failure verification, as a framework-agnostic SDK.</a:t>
            </a:r>
            <a:endParaRPr lang="en-US" sz="1650" dirty="0"/>
          </a:p>
        </p:txBody>
      </p:sp>
      <p:sp>
        <p:nvSpPr>
          <p:cNvPr id="15" name="Shape 13"/>
          <p:cNvSpPr/>
          <p:nvPr/>
        </p:nvSpPr>
        <p:spPr>
          <a:xfrm>
            <a:off x="566928" y="2596896"/>
            <a:ext cx="1481328" cy="749808"/>
          </a:xfrm>
          <a:prstGeom prst="roundRect">
            <a:avLst>
              <a:gd name="adj" fmla="val 6098"/>
            </a:avLst>
          </a:prstGeom>
          <a:solidFill>
            <a:srgbClr val="FBFBFC"/>
          </a:solidFill>
          <a:ln w="12700">
            <a:solidFill>
              <a:srgbClr val="596273"/>
            </a:solidFill>
            <a:prstDash val="dash"/>
          </a:ln>
        </p:spPr>
        <p:txBody>
          <a:bodyPr/>
          <a:lstStyle/>
          <a:p>
            <a:endParaRPr lang="en-PK"/>
          </a:p>
        </p:txBody>
      </p:sp>
      <p:sp>
        <p:nvSpPr>
          <p:cNvPr id="16" name="Text 14"/>
          <p:cNvSpPr txBox="1"/>
          <p:nvPr/>
        </p:nvSpPr>
        <p:spPr>
          <a:xfrm>
            <a:off x="603504" y="2651760"/>
            <a:ext cx="1408176" cy="640080"/>
          </a:xfrm>
          <a:prstGeom prst="rect">
            <a:avLst/>
          </a:prstGeom>
          <a:noFill/>
          <a:ln/>
        </p:spPr>
        <p:txBody>
          <a:bodyPr wrap="square" lIns="0" tIns="0" rIns="0" bIns="0" rtlCol="0" anchor="ctr"/>
          <a:lstStyle/>
          <a:p>
            <a:pPr marL="0" indent="0" algn="ctr">
              <a:buNone/>
            </a:pPr>
            <a:r>
              <a:rPr lang="en-US" sz="1400" b="1" dirty="0">
                <a:solidFill>
                  <a:srgbClr val="1B202A"/>
                </a:solidFill>
                <a:latin typeface="Calibri" pitchFamily="34" charset="0"/>
                <a:ea typeface="Calibri" pitchFamily="34" charset="-122"/>
                <a:cs typeface="Calibri" pitchFamily="34" charset="-120"/>
              </a:rPr>
              <a:t>Target System</a:t>
            </a:r>
            <a:endParaRPr lang="en-US" sz="1400" dirty="0"/>
          </a:p>
          <a:p>
            <a:pPr marL="0" indent="0" algn="ctr">
              <a:buNone/>
            </a:pPr>
            <a:r>
              <a:rPr lang="en-US" sz="1250" dirty="0">
                <a:solidFill>
                  <a:srgbClr val="596273"/>
                </a:solidFill>
                <a:latin typeface="Calibri" pitchFamily="34" charset="0"/>
                <a:ea typeface="Calibri" pitchFamily="34" charset="-122"/>
                <a:cs typeface="Calibri" pitchFamily="34" charset="-120"/>
              </a:rPr>
              <a:t>CrewAI / LangGraph</a:t>
            </a:r>
            <a:endParaRPr lang="en-US" sz="1400" dirty="0"/>
          </a:p>
        </p:txBody>
      </p:sp>
      <p:sp>
        <p:nvSpPr>
          <p:cNvPr id="17" name="Shape 15"/>
          <p:cNvSpPr/>
          <p:nvPr/>
        </p:nvSpPr>
        <p:spPr>
          <a:xfrm>
            <a:off x="566928" y="4663440"/>
            <a:ext cx="1481328" cy="749808"/>
          </a:xfrm>
          <a:prstGeom prst="roundRect">
            <a:avLst>
              <a:gd name="adj" fmla="val 6098"/>
            </a:avLst>
          </a:prstGeom>
          <a:solidFill>
            <a:srgbClr val="FBFBFC"/>
          </a:solidFill>
          <a:ln w="12700">
            <a:solidFill>
              <a:srgbClr val="596273"/>
            </a:solidFill>
            <a:prstDash val="dash"/>
          </a:ln>
        </p:spPr>
        <p:txBody>
          <a:bodyPr/>
          <a:lstStyle/>
          <a:p>
            <a:endParaRPr lang="en-PK"/>
          </a:p>
        </p:txBody>
      </p:sp>
      <p:sp>
        <p:nvSpPr>
          <p:cNvPr id="18" name="Text 16"/>
          <p:cNvSpPr txBox="1"/>
          <p:nvPr/>
        </p:nvSpPr>
        <p:spPr>
          <a:xfrm>
            <a:off x="603504" y="4718304"/>
            <a:ext cx="1408176" cy="640080"/>
          </a:xfrm>
          <a:prstGeom prst="rect">
            <a:avLst/>
          </a:prstGeom>
          <a:noFill/>
          <a:ln/>
        </p:spPr>
        <p:txBody>
          <a:bodyPr wrap="square" lIns="0" tIns="0" rIns="0" bIns="0" rtlCol="0" anchor="ctr"/>
          <a:lstStyle/>
          <a:p>
            <a:pPr marL="0" indent="0" algn="ctr">
              <a:buNone/>
            </a:pPr>
            <a:r>
              <a:rPr lang="en-US" sz="1400" b="1" dirty="0">
                <a:solidFill>
                  <a:srgbClr val="1B202A"/>
                </a:solidFill>
                <a:latin typeface="Calibri" pitchFamily="34" charset="0"/>
                <a:ea typeface="Calibri" pitchFamily="34" charset="-122"/>
                <a:cs typeface="Calibri" pitchFamily="34" charset="-120"/>
              </a:rPr>
              <a:t>Operator</a:t>
            </a:r>
            <a:endParaRPr lang="en-US" sz="1400" dirty="0"/>
          </a:p>
          <a:p>
            <a:pPr marL="0" indent="0" algn="ctr">
              <a:buNone/>
            </a:pPr>
            <a:r>
              <a:rPr lang="en-US" sz="1250" dirty="0">
                <a:solidFill>
                  <a:srgbClr val="596273"/>
                </a:solidFill>
                <a:latin typeface="Calibri" pitchFamily="34" charset="0"/>
                <a:ea typeface="Calibri" pitchFamily="34" charset="-122"/>
                <a:cs typeface="Calibri" pitchFamily="34" charset="-120"/>
              </a:rPr>
              <a:t>engineering team</a:t>
            </a:r>
            <a:endParaRPr lang="en-US" sz="1400" dirty="0"/>
          </a:p>
        </p:txBody>
      </p:sp>
      <p:sp>
        <p:nvSpPr>
          <p:cNvPr id="19" name="Shape 17"/>
          <p:cNvSpPr/>
          <p:nvPr/>
        </p:nvSpPr>
        <p:spPr>
          <a:xfrm>
            <a:off x="2322576" y="2395728"/>
            <a:ext cx="7452360" cy="3246120"/>
          </a:xfrm>
          <a:prstGeom prst="roundRect">
            <a:avLst>
              <a:gd name="adj" fmla="val 2254"/>
            </a:avLst>
          </a:prstGeom>
          <a:solidFill>
            <a:srgbClr val="FFFFFF"/>
          </a:solidFill>
          <a:ln w="15875">
            <a:solidFill>
              <a:srgbClr val="C89B3C"/>
            </a:solidFill>
            <a:prstDash val="dash"/>
          </a:ln>
        </p:spPr>
        <p:txBody>
          <a:bodyPr/>
          <a:lstStyle/>
          <a:p>
            <a:endParaRPr lang="en-PK"/>
          </a:p>
        </p:txBody>
      </p:sp>
      <p:sp>
        <p:nvSpPr>
          <p:cNvPr id="20" name="Text 18"/>
          <p:cNvSpPr txBox="1"/>
          <p:nvPr/>
        </p:nvSpPr>
        <p:spPr>
          <a:xfrm>
            <a:off x="2468880" y="2450592"/>
            <a:ext cx="3657600" cy="201168"/>
          </a:xfrm>
          <a:prstGeom prst="rect">
            <a:avLst/>
          </a:prstGeom>
          <a:noFill/>
          <a:ln/>
        </p:spPr>
        <p:txBody>
          <a:bodyPr wrap="square" lIns="0" tIns="0" rIns="0" bIns="0" rtlCol="0" anchor="ctr"/>
          <a:lstStyle/>
          <a:p>
            <a:pPr marL="0" indent="0">
              <a:buNone/>
            </a:pPr>
            <a:r>
              <a:rPr lang="en-US" sz="950" b="1" kern="0" spc="100" dirty="0">
                <a:solidFill>
                  <a:srgbClr val="8E6A1F"/>
                </a:solidFill>
                <a:latin typeface="Consolas" pitchFamily="34" charset="0"/>
                <a:ea typeface="Consolas" pitchFamily="34" charset="-122"/>
                <a:cs typeface="Consolas" pitchFamily="34" charset="-120"/>
              </a:rPr>
              <a:t>GRANITE — SYSTEM BOUNDARY</a:t>
            </a:r>
            <a:endParaRPr lang="en-US" sz="950" dirty="0"/>
          </a:p>
        </p:txBody>
      </p:sp>
      <p:sp>
        <p:nvSpPr>
          <p:cNvPr id="21" name="Shape 19"/>
          <p:cNvSpPr/>
          <p:nvPr/>
        </p:nvSpPr>
        <p:spPr>
          <a:xfrm>
            <a:off x="2468880" y="2706624"/>
            <a:ext cx="5733288" cy="850392"/>
          </a:xfrm>
          <a:prstGeom prst="roundRect">
            <a:avLst>
              <a:gd name="adj" fmla="val 5376"/>
            </a:avLst>
          </a:prstGeom>
          <a:solidFill>
            <a:srgbClr val="E3EFF1"/>
          </a:solidFill>
          <a:ln w="12700">
            <a:solidFill>
              <a:srgbClr val="15707A"/>
            </a:solidFill>
            <a:prstDash val="solid"/>
          </a:ln>
        </p:spPr>
        <p:txBody>
          <a:bodyPr/>
          <a:lstStyle/>
          <a:p>
            <a:endParaRPr lang="en-PK"/>
          </a:p>
        </p:txBody>
      </p:sp>
      <p:sp>
        <p:nvSpPr>
          <p:cNvPr id="22" name="Text 20"/>
          <p:cNvSpPr txBox="1"/>
          <p:nvPr/>
        </p:nvSpPr>
        <p:spPr>
          <a:xfrm>
            <a:off x="2596896" y="2770632"/>
            <a:ext cx="5477256" cy="237744"/>
          </a:xfrm>
          <a:prstGeom prst="rect">
            <a:avLst/>
          </a:prstGeom>
          <a:noFill/>
          <a:ln/>
        </p:spPr>
        <p:txBody>
          <a:bodyPr wrap="square" lIns="0" tIns="0" rIns="0" bIns="0" rtlCol="0" anchor="ctr"/>
          <a:lstStyle/>
          <a:p>
            <a:pPr marL="0" indent="0">
              <a:buNone/>
            </a:pPr>
            <a:r>
              <a:rPr lang="en-US" sz="1200" b="1" dirty="0">
                <a:solidFill>
                  <a:srgbClr val="15707A"/>
                </a:solidFill>
                <a:latin typeface="Consolas" pitchFamily="34" charset="0"/>
                <a:ea typeface="Consolas" pitchFamily="34" charset="-122"/>
                <a:cs typeface="Consolas" pitchFamily="34" charset="-120"/>
              </a:rPr>
              <a:t>LANE A — DATA / BENCHMARK · SHAHOUD</a:t>
            </a:r>
            <a:endParaRPr lang="en-US" sz="1200" dirty="0"/>
          </a:p>
        </p:txBody>
      </p:sp>
      <p:sp>
        <p:nvSpPr>
          <p:cNvPr id="23" name="Text 21"/>
          <p:cNvSpPr txBox="1"/>
          <p:nvPr/>
        </p:nvSpPr>
        <p:spPr>
          <a:xfrm>
            <a:off x="2596896" y="3017520"/>
            <a:ext cx="5477256" cy="530352"/>
          </a:xfrm>
          <a:prstGeom prst="rect">
            <a:avLst/>
          </a:prstGeom>
          <a:noFill/>
          <a:ln/>
        </p:spPr>
        <p:txBody>
          <a:bodyPr wrap="square" lIns="0" tIns="0" rIns="0" bIns="0" rtlCol="0" anchor="ctr"/>
          <a:lstStyle/>
          <a:p>
            <a:pPr marL="0" indent="0">
              <a:buNone/>
            </a:pPr>
            <a:r>
              <a:rPr lang="en-US" sz="1380" dirty="0">
                <a:solidFill>
                  <a:srgbClr val="1B202A"/>
                </a:solidFill>
                <a:latin typeface="Calibri" pitchFamily="34" charset="0"/>
                <a:ea typeface="Calibri" pitchFamily="34" charset="-122"/>
                <a:cs typeface="Calibri" pitchFamily="34" charset="-120"/>
              </a:rPr>
              <a:t>Framework Adapters   ·   Fault Injection   ·   Benchmark Store</a:t>
            </a:r>
            <a:endParaRPr lang="en-US" sz="1380" dirty="0"/>
          </a:p>
        </p:txBody>
      </p:sp>
      <p:sp>
        <p:nvSpPr>
          <p:cNvPr id="24" name="Shape 22"/>
          <p:cNvSpPr/>
          <p:nvPr/>
        </p:nvSpPr>
        <p:spPr>
          <a:xfrm>
            <a:off x="5189220" y="3557016"/>
            <a:ext cx="0" cy="109728"/>
          </a:xfrm>
          <a:prstGeom prst="line">
            <a:avLst/>
          </a:prstGeom>
          <a:noFill/>
          <a:ln w="15875">
            <a:solidFill>
              <a:srgbClr val="596273"/>
            </a:solidFill>
            <a:prstDash val="solid"/>
            <a:tailEnd type="triangle"/>
          </a:ln>
        </p:spPr>
        <p:txBody>
          <a:bodyPr/>
          <a:lstStyle/>
          <a:p>
            <a:endParaRPr lang="en-PK"/>
          </a:p>
        </p:txBody>
      </p:sp>
      <p:sp>
        <p:nvSpPr>
          <p:cNvPr id="25" name="Shape 23"/>
          <p:cNvSpPr/>
          <p:nvPr/>
        </p:nvSpPr>
        <p:spPr>
          <a:xfrm>
            <a:off x="2468880" y="3666744"/>
            <a:ext cx="5733288" cy="850392"/>
          </a:xfrm>
          <a:prstGeom prst="roundRect">
            <a:avLst>
              <a:gd name="adj" fmla="val 5376"/>
            </a:avLst>
          </a:prstGeom>
          <a:solidFill>
            <a:srgbClr val="F6EADD"/>
          </a:solidFill>
          <a:ln w="12700">
            <a:solidFill>
              <a:srgbClr val="B05C1C"/>
            </a:solidFill>
            <a:prstDash val="solid"/>
          </a:ln>
        </p:spPr>
        <p:txBody>
          <a:bodyPr/>
          <a:lstStyle/>
          <a:p>
            <a:endParaRPr lang="en-PK"/>
          </a:p>
        </p:txBody>
      </p:sp>
      <p:sp>
        <p:nvSpPr>
          <p:cNvPr id="26" name="Text 24"/>
          <p:cNvSpPr txBox="1"/>
          <p:nvPr/>
        </p:nvSpPr>
        <p:spPr>
          <a:xfrm>
            <a:off x="2596896" y="3730752"/>
            <a:ext cx="5477256" cy="237744"/>
          </a:xfrm>
          <a:prstGeom prst="rect">
            <a:avLst/>
          </a:prstGeom>
          <a:noFill/>
          <a:ln/>
        </p:spPr>
        <p:txBody>
          <a:bodyPr wrap="square" lIns="0" tIns="0" rIns="0" bIns="0" rtlCol="0" anchor="ctr"/>
          <a:lstStyle/>
          <a:p>
            <a:pPr marL="0" indent="0">
              <a:buNone/>
            </a:pPr>
            <a:r>
              <a:rPr lang="en-US" sz="1200" b="1" dirty="0">
                <a:solidFill>
                  <a:srgbClr val="B05C1C"/>
                </a:solidFill>
                <a:latin typeface="Consolas" pitchFamily="34" charset="0"/>
                <a:ea typeface="Consolas" pitchFamily="34" charset="-122"/>
                <a:cs typeface="Consolas" pitchFamily="34" charset="-120"/>
              </a:rPr>
              <a:t>LANE B — DIAGNOSIS · NOOR</a:t>
            </a:r>
            <a:endParaRPr lang="en-US" sz="1200" dirty="0"/>
          </a:p>
        </p:txBody>
      </p:sp>
      <p:sp>
        <p:nvSpPr>
          <p:cNvPr id="27" name="Text 25"/>
          <p:cNvSpPr txBox="1"/>
          <p:nvPr/>
        </p:nvSpPr>
        <p:spPr>
          <a:xfrm>
            <a:off x="2596896" y="3977640"/>
            <a:ext cx="5477256" cy="530352"/>
          </a:xfrm>
          <a:prstGeom prst="rect">
            <a:avLst/>
          </a:prstGeom>
          <a:noFill/>
          <a:ln/>
        </p:spPr>
        <p:txBody>
          <a:bodyPr wrap="square" lIns="0" tIns="0" rIns="0" bIns="0" rtlCol="0" anchor="ctr"/>
          <a:lstStyle/>
          <a:p>
            <a:pPr marL="0" indent="0">
              <a:buNone/>
            </a:pPr>
            <a:r>
              <a:rPr lang="en-US" sz="1380" dirty="0">
                <a:solidFill>
                  <a:srgbClr val="1B202A"/>
                </a:solidFill>
                <a:latin typeface="Calibri" pitchFamily="34" charset="0"/>
                <a:ea typeface="Calibri" pitchFamily="34" charset="-122"/>
                <a:cs typeface="Calibri" pitchFamily="34" charset="-120"/>
              </a:rPr>
              <a:t>Trace Normalizer → Graph Builder → Semantic Error Diagnostic + Backward Causal Tracer</a:t>
            </a:r>
            <a:endParaRPr lang="en-US" sz="1380" dirty="0"/>
          </a:p>
        </p:txBody>
      </p:sp>
      <p:sp>
        <p:nvSpPr>
          <p:cNvPr id="28" name="Shape 26"/>
          <p:cNvSpPr/>
          <p:nvPr/>
        </p:nvSpPr>
        <p:spPr>
          <a:xfrm>
            <a:off x="5189220" y="4517136"/>
            <a:ext cx="0" cy="109728"/>
          </a:xfrm>
          <a:prstGeom prst="line">
            <a:avLst/>
          </a:prstGeom>
          <a:noFill/>
          <a:ln w="15875">
            <a:solidFill>
              <a:srgbClr val="596273"/>
            </a:solidFill>
            <a:prstDash val="solid"/>
            <a:tailEnd type="triangle"/>
          </a:ln>
        </p:spPr>
        <p:txBody>
          <a:bodyPr/>
          <a:lstStyle/>
          <a:p>
            <a:endParaRPr lang="en-PK"/>
          </a:p>
        </p:txBody>
      </p:sp>
      <p:sp>
        <p:nvSpPr>
          <p:cNvPr id="29" name="Shape 27"/>
          <p:cNvSpPr/>
          <p:nvPr/>
        </p:nvSpPr>
        <p:spPr>
          <a:xfrm>
            <a:off x="2468880" y="4626864"/>
            <a:ext cx="5733288" cy="850392"/>
          </a:xfrm>
          <a:prstGeom prst="roundRect">
            <a:avLst>
              <a:gd name="adj" fmla="val 5376"/>
            </a:avLst>
          </a:prstGeom>
          <a:solidFill>
            <a:srgbClr val="E4E9F2"/>
          </a:solidFill>
          <a:ln w="12700">
            <a:solidFill>
              <a:srgbClr val="31558F"/>
            </a:solidFill>
            <a:prstDash val="solid"/>
          </a:ln>
        </p:spPr>
        <p:txBody>
          <a:bodyPr/>
          <a:lstStyle/>
          <a:p>
            <a:endParaRPr lang="en-PK"/>
          </a:p>
        </p:txBody>
      </p:sp>
      <p:sp>
        <p:nvSpPr>
          <p:cNvPr id="30" name="Text 28"/>
          <p:cNvSpPr txBox="1"/>
          <p:nvPr/>
        </p:nvSpPr>
        <p:spPr>
          <a:xfrm>
            <a:off x="2596896" y="4690872"/>
            <a:ext cx="5477256" cy="237744"/>
          </a:xfrm>
          <a:prstGeom prst="rect">
            <a:avLst/>
          </a:prstGeom>
          <a:noFill/>
          <a:ln/>
        </p:spPr>
        <p:txBody>
          <a:bodyPr wrap="square" lIns="0" tIns="0" rIns="0" bIns="0" rtlCol="0" anchor="ctr"/>
          <a:lstStyle/>
          <a:p>
            <a:pPr marL="0" indent="0">
              <a:buNone/>
            </a:pPr>
            <a:r>
              <a:rPr lang="en-US" sz="1200" b="1" dirty="0">
                <a:solidFill>
                  <a:srgbClr val="31558F"/>
                </a:solidFill>
                <a:latin typeface="Consolas" pitchFamily="34" charset="0"/>
                <a:ea typeface="Consolas" pitchFamily="34" charset="-122"/>
                <a:cs typeface="Consolas" pitchFamily="34" charset="-120"/>
              </a:rPr>
              <a:t>LANE C — PLATFORM · SAIF</a:t>
            </a:r>
            <a:endParaRPr lang="en-US" sz="1200" dirty="0"/>
          </a:p>
        </p:txBody>
      </p:sp>
      <p:sp>
        <p:nvSpPr>
          <p:cNvPr id="31" name="Text 29"/>
          <p:cNvSpPr txBox="1"/>
          <p:nvPr/>
        </p:nvSpPr>
        <p:spPr>
          <a:xfrm>
            <a:off x="2596896" y="4937760"/>
            <a:ext cx="5477256" cy="530352"/>
          </a:xfrm>
          <a:prstGeom prst="rect">
            <a:avLst/>
          </a:prstGeom>
          <a:noFill/>
          <a:ln/>
        </p:spPr>
        <p:txBody>
          <a:bodyPr wrap="square" lIns="0" tIns="0" rIns="0" bIns="0" rtlCol="0" anchor="ctr"/>
          <a:lstStyle/>
          <a:p>
            <a:pPr marL="0" indent="0">
              <a:buNone/>
            </a:pPr>
            <a:r>
              <a:rPr lang="en-US" sz="1380" dirty="0">
                <a:solidFill>
                  <a:srgbClr val="1B202A"/>
                </a:solidFill>
                <a:latin typeface="Calibri" pitchFamily="34" charset="0"/>
                <a:ea typeface="Calibri" pitchFamily="34" charset="-122"/>
                <a:cs typeface="Calibri" pitchFamily="34" charset="-120"/>
              </a:rPr>
              <a:t>Repair Agent → Verified Automatic Repair → Recovery Controller / Memory (Tier 2) → API → Dashboard</a:t>
            </a:r>
            <a:endParaRPr lang="en-US" sz="1380" dirty="0"/>
          </a:p>
        </p:txBody>
      </p:sp>
      <p:sp>
        <p:nvSpPr>
          <p:cNvPr id="32" name="Shape 30"/>
          <p:cNvSpPr/>
          <p:nvPr/>
        </p:nvSpPr>
        <p:spPr>
          <a:xfrm>
            <a:off x="8357616" y="2743200"/>
            <a:ext cx="1261872" cy="896112"/>
          </a:xfrm>
          <a:prstGeom prst="roundRect">
            <a:avLst>
              <a:gd name="adj" fmla="val 5102"/>
            </a:avLst>
          </a:prstGeom>
          <a:solidFill>
            <a:srgbClr val="FBF3E3"/>
          </a:solidFill>
          <a:ln w="12700">
            <a:solidFill>
              <a:srgbClr val="C89B3C"/>
            </a:solidFill>
            <a:prstDash val="dash"/>
          </a:ln>
        </p:spPr>
        <p:txBody>
          <a:bodyPr/>
          <a:lstStyle/>
          <a:p>
            <a:endParaRPr lang="en-PK"/>
          </a:p>
        </p:txBody>
      </p:sp>
      <p:sp>
        <p:nvSpPr>
          <p:cNvPr id="33" name="Text 31"/>
          <p:cNvSpPr txBox="1"/>
          <p:nvPr/>
        </p:nvSpPr>
        <p:spPr>
          <a:xfrm>
            <a:off x="8412480" y="2779776"/>
            <a:ext cx="1152144" cy="822960"/>
          </a:xfrm>
          <a:prstGeom prst="rect">
            <a:avLst/>
          </a:prstGeom>
          <a:noFill/>
          <a:ln/>
        </p:spPr>
        <p:txBody>
          <a:bodyPr wrap="square" lIns="0" tIns="0" rIns="0" bIns="0" rtlCol="0" anchor="ctr"/>
          <a:lstStyle/>
          <a:p>
            <a:pPr marL="0" indent="0" algn="ctr">
              <a:buNone/>
            </a:pPr>
            <a:r>
              <a:rPr lang="en-US" sz="1400" b="1" dirty="0">
                <a:solidFill>
                  <a:srgbClr val="8E6A1F"/>
                </a:solidFill>
                <a:latin typeface="Calibri" pitchFamily="34" charset="0"/>
                <a:ea typeface="Calibri" pitchFamily="34" charset="-122"/>
                <a:cs typeface="Calibri" pitchFamily="34" charset="-120"/>
              </a:rPr>
              <a:t>LLM API</a:t>
            </a:r>
            <a:endParaRPr lang="en-US" sz="1400" dirty="0"/>
          </a:p>
          <a:p>
            <a:pPr marL="0" indent="0" algn="ctr">
              <a:buNone/>
            </a:pPr>
            <a:r>
              <a:rPr lang="en-US" sz="1150" dirty="0">
                <a:solidFill>
                  <a:srgbClr val="596273"/>
                </a:solidFill>
                <a:latin typeface="Calibri" pitchFamily="34" charset="0"/>
                <a:ea typeface="Calibri" pitchFamily="34" charset="-122"/>
                <a:cs typeface="Calibri" pitchFamily="34" charset="-120"/>
              </a:rPr>
              <a:t>core-assist only</a:t>
            </a:r>
            <a:endParaRPr lang="en-US" sz="1400" dirty="0"/>
          </a:p>
          <a:p>
            <a:pPr marL="0" indent="0" algn="ctr">
              <a:buNone/>
            </a:pPr>
            <a:r>
              <a:rPr lang="en-US" sz="1150" dirty="0">
                <a:solidFill>
                  <a:srgbClr val="596273"/>
                </a:solidFill>
                <a:latin typeface="Calibri" pitchFamily="34" charset="0"/>
                <a:ea typeface="Calibri" pitchFamily="34" charset="-122"/>
                <a:cs typeface="Calibri" pitchFamily="34" charset="-120"/>
              </a:rPr>
              <a:t>~15–20% of components</a:t>
            </a:r>
            <a:endParaRPr lang="en-US" sz="1400" dirty="0"/>
          </a:p>
        </p:txBody>
      </p:sp>
      <p:sp>
        <p:nvSpPr>
          <p:cNvPr id="34" name="Text 32"/>
          <p:cNvSpPr txBox="1"/>
          <p:nvPr/>
        </p:nvSpPr>
        <p:spPr>
          <a:xfrm>
            <a:off x="2322576" y="5733288"/>
            <a:ext cx="7452360" cy="420624"/>
          </a:xfrm>
          <a:prstGeom prst="rect">
            <a:avLst/>
          </a:prstGeom>
          <a:noFill/>
          <a:ln/>
        </p:spPr>
        <p:txBody>
          <a:bodyPr wrap="square" lIns="0" tIns="0" rIns="0" bIns="0" rtlCol="0" anchor="ctr"/>
          <a:lstStyle/>
          <a:p>
            <a:pPr marL="0" indent="0">
              <a:buNone/>
            </a:pPr>
            <a:r>
              <a:rPr lang="en-US" sz="1350" b="1" i="1" dirty="0">
                <a:solidFill>
                  <a:srgbClr val="1B202A"/>
                </a:solidFill>
                <a:latin typeface="Calibri" pitchFamily="34" charset="0"/>
                <a:ea typeface="Calibri" pitchFamily="34" charset="-122"/>
                <a:cs typeface="Calibri" pitchFamily="34" charset="-120"/>
              </a:rPr>
              <a:t>In scope: </a:t>
            </a:r>
            <a:r>
              <a:rPr lang="en-US" sz="1350" i="1" dirty="0">
                <a:solidFill>
                  <a:srgbClr val="596273"/>
                </a:solidFill>
                <a:latin typeface="Calibri" pitchFamily="34" charset="0"/>
                <a:ea typeface="Calibri" pitchFamily="34" charset="-122"/>
                <a:cs typeface="Calibri" pitchFamily="34" charset="-120"/>
              </a:rPr>
              <a:t>10 committed mechanisms.     </a:t>
            </a:r>
            <a:r>
              <a:rPr lang="en-US" sz="1350" b="1" i="1" dirty="0">
                <a:solidFill>
                  <a:srgbClr val="1B202A"/>
                </a:solidFill>
                <a:latin typeface="Calibri" pitchFamily="34" charset="0"/>
                <a:ea typeface="Calibri" pitchFamily="34" charset="-122"/>
                <a:cs typeface="Calibri" pitchFamily="34" charset="-120"/>
              </a:rPr>
              <a:t>Out of scope: </a:t>
            </a:r>
            <a:r>
              <a:rPr lang="en-US" sz="1350" i="1" dirty="0">
                <a:solidFill>
                  <a:srgbClr val="596273"/>
                </a:solidFill>
                <a:latin typeface="Calibri" pitchFamily="34" charset="0"/>
                <a:ea typeface="Calibri" pitchFamily="34" charset="-122"/>
                <a:cs typeface="Calibri" pitchFamily="34" charset="-120"/>
              </a:rPr>
              <a:t>message queues, Kubernetes, full RBAC, DR infra, multi-tenant billing.     </a:t>
            </a:r>
            <a:r>
              <a:rPr lang="en-US" sz="1350" b="1" i="1" dirty="0">
                <a:solidFill>
                  <a:srgbClr val="8E6A1F"/>
                </a:solidFill>
                <a:latin typeface="Calibri" pitchFamily="34" charset="0"/>
                <a:ea typeface="Calibri" pitchFamily="34" charset="-122"/>
                <a:cs typeface="Calibri" pitchFamily="34" charset="-120"/>
              </a:rPr>
              <a:t>Deployment target: </a:t>
            </a:r>
            <a:r>
              <a:rPr lang="en-US" sz="1350" i="1" dirty="0">
                <a:solidFill>
                  <a:srgbClr val="596273"/>
                </a:solidFill>
                <a:latin typeface="Calibri" pitchFamily="34" charset="0"/>
                <a:ea typeface="Calibri" pitchFamily="34" charset="-122"/>
                <a:cs typeface="Calibri" pitchFamily="34" charset="-120"/>
              </a:rPr>
              <a:t>Docker + pip-installable SDK — operable by someone who didn't build it.</a:t>
            </a:r>
            <a:endParaRPr lang="en-US" sz="13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C"/>
        </a:solidFill>
        <a:effectLst/>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txBody>
          <a:bodyPr/>
          <a:lstStyle/>
          <a:p>
            <a:endParaRPr lang="en-PK"/>
          </a:p>
        </p:txBody>
      </p:sp>
      <p:sp>
        <p:nvSpPr>
          <p:cNvPr id="3" name="Shape 1"/>
          <p:cNvSpPr/>
          <p:nvPr/>
        </p:nvSpPr>
        <p:spPr>
          <a:xfrm rot="2700000">
            <a:off x="10618927" y="5285232"/>
            <a:ext cx="1005840" cy="1005840"/>
          </a:xfrm>
          <a:prstGeom prst="rect">
            <a:avLst/>
          </a:prstGeom>
          <a:ln w="12700">
            <a:solidFill>
              <a:srgbClr val="F4F5F7"/>
            </a:solidFill>
            <a:prstDash val="solid"/>
          </a:ln>
        </p:spPr>
        <p:txBody>
          <a:bodyPr/>
          <a:lstStyle/>
          <a:p>
            <a:endParaRPr lang="en-PK"/>
          </a:p>
        </p:txBody>
      </p:sp>
      <p:sp>
        <p:nvSpPr>
          <p:cNvPr id="4" name="Shape 2"/>
          <p:cNvSpPr/>
          <p:nvPr/>
        </p:nvSpPr>
        <p:spPr>
          <a:xfrm rot="2700000">
            <a:off x="10856671" y="5522976"/>
            <a:ext cx="530352" cy="530352"/>
          </a:xfrm>
          <a:prstGeom prst="rect">
            <a:avLst/>
          </a:prstGeom>
          <a:ln w="12700">
            <a:solidFill>
              <a:srgbClr val="F7F4ED"/>
            </a:solidFill>
            <a:prstDash val="solid"/>
          </a:ln>
        </p:spPr>
        <p:txBody>
          <a:bodyPr/>
          <a:lstStyle/>
          <a:p>
            <a:endParaRPr lang="en-PK"/>
          </a:p>
        </p:txBody>
      </p:sp>
      <p:sp>
        <p:nvSpPr>
          <p:cNvPr id="5" name="Text 3"/>
          <p:cNvSpPr txBox="1"/>
          <p:nvPr/>
        </p:nvSpPr>
        <p:spPr>
          <a:xfrm>
            <a:off x="566928" y="292608"/>
            <a:ext cx="11057839" cy="256032"/>
          </a:xfrm>
          <a:prstGeom prst="rect">
            <a:avLst/>
          </a:prstGeom>
          <a:noFill/>
          <a:ln/>
        </p:spPr>
        <p:txBody>
          <a:bodyPr wrap="square" lIns="0" tIns="0" rIns="0" bIns="0" rtlCol="0" anchor="ctr"/>
          <a:lstStyle/>
          <a:p>
            <a:pPr marL="0" indent="0">
              <a:buNone/>
            </a:pPr>
            <a:r>
              <a:rPr lang="en-US" sz="1350" b="1" kern="0" spc="160" dirty="0">
                <a:solidFill>
                  <a:srgbClr val="8E6A1F"/>
                </a:solidFill>
                <a:latin typeface="Consolas" pitchFamily="34" charset="0"/>
                <a:ea typeface="Consolas" pitchFamily="34" charset="-122"/>
                <a:cs typeface="Consolas" pitchFamily="34" charset="-120"/>
              </a:rPr>
              <a:t>“SHOW THE EVIDENCE — DO NOT MERELY DESCRIBE THAT IT EXISTS”</a:t>
            </a:r>
            <a:endParaRPr lang="en-US" sz="13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marL="0" indent="0">
              <a:buNone/>
            </a:pPr>
            <a:r>
              <a:rPr lang="en-US" sz="2950" b="1" dirty="0">
                <a:solidFill>
                  <a:srgbClr val="1B202A"/>
                </a:solidFill>
                <a:latin typeface="Georgia" pitchFamily="34" charset="0"/>
                <a:ea typeface="Georgia" pitchFamily="34" charset="-122"/>
                <a:cs typeface="Georgia" pitchFamily="34" charset="-120"/>
              </a:rPr>
              <a:t>POC / Feasibility Evidence</a:t>
            </a:r>
            <a:endParaRPr lang="en-US" sz="2950" dirty="0"/>
          </a:p>
        </p:txBody>
      </p:sp>
      <p:sp>
        <p:nvSpPr>
          <p:cNvPr id="7" name="Shape 5"/>
          <p:cNvSpPr/>
          <p:nvPr/>
        </p:nvSpPr>
        <p:spPr>
          <a:xfrm>
            <a:off x="566928" y="1188720"/>
            <a:ext cx="566928" cy="36576"/>
          </a:xfrm>
          <a:prstGeom prst="rect">
            <a:avLst/>
          </a:prstGeom>
          <a:solidFill>
            <a:srgbClr val="C89B3C"/>
          </a:solidFill>
          <a:ln/>
        </p:spPr>
        <p:txBody>
          <a:bodyPr/>
          <a:lstStyle/>
          <a:p>
            <a:endParaRPr lang="en-PK"/>
          </a:p>
        </p:txBody>
      </p:sp>
      <p:sp>
        <p:nvSpPr>
          <p:cNvPr id="8" name="Shape 6"/>
          <p:cNvSpPr/>
          <p:nvPr/>
        </p:nvSpPr>
        <p:spPr>
          <a:xfrm>
            <a:off x="566928" y="6437376"/>
            <a:ext cx="11057839" cy="0"/>
          </a:xfrm>
          <a:prstGeom prst="line">
            <a:avLst/>
          </a:prstGeom>
          <a:noFill/>
          <a:ln w="9525">
            <a:solidFill>
              <a:srgbClr val="D9DCE3"/>
            </a:solidFill>
            <a:prstDash val="solid"/>
          </a:ln>
        </p:spPr>
        <p:txBody>
          <a:bodyPr/>
          <a:lstStyle/>
          <a:p>
            <a:endParaRPr lang="en-PK"/>
          </a:p>
        </p:txBody>
      </p:sp>
      <p:sp>
        <p:nvSpPr>
          <p:cNvPr id="9" name="Text 7"/>
          <p:cNvSpPr txBox="1"/>
          <p:nvPr/>
        </p:nvSpPr>
        <p:spPr>
          <a:xfrm>
            <a:off x="566928" y="6510528"/>
            <a:ext cx="5943600" cy="237744"/>
          </a:xfrm>
          <a:prstGeom prst="rect">
            <a:avLst/>
          </a:prstGeom>
          <a:noFill/>
          <a:ln/>
        </p:spPr>
        <p:txBody>
          <a:bodyPr wrap="square" lIns="0" tIns="0" rIns="0" bIns="0" rtlCol="0" anchor="ctr"/>
          <a:lstStyle/>
          <a:p>
            <a:pPr marL="0" indent="0">
              <a:buNone/>
            </a:pPr>
            <a:r>
              <a:rPr lang="en-US" sz="1050" kern="0" spc="7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10" name="Text 8"/>
          <p:cNvSpPr txBox="1"/>
          <p:nvPr/>
        </p:nvSpPr>
        <p:spPr>
          <a:xfrm>
            <a:off x="10527487" y="6510528"/>
            <a:ext cx="1097280" cy="237744"/>
          </a:xfrm>
          <a:prstGeom prst="rect">
            <a:avLst/>
          </a:prstGeom>
          <a:noFill/>
          <a:ln/>
        </p:spPr>
        <p:txBody>
          <a:bodyPr wrap="square" lIns="0" tIns="0" rIns="0" bIns="0" rtlCol="0" anchor="ctr"/>
          <a:lstStyle/>
          <a:p>
            <a:pPr marL="0" indent="0" algn="r">
              <a:buNone/>
            </a:pPr>
            <a:r>
              <a:rPr lang="en-US" sz="1050" b="1" dirty="0">
                <a:solidFill>
                  <a:srgbClr val="8E6A1F"/>
                </a:solidFill>
                <a:latin typeface="Consolas" pitchFamily="34" charset="0"/>
                <a:ea typeface="Consolas" pitchFamily="34" charset="-122"/>
                <a:cs typeface="Consolas" pitchFamily="34" charset="-120"/>
              </a:rPr>
              <a:t>7 / 10</a:t>
            </a:r>
            <a:endParaRPr lang="en-US" sz="1050" dirty="0"/>
          </a:p>
        </p:txBody>
      </p:sp>
      <p:sp>
        <p:nvSpPr>
          <p:cNvPr id="11" name="Text 9"/>
          <p:cNvSpPr txBox="1"/>
          <p:nvPr/>
        </p:nvSpPr>
        <p:spPr>
          <a:xfrm>
            <a:off x="566928" y="1298448"/>
            <a:ext cx="2581580" cy="512064"/>
          </a:xfrm>
          <a:prstGeom prst="rect">
            <a:avLst/>
          </a:prstGeom>
          <a:noFill/>
          <a:ln/>
        </p:spPr>
        <p:txBody>
          <a:bodyPr wrap="square" lIns="0" tIns="0" rIns="0" bIns="0" rtlCol="0" anchor="ctr"/>
          <a:lstStyle/>
          <a:p>
            <a:pPr marL="0" indent="0">
              <a:buNone/>
            </a:pPr>
            <a:r>
              <a:rPr lang="en-US" sz="3350" b="1" dirty="0">
                <a:solidFill>
                  <a:srgbClr val="8E6A1F"/>
                </a:solidFill>
                <a:latin typeface="Georgia" pitchFamily="34" charset="0"/>
                <a:ea typeface="Georgia" pitchFamily="34" charset="-122"/>
                <a:cs typeface="Georgia" pitchFamily="34" charset="-120"/>
              </a:rPr>
              <a:t>71.4%</a:t>
            </a:r>
            <a:endParaRPr lang="en-US" sz="3350" dirty="0"/>
          </a:p>
        </p:txBody>
      </p:sp>
      <p:sp>
        <p:nvSpPr>
          <p:cNvPr id="12" name="Text 10"/>
          <p:cNvSpPr txBox="1"/>
          <p:nvPr/>
        </p:nvSpPr>
        <p:spPr>
          <a:xfrm>
            <a:off x="566928" y="1810512"/>
            <a:ext cx="2490140" cy="402336"/>
          </a:xfrm>
          <a:prstGeom prst="rect">
            <a:avLst/>
          </a:prstGeom>
          <a:noFill/>
          <a:ln/>
        </p:spPr>
        <p:txBody>
          <a:bodyPr wrap="square" lIns="0" tIns="0" rIns="0" bIns="0" rtlCol="0" anchor="ctr"/>
          <a:lstStyle/>
          <a:p>
            <a:pPr marL="0" indent="0">
              <a:buNone/>
            </a:pPr>
            <a:r>
              <a:rPr lang="en-US" sz="1400" dirty="0">
                <a:solidFill>
                  <a:srgbClr val="596273"/>
                </a:solidFill>
                <a:latin typeface="Calibri" pitchFamily="34" charset="0"/>
                <a:ea typeface="Calibri" pitchFamily="34" charset="-122"/>
                <a:cs typeface="Calibri" pitchFamily="34" charset="-120"/>
              </a:rPr>
              <a:t>agent accuracy (5 runs)</a:t>
            </a:r>
            <a:endParaRPr lang="en-US" sz="1400" dirty="0"/>
          </a:p>
        </p:txBody>
      </p:sp>
      <p:sp>
        <p:nvSpPr>
          <p:cNvPr id="13" name="Text 11"/>
          <p:cNvSpPr txBox="1"/>
          <p:nvPr/>
        </p:nvSpPr>
        <p:spPr>
          <a:xfrm>
            <a:off x="3331388" y="1298448"/>
            <a:ext cx="2581580" cy="512064"/>
          </a:xfrm>
          <a:prstGeom prst="rect">
            <a:avLst/>
          </a:prstGeom>
          <a:noFill/>
          <a:ln/>
        </p:spPr>
        <p:txBody>
          <a:bodyPr wrap="square" lIns="0" tIns="0" rIns="0" bIns="0" rtlCol="0" anchor="ctr"/>
          <a:lstStyle/>
          <a:p>
            <a:pPr marL="0" indent="0">
              <a:buNone/>
            </a:pPr>
            <a:r>
              <a:rPr lang="en-US" sz="3350" b="1" dirty="0">
                <a:solidFill>
                  <a:srgbClr val="8E6A1F"/>
                </a:solidFill>
                <a:latin typeface="Georgia" pitchFamily="34" charset="0"/>
                <a:ea typeface="Georgia" pitchFamily="34" charset="-122"/>
                <a:cs typeface="Georgia" pitchFamily="34" charset="-120"/>
              </a:rPr>
              <a:t>13.2%</a:t>
            </a:r>
            <a:endParaRPr lang="en-US" sz="3350" dirty="0"/>
          </a:p>
        </p:txBody>
      </p:sp>
      <p:sp>
        <p:nvSpPr>
          <p:cNvPr id="14" name="Text 12"/>
          <p:cNvSpPr txBox="1"/>
          <p:nvPr/>
        </p:nvSpPr>
        <p:spPr>
          <a:xfrm>
            <a:off x="3331388" y="1810512"/>
            <a:ext cx="2490140" cy="402336"/>
          </a:xfrm>
          <a:prstGeom prst="rect">
            <a:avLst/>
          </a:prstGeom>
          <a:noFill/>
          <a:ln/>
        </p:spPr>
        <p:txBody>
          <a:bodyPr wrap="square" lIns="0" tIns="0" rIns="0" bIns="0" rtlCol="0" anchor="ctr"/>
          <a:lstStyle/>
          <a:p>
            <a:pPr marL="0" indent="0">
              <a:buNone/>
            </a:pPr>
            <a:r>
              <a:rPr lang="en-US" sz="1400" dirty="0">
                <a:solidFill>
                  <a:srgbClr val="596273"/>
                </a:solidFill>
                <a:latin typeface="Calibri" pitchFamily="34" charset="0"/>
                <a:ea typeface="Calibri" pitchFamily="34" charset="-122"/>
                <a:cs typeface="Calibri" pitchFamily="34" charset="-120"/>
              </a:rPr>
              <a:t>step accuracy (5 runs)</a:t>
            </a:r>
            <a:endParaRPr lang="en-US" sz="1400" dirty="0"/>
          </a:p>
        </p:txBody>
      </p:sp>
      <p:sp>
        <p:nvSpPr>
          <p:cNvPr id="15" name="Text 13"/>
          <p:cNvSpPr txBox="1"/>
          <p:nvPr/>
        </p:nvSpPr>
        <p:spPr>
          <a:xfrm>
            <a:off x="6095848" y="1298448"/>
            <a:ext cx="2581580" cy="512064"/>
          </a:xfrm>
          <a:prstGeom prst="rect">
            <a:avLst/>
          </a:prstGeom>
          <a:noFill/>
          <a:ln/>
        </p:spPr>
        <p:txBody>
          <a:bodyPr wrap="square" lIns="0" tIns="0" rIns="0" bIns="0" rtlCol="0" anchor="ctr"/>
          <a:lstStyle/>
          <a:p>
            <a:pPr marL="0" indent="0">
              <a:buNone/>
            </a:pPr>
            <a:r>
              <a:rPr lang="en-US" sz="3350" b="1" dirty="0">
                <a:solidFill>
                  <a:srgbClr val="8E6A1F"/>
                </a:solidFill>
                <a:latin typeface="Georgia" pitchFamily="34" charset="0"/>
                <a:ea typeface="Georgia" pitchFamily="34" charset="-122"/>
                <a:cs typeface="Georgia" pitchFamily="34" charset="-120"/>
              </a:rPr>
              <a:t>4 / 6</a:t>
            </a:r>
            <a:endParaRPr lang="en-US" sz="3350" dirty="0"/>
          </a:p>
        </p:txBody>
      </p:sp>
      <p:sp>
        <p:nvSpPr>
          <p:cNvPr id="16" name="Text 14"/>
          <p:cNvSpPr txBox="1"/>
          <p:nvPr/>
        </p:nvSpPr>
        <p:spPr>
          <a:xfrm>
            <a:off x="6095848" y="1810512"/>
            <a:ext cx="2490140" cy="402336"/>
          </a:xfrm>
          <a:prstGeom prst="rect">
            <a:avLst/>
          </a:prstGeom>
          <a:noFill/>
          <a:ln/>
        </p:spPr>
        <p:txBody>
          <a:bodyPr wrap="square" lIns="0" tIns="0" rIns="0" bIns="0" rtlCol="0" anchor="ctr"/>
          <a:lstStyle/>
          <a:p>
            <a:pPr marL="0" indent="0">
              <a:buNone/>
            </a:pPr>
            <a:r>
              <a:rPr lang="en-US" sz="1400" dirty="0">
                <a:solidFill>
                  <a:srgbClr val="596273"/>
                </a:solidFill>
                <a:latin typeface="Calibri" pitchFamily="34" charset="0"/>
                <a:ea typeface="Calibri" pitchFamily="34" charset="-122"/>
                <a:cs typeface="Calibri" pitchFamily="34" charset="-120"/>
              </a:rPr>
              <a:t>Repair Agent success</a:t>
            </a:r>
            <a:endParaRPr lang="en-US" sz="1400" dirty="0"/>
          </a:p>
        </p:txBody>
      </p:sp>
      <p:sp>
        <p:nvSpPr>
          <p:cNvPr id="17" name="Text 15"/>
          <p:cNvSpPr txBox="1"/>
          <p:nvPr/>
        </p:nvSpPr>
        <p:spPr>
          <a:xfrm>
            <a:off x="8860307" y="1298448"/>
            <a:ext cx="2581580" cy="512064"/>
          </a:xfrm>
          <a:prstGeom prst="rect">
            <a:avLst/>
          </a:prstGeom>
          <a:noFill/>
          <a:ln/>
        </p:spPr>
        <p:txBody>
          <a:bodyPr wrap="square" lIns="0" tIns="0" rIns="0" bIns="0" rtlCol="0" anchor="ctr"/>
          <a:lstStyle/>
          <a:p>
            <a:pPr marL="0" indent="0">
              <a:buNone/>
            </a:pPr>
            <a:r>
              <a:rPr lang="en-US" sz="3350" b="1" dirty="0">
                <a:solidFill>
                  <a:srgbClr val="8E6A1F"/>
                </a:solidFill>
                <a:latin typeface="Georgia" pitchFamily="34" charset="0"/>
                <a:ea typeface="Georgia" pitchFamily="34" charset="-122"/>
                <a:cs typeface="Georgia" pitchFamily="34" charset="-120"/>
              </a:rPr>
              <a:t>8 / 8</a:t>
            </a:r>
            <a:endParaRPr lang="en-US" sz="3350" dirty="0"/>
          </a:p>
        </p:txBody>
      </p:sp>
      <p:sp>
        <p:nvSpPr>
          <p:cNvPr id="18" name="Text 16"/>
          <p:cNvSpPr txBox="1"/>
          <p:nvPr/>
        </p:nvSpPr>
        <p:spPr>
          <a:xfrm>
            <a:off x="8860307" y="1810512"/>
            <a:ext cx="2490140" cy="402336"/>
          </a:xfrm>
          <a:prstGeom prst="rect">
            <a:avLst/>
          </a:prstGeom>
          <a:noFill/>
          <a:ln/>
        </p:spPr>
        <p:txBody>
          <a:bodyPr wrap="square" lIns="0" tIns="0" rIns="0" bIns="0" rtlCol="0" anchor="ctr"/>
          <a:lstStyle/>
          <a:p>
            <a:pPr marL="0" indent="0">
              <a:buNone/>
            </a:pPr>
            <a:r>
              <a:rPr lang="en-US" sz="1400" dirty="0">
                <a:solidFill>
                  <a:srgbClr val="596273"/>
                </a:solidFill>
                <a:latin typeface="Calibri" pitchFamily="34" charset="0"/>
                <a:ea typeface="Calibri" pitchFamily="34" charset="-122"/>
                <a:cs typeface="Calibri" pitchFamily="34" charset="-120"/>
              </a:rPr>
              <a:t>spikes with real evidence</a:t>
            </a:r>
            <a:endParaRPr lang="en-US" sz="1400" dirty="0"/>
          </a:p>
        </p:txBody>
      </p:sp>
      <p:sp>
        <p:nvSpPr>
          <p:cNvPr id="19" name="Shape 17"/>
          <p:cNvSpPr/>
          <p:nvPr/>
        </p:nvSpPr>
        <p:spPr>
          <a:xfrm>
            <a:off x="566928" y="2249424"/>
            <a:ext cx="11057839" cy="0"/>
          </a:xfrm>
          <a:prstGeom prst="line">
            <a:avLst/>
          </a:prstGeom>
          <a:noFill/>
          <a:ln w="9525">
            <a:solidFill>
              <a:srgbClr val="D9DCE3"/>
            </a:solidFill>
            <a:prstDash val="solid"/>
          </a:ln>
        </p:spPr>
        <p:txBody>
          <a:bodyPr/>
          <a:lstStyle/>
          <a:p>
            <a:endParaRPr lang="en-PK"/>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11082528" cy="3221736"/>
        </p:xfrm>
        <a:graphic>
          <a:graphicData uri="http://schemas.openxmlformats.org/drawingml/2006/table">
            <a:tbl>
              <a:tblPr/>
              <a:tblGrid>
                <a:gridCol w="566928">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6720840">
                  <a:extLst>
                    <a:ext uri="{9D8B030D-6E8A-4147-A177-3AD203B41FA5}">
                      <a16:colId xmlns:a16="http://schemas.microsoft.com/office/drawing/2014/main" val="20003"/>
                    </a:ext>
                  </a:extLst>
                </a:gridCol>
              </a:tblGrid>
              <a:tr h="347472">
                <a:tc>
                  <a:txBody>
                    <a:bodyPr/>
                    <a:lstStyle/>
                    <a:p>
                      <a:pPr marL="0" indent="0" algn="ctr">
                        <a:buNone/>
                      </a:pPr>
                      <a:r>
                        <a:rPr lang="en-US" sz="1150" b="1" dirty="0">
                          <a:solidFill>
                            <a:srgbClr val="F5F6F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marL="0" indent="0" algn="l">
                        <a:buNone/>
                      </a:pPr>
                      <a:r>
                        <a:rPr lang="en-US" sz="1150" b="1" dirty="0">
                          <a:solidFill>
                            <a:srgbClr val="F5F6F8"/>
                          </a:solidFill>
                          <a:latin typeface="Calibri" pitchFamily="34" charset="0"/>
                          <a:ea typeface="Calibri" pitchFamily="34" charset="-122"/>
                          <a:cs typeface="Calibri" pitchFamily="34" charset="-120"/>
                        </a:rPr>
                        <a:t>Spike</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marL="0" indent="0" algn="l">
                        <a:buNone/>
                      </a:pPr>
                      <a:r>
                        <a:rPr lang="en-US" sz="1150" b="1" dirty="0">
                          <a:solidFill>
                            <a:srgbClr val="F5F6F8"/>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marL="0" indent="0" algn="l">
                        <a:buNone/>
                      </a:pPr>
                      <a:r>
                        <a:rPr lang="en-US" sz="1150" b="1" dirty="0">
                          <a:solidFill>
                            <a:srgbClr val="F5F6F8"/>
                          </a:solidFill>
                          <a:latin typeface="Calibri" pitchFamily="34" charset="0"/>
                          <a:ea typeface="Calibri" pitchFamily="34" charset="-122"/>
                          <a:cs typeface="Calibri" pitchFamily="34" charset="-120"/>
                        </a:rPr>
                        <a:t>Result</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extLst>
                  <a:ext uri="{0D108BD9-81ED-4DB2-BD59-A6C34878D82A}">
                    <a16:rowId xmlns:a16="http://schemas.microsoft.com/office/drawing/2014/main" val="10000"/>
                  </a:ext>
                </a:extLst>
              </a:tr>
              <a:tr h="347472">
                <a:tc>
                  <a:txBody>
                    <a:bodyPr/>
                    <a:lstStyle/>
                    <a:p>
                      <a:pPr marL="0" indent="0" algn="ctr">
                        <a:buNone/>
                      </a:pPr>
                      <a:r>
                        <a:rPr lang="en-US" sz="1150" dirty="0">
                          <a:solidFill>
                            <a:srgbClr val="1B20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marL="0" indent="0" algn="l">
                        <a:buNone/>
                      </a:pPr>
                      <a:r>
                        <a:rPr lang="en-US" sz="1150" dirty="0">
                          <a:solidFill>
                            <a:srgbClr val="1B202A"/>
                          </a:solidFill>
                          <a:latin typeface="Calibri" pitchFamily="34" charset="0"/>
                          <a:ea typeface="Calibri" pitchFamily="34" charset="-122"/>
                          <a:cs typeface="Calibri" pitchFamily="34" charset="-120"/>
                        </a:rPr>
                        <a:t>ErrorProbe reproduction (simplified)</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marL="0" indent="0" algn="l">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marL="0" indent="0" algn="l">
                        <a:buNone/>
                      </a:pPr>
                      <a:r>
                        <a:rPr lang="en-US" sz="1150" dirty="0">
                          <a:solidFill>
                            <a:srgbClr val="1B202A"/>
                          </a:solidFill>
                          <a:latin typeface="Calibri" pitchFamily="34" charset="0"/>
                          <a:ea typeface="Calibri" pitchFamily="34" charset="-122"/>
                          <a:cs typeface="Calibri" pitchFamily="34" charset="-120"/>
                        </a:rPr>
                        <a:t>agent 62.5–85.7%, step 0–25% — 5 real runs, a range</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extLst>
                  <a:ext uri="{0D108BD9-81ED-4DB2-BD59-A6C34878D82A}">
                    <a16:rowId xmlns:a16="http://schemas.microsoft.com/office/drawing/2014/main" val="10001"/>
                  </a:ext>
                </a:extLst>
              </a:tr>
              <a:tr h="347472">
                <a:tc>
                  <a:txBody>
                    <a:bodyPr/>
                    <a:lstStyle/>
                    <a:p>
                      <a:pPr marL="0" indent="0" algn="ctr">
                        <a:buNone/>
                      </a:pPr>
                      <a:r>
                        <a:rPr lang="en-US" sz="1150" dirty="0">
                          <a:solidFill>
                            <a:srgbClr val="1B202A"/>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l">
                        <a:buNone/>
                      </a:pPr>
                      <a:r>
                        <a:rPr lang="en-US" sz="1150" dirty="0">
                          <a:solidFill>
                            <a:srgbClr val="1B202A"/>
                          </a:solidFill>
                          <a:latin typeface="Calibri" pitchFamily="34" charset="0"/>
                          <a:ea typeface="Calibri" pitchFamily="34" charset="-122"/>
                          <a:cs typeface="Calibri" pitchFamily="34" charset="-120"/>
                        </a:rPr>
                        <a:t>CrewAI instrumentation</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l">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l">
                        <a:buNone/>
                      </a:pPr>
                      <a:r>
                        <a:rPr lang="en-US" sz="1150" dirty="0">
                          <a:solidFill>
                            <a:srgbClr val="1B202A"/>
                          </a:solidFill>
                          <a:latin typeface="Calibri" pitchFamily="34" charset="0"/>
                          <a:ea typeface="Calibri" pitchFamily="34" charset="-122"/>
                          <a:cs typeface="Calibri" pitchFamily="34" charset="-120"/>
                        </a:rPr>
                        <a:t>3 nodes, 2 clean edges</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extLst>
                  <a:ext uri="{0D108BD9-81ED-4DB2-BD59-A6C34878D82A}">
                    <a16:rowId xmlns:a16="http://schemas.microsoft.com/office/drawing/2014/main" val="10002"/>
                  </a:ext>
                </a:extLst>
              </a:tr>
              <a:tr h="347472">
                <a:tc>
                  <a:txBody>
                    <a:bodyPr/>
                    <a:lstStyle/>
                    <a:p>
                      <a:pPr marL="0" indent="0" algn="ctr">
                        <a:buNone/>
                      </a:pPr>
                      <a:r>
                        <a:rPr lang="en-US" sz="1150" dirty="0">
                          <a:solidFill>
                            <a:srgbClr val="1B202A"/>
                          </a:solidFill>
                          <a:latin typeface="Calibri" pitchFamily="34" charset="0"/>
                          <a:ea typeface="Calibri" pitchFamily="34" charset="-122"/>
                          <a:cs typeface="Calibri" pitchFamily="34" charset="-120"/>
                        </a:rPr>
                        <a:t>3/3b</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marL="0" indent="0" algn="l">
                        <a:buNone/>
                      </a:pPr>
                      <a:r>
                        <a:rPr lang="en-US" sz="1150" dirty="0">
                          <a:solidFill>
                            <a:srgbClr val="1B202A"/>
                          </a:solidFill>
                          <a:latin typeface="Calibri" pitchFamily="34" charset="0"/>
                          <a:ea typeface="Calibri" pitchFamily="34" charset="-122"/>
                          <a:cs typeface="Calibri" pitchFamily="34" charset="-120"/>
                        </a:rPr>
                        <a:t>Fault injection</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marL="0" indent="0" algn="l">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marL="0" indent="0" algn="l">
                        <a:buNone/>
                      </a:pPr>
                      <a:r>
                        <a:rPr lang="en-US" sz="1150" dirty="0">
                          <a:solidFill>
                            <a:srgbClr val="1B202A"/>
                          </a:solidFill>
                          <a:latin typeface="Calibri" pitchFamily="34" charset="0"/>
                          <a:ea typeface="Calibri" pitchFamily="34" charset="-122"/>
                          <a:cs typeface="Calibri" pitchFamily="34" charset="-120"/>
                        </a:rPr>
                        <a:t>1 case self-corrected — kept as a finding</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extLst>
                  <a:ext uri="{0D108BD9-81ED-4DB2-BD59-A6C34878D82A}">
                    <a16:rowId xmlns:a16="http://schemas.microsoft.com/office/drawing/2014/main" val="10003"/>
                  </a:ext>
                </a:extLst>
              </a:tr>
              <a:tr h="347472">
                <a:tc>
                  <a:txBody>
                    <a:bodyPr/>
                    <a:lstStyle/>
                    <a:p>
                      <a:pPr marL="0" indent="0" algn="ctr">
                        <a:buNone/>
                      </a:pPr>
                      <a:r>
                        <a:rPr lang="en-US" sz="1150" dirty="0">
                          <a:solidFill>
                            <a:srgbClr val="1B202A"/>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l">
                        <a:buNone/>
                      </a:pPr>
                      <a:r>
                        <a:rPr lang="en-US" sz="1150" dirty="0">
                          <a:solidFill>
                            <a:srgbClr val="1B202A"/>
                          </a:solidFill>
                          <a:latin typeface="Calibri" pitchFamily="34" charset="0"/>
                          <a:ea typeface="Calibri" pitchFamily="34" charset="-122"/>
                          <a:cs typeface="Calibri" pitchFamily="34" charset="-120"/>
                        </a:rPr>
                        <a:t>Semantic Error Diagnostic</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l">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l">
                        <a:buNone/>
                      </a:pPr>
                      <a:r>
                        <a:rPr lang="en-US" sz="1150" dirty="0">
                          <a:solidFill>
                            <a:srgbClr val="1B202A"/>
                          </a:solidFill>
                          <a:latin typeface="Calibri" pitchFamily="34" charset="0"/>
                          <a:ea typeface="Calibri" pitchFamily="34" charset="-122"/>
                          <a:cs typeface="Calibri" pitchFamily="34" charset="-120"/>
                        </a:rPr>
                        <a:t>Catches a near-miss ($20.00 vs $19.75), zero false positives</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extLst>
                  <a:ext uri="{0D108BD9-81ED-4DB2-BD59-A6C34878D82A}">
                    <a16:rowId xmlns:a16="http://schemas.microsoft.com/office/drawing/2014/main" val="10004"/>
                  </a:ext>
                </a:extLst>
              </a:tr>
              <a:tr h="347472">
                <a:tc>
                  <a:txBody>
                    <a:bodyPr/>
                    <a:lstStyle/>
                    <a:p>
                      <a:pPr marL="0" indent="0" algn="ctr">
                        <a:buNone/>
                      </a:pPr>
                      <a:r>
                        <a:rPr lang="en-US" sz="1150" dirty="0">
                          <a:solidFill>
                            <a:srgbClr val="1B202A"/>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marL="0" indent="0" algn="l">
                        <a:buNone/>
                      </a:pPr>
                      <a:r>
                        <a:rPr lang="en-US" sz="1150" dirty="0">
                          <a:solidFill>
                            <a:srgbClr val="1B202A"/>
                          </a:solidFill>
                          <a:latin typeface="Calibri" pitchFamily="34" charset="0"/>
                          <a:ea typeface="Calibri" pitchFamily="34" charset="-122"/>
                          <a:cs typeface="Calibri" pitchFamily="34" charset="-120"/>
                        </a:rPr>
                        <a:t>Controlled counterfactual replay</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marL="0" indent="0" algn="l">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marL="0" indent="0" algn="l">
                        <a:buNone/>
                      </a:pPr>
                      <a:r>
                        <a:rPr lang="en-US" sz="1150" dirty="0">
                          <a:solidFill>
                            <a:srgbClr val="1B202A"/>
                          </a:solidFill>
                          <a:latin typeface="Calibri" pitchFamily="34" charset="0"/>
                          <a:ea typeface="Calibri" pitchFamily="34" charset="-122"/>
                          <a:cs typeface="Calibri" pitchFamily="34" charset="-120"/>
                        </a:rPr>
                        <a:t>97.2 corrupted → 108.0 recovered, recovery_success = true</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extLst>
                  <a:ext uri="{0D108BD9-81ED-4DB2-BD59-A6C34878D82A}">
                    <a16:rowId xmlns:a16="http://schemas.microsoft.com/office/drawing/2014/main" val="10005"/>
                  </a:ext>
                </a:extLst>
              </a:tr>
              <a:tr h="347472">
                <a:tc>
                  <a:txBody>
                    <a:bodyPr/>
                    <a:lstStyle/>
                    <a:p>
                      <a:pPr marL="0" indent="0" algn="ctr">
                        <a:buNone/>
                      </a:pPr>
                      <a:r>
                        <a:rPr lang="en-US" sz="1150" dirty="0">
                          <a:solidFill>
                            <a:srgbClr val="1B202A"/>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l">
                        <a:buNone/>
                      </a:pPr>
                      <a:r>
                        <a:rPr lang="en-US" sz="1150" dirty="0">
                          <a:solidFill>
                            <a:srgbClr val="1B202A"/>
                          </a:solidFill>
                          <a:latin typeface="Calibri" pitchFamily="34" charset="0"/>
                          <a:ea typeface="Calibri" pitchFamily="34" charset="-122"/>
                          <a:cs typeface="Calibri" pitchFamily="34" charset="-120"/>
                        </a:rPr>
                        <a:t>Cyclic graph handling</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l">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l">
                        <a:buNone/>
                      </a:pPr>
                      <a:r>
                        <a:rPr lang="en-US" sz="1150" dirty="0">
                          <a:solidFill>
                            <a:srgbClr val="1B202A"/>
                          </a:solidFill>
                          <a:latin typeface="Calibri" pitchFamily="34" charset="0"/>
                          <a:ea typeface="Calibri" pitchFamily="34" charset="-122"/>
                          <a:cs typeface="Calibri" pitchFamily="34" charset="-120"/>
                        </a:rPr>
                        <a:t>Disabled → hits the 10,000-step safety cap</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extLst>
                  <a:ext uri="{0D108BD9-81ED-4DB2-BD59-A6C34878D82A}">
                    <a16:rowId xmlns:a16="http://schemas.microsoft.com/office/drawing/2014/main" val="10006"/>
                  </a:ext>
                </a:extLst>
              </a:tr>
              <a:tr h="347472">
                <a:tc>
                  <a:txBody>
                    <a:bodyPr/>
                    <a:lstStyle/>
                    <a:p>
                      <a:pPr marL="0" indent="0" algn="ctr">
                        <a:buNone/>
                      </a:pPr>
                      <a:r>
                        <a:rPr lang="en-US" sz="1150" dirty="0">
                          <a:solidFill>
                            <a:srgbClr val="1B20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marL="0" indent="0" algn="l">
                        <a:buNone/>
                      </a:pPr>
                      <a:r>
                        <a:rPr lang="en-US" sz="1150" dirty="0">
                          <a:solidFill>
                            <a:srgbClr val="1B202A"/>
                          </a:solidFill>
                          <a:latin typeface="Calibri" pitchFamily="34" charset="0"/>
                          <a:ea typeface="Calibri" pitchFamily="34" charset="-122"/>
                          <a:cs typeface="Calibri" pitchFamily="34" charset="-120"/>
                        </a:rPr>
                        <a:t>Preventive classifier</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marL="0" indent="0" algn="l">
                        <a:buNone/>
                      </a:pPr>
                      <a:r>
                        <a:rPr lang="en-US" sz="1150" b="1" dirty="0">
                          <a:solidFill>
                            <a:srgbClr val="A8760F"/>
                          </a:solidFill>
                          <a:latin typeface="Calibri" pitchFamily="34" charset="0"/>
                          <a:ea typeface="Calibri" pitchFamily="34" charset="-122"/>
                          <a:cs typeface="Calibri" pitchFamily="34" charset="-120"/>
                        </a:rPr>
                        <a:t>HONEST NEGATIVE</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marL="0" indent="0" algn="l">
                        <a:buNone/>
                      </a:pPr>
                      <a:r>
                        <a:rPr lang="en-US" sz="1150" dirty="0">
                          <a:solidFill>
                            <a:srgbClr val="1B202A"/>
                          </a:solidFill>
                          <a:latin typeface="Calibri" pitchFamily="34" charset="0"/>
                          <a:ea typeface="Calibri" pitchFamily="34" charset="-122"/>
                          <a:cs typeface="Calibri" pitchFamily="34" charset="-120"/>
                        </a:rPr>
                        <a:t>precision / recall / F1 = 0.25, near-random — reported, not hidden</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extLst>
                  <a:ext uri="{0D108BD9-81ED-4DB2-BD59-A6C34878D82A}">
                    <a16:rowId xmlns:a16="http://schemas.microsoft.com/office/drawing/2014/main" val="10007"/>
                  </a:ext>
                </a:extLst>
              </a:tr>
              <a:tr h="347472">
                <a:tc>
                  <a:txBody>
                    <a:bodyPr/>
                    <a:lstStyle/>
                    <a:p>
                      <a:pPr marL="0" indent="0" algn="ctr">
                        <a:buNone/>
                      </a:pPr>
                      <a:r>
                        <a:rPr lang="en-US" sz="1150" dirty="0">
                          <a:solidFill>
                            <a:srgbClr val="1B202A"/>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l">
                        <a:buNone/>
                      </a:pPr>
                      <a:r>
                        <a:rPr lang="en-US" sz="1150" dirty="0">
                          <a:solidFill>
                            <a:srgbClr val="1B202A"/>
                          </a:solidFill>
                          <a:latin typeface="Calibri" pitchFamily="34" charset="0"/>
                          <a:ea typeface="Calibri" pitchFamily="34" charset="-122"/>
                          <a:cs typeface="Calibri" pitchFamily="34" charset="-120"/>
                        </a:rPr>
                        <a:t>Repair Agent</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l">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marL="0" indent="0" algn="l">
                        <a:buNone/>
                      </a:pPr>
                      <a:r>
                        <a:rPr lang="en-US" sz="1150" dirty="0">
                          <a:solidFill>
                            <a:srgbClr val="1B202A"/>
                          </a:solidFill>
                          <a:latin typeface="Calibri" pitchFamily="34" charset="0"/>
                          <a:ea typeface="Calibri" pitchFamily="34" charset="-122"/>
                          <a:cs typeface="Calibri" pitchFamily="34" charset="-120"/>
                        </a:rPr>
                        <a:t>4/6 success; both failures share one fixable cause</a:t>
                      </a:r>
                      <a:endParaRPr lang="en-US" sz="1150" dirty="0">
                        <a:latin typeface="Calibri" charset="0"/>
                        <a:ea typeface="Calibri" charset="0"/>
                        <a:cs typeface="Calibri" charset="0"/>
                      </a:endParaRPr>
                    </a:p>
                  </a:txBody>
                  <a:tcPr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extLst>
                  <a:ext uri="{0D108BD9-81ED-4DB2-BD59-A6C34878D82A}">
                    <a16:rowId xmlns:a16="http://schemas.microsoft.com/office/drawing/2014/main" val="10008"/>
                  </a:ext>
                </a:extLst>
              </a:tr>
            </a:tbl>
          </a:graphicData>
        </a:graphic>
      </p:graphicFrame>
      <p:sp>
        <p:nvSpPr>
          <p:cNvPr id="21" name="Shape 18"/>
          <p:cNvSpPr/>
          <p:nvPr/>
        </p:nvSpPr>
        <p:spPr>
          <a:xfrm>
            <a:off x="587045" y="5640019"/>
            <a:ext cx="2194560" cy="786384"/>
          </a:xfrm>
          <a:prstGeom prst="roundRect">
            <a:avLst>
              <a:gd name="adj" fmla="val 6977"/>
            </a:avLst>
          </a:prstGeom>
          <a:solidFill>
            <a:srgbClr val="E4E6EB"/>
          </a:solidFill>
          <a:ln/>
        </p:spPr>
        <p:txBody>
          <a:bodyPr/>
          <a:lstStyle/>
          <a:p>
            <a:endParaRPr lang="en-PK"/>
          </a:p>
        </p:txBody>
      </p:sp>
      <p:sp>
        <p:nvSpPr>
          <p:cNvPr id="22" name="Shape 19"/>
          <p:cNvSpPr/>
          <p:nvPr/>
        </p:nvSpPr>
        <p:spPr>
          <a:xfrm>
            <a:off x="566928" y="5614416"/>
            <a:ext cx="2194560" cy="786384"/>
          </a:xfrm>
          <a:prstGeom prst="roundRect">
            <a:avLst>
              <a:gd name="adj" fmla="val 6977"/>
            </a:avLst>
          </a:prstGeom>
          <a:solidFill>
            <a:srgbClr val="F1F2F5"/>
          </a:solidFill>
          <a:ln w="9525">
            <a:solidFill>
              <a:srgbClr val="D9DCE3"/>
            </a:solidFill>
            <a:prstDash val="solid"/>
          </a:ln>
        </p:spPr>
        <p:txBody>
          <a:bodyPr/>
          <a:lstStyle/>
          <a:p>
            <a:endParaRPr lang="en-PK"/>
          </a:p>
        </p:txBody>
      </p:sp>
      <p:sp>
        <p:nvSpPr>
          <p:cNvPr id="23" name="Shape 20"/>
          <p:cNvSpPr/>
          <p:nvPr/>
        </p:nvSpPr>
        <p:spPr>
          <a:xfrm>
            <a:off x="566928" y="5669280"/>
            <a:ext cx="41148" cy="676656"/>
          </a:xfrm>
          <a:prstGeom prst="rect">
            <a:avLst/>
          </a:prstGeom>
          <a:solidFill>
            <a:srgbClr val="C89B3C"/>
          </a:solidFill>
          <a:ln/>
        </p:spPr>
        <p:txBody>
          <a:bodyPr/>
          <a:lstStyle/>
          <a:p>
            <a:endParaRPr lang="en-PK"/>
          </a:p>
        </p:txBody>
      </p:sp>
      <p:sp>
        <p:nvSpPr>
          <p:cNvPr id="24" name="Text 21"/>
          <p:cNvSpPr txBox="1"/>
          <p:nvPr/>
        </p:nvSpPr>
        <p:spPr>
          <a:xfrm>
            <a:off x="658368" y="5660136"/>
            <a:ext cx="2011680" cy="164592"/>
          </a:xfrm>
          <a:prstGeom prst="rect">
            <a:avLst/>
          </a:prstGeom>
          <a:noFill/>
          <a:ln/>
        </p:spPr>
        <p:txBody>
          <a:bodyPr wrap="square" lIns="0" tIns="0" rIns="0" bIns="0" rtlCol="0" anchor="ctr"/>
          <a:lstStyle/>
          <a:p>
            <a:pPr marL="0" indent="0">
              <a:buNone/>
            </a:pPr>
            <a:r>
              <a:rPr lang="en-US" sz="730" b="1" kern="0" spc="40" dirty="0">
                <a:solidFill>
                  <a:srgbClr val="8E6A1F"/>
                </a:solidFill>
                <a:latin typeface="Consolas" pitchFamily="34" charset="0"/>
                <a:ea typeface="Consolas" pitchFamily="34" charset="-122"/>
                <a:cs typeface="Consolas" pitchFamily="34" charset="-120"/>
              </a:rPr>
              <a:t>LIVE, CLICKABLE PROTOTYPE</a:t>
            </a:r>
            <a:endParaRPr lang="en-US" sz="730" dirty="0"/>
          </a:p>
        </p:txBody>
      </p:sp>
      <p:pic>
        <p:nvPicPr>
          <p:cNvPr id="25" name="Image 0" descr="assets_console_thumb.png"/>
          <p:cNvPicPr>
            <a:picLocks noChangeAspect="1"/>
          </p:cNvPicPr>
          <p:nvPr/>
        </p:nvPicPr>
        <p:blipFill>
          <a:blip r:embed="rId3"/>
          <a:stretch>
            <a:fillRect/>
          </a:stretch>
        </p:blipFill>
        <p:spPr>
          <a:xfrm>
            <a:off x="658368" y="5833872"/>
            <a:ext cx="2011680" cy="546027"/>
          </a:xfrm>
          <a:prstGeom prst="rect">
            <a:avLst/>
          </a:prstGeom>
        </p:spPr>
      </p:pic>
      <p:sp>
        <p:nvSpPr>
          <p:cNvPr id="26" name="Shape 22"/>
          <p:cNvSpPr/>
          <p:nvPr/>
        </p:nvSpPr>
        <p:spPr>
          <a:xfrm>
            <a:off x="2873045" y="5640019"/>
            <a:ext cx="8771839" cy="786384"/>
          </a:xfrm>
          <a:prstGeom prst="roundRect">
            <a:avLst>
              <a:gd name="adj" fmla="val 6977"/>
            </a:avLst>
          </a:prstGeom>
          <a:solidFill>
            <a:srgbClr val="E4E6EB"/>
          </a:solidFill>
          <a:ln/>
        </p:spPr>
        <p:txBody>
          <a:bodyPr/>
          <a:lstStyle/>
          <a:p>
            <a:endParaRPr lang="en-PK"/>
          </a:p>
        </p:txBody>
      </p:sp>
      <p:sp>
        <p:nvSpPr>
          <p:cNvPr id="27" name="Shape 23"/>
          <p:cNvSpPr/>
          <p:nvPr/>
        </p:nvSpPr>
        <p:spPr>
          <a:xfrm>
            <a:off x="2852928" y="5614416"/>
            <a:ext cx="8771839" cy="786384"/>
          </a:xfrm>
          <a:prstGeom prst="roundRect">
            <a:avLst>
              <a:gd name="adj" fmla="val 6977"/>
            </a:avLst>
          </a:prstGeom>
          <a:solidFill>
            <a:srgbClr val="F7EFDC"/>
          </a:solidFill>
          <a:ln w="9525">
            <a:solidFill>
              <a:srgbClr val="D9DCE3"/>
            </a:solidFill>
            <a:prstDash val="solid"/>
          </a:ln>
        </p:spPr>
        <p:txBody>
          <a:bodyPr/>
          <a:lstStyle/>
          <a:p>
            <a:endParaRPr lang="en-PK"/>
          </a:p>
        </p:txBody>
      </p:sp>
      <p:sp>
        <p:nvSpPr>
          <p:cNvPr id="28" name="Shape 24"/>
          <p:cNvSpPr/>
          <p:nvPr/>
        </p:nvSpPr>
        <p:spPr>
          <a:xfrm>
            <a:off x="2852928" y="5669280"/>
            <a:ext cx="41148" cy="676656"/>
          </a:xfrm>
          <a:prstGeom prst="rect">
            <a:avLst/>
          </a:prstGeom>
          <a:solidFill>
            <a:srgbClr val="A8760F"/>
          </a:solidFill>
          <a:ln/>
        </p:spPr>
        <p:txBody>
          <a:bodyPr/>
          <a:lstStyle/>
          <a:p>
            <a:endParaRPr lang="en-PK"/>
          </a:p>
        </p:txBody>
      </p:sp>
      <p:sp>
        <p:nvSpPr>
          <p:cNvPr id="29" name="Text 25"/>
          <p:cNvSpPr txBox="1"/>
          <p:nvPr/>
        </p:nvSpPr>
        <p:spPr>
          <a:xfrm>
            <a:off x="3035808" y="5614416"/>
            <a:ext cx="8406079" cy="786384"/>
          </a:xfrm>
          <a:prstGeom prst="rect">
            <a:avLst/>
          </a:prstGeom>
          <a:noFill/>
          <a:ln/>
        </p:spPr>
        <p:txBody>
          <a:bodyPr wrap="square" lIns="0" tIns="0" rIns="0" bIns="0" rtlCol="0" anchor="ctr"/>
          <a:lstStyle/>
          <a:p>
            <a:pPr marL="0" indent="0">
              <a:buNone/>
            </a:pPr>
            <a:r>
              <a:rPr lang="en-US" sz="1200" b="1" dirty="0">
                <a:solidFill>
                  <a:srgbClr val="A8760F"/>
                </a:solidFill>
                <a:latin typeface="Calibri" pitchFamily="34" charset="0"/>
                <a:ea typeface="Calibri" pitchFamily="34" charset="-122"/>
                <a:cs typeface="Calibri" pitchFamily="34" charset="-120"/>
              </a:rPr>
              <a:t>In progress: </a:t>
            </a:r>
            <a:r>
              <a:rPr lang="en-US" sz="1200" dirty="0">
                <a:solidFill>
                  <a:srgbClr val="1B202A"/>
                </a:solidFill>
                <a:latin typeface="Calibri" pitchFamily="34" charset="0"/>
                <a:ea typeface="Calibri" pitchFamily="34" charset="-122"/>
                <a:cs typeface="Calibri" pitchFamily="34" charset="-120"/>
              </a:rPr>
              <a:t>full reproduction.     </a:t>
            </a:r>
            <a:r>
              <a:rPr lang="en-US" sz="1200" b="1" dirty="0">
                <a:solidFill>
                  <a:srgbClr val="A8760F"/>
                </a:solidFill>
                <a:latin typeface="Calibri" pitchFamily="34" charset="0"/>
                <a:ea typeface="Calibri" pitchFamily="34" charset="-122"/>
                <a:cs typeface="Calibri" pitchFamily="34" charset="-120"/>
              </a:rPr>
              <a:t>Planned: </a:t>
            </a:r>
            <a:r>
              <a:rPr lang="en-US" sz="1200" dirty="0">
                <a:solidFill>
                  <a:srgbClr val="1B202A"/>
                </a:solidFill>
                <a:latin typeface="Calibri" pitchFamily="34" charset="0"/>
                <a:ea typeface="Calibri" pitchFamily="34" charset="-122"/>
                <a:cs typeface="Calibri" pitchFamily="34" charset="-120"/>
              </a:rPr>
              <a:t>RC + VRM gates (Mid-1).     </a:t>
            </a:r>
            <a:r>
              <a:rPr lang="en-US" sz="1200" b="1" dirty="0">
                <a:solidFill>
                  <a:srgbClr val="A8760F"/>
                </a:solidFill>
                <a:latin typeface="Calibri" pitchFamily="34" charset="0"/>
                <a:ea typeface="Calibri" pitchFamily="34" charset="-122"/>
                <a:cs typeface="Calibri" pitchFamily="34" charset="-120"/>
              </a:rPr>
              <a:t>Prototype: </a:t>
            </a:r>
            <a:r>
              <a:rPr lang="en-US" sz="1200" dirty="0">
                <a:solidFill>
                  <a:srgbClr val="1B202A"/>
                </a:solidFill>
                <a:latin typeface="Calibri" pitchFamily="34" charset="0"/>
                <a:ea typeface="Calibri" pitchFamily="34" charset="-122"/>
                <a:cs typeface="Calibri" pitchFamily="34" charset="-120"/>
              </a:rPr>
              <a:t>5 screens, mocked backend, dist-static/index.html.</a:t>
            </a:r>
            <a:endParaRPr lang="en-US" sz="12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C"/>
        </a:solidFill>
        <a:effectLst/>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txBody>
          <a:bodyPr/>
          <a:lstStyle/>
          <a:p>
            <a:endParaRPr lang="en-PK"/>
          </a:p>
        </p:txBody>
      </p:sp>
      <p:sp>
        <p:nvSpPr>
          <p:cNvPr id="3" name="Shape 1"/>
          <p:cNvSpPr/>
          <p:nvPr/>
        </p:nvSpPr>
        <p:spPr>
          <a:xfrm rot="2700000">
            <a:off x="10618927" y="5285232"/>
            <a:ext cx="1005840" cy="1005840"/>
          </a:xfrm>
          <a:prstGeom prst="rect">
            <a:avLst/>
          </a:prstGeom>
          <a:ln w="12700">
            <a:solidFill>
              <a:srgbClr val="F4F5F7"/>
            </a:solidFill>
            <a:prstDash val="solid"/>
          </a:ln>
        </p:spPr>
        <p:txBody>
          <a:bodyPr/>
          <a:lstStyle/>
          <a:p>
            <a:endParaRPr lang="en-PK"/>
          </a:p>
        </p:txBody>
      </p:sp>
      <p:sp>
        <p:nvSpPr>
          <p:cNvPr id="4" name="Shape 2"/>
          <p:cNvSpPr/>
          <p:nvPr/>
        </p:nvSpPr>
        <p:spPr>
          <a:xfrm rot="2700000">
            <a:off x="10856671" y="5522976"/>
            <a:ext cx="530352" cy="530352"/>
          </a:xfrm>
          <a:prstGeom prst="rect">
            <a:avLst/>
          </a:prstGeom>
          <a:ln w="12700">
            <a:solidFill>
              <a:srgbClr val="F7F4ED"/>
            </a:solidFill>
            <a:prstDash val="solid"/>
          </a:ln>
        </p:spPr>
        <p:txBody>
          <a:bodyPr/>
          <a:lstStyle/>
          <a:p>
            <a:endParaRPr lang="en-PK"/>
          </a:p>
        </p:txBody>
      </p:sp>
      <p:sp>
        <p:nvSpPr>
          <p:cNvPr id="5" name="Text 3"/>
          <p:cNvSpPr txBox="1"/>
          <p:nvPr/>
        </p:nvSpPr>
        <p:spPr>
          <a:xfrm>
            <a:off x="566928" y="292608"/>
            <a:ext cx="11057839" cy="256032"/>
          </a:xfrm>
          <a:prstGeom prst="rect">
            <a:avLst/>
          </a:prstGeom>
          <a:noFill/>
          <a:ln/>
        </p:spPr>
        <p:txBody>
          <a:bodyPr wrap="square" lIns="0" tIns="0" rIns="0" bIns="0" rtlCol="0" anchor="ctr"/>
          <a:lstStyle/>
          <a:p>
            <a:pPr marL="0" indent="0">
              <a:buNone/>
            </a:pPr>
            <a:r>
              <a:rPr lang="en-US" sz="1350" b="1" kern="0" spc="160" dirty="0">
                <a:solidFill>
                  <a:srgbClr val="8E6A1F"/>
                </a:solidFill>
                <a:latin typeface="Consolas" pitchFamily="34" charset="0"/>
                <a:ea typeface="Consolas" pitchFamily="34" charset="-122"/>
                <a:cs typeface="Consolas" pitchFamily="34" charset="-120"/>
              </a:rPr>
              <a:t>THRESHOLDS AND FALLBACKS DECIDED BEFORE ANY RESULT EXISTS</a:t>
            </a:r>
            <a:endParaRPr lang="en-US" sz="13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marL="0" indent="0">
              <a:buNone/>
            </a:pPr>
            <a:r>
              <a:rPr lang="en-US" sz="2950" b="1" dirty="0">
                <a:solidFill>
                  <a:srgbClr val="1B202A"/>
                </a:solidFill>
                <a:latin typeface="Georgia" pitchFamily="34" charset="0"/>
                <a:ea typeface="Georgia" pitchFamily="34" charset="-122"/>
                <a:cs typeface="Georgia" pitchFamily="34" charset="-120"/>
              </a:rPr>
              <a:t>Evaluation Plan &amp; Risks</a:t>
            </a:r>
            <a:endParaRPr lang="en-US" sz="2950" dirty="0"/>
          </a:p>
        </p:txBody>
      </p:sp>
      <p:sp>
        <p:nvSpPr>
          <p:cNvPr id="7" name="Shape 5"/>
          <p:cNvSpPr/>
          <p:nvPr/>
        </p:nvSpPr>
        <p:spPr>
          <a:xfrm>
            <a:off x="566928" y="1188720"/>
            <a:ext cx="566928" cy="36576"/>
          </a:xfrm>
          <a:prstGeom prst="rect">
            <a:avLst/>
          </a:prstGeom>
          <a:solidFill>
            <a:srgbClr val="C89B3C"/>
          </a:solidFill>
          <a:ln/>
        </p:spPr>
        <p:txBody>
          <a:bodyPr/>
          <a:lstStyle/>
          <a:p>
            <a:endParaRPr lang="en-PK"/>
          </a:p>
        </p:txBody>
      </p:sp>
      <p:sp>
        <p:nvSpPr>
          <p:cNvPr id="8" name="Shape 6"/>
          <p:cNvSpPr/>
          <p:nvPr/>
        </p:nvSpPr>
        <p:spPr>
          <a:xfrm>
            <a:off x="566928" y="6437376"/>
            <a:ext cx="11057839" cy="0"/>
          </a:xfrm>
          <a:prstGeom prst="line">
            <a:avLst/>
          </a:prstGeom>
          <a:noFill/>
          <a:ln w="9525">
            <a:solidFill>
              <a:srgbClr val="D9DCE3"/>
            </a:solidFill>
            <a:prstDash val="solid"/>
          </a:ln>
        </p:spPr>
        <p:txBody>
          <a:bodyPr/>
          <a:lstStyle/>
          <a:p>
            <a:endParaRPr lang="en-PK"/>
          </a:p>
        </p:txBody>
      </p:sp>
      <p:sp>
        <p:nvSpPr>
          <p:cNvPr id="9" name="Text 7"/>
          <p:cNvSpPr txBox="1"/>
          <p:nvPr/>
        </p:nvSpPr>
        <p:spPr>
          <a:xfrm>
            <a:off x="566928" y="6510528"/>
            <a:ext cx="5943600" cy="237744"/>
          </a:xfrm>
          <a:prstGeom prst="rect">
            <a:avLst/>
          </a:prstGeom>
          <a:noFill/>
          <a:ln/>
        </p:spPr>
        <p:txBody>
          <a:bodyPr wrap="square" lIns="0" tIns="0" rIns="0" bIns="0" rtlCol="0" anchor="ctr"/>
          <a:lstStyle/>
          <a:p>
            <a:pPr marL="0" indent="0">
              <a:buNone/>
            </a:pPr>
            <a:r>
              <a:rPr lang="en-US" sz="1050" kern="0" spc="7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10" name="Text 8"/>
          <p:cNvSpPr txBox="1"/>
          <p:nvPr/>
        </p:nvSpPr>
        <p:spPr>
          <a:xfrm>
            <a:off x="10527487" y="6510528"/>
            <a:ext cx="1097280" cy="237744"/>
          </a:xfrm>
          <a:prstGeom prst="rect">
            <a:avLst/>
          </a:prstGeom>
          <a:noFill/>
          <a:ln/>
        </p:spPr>
        <p:txBody>
          <a:bodyPr wrap="square" lIns="0" tIns="0" rIns="0" bIns="0" rtlCol="0" anchor="ctr"/>
          <a:lstStyle/>
          <a:p>
            <a:pPr marL="0" indent="0" algn="r">
              <a:buNone/>
            </a:pPr>
            <a:r>
              <a:rPr lang="en-US" sz="1050" b="1" dirty="0">
                <a:solidFill>
                  <a:srgbClr val="8E6A1F"/>
                </a:solidFill>
                <a:latin typeface="Consolas" pitchFamily="34" charset="0"/>
                <a:ea typeface="Consolas" pitchFamily="34" charset="-122"/>
                <a:cs typeface="Consolas" pitchFamily="34" charset="-120"/>
              </a:rPr>
              <a:t>8 / 10</a:t>
            </a:r>
            <a:endParaRPr lang="en-US" sz="1050" dirty="0"/>
          </a:p>
        </p:txBody>
      </p:sp>
      <p:sp>
        <p:nvSpPr>
          <p:cNvPr id="11" name="Shape 9"/>
          <p:cNvSpPr/>
          <p:nvPr/>
        </p:nvSpPr>
        <p:spPr>
          <a:xfrm>
            <a:off x="587045" y="1342339"/>
            <a:ext cx="11057839" cy="621792"/>
          </a:xfrm>
          <a:prstGeom prst="roundRect">
            <a:avLst>
              <a:gd name="adj" fmla="val 8824"/>
            </a:avLst>
          </a:prstGeom>
          <a:solidFill>
            <a:srgbClr val="E4E6EB"/>
          </a:solidFill>
          <a:ln/>
        </p:spPr>
        <p:txBody>
          <a:bodyPr/>
          <a:lstStyle/>
          <a:p>
            <a:endParaRPr lang="en-PK"/>
          </a:p>
        </p:txBody>
      </p:sp>
      <p:sp>
        <p:nvSpPr>
          <p:cNvPr id="12" name="Shape 10"/>
          <p:cNvSpPr/>
          <p:nvPr/>
        </p:nvSpPr>
        <p:spPr>
          <a:xfrm>
            <a:off x="566928" y="1316736"/>
            <a:ext cx="11057839" cy="621792"/>
          </a:xfrm>
          <a:prstGeom prst="roundRect">
            <a:avLst>
              <a:gd name="adj" fmla="val 8824"/>
            </a:avLst>
          </a:prstGeom>
          <a:solidFill>
            <a:srgbClr val="F1F2F5"/>
          </a:solidFill>
          <a:ln w="9525">
            <a:solidFill>
              <a:srgbClr val="D9DCE3"/>
            </a:solidFill>
            <a:prstDash val="solid"/>
          </a:ln>
        </p:spPr>
        <p:txBody>
          <a:bodyPr/>
          <a:lstStyle/>
          <a:p>
            <a:endParaRPr lang="en-PK"/>
          </a:p>
        </p:txBody>
      </p:sp>
      <p:sp>
        <p:nvSpPr>
          <p:cNvPr id="13" name="Shape 11"/>
          <p:cNvSpPr/>
          <p:nvPr/>
        </p:nvSpPr>
        <p:spPr>
          <a:xfrm>
            <a:off x="566928" y="1371600"/>
            <a:ext cx="41148" cy="512064"/>
          </a:xfrm>
          <a:prstGeom prst="rect">
            <a:avLst/>
          </a:prstGeom>
          <a:solidFill>
            <a:srgbClr val="C89B3C"/>
          </a:solidFill>
          <a:ln/>
        </p:spPr>
        <p:txBody>
          <a:bodyPr/>
          <a:lstStyle/>
          <a:p>
            <a:endParaRPr lang="en-PK"/>
          </a:p>
        </p:txBody>
      </p:sp>
      <p:sp>
        <p:nvSpPr>
          <p:cNvPr id="14" name="Text 12"/>
          <p:cNvSpPr txBox="1"/>
          <p:nvPr/>
        </p:nvSpPr>
        <p:spPr>
          <a:xfrm>
            <a:off x="804672" y="1316736"/>
            <a:ext cx="10582351" cy="621792"/>
          </a:xfrm>
          <a:prstGeom prst="rect">
            <a:avLst/>
          </a:prstGeom>
          <a:noFill/>
          <a:ln/>
        </p:spPr>
        <p:txBody>
          <a:bodyPr wrap="square" lIns="0" tIns="0" rIns="0" bIns="0" rtlCol="0" anchor="ctr"/>
          <a:lstStyle/>
          <a:p>
            <a:pPr marL="0" indent="0">
              <a:buNone/>
            </a:pPr>
            <a:r>
              <a:rPr lang="en-US" sz="1500" b="1" dirty="0">
                <a:solidFill>
                  <a:srgbClr val="8E6A1F"/>
                </a:solidFill>
                <a:latin typeface="Calibri" pitchFamily="34" charset="0"/>
                <a:ea typeface="Calibri" pitchFamily="34" charset="-122"/>
                <a:cs typeface="Calibri" pitchFamily="34" charset="-120"/>
              </a:rPr>
              <a:t>Pre-registered acceptance band.  </a:t>
            </a:r>
            <a:r>
              <a:rPr lang="en-US" sz="1500" dirty="0">
                <a:solidFill>
                  <a:srgbClr val="1B202A"/>
                </a:solidFill>
                <a:latin typeface="Calibri" pitchFamily="34" charset="0"/>
                <a:ea typeface="Calibri" pitchFamily="34" charset="-122"/>
                <a:cs typeface="Calibri" pitchFamily="34" charset="-120"/>
              </a:rPr>
              <a:t>Reproduction accepted within ±10 points of ErrorProbe's published 59.5% on a comparable-class backbone.</a:t>
            </a:r>
            <a:endParaRPr lang="en-US" sz="1500" dirty="0"/>
          </a:p>
        </p:txBody>
      </p:sp>
      <p:sp>
        <p:nvSpPr>
          <p:cNvPr id="15" name="Text 13"/>
          <p:cNvSpPr txBox="1"/>
          <p:nvPr/>
        </p:nvSpPr>
        <p:spPr>
          <a:xfrm>
            <a:off x="566928" y="2084832"/>
            <a:ext cx="4892040" cy="256032"/>
          </a:xfrm>
          <a:prstGeom prst="rect">
            <a:avLst/>
          </a:prstGeom>
          <a:noFill/>
          <a:ln/>
        </p:spPr>
        <p:txBody>
          <a:bodyPr wrap="square" lIns="0" tIns="0" rIns="0" bIns="0" rtlCol="0" anchor="ctr"/>
          <a:lstStyle/>
          <a:p>
            <a:pPr marL="0" indent="0">
              <a:buNone/>
            </a:pPr>
            <a:r>
              <a:rPr lang="en-US" sz="1400" b="1" kern="0" spc="100" dirty="0">
                <a:solidFill>
                  <a:srgbClr val="8E6A1F"/>
                </a:solidFill>
                <a:latin typeface="Consolas" pitchFamily="34" charset="0"/>
                <a:ea typeface="Consolas" pitchFamily="34" charset="-122"/>
                <a:cs typeface="Consolas" pitchFamily="34" charset="-120"/>
              </a:rPr>
              <a:t>METRICS</a:t>
            </a:r>
            <a:endParaRPr lang="en-US" sz="1400" dirty="0"/>
          </a:p>
        </p:txBody>
      </p:sp>
      <p:sp>
        <p:nvSpPr>
          <p:cNvPr id="16" name="Text 14"/>
          <p:cNvSpPr txBox="1"/>
          <p:nvPr/>
        </p:nvSpPr>
        <p:spPr>
          <a:xfrm>
            <a:off x="566928" y="2377440"/>
            <a:ext cx="4892040" cy="1755648"/>
          </a:xfrm>
          <a:prstGeom prst="rect">
            <a:avLst/>
          </a:prstGeom>
          <a:noFill/>
          <a:ln/>
        </p:spPr>
        <p:txBody>
          <a:bodyPr wrap="square" lIns="0" tIns="0" rIns="0" bIns="0" rtlCol="0" anchor="t"/>
          <a:lstStyle/>
          <a:p>
            <a:pPr marL="190500" indent="-190500">
              <a:spcAft>
                <a:spcPts val="900"/>
              </a:spcAft>
              <a:buSzPct val="100000"/>
              <a:buChar char="▪"/>
            </a:pPr>
            <a:r>
              <a:rPr lang="en-US" sz="1470" dirty="0">
                <a:solidFill>
                  <a:srgbClr val="1B202A"/>
                </a:solidFill>
                <a:latin typeface="Calibri" pitchFamily="34" charset="0"/>
                <a:ea typeface="Calibri" pitchFamily="34" charset="-122"/>
                <a:cs typeface="Calibri" pitchFamily="34" charset="-120"/>
              </a:rPr>
              <a:t>Agent / step accuracy · propagation-path F1</a:t>
            </a:r>
            <a:endParaRPr lang="en-US" sz="1470" dirty="0"/>
          </a:p>
          <a:p>
            <a:pPr marL="190500" indent="-190500">
              <a:spcAft>
                <a:spcPts val="900"/>
              </a:spcAft>
              <a:buSzPct val="100000"/>
              <a:buChar char="▪"/>
            </a:pPr>
            <a:r>
              <a:rPr lang="en-US" sz="1470" dirty="0">
                <a:solidFill>
                  <a:srgbClr val="1B202A"/>
                </a:solidFill>
                <a:latin typeface="Calibri" pitchFamily="34" charset="0"/>
                <a:ea typeface="Calibri" pitchFamily="34" charset="-122"/>
                <a:cs typeface="Calibri" pitchFamily="34" charset="-120"/>
              </a:rPr>
              <a:t>SF precision/recall + abstention rate</a:t>
            </a:r>
            <a:endParaRPr lang="en-US" sz="1470" dirty="0"/>
          </a:p>
          <a:p>
            <a:pPr marL="190500" indent="-190500">
              <a:spcAft>
                <a:spcPts val="900"/>
              </a:spcAft>
              <a:buSzPct val="100000"/>
              <a:buChar char="▪"/>
            </a:pPr>
            <a:r>
              <a:rPr lang="en-US" sz="1470" dirty="0">
                <a:solidFill>
                  <a:srgbClr val="1B202A"/>
                </a:solidFill>
                <a:latin typeface="Calibri" pitchFamily="34" charset="0"/>
                <a:ea typeface="Calibri" pitchFamily="34" charset="-122"/>
                <a:cs typeface="Calibri" pitchFamily="34" charset="-120"/>
              </a:rPr>
              <a:t>False-positive rate on clean controls</a:t>
            </a:r>
            <a:endParaRPr lang="en-US" sz="1470" dirty="0"/>
          </a:p>
          <a:p>
            <a:pPr marL="190500" indent="-190500">
              <a:spcAft>
                <a:spcPts val="900"/>
              </a:spcAft>
              <a:buSzPct val="100000"/>
              <a:buChar char="▪"/>
            </a:pPr>
            <a:r>
              <a:rPr lang="en-US" sz="1470" dirty="0">
                <a:solidFill>
                  <a:srgbClr val="1B202A"/>
                </a:solidFill>
                <a:latin typeface="Calibri" pitchFamily="34" charset="0"/>
                <a:ea typeface="Calibri" pitchFamily="34" charset="-122"/>
                <a:cs typeface="Calibri" pitchFamily="34" charset="-120"/>
              </a:rPr>
              <a:t>Completion, recovery, repair success rates</a:t>
            </a:r>
            <a:endParaRPr lang="en-US" sz="1470" dirty="0"/>
          </a:p>
          <a:p>
            <a:pPr marL="190500" indent="-190500">
              <a:spcAft>
                <a:spcPts val="900"/>
              </a:spcAft>
              <a:buSzPct val="100000"/>
              <a:buChar char="▪"/>
            </a:pPr>
            <a:r>
              <a:rPr lang="en-US" sz="1470" dirty="0">
                <a:solidFill>
                  <a:srgbClr val="1B202A"/>
                </a:solidFill>
                <a:latin typeface="Calibri" pitchFamily="34" charset="0"/>
                <a:ea typeface="Calibri" pitchFamily="34" charset="-122"/>
                <a:cs typeface="Calibri" pitchFamily="34" charset="-120"/>
              </a:rPr>
              <a:t>Latency overhead — the NFR, target &lt; 50%</a:t>
            </a:r>
            <a:endParaRPr lang="en-US" sz="1470" dirty="0"/>
          </a:p>
        </p:txBody>
      </p:sp>
      <p:sp>
        <p:nvSpPr>
          <p:cNvPr id="17" name="Shape 15"/>
          <p:cNvSpPr/>
          <p:nvPr/>
        </p:nvSpPr>
        <p:spPr>
          <a:xfrm>
            <a:off x="587045" y="4213555"/>
            <a:ext cx="4892040" cy="1115568"/>
          </a:xfrm>
          <a:prstGeom prst="roundRect">
            <a:avLst>
              <a:gd name="adj" fmla="val 4918"/>
            </a:avLst>
          </a:prstGeom>
          <a:solidFill>
            <a:srgbClr val="E4E6EB"/>
          </a:solidFill>
          <a:ln/>
        </p:spPr>
        <p:txBody>
          <a:bodyPr/>
          <a:lstStyle/>
          <a:p>
            <a:endParaRPr lang="en-PK"/>
          </a:p>
        </p:txBody>
      </p:sp>
      <p:sp>
        <p:nvSpPr>
          <p:cNvPr id="18" name="Shape 16"/>
          <p:cNvSpPr/>
          <p:nvPr/>
        </p:nvSpPr>
        <p:spPr>
          <a:xfrm>
            <a:off x="566928" y="4187952"/>
            <a:ext cx="4892040" cy="1115568"/>
          </a:xfrm>
          <a:prstGeom prst="roundRect">
            <a:avLst>
              <a:gd name="adj" fmla="val 4918"/>
            </a:avLst>
          </a:prstGeom>
          <a:solidFill>
            <a:srgbClr val="F1F2F5"/>
          </a:solidFill>
          <a:ln w="9525">
            <a:solidFill>
              <a:srgbClr val="D9DCE3"/>
            </a:solidFill>
            <a:prstDash val="solid"/>
          </a:ln>
        </p:spPr>
        <p:txBody>
          <a:bodyPr/>
          <a:lstStyle/>
          <a:p>
            <a:endParaRPr lang="en-PK"/>
          </a:p>
        </p:txBody>
      </p:sp>
      <p:sp>
        <p:nvSpPr>
          <p:cNvPr id="19" name="Text 17"/>
          <p:cNvSpPr txBox="1"/>
          <p:nvPr/>
        </p:nvSpPr>
        <p:spPr>
          <a:xfrm>
            <a:off x="749808" y="4279392"/>
            <a:ext cx="4526280" cy="256032"/>
          </a:xfrm>
          <a:prstGeom prst="rect">
            <a:avLst/>
          </a:prstGeom>
          <a:noFill/>
          <a:ln/>
        </p:spPr>
        <p:txBody>
          <a:bodyPr wrap="square" lIns="0" tIns="0" rIns="0" bIns="0" rtlCol="0" anchor="ctr"/>
          <a:lstStyle/>
          <a:p>
            <a:pPr marL="0" indent="0">
              <a:buNone/>
            </a:pPr>
            <a:r>
              <a:rPr lang="en-US" sz="1400" b="1" kern="0" spc="100" dirty="0">
                <a:solidFill>
                  <a:srgbClr val="596273"/>
                </a:solidFill>
                <a:latin typeface="Consolas" pitchFamily="34" charset="0"/>
                <a:ea typeface="Consolas" pitchFamily="34" charset="-122"/>
                <a:cs typeface="Consolas" pitchFamily="34" charset="-120"/>
              </a:rPr>
              <a:t>DATA / DEPENDENCIES  ·  PROTOCOL</a:t>
            </a:r>
            <a:endParaRPr lang="en-US" sz="1400" dirty="0"/>
          </a:p>
        </p:txBody>
      </p:sp>
      <p:sp>
        <p:nvSpPr>
          <p:cNvPr id="20" name="Text 18"/>
          <p:cNvSpPr txBox="1"/>
          <p:nvPr/>
        </p:nvSpPr>
        <p:spPr>
          <a:xfrm>
            <a:off x="749808" y="4498848"/>
            <a:ext cx="4526280" cy="786384"/>
          </a:xfrm>
          <a:prstGeom prst="rect">
            <a:avLst/>
          </a:prstGeom>
          <a:noFill/>
          <a:ln/>
        </p:spPr>
        <p:txBody>
          <a:bodyPr wrap="square" lIns="0" tIns="0" rIns="0" bIns="0" rtlCol="0" anchor="ctr"/>
          <a:lstStyle/>
          <a:p>
            <a:pPr marL="0" indent="0">
              <a:buNone/>
            </a:pPr>
            <a:r>
              <a:rPr lang="en-US" sz="1200" b="1" dirty="0">
                <a:solidFill>
                  <a:srgbClr val="1B202A"/>
                </a:solidFill>
                <a:latin typeface="Calibri" pitchFamily="34" charset="0"/>
                <a:ea typeface="Calibri" pitchFamily="34" charset="-122"/>
                <a:cs typeface="Calibri" pitchFamily="34" charset="-120"/>
              </a:rPr>
              <a:t>Data: </a:t>
            </a:r>
            <a:r>
              <a:rPr lang="en-US" sz="1200" dirty="0">
                <a:solidFill>
                  <a:srgbClr val="1B202A"/>
                </a:solidFill>
                <a:latin typeface="Calibri" pitchFamily="34" charset="0"/>
                <a:ea typeface="Calibri" pitchFamily="34" charset="-122"/>
                <a:cs typeface="Calibri" pitchFamily="34" charset="-120"/>
              </a:rPr>
              <a:t>Who&amp;When (184 cases); our own benchmark, GSM8K + tau-bench, clean controls.  </a:t>
            </a:r>
            <a:r>
              <a:rPr lang="en-US" sz="1200" b="1" dirty="0">
                <a:solidFill>
                  <a:srgbClr val="1B202A"/>
                </a:solidFill>
                <a:latin typeface="Calibri" pitchFamily="34" charset="0"/>
                <a:ea typeface="Calibri" pitchFamily="34" charset="-122"/>
                <a:cs typeface="Calibri" pitchFamily="34" charset="-120"/>
              </a:rPr>
              <a:t>Protocol: </a:t>
            </a:r>
            <a:r>
              <a:rPr lang="en-US" sz="1200" dirty="0">
                <a:solidFill>
                  <a:srgbClr val="1B202A"/>
                </a:solidFill>
                <a:latin typeface="Calibri" pitchFamily="34" charset="0"/>
                <a:ea typeface="Calibri" pitchFamily="34" charset="-122"/>
                <a:cs typeface="Calibri" pitchFamily="34" charset="-120"/>
              </a:rPr>
              <a:t>bootstrap CIs, fixed seeds, N=5 variance, ablation matrix, human baseline.</a:t>
            </a:r>
            <a:endParaRPr lang="en-US" sz="1200" dirty="0"/>
          </a:p>
        </p:txBody>
      </p:sp>
      <p:sp>
        <p:nvSpPr>
          <p:cNvPr id="21" name="Shape 19"/>
          <p:cNvSpPr/>
          <p:nvPr/>
        </p:nvSpPr>
        <p:spPr>
          <a:xfrm>
            <a:off x="587045" y="5438851"/>
            <a:ext cx="4892040" cy="658368"/>
          </a:xfrm>
          <a:prstGeom prst="roundRect">
            <a:avLst>
              <a:gd name="adj" fmla="val 8333"/>
            </a:avLst>
          </a:prstGeom>
          <a:solidFill>
            <a:srgbClr val="E4E6EB"/>
          </a:solidFill>
          <a:ln/>
        </p:spPr>
        <p:txBody>
          <a:bodyPr/>
          <a:lstStyle/>
          <a:p>
            <a:endParaRPr lang="en-PK"/>
          </a:p>
        </p:txBody>
      </p:sp>
      <p:sp>
        <p:nvSpPr>
          <p:cNvPr id="22" name="Shape 20"/>
          <p:cNvSpPr/>
          <p:nvPr/>
        </p:nvSpPr>
        <p:spPr>
          <a:xfrm>
            <a:off x="566928" y="5413248"/>
            <a:ext cx="4892040" cy="658368"/>
          </a:xfrm>
          <a:prstGeom prst="roundRect">
            <a:avLst>
              <a:gd name="adj" fmla="val 8333"/>
            </a:avLst>
          </a:prstGeom>
          <a:solidFill>
            <a:srgbClr val="F6E6E3"/>
          </a:solidFill>
          <a:ln w="9525">
            <a:solidFill>
              <a:srgbClr val="D9DCE3"/>
            </a:solidFill>
            <a:prstDash val="solid"/>
          </a:ln>
        </p:spPr>
        <p:txBody>
          <a:bodyPr/>
          <a:lstStyle/>
          <a:p>
            <a:endParaRPr lang="en-PK"/>
          </a:p>
        </p:txBody>
      </p:sp>
      <p:sp>
        <p:nvSpPr>
          <p:cNvPr id="23" name="Shape 21"/>
          <p:cNvSpPr/>
          <p:nvPr/>
        </p:nvSpPr>
        <p:spPr>
          <a:xfrm>
            <a:off x="566928" y="5468112"/>
            <a:ext cx="41148" cy="548640"/>
          </a:xfrm>
          <a:prstGeom prst="rect">
            <a:avLst/>
          </a:prstGeom>
          <a:solidFill>
            <a:srgbClr val="A83A30"/>
          </a:solidFill>
          <a:ln/>
        </p:spPr>
        <p:txBody>
          <a:bodyPr/>
          <a:lstStyle/>
          <a:p>
            <a:endParaRPr lang="en-PK"/>
          </a:p>
        </p:txBody>
      </p:sp>
      <p:sp>
        <p:nvSpPr>
          <p:cNvPr id="24" name="Text 22"/>
          <p:cNvSpPr txBox="1"/>
          <p:nvPr/>
        </p:nvSpPr>
        <p:spPr>
          <a:xfrm>
            <a:off x="749808" y="5413248"/>
            <a:ext cx="4526280" cy="658368"/>
          </a:xfrm>
          <a:prstGeom prst="rect">
            <a:avLst/>
          </a:prstGeom>
          <a:noFill/>
          <a:ln/>
        </p:spPr>
        <p:txBody>
          <a:bodyPr wrap="square" lIns="0" tIns="0" rIns="0" bIns="0" rtlCol="0" anchor="ctr"/>
          <a:lstStyle/>
          <a:p>
            <a:pPr marL="0" indent="0">
              <a:buNone/>
            </a:pPr>
            <a:r>
              <a:rPr lang="en-US" sz="1300" b="1" dirty="0">
                <a:solidFill>
                  <a:srgbClr val="A83A30"/>
                </a:solidFill>
                <a:latin typeface="Calibri" pitchFamily="34" charset="0"/>
                <a:ea typeface="Calibri" pitchFamily="34" charset="-122"/>
                <a:cs typeface="Calibri" pitchFamily="34" charset="-120"/>
              </a:rPr>
              <a:t>Cannot support- </a:t>
            </a:r>
            <a:r>
              <a:rPr lang="en-US" sz="1300" dirty="0">
                <a:solidFill>
                  <a:srgbClr val="1B202A"/>
                </a:solidFill>
                <a:latin typeface="Calibri" pitchFamily="34" charset="0"/>
                <a:ea typeface="Calibri" pitchFamily="34" charset="-122"/>
                <a:cs typeface="Calibri" pitchFamily="34" charset="-120"/>
              </a:rPr>
              <a:t>production-scale claims beyond tested frameworks.</a:t>
            </a:r>
            <a:endParaRPr lang="en-US" sz="1300" dirty="0"/>
          </a:p>
        </p:txBody>
      </p:sp>
      <p:sp>
        <p:nvSpPr>
          <p:cNvPr id="25" name="Text 23"/>
          <p:cNvSpPr txBox="1"/>
          <p:nvPr/>
        </p:nvSpPr>
        <p:spPr>
          <a:xfrm>
            <a:off x="5696712" y="2084832"/>
            <a:ext cx="2606040" cy="256032"/>
          </a:xfrm>
          <a:prstGeom prst="rect">
            <a:avLst/>
          </a:prstGeom>
          <a:noFill/>
          <a:ln/>
        </p:spPr>
        <p:txBody>
          <a:bodyPr wrap="square" lIns="0" tIns="0" rIns="0" bIns="0" rtlCol="0" anchor="ctr"/>
          <a:lstStyle/>
          <a:p>
            <a:pPr marL="0" indent="0">
              <a:buNone/>
            </a:pPr>
            <a:r>
              <a:rPr lang="en-US" sz="1400" b="1" kern="0" spc="100" dirty="0">
                <a:solidFill>
                  <a:srgbClr val="8E6A1F"/>
                </a:solidFill>
                <a:latin typeface="Consolas" pitchFamily="34" charset="0"/>
                <a:ea typeface="Consolas" pitchFamily="34" charset="-122"/>
                <a:cs typeface="Consolas" pitchFamily="34" charset="-120"/>
              </a:rPr>
              <a:t>SUCCESS BANDS</a:t>
            </a:r>
            <a:endParaRPr lang="en-US" sz="1400" dirty="0"/>
          </a:p>
        </p:txBody>
      </p:sp>
      <p:sp>
        <p:nvSpPr>
          <p:cNvPr id="26" name="Shape 24"/>
          <p:cNvSpPr/>
          <p:nvPr/>
        </p:nvSpPr>
        <p:spPr>
          <a:xfrm>
            <a:off x="5716829" y="2403043"/>
            <a:ext cx="2606040" cy="786384"/>
          </a:xfrm>
          <a:prstGeom prst="roundRect">
            <a:avLst>
              <a:gd name="adj" fmla="val 6977"/>
            </a:avLst>
          </a:prstGeom>
          <a:solidFill>
            <a:srgbClr val="E4E6EB"/>
          </a:solidFill>
          <a:ln/>
        </p:spPr>
        <p:txBody>
          <a:bodyPr/>
          <a:lstStyle/>
          <a:p>
            <a:endParaRPr lang="en-PK"/>
          </a:p>
        </p:txBody>
      </p:sp>
      <p:sp>
        <p:nvSpPr>
          <p:cNvPr id="27" name="Shape 25"/>
          <p:cNvSpPr/>
          <p:nvPr/>
        </p:nvSpPr>
        <p:spPr>
          <a:xfrm>
            <a:off x="5696712" y="2377440"/>
            <a:ext cx="2606040" cy="786384"/>
          </a:xfrm>
          <a:prstGeom prst="roundRect">
            <a:avLst>
              <a:gd name="adj" fmla="val 6977"/>
            </a:avLst>
          </a:prstGeom>
          <a:solidFill>
            <a:srgbClr val="F6E6E3"/>
          </a:solidFill>
          <a:ln w="9525">
            <a:solidFill>
              <a:srgbClr val="D9DCE3"/>
            </a:solidFill>
            <a:prstDash val="solid"/>
          </a:ln>
        </p:spPr>
        <p:txBody>
          <a:bodyPr/>
          <a:lstStyle/>
          <a:p>
            <a:endParaRPr lang="en-PK"/>
          </a:p>
        </p:txBody>
      </p:sp>
      <p:sp>
        <p:nvSpPr>
          <p:cNvPr id="28" name="Shape 26"/>
          <p:cNvSpPr/>
          <p:nvPr/>
        </p:nvSpPr>
        <p:spPr>
          <a:xfrm>
            <a:off x="5696712" y="2432304"/>
            <a:ext cx="41148" cy="676656"/>
          </a:xfrm>
          <a:prstGeom prst="rect">
            <a:avLst/>
          </a:prstGeom>
          <a:solidFill>
            <a:srgbClr val="A83A30"/>
          </a:solidFill>
          <a:ln/>
        </p:spPr>
        <p:txBody>
          <a:bodyPr/>
          <a:lstStyle/>
          <a:p>
            <a:endParaRPr lang="en-PK"/>
          </a:p>
        </p:txBody>
      </p:sp>
      <p:sp>
        <p:nvSpPr>
          <p:cNvPr id="29" name="Text 27"/>
          <p:cNvSpPr txBox="1"/>
          <p:nvPr/>
        </p:nvSpPr>
        <p:spPr>
          <a:xfrm>
            <a:off x="5861304" y="2432304"/>
            <a:ext cx="2276856" cy="256032"/>
          </a:xfrm>
          <a:prstGeom prst="rect">
            <a:avLst/>
          </a:prstGeom>
          <a:noFill/>
          <a:ln/>
        </p:spPr>
        <p:txBody>
          <a:bodyPr wrap="square" lIns="0" tIns="0" rIns="0" bIns="0" rtlCol="0" anchor="ctr"/>
          <a:lstStyle/>
          <a:p>
            <a:pPr marL="0" indent="0">
              <a:buNone/>
            </a:pPr>
            <a:r>
              <a:rPr lang="en-US" sz="1450" b="1" dirty="0">
                <a:solidFill>
                  <a:srgbClr val="A83A30"/>
                </a:solidFill>
                <a:latin typeface="Georgia" pitchFamily="34" charset="0"/>
                <a:ea typeface="Georgia" pitchFamily="34" charset="-122"/>
                <a:cs typeface="Georgia" pitchFamily="34" charset="-120"/>
              </a:rPr>
              <a:t>Failure</a:t>
            </a:r>
            <a:endParaRPr lang="en-US" sz="1450" dirty="0"/>
          </a:p>
        </p:txBody>
      </p:sp>
      <p:sp>
        <p:nvSpPr>
          <p:cNvPr id="30" name="Text 28"/>
          <p:cNvSpPr txBox="1"/>
          <p:nvPr/>
        </p:nvSpPr>
        <p:spPr>
          <a:xfrm>
            <a:off x="5861304" y="2724912"/>
            <a:ext cx="2276856" cy="402336"/>
          </a:xfrm>
          <a:prstGeom prst="rect">
            <a:avLst/>
          </a:prstGeom>
          <a:noFill/>
          <a:ln/>
        </p:spPr>
        <p:txBody>
          <a:bodyPr wrap="square" lIns="0" tIns="0" rIns="0" bIns="0" rtlCol="0" anchor="ctr"/>
          <a:lstStyle/>
          <a:p>
            <a:pPr marL="0" indent="0">
              <a:buNone/>
            </a:pPr>
            <a:r>
              <a:rPr lang="en-US" sz="1130" dirty="0">
                <a:solidFill>
                  <a:srgbClr val="1B202A"/>
                </a:solidFill>
                <a:latin typeface="Calibri" pitchFamily="34" charset="0"/>
                <a:ea typeface="Calibri" pitchFamily="34" charset="-122"/>
                <a:cs typeface="Calibri" pitchFamily="34" charset="-120"/>
              </a:rPr>
              <a:t>No measurable improvement anywhere</a:t>
            </a:r>
            <a:endParaRPr lang="en-US" sz="1130" dirty="0"/>
          </a:p>
        </p:txBody>
      </p:sp>
      <p:sp>
        <p:nvSpPr>
          <p:cNvPr id="31" name="Shape 29"/>
          <p:cNvSpPr/>
          <p:nvPr/>
        </p:nvSpPr>
        <p:spPr>
          <a:xfrm>
            <a:off x="5716829" y="3244291"/>
            <a:ext cx="2606040" cy="786384"/>
          </a:xfrm>
          <a:prstGeom prst="roundRect">
            <a:avLst>
              <a:gd name="adj" fmla="val 6977"/>
            </a:avLst>
          </a:prstGeom>
          <a:solidFill>
            <a:srgbClr val="E4E6EB"/>
          </a:solidFill>
          <a:ln/>
        </p:spPr>
        <p:txBody>
          <a:bodyPr/>
          <a:lstStyle/>
          <a:p>
            <a:endParaRPr lang="en-PK"/>
          </a:p>
        </p:txBody>
      </p:sp>
      <p:sp>
        <p:nvSpPr>
          <p:cNvPr id="32" name="Shape 30"/>
          <p:cNvSpPr/>
          <p:nvPr/>
        </p:nvSpPr>
        <p:spPr>
          <a:xfrm>
            <a:off x="5696712" y="3218688"/>
            <a:ext cx="2606040" cy="786384"/>
          </a:xfrm>
          <a:prstGeom prst="roundRect">
            <a:avLst>
              <a:gd name="adj" fmla="val 6977"/>
            </a:avLst>
          </a:prstGeom>
          <a:solidFill>
            <a:srgbClr val="F7EFDC"/>
          </a:solidFill>
          <a:ln w="9525">
            <a:solidFill>
              <a:srgbClr val="D9DCE3"/>
            </a:solidFill>
            <a:prstDash val="solid"/>
          </a:ln>
        </p:spPr>
        <p:txBody>
          <a:bodyPr/>
          <a:lstStyle/>
          <a:p>
            <a:endParaRPr lang="en-PK"/>
          </a:p>
        </p:txBody>
      </p:sp>
      <p:sp>
        <p:nvSpPr>
          <p:cNvPr id="33" name="Shape 31"/>
          <p:cNvSpPr/>
          <p:nvPr/>
        </p:nvSpPr>
        <p:spPr>
          <a:xfrm>
            <a:off x="5696712" y="3273552"/>
            <a:ext cx="41148" cy="676656"/>
          </a:xfrm>
          <a:prstGeom prst="rect">
            <a:avLst/>
          </a:prstGeom>
          <a:solidFill>
            <a:srgbClr val="A8760F"/>
          </a:solidFill>
          <a:ln/>
        </p:spPr>
        <p:txBody>
          <a:bodyPr/>
          <a:lstStyle/>
          <a:p>
            <a:endParaRPr lang="en-PK"/>
          </a:p>
        </p:txBody>
      </p:sp>
      <p:sp>
        <p:nvSpPr>
          <p:cNvPr id="34" name="Text 32"/>
          <p:cNvSpPr txBox="1"/>
          <p:nvPr/>
        </p:nvSpPr>
        <p:spPr>
          <a:xfrm>
            <a:off x="5861304" y="3273552"/>
            <a:ext cx="2276856" cy="256032"/>
          </a:xfrm>
          <a:prstGeom prst="rect">
            <a:avLst/>
          </a:prstGeom>
          <a:noFill/>
          <a:ln/>
        </p:spPr>
        <p:txBody>
          <a:bodyPr wrap="square" lIns="0" tIns="0" rIns="0" bIns="0" rtlCol="0" anchor="ctr"/>
          <a:lstStyle/>
          <a:p>
            <a:pPr marL="0" indent="0">
              <a:buNone/>
            </a:pPr>
            <a:r>
              <a:rPr lang="en-US" sz="1450" b="1" dirty="0">
                <a:solidFill>
                  <a:srgbClr val="A8760F"/>
                </a:solidFill>
                <a:latin typeface="Georgia" pitchFamily="34" charset="0"/>
                <a:ea typeface="Georgia" pitchFamily="34" charset="-122"/>
                <a:cs typeface="Georgia" pitchFamily="34" charset="-120"/>
              </a:rPr>
              <a:t>Acceptable</a:t>
            </a:r>
            <a:endParaRPr lang="en-US" sz="1450" dirty="0"/>
          </a:p>
        </p:txBody>
      </p:sp>
      <p:sp>
        <p:nvSpPr>
          <p:cNvPr id="35" name="Text 33"/>
          <p:cNvSpPr txBox="1"/>
          <p:nvPr/>
        </p:nvSpPr>
        <p:spPr>
          <a:xfrm>
            <a:off x="5861304" y="3566160"/>
            <a:ext cx="2276856" cy="402336"/>
          </a:xfrm>
          <a:prstGeom prst="rect">
            <a:avLst/>
          </a:prstGeom>
          <a:noFill/>
          <a:ln/>
        </p:spPr>
        <p:txBody>
          <a:bodyPr wrap="square" lIns="0" tIns="0" rIns="0" bIns="0" rtlCol="0" anchor="ctr"/>
          <a:lstStyle/>
          <a:p>
            <a:pPr marL="0" indent="0">
              <a:buNone/>
            </a:pPr>
            <a:r>
              <a:rPr lang="en-US" sz="1130" dirty="0">
                <a:solidFill>
                  <a:srgbClr val="1B202A"/>
                </a:solidFill>
                <a:latin typeface="Calibri" pitchFamily="34" charset="0"/>
                <a:ea typeface="Calibri" pitchFamily="34" charset="-122"/>
                <a:cs typeface="Calibri" pitchFamily="34" charset="-120"/>
              </a:rPr>
              <a:t>Parity on Who&amp;When + any cross-arch</a:t>
            </a:r>
            <a:endParaRPr lang="en-US" sz="1130" dirty="0"/>
          </a:p>
        </p:txBody>
      </p:sp>
      <p:sp>
        <p:nvSpPr>
          <p:cNvPr id="36" name="Shape 34"/>
          <p:cNvSpPr/>
          <p:nvPr/>
        </p:nvSpPr>
        <p:spPr>
          <a:xfrm>
            <a:off x="5716829" y="4085539"/>
            <a:ext cx="2606040" cy="786384"/>
          </a:xfrm>
          <a:prstGeom prst="roundRect">
            <a:avLst>
              <a:gd name="adj" fmla="val 6977"/>
            </a:avLst>
          </a:prstGeom>
          <a:solidFill>
            <a:srgbClr val="E4E6EB"/>
          </a:solidFill>
          <a:ln/>
        </p:spPr>
        <p:txBody>
          <a:bodyPr/>
          <a:lstStyle/>
          <a:p>
            <a:endParaRPr lang="en-PK"/>
          </a:p>
        </p:txBody>
      </p:sp>
      <p:sp>
        <p:nvSpPr>
          <p:cNvPr id="37" name="Shape 35"/>
          <p:cNvSpPr/>
          <p:nvPr/>
        </p:nvSpPr>
        <p:spPr>
          <a:xfrm>
            <a:off x="5696712" y="4059936"/>
            <a:ext cx="2606040" cy="786384"/>
          </a:xfrm>
          <a:prstGeom prst="roundRect">
            <a:avLst>
              <a:gd name="adj" fmla="val 6977"/>
            </a:avLst>
          </a:prstGeom>
          <a:solidFill>
            <a:srgbClr val="E3EFF1"/>
          </a:solidFill>
          <a:ln w="9525">
            <a:solidFill>
              <a:srgbClr val="D9DCE3"/>
            </a:solidFill>
            <a:prstDash val="solid"/>
          </a:ln>
        </p:spPr>
        <p:txBody>
          <a:bodyPr/>
          <a:lstStyle/>
          <a:p>
            <a:endParaRPr lang="en-PK"/>
          </a:p>
        </p:txBody>
      </p:sp>
      <p:sp>
        <p:nvSpPr>
          <p:cNvPr id="38" name="Shape 36"/>
          <p:cNvSpPr/>
          <p:nvPr/>
        </p:nvSpPr>
        <p:spPr>
          <a:xfrm>
            <a:off x="5696712" y="4114800"/>
            <a:ext cx="41148" cy="676656"/>
          </a:xfrm>
          <a:prstGeom prst="rect">
            <a:avLst/>
          </a:prstGeom>
          <a:solidFill>
            <a:srgbClr val="15707A"/>
          </a:solidFill>
          <a:ln/>
        </p:spPr>
        <p:txBody>
          <a:bodyPr/>
          <a:lstStyle/>
          <a:p>
            <a:endParaRPr lang="en-PK"/>
          </a:p>
        </p:txBody>
      </p:sp>
      <p:sp>
        <p:nvSpPr>
          <p:cNvPr id="39" name="Text 37"/>
          <p:cNvSpPr txBox="1"/>
          <p:nvPr/>
        </p:nvSpPr>
        <p:spPr>
          <a:xfrm>
            <a:off x="5861304" y="4114800"/>
            <a:ext cx="2276856" cy="256032"/>
          </a:xfrm>
          <a:prstGeom prst="rect">
            <a:avLst/>
          </a:prstGeom>
          <a:noFill/>
          <a:ln/>
        </p:spPr>
        <p:txBody>
          <a:bodyPr wrap="square" lIns="0" tIns="0" rIns="0" bIns="0" rtlCol="0" anchor="ctr"/>
          <a:lstStyle/>
          <a:p>
            <a:pPr marL="0" indent="0">
              <a:buNone/>
            </a:pPr>
            <a:r>
              <a:rPr lang="en-US" sz="1450" b="1" dirty="0">
                <a:solidFill>
                  <a:srgbClr val="15707A"/>
                </a:solidFill>
                <a:latin typeface="Georgia" pitchFamily="34" charset="0"/>
                <a:ea typeface="Georgia" pitchFamily="34" charset="-122"/>
                <a:cs typeface="Georgia" pitchFamily="34" charset="-120"/>
              </a:rPr>
              <a:t>Strong</a:t>
            </a:r>
            <a:endParaRPr lang="en-US" sz="1450" dirty="0"/>
          </a:p>
        </p:txBody>
      </p:sp>
      <p:sp>
        <p:nvSpPr>
          <p:cNvPr id="40" name="Text 38"/>
          <p:cNvSpPr txBox="1"/>
          <p:nvPr/>
        </p:nvSpPr>
        <p:spPr>
          <a:xfrm>
            <a:off x="5861304" y="4407408"/>
            <a:ext cx="2276856" cy="402336"/>
          </a:xfrm>
          <a:prstGeom prst="rect">
            <a:avLst/>
          </a:prstGeom>
          <a:noFill/>
          <a:ln/>
        </p:spPr>
        <p:txBody>
          <a:bodyPr wrap="square" lIns="0" tIns="0" rIns="0" bIns="0" rtlCol="0" anchor="ctr"/>
          <a:lstStyle/>
          <a:p>
            <a:pPr marL="0" indent="0">
              <a:buNone/>
            </a:pPr>
            <a:r>
              <a:rPr lang="en-US" sz="1130" dirty="0">
                <a:solidFill>
                  <a:srgbClr val="1B202A"/>
                </a:solidFill>
                <a:latin typeface="Calibri" pitchFamily="34" charset="0"/>
                <a:ea typeface="Calibri" pitchFamily="34" charset="-122"/>
                <a:cs typeface="Calibri" pitchFamily="34" charset="-120"/>
              </a:rPr>
              <a:t>Beats baseline, unseen archs, &gt;70% SF</a:t>
            </a:r>
            <a:endParaRPr lang="en-US" sz="1130" dirty="0"/>
          </a:p>
        </p:txBody>
      </p:sp>
      <p:sp>
        <p:nvSpPr>
          <p:cNvPr id="41" name="Shape 39"/>
          <p:cNvSpPr/>
          <p:nvPr/>
        </p:nvSpPr>
        <p:spPr>
          <a:xfrm>
            <a:off x="5716829" y="4926787"/>
            <a:ext cx="2606040" cy="786384"/>
          </a:xfrm>
          <a:prstGeom prst="roundRect">
            <a:avLst>
              <a:gd name="adj" fmla="val 6977"/>
            </a:avLst>
          </a:prstGeom>
          <a:solidFill>
            <a:srgbClr val="E4E6EB"/>
          </a:solidFill>
          <a:ln/>
        </p:spPr>
        <p:txBody>
          <a:bodyPr/>
          <a:lstStyle/>
          <a:p>
            <a:endParaRPr lang="en-PK"/>
          </a:p>
        </p:txBody>
      </p:sp>
      <p:sp>
        <p:nvSpPr>
          <p:cNvPr id="42" name="Shape 40"/>
          <p:cNvSpPr/>
          <p:nvPr/>
        </p:nvSpPr>
        <p:spPr>
          <a:xfrm>
            <a:off x="5696712" y="4901184"/>
            <a:ext cx="2606040" cy="786384"/>
          </a:xfrm>
          <a:prstGeom prst="roundRect">
            <a:avLst>
              <a:gd name="adj" fmla="val 6977"/>
            </a:avLst>
          </a:prstGeom>
          <a:solidFill>
            <a:srgbClr val="E6F1EB"/>
          </a:solidFill>
          <a:ln w="9525">
            <a:solidFill>
              <a:srgbClr val="D9DCE3"/>
            </a:solidFill>
            <a:prstDash val="solid"/>
          </a:ln>
        </p:spPr>
        <p:txBody>
          <a:bodyPr/>
          <a:lstStyle/>
          <a:p>
            <a:endParaRPr lang="en-PK"/>
          </a:p>
        </p:txBody>
      </p:sp>
      <p:sp>
        <p:nvSpPr>
          <p:cNvPr id="43" name="Shape 41"/>
          <p:cNvSpPr/>
          <p:nvPr/>
        </p:nvSpPr>
        <p:spPr>
          <a:xfrm>
            <a:off x="5696712" y="4956048"/>
            <a:ext cx="41148" cy="676656"/>
          </a:xfrm>
          <a:prstGeom prst="rect">
            <a:avLst/>
          </a:prstGeom>
          <a:solidFill>
            <a:srgbClr val="1E7A52"/>
          </a:solidFill>
          <a:ln/>
        </p:spPr>
        <p:txBody>
          <a:bodyPr/>
          <a:lstStyle/>
          <a:p>
            <a:endParaRPr lang="en-PK"/>
          </a:p>
        </p:txBody>
      </p:sp>
      <p:sp>
        <p:nvSpPr>
          <p:cNvPr id="44" name="Text 42"/>
          <p:cNvSpPr txBox="1"/>
          <p:nvPr/>
        </p:nvSpPr>
        <p:spPr>
          <a:xfrm>
            <a:off x="5861304" y="4956048"/>
            <a:ext cx="2276856" cy="256032"/>
          </a:xfrm>
          <a:prstGeom prst="rect">
            <a:avLst/>
          </a:prstGeom>
          <a:noFill/>
          <a:ln/>
        </p:spPr>
        <p:txBody>
          <a:bodyPr wrap="square" lIns="0" tIns="0" rIns="0" bIns="0" rtlCol="0" anchor="ctr"/>
          <a:lstStyle/>
          <a:p>
            <a:pPr marL="0" indent="0">
              <a:buNone/>
            </a:pPr>
            <a:r>
              <a:rPr lang="en-US" sz="1450" b="1" dirty="0">
                <a:solidFill>
                  <a:srgbClr val="1E7A52"/>
                </a:solidFill>
                <a:latin typeface="Georgia" pitchFamily="34" charset="0"/>
                <a:ea typeface="Georgia" pitchFamily="34" charset="-122"/>
                <a:cs typeface="Georgia" pitchFamily="34" charset="-120"/>
              </a:rPr>
              <a:t>Exceptional</a:t>
            </a:r>
            <a:endParaRPr lang="en-US" sz="1450" dirty="0"/>
          </a:p>
        </p:txBody>
      </p:sp>
      <p:sp>
        <p:nvSpPr>
          <p:cNvPr id="45" name="Text 43"/>
          <p:cNvSpPr txBox="1"/>
          <p:nvPr/>
        </p:nvSpPr>
        <p:spPr>
          <a:xfrm>
            <a:off x="5861304" y="5248656"/>
            <a:ext cx="2276856" cy="402336"/>
          </a:xfrm>
          <a:prstGeom prst="rect">
            <a:avLst/>
          </a:prstGeom>
          <a:noFill/>
          <a:ln/>
        </p:spPr>
        <p:txBody>
          <a:bodyPr wrap="square" lIns="0" tIns="0" rIns="0" bIns="0" rtlCol="0" anchor="ctr"/>
          <a:lstStyle/>
          <a:p>
            <a:pPr marL="0" indent="0">
              <a:buNone/>
            </a:pPr>
            <a:r>
              <a:rPr lang="en-US" sz="1130" dirty="0">
                <a:solidFill>
                  <a:srgbClr val="1B202A"/>
                </a:solidFill>
                <a:latin typeface="Calibri" pitchFamily="34" charset="0"/>
                <a:ea typeface="Calibri" pitchFamily="34" charset="-122"/>
                <a:cs typeface="Calibri" pitchFamily="34" charset="-120"/>
              </a:rPr>
              <a:t>Strong + &gt;50% verified-repair recovery</a:t>
            </a:r>
            <a:endParaRPr lang="en-US" sz="1130" dirty="0"/>
          </a:p>
        </p:txBody>
      </p:sp>
      <p:sp>
        <p:nvSpPr>
          <p:cNvPr id="46" name="Text 44"/>
          <p:cNvSpPr txBox="1"/>
          <p:nvPr/>
        </p:nvSpPr>
        <p:spPr>
          <a:xfrm>
            <a:off x="8540496" y="2084832"/>
            <a:ext cx="3084271" cy="256032"/>
          </a:xfrm>
          <a:prstGeom prst="rect">
            <a:avLst/>
          </a:prstGeom>
          <a:noFill/>
          <a:ln/>
        </p:spPr>
        <p:txBody>
          <a:bodyPr wrap="square" lIns="0" tIns="0" rIns="0" bIns="0" rtlCol="0" anchor="ctr"/>
          <a:lstStyle/>
          <a:p>
            <a:pPr marL="0" indent="0">
              <a:buNone/>
            </a:pPr>
            <a:r>
              <a:rPr lang="en-US" sz="1400" b="1" kern="0" spc="100" dirty="0">
                <a:solidFill>
                  <a:srgbClr val="8E6A1F"/>
                </a:solidFill>
                <a:latin typeface="Consolas" pitchFamily="34" charset="0"/>
                <a:ea typeface="Consolas" pitchFamily="34" charset="-122"/>
                <a:cs typeface="Consolas" pitchFamily="34" charset="-120"/>
              </a:rPr>
              <a:t>TOP RISKS → STATED FALLBACK</a:t>
            </a:r>
            <a:endParaRPr lang="en-US" sz="1400" dirty="0"/>
          </a:p>
        </p:txBody>
      </p:sp>
      <p:sp>
        <p:nvSpPr>
          <p:cNvPr id="47" name="Shape 45"/>
          <p:cNvSpPr/>
          <p:nvPr/>
        </p:nvSpPr>
        <p:spPr>
          <a:xfrm>
            <a:off x="8560613" y="2403043"/>
            <a:ext cx="3084271" cy="786384"/>
          </a:xfrm>
          <a:prstGeom prst="roundRect">
            <a:avLst>
              <a:gd name="adj" fmla="val 6977"/>
            </a:avLst>
          </a:prstGeom>
          <a:solidFill>
            <a:srgbClr val="E4E6EB"/>
          </a:solidFill>
          <a:ln/>
        </p:spPr>
        <p:txBody>
          <a:bodyPr/>
          <a:lstStyle/>
          <a:p>
            <a:endParaRPr lang="en-PK"/>
          </a:p>
        </p:txBody>
      </p:sp>
      <p:sp>
        <p:nvSpPr>
          <p:cNvPr id="48" name="Shape 46"/>
          <p:cNvSpPr/>
          <p:nvPr/>
        </p:nvSpPr>
        <p:spPr>
          <a:xfrm>
            <a:off x="8540496" y="2377440"/>
            <a:ext cx="3084271" cy="786384"/>
          </a:xfrm>
          <a:prstGeom prst="roundRect">
            <a:avLst>
              <a:gd name="adj" fmla="val 6977"/>
            </a:avLst>
          </a:prstGeom>
          <a:solidFill>
            <a:srgbClr val="F1F2F5"/>
          </a:solidFill>
          <a:ln w="9525">
            <a:solidFill>
              <a:srgbClr val="D9DCE3"/>
            </a:solidFill>
            <a:prstDash val="solid"/>
          </a:ln>
        </p:spPr>
        <p:txBody>
          <a:bodyPr/>
          <a:lstStyle/>
          <a:p>
            <a:endParaRPr lang="en-PK"/>
          </a:p>
        </p:txBody>
      </p:sp>
      <p:sp>
        <p:nvSpPr>
          <p:cNvPr id="49" name="Text 47"/>
          <p:cNvSpPr txBox="1"/>
          <p:nvPr/>
        </p:nvSpPr>
        <p:spPr>
          <a:xfrm>
            <a:off x="8705088" y="2432304"/>
            <a:ext cx="2755087" cy="329184"/>
          </a:xfrm>
          <a:prstGeom prst="rect">
            <a:avLst/>
          </a:prstGeom>
          <a:noFill/>
          <a:ln/>
        </p:spPr>
        <p:txBody>
          <a:bodyPr wrap="square" lIns="0" tIns="0" rIns="0" bIns="0" rtlCol="0" anchor="ctr"/>
          <a:lstStyle/>
          <a:p>
            <a:pPr marL="0" indent="0">
              <a:buNone/>
            </a:pPr>
            <a:r>
              <a:rPr lang="en-US" sz="1230" b="1" dirty="0">
                <a:solidFill>
                  <a:srgbClr val="1B202A"/>
                </a:solidFill>
                <a:latin typeface="Calibri" pitchFamily="34" charset="0"/>
                <a:ea typeface="Calibri" pitchFamily="34" charset="-122"/>
                <a:cs typeface="Calibri" pitchFamily="34" charset="-120"/>
              </a:rPr>
              <a:t>Reproduction misses the ±10pt band</a:t>
            </a:r>
            <a:endParaRPr lang="en-US" sz="1230" dirty="0"/>
          </a:p>
        </p:txBody>
      </p:sp>
      <p:sp>
        <p:nvSpPr>
          <p:cNvPr id="50" name="Text 48"/>
          <p:cNvSpPr txBox="1"/>
          <p:nvPr/>
        </p:nvSpPr>
        <p:spPr>
          <a:xfrm>
            <a:off x="8705088" y="2798064"/>
            <a:ext cx="2755087" cy="329184"/>
          </a:xfrm>
          <a:prstGeom prst="rect">
            <a:avLst/>
          </a:prstGeom>
          <a:noFill/>
          <a:ln/>
        </p:spPr>
        <p:txBody>
          <a:bodyPr wrap="square" lIns="0" tIns="0" rIns="0" bIns="0" rtlCol="0" anchor="ctr"/>
          <a:lstStyle/>
          <a:p>
            <a:pPr marL="0" indent="0">
              <a:buNone/>
            </a:pPr>
            <a:r>
              <a:rPr lang="en-US" sz="1130" dirty="0">
                <a:solidFill>
                  <a:srgbClr val="1E7A52"/>
                </a:solidFill>
                <a:latin typeface="Calibri" pitchFamily="34" charset="0"/>
                <a:ea typeface="Calibri" pitchFamily="34" charset="-122"/>
                <a:cs typeface="Calibri" pitchFamily="34" charset="-120"/>
              </a:rPr>
              <a:t>Dual-reporting (Annex A.2) — expected, not a failure</a:t>
            </a:r>
            <a:endParaRPr lang="en-US" sz="1130" dirty="0"/>
          </a:p>
        </p:txBody>
      </p:sp>
      <p:sp>
        <p:nvSpPr>
          <p:cNvPr id="51" name="Shape 49"/>
          <p:cNvSpPr/>
          <p:nvPr/>
        </p:nvSpPr>
        <p:spPr>
          <a:xfrm>
            <a:off x="8560613" y="3244291"/>
            <a:ext cx="3084271" cy="786384"/>
          </a:xfrm>
          <a:prstGeom prst="roundRect">
            <a:avLst>
              <a:gd name="adj" fmla="val 6977"/>
            </a:avLst>
          </a:prstGeom>
          <a:solidFill>
            <a:srgbClr val="E4E6EB"/>
          </a:solidFill>
          <a:ln/>
        </p:spPr>
        <p:txBody>
          <a:bodyPr/>
          <a:lstStyle/>
          <a:p>
            <a:endParaRPr lang="en-PK"/>
          </a:p>
        </p:txBody>
      </p:sp>
      <p:sp>
        <p:nvSpPr>
          <p:cNvPr id="52" name="Shape 50"/>
          <p:cNvSpPr/>
          <p:nvPr/>
        </p:nvSpPr>
        <p:spPr>
          <a:xfrm>
            <a:off x="8540496" y="3218688"/>
            <a:ext cx="3084271" cy="786384"/>
          </a:xfrm>
          <a:prstGeom prst="roundRect">
            <a:avLst>
              <a:gd name="adj" fmla="val 6977"/>
            </a:avLst>
          </a:prstGeom>
          <a:solidFill>
            <a:srgbClr val="F1F2F5"/>
          </a:solidFill>
          <a:ln w="9525">
            <a:solidFill>
              <a:srgbClr val="D9DCE3"/>
            </a:solidFill>
            <a:prstDash val="solid"/>
          </a:ln>
        </p:spPr>
        <p:txBody>
          <a:bodyPr/>
          <a:lstStyle/>
          <a:p>
            <a:endParaRPr lang="en-PK"/>
          </a:p>
        </p:txBody>
      </p:sp>
      <p:sp>
        <p:nvSpPr>
          <p:cNvPr id="53" name="Text 51"/>
          <p:cNvSpPr txBox="1"/>
          <p:nvPr/>
        </p:nvSpPr>
        <p:spPr>
          <a:xfrm>
            <a:off x="8705088" y="3273552"/>
            <a:ext cx="2755087" cy="329184"/>
          </a:xfrm>
          <a:prstGeom prst="rect">
            <a:avLst/>
          </a:prstGeom>
          <a:noFill/>
          <a:ln/>
        </p:spPr>
        <p:txBody>
          <a:bodyPr wrap="square" lIns="0" tIns="0" rIns="0" bIns="0" rtlCol="0" anchor="ctr"/>
          <a:lstStyle/>
          <a:p>
            <a:pPr marL="0" indent="0">
              <a:buNone/>
            </a:pPr>
            <a:r>
              <a:rPr lang="en-US" sz="1230" b="1" dirty="0">
                <a:solidFill>
                  <a:srgbClr val="1B202A"/>
                </a:solidFill>
                <a:latin typeface="Calibri" pitchFamily="34" charset="0"/>
                <a:ea typeface="Calibri" pitchFamily="34" charset="-122"/>
                <a:cs typeface="Calibri" pitchFamily="34" charset="-120"/>
              </a:rPr>
              <a:t>Recovery Controller fails at Mid-1</a:t>
            </a:r>
            <a:endParaRPr lang="en-US" sz="1230" dirty="0"/>
          </a:p>
        </p:txBody>
      </p:sp>
      <p:sp>
        <p:nvSpPr>
          <p:cNvPr id="54" name="Text 52"/>
          <p:cNvSpPr txBox="1"/>
          <p:nvPr/>
        </p:nvSpPr>
        <p:spPr>
          <a:xfrm>
            <a:off x="8705088" y="3639312"/>
            <a:ext cx="2755087" cy="329184"/>
          </a:xfrm>
          <a:prstGeom prst="rect">
            <a:avLst/>
          </a:prstGeom>
          <a:noFill/>
          <a:ln/>
        </p:spPr>
        <p:txBody>
          <a:bodyPr wrap="square" lIns="0" tIns="0" rIns="0" bIns="0" rtlCol="0" anchor="ctr"/>
          <a:lstStyle/>
          <a:p>
            <a:pPr marL="0" indent="0">
              <a:buNone/>
            </a:pPr>
            <a:r>
              <a:rPr lang="en-US" sz="1130" dirty="0">
                <a:solidFill>
                  <a:srgbClr val="1E7A52"/>
                </a:solidFill>
                <a:latin typeface="Calibri" pitchFamily="34" charset="0"/>
                <a:ea typeface="Calibri" pitchFamily="34" charset="-122"/>
                <a:cs typeface="Calibri" pitchFamily="34" charset="-120"/>
              </a:rPr>
              <a:t>Resume via controlled replay — Tier 1 delivers it</a:t>
            </a:r>
            <a:endParaRPr lang="en-US" sz="1130" dirty="0"/>
          </a:p>
        </p:txBody>
      </p:sp>
      <p:sp>
        <p:nvSpPr>
          <p:cNvPr id="55" name="Shape 53"/>
          <p:cNvSpPr/>
          <p:nvPr/>
        </p:nvSpPr>
        <p:spPr>
          <a:xfrm>
            <a:off x="8560613" y="4085539"/>
            <a:ext cx="3084271" cy="786384"/>
          </a:xfrm>
          <a:prstGeom prst="roundRect">
            <a:avLst>
              <a:gd name="adj" fmla="val 6977"/>
            </a:avLst>
          </a:prstGeom>
          <a:solidFill>
            <a:srgbClr val="E4E6EB"/>
          </a:solidFill>
          <a:ln/>
        </p:spPr>
        <p:txBody>
          <a:bodyPr/>
          <a:lstStyle/>
          <a:p>
            <a:endParaRPr lang="en-PK"/>
          </a:p>
        </p:txBody>
      </p:sp>
      <p:sp>
        <p:nvSpPr>
          <p:cNvPr id="56" name="Shape 54"/>
          <p:cNvSpPr/>
          <p:nvPr/>
        </p:nvSpPr>
        <p:spPr>
          <a:xfrm>
            <a:off x="8540496" y="4059936"/>
            <a:ext cx="3084271" cy="786384"/>
          </a:xfrm>
          <a:prstGeom prst="roundRect">
            <a:avLst>
              <a:gd name="adj" fmla="val 6977"/>
            </a:avLst>
          </a:prstGeom>
          <a:solidFill>
            <a:srgbClr val="F1F2F5"/>
          </a:solidFill>
          <a:ln w="9525">
            <a:solidFill>
              <a:srgbClr val="D9DCE3"/>
            </a:solidFill>
            <a:prstDash val="solid"/>
          </a:ln>
        </p:spPr>
        <p:txBody>
          <a:bodyPr/>
          <a:lstStyle/>
          <a:p>
            <a:endParaRPr lang="en-PK"/>
          </a:p>
        </p:txBody>
      </p:sp>
      <p:sp>
        <p:nvSpPr>
          <p:cNvPr id="57" name="Text 55"/>
          <p:cNvSpPr txBox="1"/>
          <p:nvPr/>
        </p:nvSpPr>
        <p:spPr>
          <a:xfrm>
            <a:off x="8705088" y="4114800"/>
            <a:ext cx="2755087" cy="329184"/>
          </a:xfrm>
          <a:prstGeom prst="rect">
            <a:avLst/>
          </a:prstGeom>
          <a:noFill/>
          <a:ln/>
        </p:spPr>
        <p:txBody>
          <a:bodyPr wrap="square" lIns="0" tIns="0" rIns="0" bIns="0" rtlCol="0" anchor="ctr"/>
          <a:lstStyle/>
          <a:p>
            <a:pPr marL="0" indent="0">
              <a:buNone/>
            </a:pPr>
            <a:r>
              <a:rPr lang="en-US" sz="1230" b="1" dirty="0">
                <a:solidFill>
                  <a:srgbClr val="1B202A"/>
                </a:solidFill>
                <a:latin typeface="Calibri" pitchFamily="34" charset="0"/>
                <a:ea typeface="Calibri" pitchFamily="34" charset="-122"/>
                <a:cs typeface="Calibri" pitchFamily="34" charset="-120"/>
              </a:rPr>
              <a:t>Verified Repair Memory fails again</a:t>
            </a:r>
            <a:endParaRPr lang="en-US" sz="1230" dirty="0"/>
          </a:p>
        </p:txBody>
      </p:sp>
      <p:sp>
        <p:nvSpPr>
          <p:cNvPr id="58" name="Text 56"/>
          <p:cNvSpPr txBox="1"/>
          <p:nvPr/>
        </p:nvSpPr>
        <p:spPr>
          <a:xfrm>
            <a:off x="8705088" y="4480560"/>
            <a:ext cx="2755087" cy="329184"/>
          </a:xfrm>
          <a:prstGeom prst="rect">
            <a:avLst/>
          </a:prstGeom>
          <a:noFill/>
          <a:ln/>
        </p:spPr>
        <p:txBody>
          <a:bodyPr wrap="square" lIns="0" tIns="0" rIns="0" bIns="0" rtlCol="0" anchor="ctr"/>
          <a:lstStyle/>
          <a:p>
            <a:pPr marL="0" indent="0">
              <a:buNone/>
            </a:pPr>
            <a:r>
              <a:rPr lang="en-US" sz="1130" dirty="0">
                <a:solidFill>
                  <a:srgbClr val="1E7A52"/>
                </a:solidFill>
                <a:latin typeface="Calibri" pitchFamily="34" charset="0"/>
                <a:ea typeface="Calibri" pitchFamily="34" charset="-122"/>
                <a:cs typeface="Calibri" pitchFamily="34" charset="-120"/>
              </a:rPr>
              <a:t>Ships as a memory-on/off ablation</a:t>
            </a:r>
            <a:endParaRPr lang="en-US" sz="1130" dirty="0"/>
          </a:p>
        </p:txBody>
      </p:sp>
      <p:sp>
        <p:nvSpPr>
          <p:cNvPr id="59" name="Shape 57"/>
          <p:cNvSpPr/>
          <p:nvPr/>
        </p:nvSpPr>
        <p:spPr>
          <a:xfrm>
            <a:off x="8560613" y="4926787"/>
            <a:ext cx="3084271" cy="786384"/>
          </a:xfrm>
          <a:prstGeom prst="roundRect">
            <a:avLst>
              <a:gd name="adj" fmla="val 6977"/>
            </a:avLst>
          </a:prstGeom>
          <a:solidFill>
            <a:srgbClr val="E4E6EB"/>
          </a:solidFill>
          <a:ln/>
        </p:spPr>
        <p:txBody>
          <a:bodyPr/>
          <a:lstStyle/>
          <a:p>
            <a:endParaRPr lang="en-PK"/>
          </a:p>
        </p:txBody>
      </p:sp>
      <p:sp>
        <p:nvSpPr>
          <p:cNvPr id="60" name="Shape 58"/>
          <p:cNvSpPr/>
          <p:nvPr/>
        </p:nvSpPr>
        <p:spPr>
          <a:xfrm>
            <a:off x="8540496" y="4901184"/>
            <a:ext cx="3084271" cy="786384"/>
          </a:xfrm>
          <a:prstGeom prst="roundRect">
            <a:avLst>
              <a:gd name="adj" fmla="val 6977"/>
            </a:avLst>
          </a:prstGeom>
          <a:solidFill>
            <a:srgbClr val="F1F2F5"/>
          </a:solidFill>
          <a:ln w="9525">
            <a:solidFill>
              <a:srgbClr val="D9DCE3"/>
            </a:solidFill>
            <a:prstDash val="solid"/>
          </a:ln>
        </p:spPr>
        <p:txBody>
          <a:bodyPr/>
          <a:lstStyle/>
          <a:p>
            <a:endParaRPr lang="en-PK"/>
          </a:p>
        </p:txBody>
      </p:sp>
      <p:sp>
        <p:nvSpPr>
          <p:cNvPr id="61" name="Text 59"/>
          <p:cNvSpPr txBox="1"/>
          <p:nvPr/>
        </p:nvSpPr>
        <p:spPr>
          <a:xfrm>
            <a:off x="8705088" y="4956048"/>
            <a:ext cx="2755087" cy="329184"/>
          </a:xfrm>
          <a:prstGeom prst="rect">
            <a:avLst/>
          </a:prstGeom>
          <a:noFill/>
          <a:ln/>
        </p:spPr>
        <p:txBody>
          <a:bodyPr wrap="square" lIns="0" tIns="0" rIns="0" bIns="0" rtlCol="0" anchor="ctr"/>
          <a:lstStyle/>
          <a:p>
            <a:pPr marL="0" indent="0">
              <a:buNone/>
            </a:pPr>
            <a:r>
              <a:rPr lang="en-US" sz="1230" b="1" dirty="0">
                <a:solidFill>
                  <a:srgbClr val="1B202A"/>
                </a:solidFill>
                <a:latin typeface="Calibri" pitchFamily="34" charset="0"/>
                <a:ea typeface="Calibri" pitchFamily="34" charset="-122"/>
                <a:cs typeface="Calibri" pitchFamily="34" charset="-120"/>
              </a:rPr>
              <a:t>Benchmark scale stalls below 500</a:t>
            </a:r>
            <a:endParaRPr lang="en-US" sz="1230" dirty="0"/>
          </a:p>
        </p:txBody>
      </p:sp>
      <p:sp>
        <p:nvSpPr>
          <p:cNvPr id="62" name="Text 60"/>
          <p:cNvSpPr txBox="1"/>
          <p:nvPr/>
        </p:nvSpPr>
        <p:spPr>
          <a:xfrm>
            <a:off x="8705088" y="5321808"/>
            <a:ext cx="2755087" cy="329184"/>
          </a:xfrm>
          <a:prstGeom prst="rect">
            <a:avLst/>
          </a:prstGeom>
          <a:noFill/>
          <a:ln/>
        </p:spPr>
        <p:txBody>
          <a:bodyPr wrap="square" lIns="0" tIns="0" rIns="0" bIns="0" rtlCol="0" anchor="ctr"/>
          <a:lstStyle/>
          <a:p>
            <a:pPr marL="0" indent="0">
              <a:buNone/>
            </a:pPr>
            <a:r>
              <a:rPr lang="en-US" sz="1130" dirty="0">
                <a:solidFill>
                  <a:srgbClr val="1E7A52"/>
                </a:solidFill>
                <a:latin typeface="Calibri" pitchFamily="34" charset="0"/>
                <a:ea typeface="Calibri" pitchFamily="34" charset="-122"/>
                <a:cs typeface="Calibri" pitchFamily="34" charset="-120"/>
              </a:rPr>
              <a:t>Floor of 500; 300-with-stats beats 1,000-without</a:t>
            </a:r>
            <a:endParaRPr lang="en-US" sz="1130" dirty="0"/>
          </a:p>
        </p:txBody>
      </p:sp>
      <p:sp>
        <p:nvSpPr>
          <p:cNvPr id="63" name="Shape 61"/>
          <p:cNvSpPr/>
          <p:nvPr/>
        </p:nvSpPr>
        <p:spPr>
          <a:xfrm>
            <a:off x="5716829" y="5914339"/>
            <a:ext cx="5928055" cy="512064"/>
          </a:xfrm>
          <a:prstGeom prst="roundRect">
            <a:avLst>
              <a:gd name="adj" fmla="val 10714"/>
            </a:avLst>
          </a:prstGeom>
          <a:solidFill>
            <a:srgbClr val="E4E6EB"/>
          </a:solidFill>
          <a:ln/>
        </p:spPr>
        <p:txBody>
          <a:bodyPr/>
          <a:lstStyle/>
          <a:p>
            <a:endParaRPr lang="en-PK"/>
          </a:p>
        </p:txBody>
      </p:sp>
      <p:sp>
        <p:nvSpPr>
          <p:cNvPr id="64" name="Shape 62"/>
          <p:cNvSpPr/>
          <p:nvPr/>
        </p:nvSpPr>
        <p:spPr>
          <a:xfrm>
            <a:off x="5696712" y="5888736"/>
            <a:ext cx="5928055" cy="512064"/>
          </a:xfrm>
          <a:prstGeom prst="roundRect">
            <a:avLst>
              <a:gd name="adj" fmla="val 10714"/>
            </a:avLst>
          </a:prstGeom>
          <a:solidFill>
            <a:srgbClr val="E4E9F2"/>
          </a:solidFill>
          <a:ln w="9525">
            <a:solidFill>
              <a:srgbClr val="D9DCE3"/>
            </a:solidFill>
            <a:prstDash val="solid"/>
          </a:ln>
        </p:spPr>
        <p:txBody>
          <a:bodyPr/>
          <a:lstStyle/>
          <a:p>
            <a:endParaRPr lang="en-PK"/>
          </a:p>
        </p:txBody>
      </p:sp>
      <p:sp>
        <p:nvSpPr>
          <p:cNvPr id="65" name="Shape 63"/>
          <p:cNvSpPr/>
          <p:nvPr/>
        </p:nvSpPr>
        <p:spPr>
          <a:xfrm>
            <a:off x="5696712" y="5943600"/>
            <a:ext cx="41148" cy="402336"/>
          </a:xfrm>
          <a:prstGeom prst="rect">
            <a:avLst/>
          </a:prstGeom>
          <a:solidFill>
            <a:srgbClr val="31558F"/>
          </a:solidFill>
          <a:ln/>
        </p:spPr>
        <p:txBody>
          <a:bodyPr/>
          <a:lstStyle/>
          <a:p>
            <a:endParaRPr lang="en-PK"/>
          </a:p>
        </p:txBody>
      </p:sp>
      <p:sp>
        <p:nvSpPr>
          <p:cNvPr id="66" name="Text 64"/>
          <p:cNvSpPr txBox="1"/>
          <p:nvPr/>
        </p:nvSpPr>
        <p:spPr>
          <a:xfrm>
            <a:off x="5879592" y="5888736"/>
            <a:ext cx="5562295" cy="512064"/>
          </a:xfrm>
          <a:prstGeom prst="rect">
            <a:avLst/>
          </a:prstGeom>
          <a:noFill/>
          <a:ln/>
        </p:spPr>
        <p:txBody>
          <a:bodyPr wrap="square" lIns="0" tIns="0" rIns="0" bIns="0" rtlCol="0" anchor="ctr"/>
          <a:lstStyle/>
          <a:p>
            <a:pPr marL="0" indent="0">
              <a:buNone/>
            </a:pPr>
            <a:r>
              <a:rPr lang="en-US" sz="1230" b="1" dirty="0">
                <a:solidFill>
                  <a:srgbClr val="31558F"/>
                </a:solidFill>
                <a:latin typeface="Calibri" pitchFamily="34" charset="0"/>
                <a:ea typeface="Calibri" pitchFamily="34" charset="-122"/>
                <a:cs typeface="Calibri" pitchFamily="34" charset="-120"/>
              </a:rPr>
              <a:t>GenAI boundary:  </a:t>
            </a:r>
            <a:r>
              <a:rPr lang="en-US" sz="1230" dirty="0">
                <a:solidFill>
                  <a:srgbClr val="1B202A"/>
                </a:solidFill>
                <a:latin typeface="Calibri" pitchFamily="34" charset="0"/>
                <a:ea typeface="Calibri" pitchFamily="34" charset="-122"/>
                <a:cs typeface="Calibri" pitchFamily="34" charset="-120"/>
              </a:rPr>
              <a:t>nothing we claim sits in core-replacement — the LLM is core-assist.</a:t>
            </a:r>
            <a:endParaRPr lang="en-US" sz="123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C"/>
        </a:solidFill>
        <a:effectLst/>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txBody>
          <a:bodyPr/>
          <a:lstStyle/>
          <a:p>
            <a:endParaRPr lang="en-PK"/>
          </a:p>
        </p:txBody>
      </p:sp>
      <p:sp>
        <p:nvSpPr>
          <p:cNvPr id="3" name="Shape 1"/>
          <p:cNvSpPr/>
          <p:nvPr/>
        </p:nvSpPr>
        <p:spPr>
          <a:xfrm rot="2700000">
            <a:off x="10618927" y="5285232"/>
            <a:ext cx="1005840" cy="1005840"/>
          </a:xfrm>
          <a:prstGeom prst="rect">
            <a:avLst/>
          </a:prstGeom>
          <a:ln w="12700">
            <a:solidFill>
              <a:srgbClr val="F4F5F7"/>
            </a:solidFill>
            <a:prstDash val="solid"/>
          </a:ln>
        </p:spPr>
        <p:txBody>
          <a:bodyPr/>
          <a:lstStyle/>
          <a:p>
            <a:endParaRPr lang="en-PK"/>
          </a:p>
        </p:txBody>
      </p:sp>
      <p:sp>
        <p:nvSpPr>
          <p:cNvPr id="4" name="Shape 2"/>
          <p:cNvSpPr/>
          <p:nvPr/>
        </p:nvSpPr>
        <p:spPr>
          <a:xfrm rot="2700000">
            <a:off x="10856671" y="5522976"/>
            <a:ext cx="530352" cy="530352"/>
          </a:xfrm>
          <a:prstGeom prst="rect">
            <a:avLst/>
          </a:prstGeom>
          <a:ln w="12700">
            <a:solidFill>
              <a:srgbClr val="F7F4ED"/>
            </a:solidFill>
            <a:prstDash val="solid"/>
          </a:ln>
        </p:spPr>
        <p:txBody>
          <a:bodyPr/>
          <a:lstStyle/>
          <a:p>
            <a:endParaRPr lang="en-PK"/>
          </a:p>
        </p:txBody>
      </p:sp>
      <p:sp>
        <p:nvSpPr>
          <p:cNvPr id="5" name="Text 3"/>
          <p:cNvSpPr txBox="1"/>
          <p:nvPr/>
        </p:nvSpPr>
        <p:spPr>
          <a:xfrm>
            <a:off x="566928" y="292608"/>
            <a:ext cx="11057839" cy="256032"/>
          </a:xfrm>
          <a:prstGeom prst="rect">
            <a:avLst/>
          </a:prstGeom>
          <a:noFill/>
          <a:ln/>
        </p:spPr>
        <p:txBody>
          <a:bodyPr wrap="square" lIns="0" tIns="0" rIns="0" bIns="0" rtlCol="0" anchor="ctr"/>
          <a:lstStyle/>
          <a:p>
            <a:pPr marL="0" indent="0">
              <a:buNone/>
            </a:pPr>
            <a:r>
              <a:rPr lang="en-US" sz="1350" b="1" kern="0" spc="160" dirty="0">
                <a:solidFill>
                  <a:srgbClr val="8E6A1F"/>
                </a:solidFill>
                <a:latin typeface="Consolas" pitchFamily="34" charset="0"/>
                <a:ea typeface="Consolas" pitchFamily="34" charset="-122"/>
                <a:cs typeface="Consolas" pitchFamily="34" charset="-120"/>
              </a:rPr>
              <a:t>COMMITTED SCOPE, MEMBER-WISE OWNERSHIP, DEPENDENCIES AND MILESTONES</a:t>
            </a:r>
            <a:endParaRPr lang="en-US" sz="13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marL="0" indent="0">
              <a:buNone/>
            </a:pPr>
            <a:r>
              <a:rPr lang="en-US" sz="2950" b="1" dirty="0">
                <a:solidFill>
                  <a:srgbClr val="1B202A"/>
                </a:solidFill>
                <a:latin typeface="Georgia" pitchFamily="34" charset="0"/>
                <a:ea typeface="Georgia" pitchFamily="34" charset="-122"/>
                <a:cs typeface="Georgia" pitchFamily="34" charset="-120"/>
              </a:rPr>
              <a:t>Scope, Work Division &amp; Iteration Plan</a:t>
            </a:r>
            <a:endParaRPr lang="en-US" sz="2950" dirty="0"/>
          </a:p>
        </p:txBody>
      </p:sp>
      <p:sp>
        <p:nvSpPr>
          <p:cNvPr id="7" name="Shape 5"/>
          <p:cNvSpPr/>
          <p:nvPr/>
        </p:nvSpPr>
        <p:spPr>
          <a:xfrm>
            <a:off x="566928" y="1188720"/>
            <a:ext cx="566928" cy="36576"/>
          </a:xfrm>
          <a:prstGeom prst="rect">
            <a:avLst/>
          </a:prstGeom>
          <a:solidFill>
            <a:srgbClr val="C89B3C"/>
          </a:solidFill>
          <a:ln/>
        </p:spPr>
        <p:txBody>
          <a:bodyPr/>
          <a:lstStyle/>
          <a:p>
            <a:endParaRPr lang="en-PK"/>
          </a:p>
        </p:txBody>
      </p:sp>
      <p:sp>
        <p:nvSpPr>
          <p:cNvPr id="8" name="Shape 6"/>
          <p:cNvSpPr/>
          <p:nvPr/>
        </p:nvSpPr>
        <p:spPr>
          <a:xfrm>
            <a:off x="566928" y="6437376"/>
            <a:ext cx="11057839" cy="0"/>
          </a:xfrm>
          <a:prstGeom prst="line">
            <a:avLst/>
          </a:prstGeom>
          <a:noFill/>
          <a:ln w="9525">
            <a:solidFill>
              <a:srgbClr val="D9DCE3"/>
            </a:solidFill>
            <a:prstDash val="solid"/>
          </a:ln>
        </p:spPr>
        <p:txBody>
          <a:bodyPr/>
          <a:lstStyle/>
          <a:p>
            <a:endParaRPr lang="en-PK"/>
          </a:p>
        </p:txBody>
      </p:sp>
      <p:sp>
        <p:nvSpPr>
          <p:cNvPr id="9" name="Text 7"/>
          <p:cNvSpPr txBox="1"/>
          <p:nvPr/>
        </p:nvSpPr>
        <p:spPr>
          <a:xfrm>
            <a:off x="566928" y="6510528"/>
            <a:ext cx="5943600" cy="237744"/>
          </a:xfrm>
          <a:prstGeom prst="rect">
            <a:avLst/>
          </a:prstGeom>
          <a:noFill/>
          <a:ln/>
        </p:spPr>
        <p:txBody>
          <a:bodyPr wrap="square" lIns="0" tIns="0" rIns="0" bIns="0" rtlCol="0" anchor="ctr"/>
          <a:lstStyle/>
          <a:p>
            <a:pPr marL="0" indent="0">
              <a:buNone/>
            </a:pPr>
            <a:r>
              <a:rPr lang="en-US" sz="1050" kern="0" spc="7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10" name="Text 8"/>
          <p:cNvSpPr txBox="1"/>
          <p:nvPr/>
        </p:nvSpPr>
        <p:spPr>
          <a:xfrm>
            <a:off x="10527487" y="6510528"/>
            <a:ext cx="1097280" cy="237744"/>
          </a:xfrm>
          <a:prstGeom prst="rect">
            <a:avLst/>
          </a:prstGeom>
          <a:noFill/>
          <a:ln/>
        </p:spPr>
        <p:txBody>
          <a:bodyPr wrap="square" lIns="0" tIns="0" rIns="0" bIns="0" rtlCol="0" anchor="ctr"/>
          <a:lstStyle/>
          <a:p>
            <a:pPr marL="0" indent="0" algn="r">
              <a:buNone/>
            </a:pPr>
            <a:r>
              <a:rPr lang="en-US" sz="1050" b="1" dirty="0">
                <a:solidFill>
                  <a:srgbClr val="8E6A1F"/>
                </a:solidFill>
                <a:latin typeface="Consolas" pitchFamily="34" charset="0"/>
                <a:ea typeface="Consolas" pitchFamily="34" charset="-122"/>
                <a:cs typeface="Consolas" pitchFamily="34" charset="-120"/>
              </a:rPr>
              <a:t>9 / 10</a:t>
            </a:r>
            <a:endParaRPr lang="en-US" sz="1050" dirty="0"/>
          </a:p>
        </p:txBody>
      </p:sp>
      <p:sp>
        <p:nvSpPr>
          <p:cNvPr id="11" name="Shape 9"/>
          <p:cNvSpPr/>
          <p:nvPr/>
        </p:nvSpPr>
        <p:spPr>
          <a:xfrm>
            <a:off x="587045" y="1269187"/>
            <a:ext cx="3551834" cy="2359152"/>
          </a:xfrm>
          <a:prstGeom prst="roundRect">
            <a:avLst>
              <a:gd name="adj" fmla="val 2326"/>
            </a:avLst>
          </a:prstGeom>
          <a:solidFill>
            <a:srgbClr val="E4E6EB"/>
          </a:solidFill>
          <a:ln/>
        </p:spPr>
        <p:txBody>
          <a:bodyPr/>
          <a:lstStyle/>
          <a:p>
            <a:endParaRPr lang="en-PK"/>
          </a:p>
        </p:txBody>
      </p:sp>
      <p:sp>
        <p:nvSpPr>
          <p:cNvPr id="12" name="Shape 10"/>
          <p:cNvSpPr/>
          <p:nvPr/>
        </p:nvSpPr>
        <p:spPr>
          <a:xfrm>
            <a:off x="566928" y="1243584"/>
            <a:ext cx="3551834" cy="2359152"/>
          </a:xfrm>
          <a:prstGeom prst="roundRect">
            <a:avLst>
              <a:gd name="adj" fmla="val 2326"/>
            </a:avLst>
          </a:prstGeom>
          <a:solidFill>
            <a:srgbClr val="E3EFF1"/>
          </a:solidFill>
          <a:ln w="9525">
            <a:solidFill>
              <a:srgbClr val="D9DCE3"/>
            </a:solidFill>
            <a:prstDash val="solid"/>
          </a:ln>
        </p:spPr>
        <p:txBody>
          <a:bodyPr/>
          <a:lstStyle/>
          <a:p>
            <a:endParaRPr lang="en-PK"/>
          </a:p>
        </p:txBody>
      </p:sp>
      <p:sp>
        <p:nvSpPr>
          <p:cNvPr id="13" name="Shape 11"/>
          <p:cNvSpPr/>
          <p:nvPr/>
        </p:nvSpPr>
        <p:spPr>
          <a:xfrm>
            <a:off x="566928" y="1298448"/>
            <a:ext cx="41148" cy="2249424"/>
          </a:xfrm>
          <a:prstGeom prst="rect">
            <a:avLst/>
          </a:prstGeom>
          <a:solidFill>
            <a:srgbClr val="15707A"/>
          </a:solidFill>
          <a:ln/>
        </p:spPr>
        <p:txBody>
          <a:bodyPr/>
          <a:lstStyle/>
          <a:p>
            <a:endParaRPr lang="en-PK"/>
          </a:p>
        </p:txBody>
      </p:sp>
      <p:sp>
        <p:nvSpPr>
          <p:cNvPr id="14" name="Text 12"/>
          <p:cNvSpPr txBox="1"/>
          <p:nvPr/>
        </p:nvSpPr>
        <p:spPr>
          <a:xfrm>
            <a:off x="749808" y="1353312"/>
            <a:ext cx="3186074" cy="292608"/>
          </a:xfrm>
          <a:prstGeom prst="rect">
            <a:avLst/>
          </a:prstGeom>
          <a:noFill/>
          <a:ln/>
        </p:spPr>
        <p:txBody>
          <a:bodyPr wrap="square" lIns="0" tIns="0" rIns="0" bIns="0" rtlCol="0" anchor="ctr"/>
          <a:lstStyle/>
          <a:p>
            <a:pPr marL="0" indent="0">
              <a:buNone/>
            </a:pPr>
            <a:r>
              <a:rPr lang="en-US" sz="1750" b="1" dirty="0">
                <a:solidFill>
                  <a:srgbClr val="1B202A"/>
                </a:solidFill>
                <a:latin typeface="Georgia" pitchFamily="34" charset="0"/>
                <a:ea typeface="Georgia" pitchFamily="34" charset="-122"/>
                <a:cs typeface="Georgia" pitchFamily="34" charset="-120"/>
              </a:rPr>
              <a:t>Shahoud Shahid</a:t>
            </a:r>
            <a:r>
              <a:rPr lang="en-US" sz="1250" dirty="0">
                <a:solidFill>
                  <a:srgbClr val="596273"/>
                </a:solidFill>
                <a:latin typeface="Consolas" pitchFamily="34" charset="0"/>
                <a:ea typeface="Consolas" pitchFamily="34" charset="-122"/>
                <a:cs typeface="Consolas" pitchFamily="34" charset="-120"/>
              </a:rPr>
              <a:t>   23i-2515</a:t>
            </a:r>
            <a:endParaRPr lang="en-US" sz="1750" dirty="0"/>
          </a:p>
        </p:txBody>
      </p:sp>
      <p:sp>
        <p:nvSpPr>
          <p:cNvPr id="15" name="Shape 13"/>
          <p:cNvSpPr/>
          <p:nvPr/>
        </p:nvSpPr>
        <p:spPr>
          <a:xfrm>
            <a:off x="749808" y="1700784"/>
            <a:ext cx="2011680" cy="274320"/>
          </a:xfrm>
          <a:prstGeom prst="roundRect">
            <a:avLst>
              <a:gd name="adj" fmla="val 50000"/>
            </a:avLst>
          </a:prstGeom>
          <a:solidFill>
            <a:srgbClr val="15707A"/>
          </a:solidFill>
          <a:ln/>
        </p:spPr>
        <p:txBody>
          <a:bodyPr/>
          <a:lstStyle/>
          <a:p>
            <a:endParaRPr lang="en-PK"/>
          </a:p>
        </p:txBody>
      </p:sp>
      <p:sp>
        <p:nvSpPr>
          <p:cNvPr id="16" name="Text 14"/>
          <p:cNvSpPr txBox="1"/>
          <p:nvPr/>
        </p:nvSpPr>
        <p:spPr>
          <a:xfrm>
            <a:off x="749808" y="1700784"/>
            <a:ext cx="2011680" cy="274320"/>
          </a:xfrm>
          <a:prstGeom prst="rect">
            <a:avLst/>
          </a:prstGeom>
          <a:noFill/>
          <a:ln/>
        </p:spPr>
        <p:txBody>
          <a:bodyPr wrap="square" lIns="0" tIns="0" rIns="0" bIns="0" rtlCol="0" anchor="ctr"/>
          <a:lstStyle/>
          <a:p>
            <a:pPr marL="0" indent="0" algn="ctr">
              <a:buNone/>
            </a:pPr>
            <a:r>
              <a:rPr lang="en-US" sz="1250" b="1" dirty="0">
                <a:solidFill>
                  <a:srgbClr val="F5F6F8"/>
                </a:solidFill>
                <a:latin typeface="Consolas" pitchFamily="34" charset="0"/>
                <a:ea typeface="Consolas" pitchFamily="34" charset="-122"/>
                <a:cs typeface="Consolas" pitchFamily="34" charset="-120"/>
              </a:rPr>
              <a:t>DATA / BENCHMARK</a:t>
            </a:r>
            <a:endParaRPr lang="en-US" sz="1250" dirty="0"/>
          </a:p>
        </p:txBody>
      </p:sp>
      <p:sp>
        <p:nvSpPr>
          <p:cNvPr id="17" name="Text 15"/>
          <p:cNvSpPr txBox="1"/>
          <p:nvPr/>
        </p:nvSpPr>
        <p:spPr>
          <a:xfrm>
            <a:off x="749808" y="2048256"/>
            <a:ext cx="3186074" cy="1115568"/>
          </a:xfrm>
          <a:prstGeom prst="rect">
            <a:avLst/>
          </a:prstGeom>
          <a:noFill/>
          <a:ln/>
        </p:spPr>
        <p:txBody>
          <a:bodyPr wrap="square" lIns="0" tIns="0" rIns="0" bIns="0" rtlCol="0" anchor="t"/>
          <a:lstStyle/>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Framework instrumentation (CrewAI, LangGraph)</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Fault injection + labelling</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Benchmark build &amp; release</a:t>
            </a:r>
            <a:endParaRPr lang="en-US" sz="1300" dirty="0"/>
          </a:p>
        </p:txBody>
      </p:sp>
      <p:sp>
        <p:nvSpPr>
          <p:cNvPr id="18" name="Shape 16"/>
          <p:cNvSpPr/>
          <p:nvPr/>
        </p:nvSpPr>
        <p:spPr>
          <a:xfrm>
            <a:off x="749808" y="3218688"/>
            <a:ext cx="3186074" cy="0"/>
          </a:xfrm>
          <a:prstGeom prst="line">
            <a:avLst/>
          </a:prstGeom>
          <a:noFill/>
          <a:ln w="9525">
            <a:solidFill>
              <a:srgbClr val="15707A"/>
            </a:solidFill>
            <a:prstDash val="solid"/>
          </a:ln>
        </p:spPr>
        <p:txBody>
          <a:bodyPr/>
          <a:lstStyle/>
          <a:p>
            <a:endParaRPr lang="en-PK"/>
          </a:p>
        </p:txBody>
      </p:sp>
      <p:sp>
        <p:nvSpPr>
          <p:cNvPr id="19" name="Text 17"/>
          <p:cNvSpPr txBox="1"/>
          <p:nvPr/>
        </p:nvSpPr>
        <p:spPr>
          <a:xfrm>
            <a:off x="749808" y="3273552"/>
            <a:ext cx="3186074" cy="310896"/>
          </a:xfrm>
          <a:prstGeom prst="rect">
            <a:avLst/>
          </a:prstGeom>
          <a:noFill/>
          <a:ln/>
        </p:spPr>
        <p:txBody>
          <a:bodyPr wrap="square" lIns="0" tIns="0" rIns="0" bIns="0" rtlCol="0" anchor="ctr"/>
          <a:lstStyle/>
          <a:p>
            <a:pPr marL="0" indent="0">
              <a:buNone/>
            </a:pPr>
            <a:r>
              <a:rPr lang="en-US" sz="1150" i="1" dirty="0">
                <a:solidFill>
                  <a:srgbClr val="596273"/>
                </a:solidFill>
                <a:latin typeface="Calibri" pitchFamily="34" charset="0"/>
                <a:ea typeface="Calibri" pitchFamily="34" charset="-122"/>
                <a:cs typeface="Calibri" pitchFamily="34" charset="-120"/>
              </a:rPr>
              <a:t>If removed: no cross-architecture benchmark — the core research claim is untestable</a:t>
            </a:r>
            <a:endParaRPr lang="en-US" sz="1150" dirty="0"/>
          </a:p>
        </p:txBody>
      </p:sp>
      <p:sp>
        <p:nvSpPr>
          <p:cNvPr id="20" name="Shape 18"/>
          <p:cNvSpPr/>
          <p:nvPr/>
        </p:nvSpPr>
        <p:spPr>
          <a:xfrm>
            <a:off x="4340047" y="1269187"/>
            <a:ext cx="3551834" cy="2359152"/>
          </a:xfrm>
          <a:prstGeom prst="roundRect">
            <a:avLst>
              <a:gd name="adj" fmla="val 2326"/>
            </a:avLst>
          </a:prstGeom>
          <a:solidFill>
            <a:srgbClr val="E4E6EB"/>
          </a:solidFill>
          <a:ln/>
        </p:spPr>
        <p:txBody>
          <a:bodyPr/>
          <a:lstStyle/>
          <a:p>
            <a:endParaRPr lang="en-PK"/>
          </a:p>
        </p:txBody>
      </p:sp>
      <p:sp>
        <p:nvSpPr>
          <p:cNvPr id="21" name="Shape 19"/>
          <p:cNvSpPr/>
          <p:nvPr/>
        </p:nvSpPr>
        <p:spPr>
          <a:xfrm>
            <a:off x="4319930" y="1243584"/>
            <a:ext cx="3551834" cy="2359152"/>
          </a:xfrm>
          <a:prstGeom prst="roundRect">
            <a:avLst>
              <a:gd name="adj" fmla="val 2326"/>
            </a:avLst>
          </a:prstGeom>
          <a:solidFill>
            <a:srgbClr val="F6EADD"/>
          </a:solidFill>
          <a:ln w="9525">
            <a:solidFill>
              <a:srgbClr val="D9DCE3"/>
            </a:solidFill>
            <a:prstDash val="solid"/>
          </a:ln>
        </p:spPr>
        <p:txBody>
          <a:bodyPr/>
          <a:lstStyle/>
          <a:p>
            <a:endParaRPr lang="en-PK"/>
          </a:p>
        </p:txBody>
      </p:sp>
      <p:sp>
        <p:nvSpPr>
          <p:cNvPr id="22" name="Shape 20"/>
          <p:cNvSpPr/>
          <p:nvPr/>
        </p:nvSpPr>
        <p:spPr>
          <a:xfrm>
            <a:off x="4319930" y="1298448"/>
            <a:ext cx="41148" cy="2249424"/>
          </a:xfrm>
          <a:prstGeom prst="rect">
            <a:avLst/>
          </a:prstGeom>
          <a:solidFill>
            <a:srgbClr val="B05C1C"/>
          </a:solidFill>
          <a:ln/>
        </p:spPr>
        <p:txBody>
          <a:bodyPr/>
          <a:lstStyle/>
          <a:p>
            <a:endParaRPr lang="en-PK"/>
          </a:p>
        </p:txBody>
      </p:sp>
      <p:sp>
        <p:nvSpPr>
          <p:cNvPr id="23" name="Text 21"/>
          <p:cNvSpPr txBox="1"/>
          <p:nvPr/>
        </p:nvSpPr>
        <p:spPr>
          <a:xfrm>
            <a:off x="4502810" y="1353312"/>
            <a:ext cx="3186074" cy="292608"/>
          </a:xfrm>
          <a:prstGeom prst="rect">
            <a:avLst/>
          </a:prstGeom>
          <a:noFill/>
          <a:ln/>
        </p:spPr>
        <p:txBody>
          <a:bodyPr wrap="square" lIns="0" tIns="0" rIns="0" bIns="0" rtlCol="0" anchor="ctr"/>
          <a:lstStyle/>
          <a:p>
            <a:pPr marL="0" indent="0">
              <a:buNone/>
            </a:pPr>
            <a:r>
              <a:rPr lang="en-US" sz="1750" b="1" dirty="0">
                <a:solidFill>
                  <a:srgbClr val="1B202A"/>
                </a:solidFill>
                <a:latin typeface="Georgia" pitchFamily="34" charset="0"/>
                <a:ea typeface="Georgia" pitchFamily="34" charset="-122"/>
                <a:cs typeface="Georgia" pitchFamily="34" charset="-120"/>
              </a:rPr>
              <a:t>Muhammad Noor</a:t>
            </a:r>
            <a:r>
              <a:rPr lang="en-US" sz="1250" dirty="0">
                <a:solidFill>
                  <a:srgbClr val="596273"/>
                </a:solidFill>
                <a:latin typeface="Consolas" pitchFamily="34" charset="0"/>
                <a:ea typeface="Consolas" pitchFamily="34" charset="-122"/>
                <a:cs typeface="Consolas" pitchFamily="34" charset="-120"/>
              </a:rPr>
              <a:t>   23i-2520</a:t>
            </a:r>
            <a:endParaRPr lang="en-US" sz="1750" dirty="0"/>
          </a:p>
        </p:txBody>
      </p:sp>
      <p:sp>
        <p:nvSpPr>
          <p:cNvPr id="24" name="Shape 22"/>
          <p:cNvSpPr/>
          <p:nvPr/>
        </p:nvSpPr>
        <p:spPr>
          <a:xfrm>
            <a:off x="4502810" y="1700784"/>
            <a:ext cx="2011680" cy="274320"/>
          </a:xfrm>
          <a:prstGeom prst="roundRect">
            <a:avLst>
              <a:gd name="adj" fmla="val 50000"/>
            </a:avLst>
          </a:prstGeom>
          <a:solidFill>
            <a:srgbClr val="B05C1C"/>
          </a:solidFill>
          <a:ln/>
        </p:spPr>
        <p:txBody>
          <a:bodyPr/>
          <a:lstStyle/>
          <a:p>
            <a:endParaRPr lang="en-PK"/>
          </a:p>
        </p:txBody>
      </p:sp>
      <p:sp>
        <p:nvSpPr>
          <p:cNvPr id="25" name="Text 23"/>
          <p:cNvSpPr txBox="1"/>
          <p:nvPr/>
        </p:nvSpPr>
        <p:spPr>
          <a:xfrm>
            <a:off x="4502810" y="1700784"/>
            <a:ext cx="2011680" cy="274320"/>
          </a:xfrm>
          <a:prstGeom prst="rect">
            <a:avLst/>
          </a:prstGeom>
          <a:noFill/>
          <a:ln/>
        </p:spPr>
        <p:txBody>
          <a:bodyPr wrap="square" lIns="0" tIns="0" rIns="0" bIns="0" rtlCol="0" anchor="ctr"/>
          <a:lstStyle/>
          <a:p>
            <a:pPr marL="0" indent="0" algn="ctr">
              <a:buNone/>
            </a:pPr>
            <a:r>
              <a:rPr lang="en-US" sz="1250" b="1" dirty="0">
                <a:solidFill>
                  <a:srgbClr val="F5F6F8"/>
                </a:solidFill>
                <a:latin typeface="Consolas" pitchFamily="34" charset="0"/>
                <a:ea typeface="Consolas" pitchFamily="34" charset="-122"/>
                <a:cs typeface="Consolas" pitchFamily="34" charset="-120"/>
              </a:rPr>
              <a:t>DIAGNOSIS ENGINE</a:t>
            </a:r>
            <a:endParaRPr lang="en-US" sz="1250" dirty="0"/>
          </a:p>
        </p:txBody>
      </p:sp>
      <p:sp>
        <p:nvSpPr>
          <p:cNvPr id="26" name="Text 24"/>
          <p:cNvSpPr txBox="1"/>
          <p:nvPr/>
        </p:nvSpPr>
        <p:spPr>
          <a:xfrm>
            <a:off x="4502810" y="2048256"/>
            <a:ext cx="3186074" cy="1115568"/>
          </a:xfrm>
          <a:prstGeom prst="rect">
            <a:avLst/>
          </a:prstGeom>
          <a:noFill/>
          <a:ln/>
        </p:spPr>
        <p:txBody>
          <a:bodyPr wrap="square" lIns="0" tIns="0" rIns="0" bIns="0" rtlCol="0" anchor="t"/>
          <a:lstStyle/>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Graph construction + trace normalization</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ErrorProbe reproduction and baseline</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Semantic Error Diagnostic + causal tracing</a:t>
            </a:r>
            <a:endParaRPr lang="en-US" sz="1300" dirty="0"/>
          </a:p>
        </p:txBody>
      </p:sp>
      <p:sp>
        <p:nvSpPr>
          <p:cNvPr id="27" name="Shape 25"/>
          <p:cNvSpPr/>
          <p:nvPr/>
        </p:nvSpPr>
        <p:spPr>
          <a:xfrm>
            <a:off x="4502810" y="3218688"/>
            <a:ext cx="3186074" cy="0"/>
          </a:xfrm>
          <a:prstGeom prst="line">
            <a:avLst/>
          </a:prstGeom>
          <a:noFill/>
          <a:ln w="9525">
            <a:solidFill>
              <a:srgbClr val="B05C1C"/>
            </a:solidFill>
            <a:prstDash val="solid"/>
          </a:ln>
        </p:spPr>
        <p:txBody>
          <a:bodyPr/>
          <a:lstStyle/>
          <a:p>
            <a:endParaRPr lang="en-PK"/>
          </a:p>
        </p:txBody>
      </p:sp>
      <p:sp>
        <p:nvSpPr>
          <p:cNvPr id="28" name="Text 26"/>
          <p:cNvSpPr txBox="1"/>
          <p:nvPr/>
        </p:nvSpPr>
        <p:spPr>
          <a:xfrm>
            <a:off x="4502810" y="3273552"/>
            <a:ext cx="3186074" cy="310896"/>
          </a:xfrm>
          <a:prstGeom prst="rect">
            <a:avLst/>
          </a:prstGeom>
          <a:noFill/>
          <a:ln/>
        </p:spPr>
        <p:txBody>
          <a:bodyPr wrap="square" lIns="0" tIns="0" rIns="0" bIns="0" rtlCol="0" anchor="ctr"/>
          <a:lstStyle/>
          <a:p>
            <a:pPr marL="0" indent="0">
              <a:buNone/>
            </a:pPr>
            <a:r>
              <a:rPr lang="en-US" sz="1150" i="1" dirty="0">
                <a:solidFill>
                  <a:srgbClr val="596273"/>
                </a:solidFill>
                <a:latin typeface="Calibri" pitchFamily="34" charset="0"/>
                <a:ea typeface="Calibri" pitchFamily="34" charset="-122"/>
                <a:cs typeface="Calibri" pitchFamily="34" charset="-120"/>
              </a:rPr>
              <a:t>If removed: no attribution algorithm, no silent-failure detection — the contribution disappears</a:t>
            </a:r>
            <a:endParaRPr lang="en-US" sz="1150" dirty="0"/>
          </a:p>
        </p:txBody>
      </p:sp>
      <p:sp>
        <p:nvSpPr>
          <p:cNvPr id="29" name="Shape 27"/>
          <p:cNvSpPr/>
          <p:nvPr/>
        </p:nvSpPr>
        <p:spPr>
          <a:xfrm>
            <a:off x="8093050" y="1269187"/>
            <a:ext cx="3551834" cy="2359152"/>
          </a:xfrm>
          <a:prstGeom prst="roundRect">
            <a:avLst>
              <a:gd name="adj" fmla="val 2326"/>
            </a:avLst>
          </a:prstGeom>
          <a:solidFill>
            <a:srgbClr val="E4E6EB"/>
          </a:solidFill>
          <a:ln/>
        </p:spPr>
        <p:txBody>
          <a:bodyPr/>
          <a:lstStyle/>
          <a:p>
            <a:endParaRPr lang="en-PK"/>
          </a:p>
        </p:txBody>
      </p:sp>
      <p:sp>
        <p:nvSpPr>
          <p:cNvPr id="30" name="Shape 28"/>
          <p:cNvSpPr/>
          <p:nvPr/>
        </p:nvSpPr>
        <p:spPr>
          <a:xfrm>
            <a:off x="8072933" y="1243584"/>
            <a:ext cx="3551834" cy="2359152"/>
          </a:xfrm>
          <a:prstGeom prst="roundRect">
            <a:avLst>
              <a:gd name="adj" fmla="val 2326"/>
            </a:avLst>
          </a:prstGeom>
          <a:solidFill>
            <a:srgbClr val="E4E9F2"/>
          </a:solidFill>
          <a:ln w="9525">
            <a:solidFill>
              <a:srgbClr val="D9DCE3"/>
            </a:solidFill>
            <a:prstDash val="solid"/>
          </a:ln>
        </p:spPr>
        <p:txBody>
          <a:bodyPr/>
          <a:lstStyle/>
          <a:p>
            <a:endParaRPr lang="en-PK"/>
          </a:p>
        </p:txBody>
      </p:sp>
      <p:sp>
        <p:nvSpPr>
          <p:cNvPr id="31" name="Shape 29"/>
          <p:cNvSpPr/>
          <p:nvPr/>
        </p:nvSpPr>
        <p:spPr>
          <a:xfrm>
            <a:off x="8072933" y="1298448"/>
            <a:ext cx="41148" cy="2249424"/>
          </a:xfrm>
          <a:prstGeom prst="rect">
            <a:avLst/>
          </a:prstGeom>
          <a:solidFill>
            <a:srgbClr val="31558F"/>
          </a:solidFill>
          <a:ln/>
        </p:spPr>
        <p:txBody>
          <a:bodyPr/>
          <a:lstStyle/>
          <a:p>
            <a:endParaRPr lang="en-PK"/>
          </a:p>
        </p:txBody>
      </p:sp>
      <p:sp>
        <p:nvSpPr>
          <p:cNvPr id="32" name="Text 30"/>
          <p:cNvSpPr txBox="1"/>
          <p:nvPr/>
        </p:nvSpPr>
        <p:spPr>
          <a:xfrm>
            <a:off x="8255813" y="1353312"/>
            <a:ext cx="3186074" cy="292608"/>
          </a:xfrm>
          <a:prstGeom prst="rect">
            <a:avLst/>
          </a:prstGeom>
          <a:noFill/>
          <a:ln/>
        </p:spPr>
        <p:txBody>
          <a:bodyPr wrap="square" lIns="0" tIns="0" rIns="0" bIns="0" rtlCol="0" anchor="ctr"/>
          <a:lstStyle/>
          <a:p>
            <a:pPr marL="0" indent="0">
              <a:buNone/>
            </a:pPr>
            <a:r>
              <a:rPr lang="en-US" sz="1750" b="1" dirty="0">
                <a:solidFill>
                  <a:srgbClr val="1B202A"/>
                </a:solidFill>
                <a:latin typeface="Georgia" pitchFamily="34" charset="0"/>
                <a:ea typeface="Georgia" pitchFamily="34" charset="-122"/>
                <a:cs typeface="Georgia" pitchFamily="34" charset="-120"/>
              </a:rPr>
              <a:t>Saif Shahzad</a:t>
            </a:r>
            <a:r>
              <a:rPr lang="en-US" sz="1250" dirty="0">
                <a:solidFill>
                  <a:srgbClr val="596273"/>
                </a:solidFill>
                <a:latin typeface="Consolas" pitchFamily="34" charset="0"/>
                <a:ea typeface="Consolas" pitchFamily="34" charset="-122"/>
                <a:cs typeface="Consolas" pitchFamily="34" charset="-120"/>
              </a:rPr>
              <a:t>   23i-2634</a:t>
            </a:r>
            <a:endParaRPr lang="en-US" sz="1750" dirty="0"/>
          </a:p>
        </p:txBody>
      </p:sp>
      <p:sp>
        <p:nvSpPr>
          <p:cNvPr id="33" name="Shape 31"/>
          <p:cNvSpPr/>
          <p:nvPr/>
        </p:nvSpPr>
        <p:spPr>
          <a:xfrm>
            <a:off x="8255813" y="1700784"/>
            <a:ext cx="2011680" cy="274320"/>
          </a:xfrm>
          <a:prstGeom prst="roundRect">
            <a:avLst>
              <a:gd name="adj" fmla="val 50000"/>
            </a:avLst>
          </a:prstGeom>
          <a:solidFill>
            <a:srgbClr val="31558F"/>
          </a:solidFill>
          <a:ln/>
        </p:spPr>
        <p:txBody>
          <a:bodyPr/>
          <a:lstStyle/>
          <a:p>
            <a:endParaRPr lang="en-PK"/>
          </a:p>
        </p:txBody>
      </p:sp>
      <p:sp>
        <p:nvSpPr>
          <p:cNvPr id="34" name="Text 32"/>
          <p:cNvSpPr txBox="1"/>
          <p:nvPr/>
        </p:nvSpPr>
        <p:spPr>
          <a:xfrm>
            <a:off x="8255813" y="1700784"/>
            <a:ext cx="2011680" cy="274320"/>
          </a:xfrm>
          <a:prstGeom prst="rect">
            <a:avLst/>
          </a:prstGeom>
          <a:noFill/>
          <a:ln/>
        </p:spPr>
        <p:txBody>
          <a:bodyPr wrap="square" lIns="0" tIns="0" rIns="0" bIns="0" rtlCol="0" anchor="ctr"/>
          <a:lstStyle/>
          <a:p>
            <a:pPr marL="0" indent="0" algn="ctr">
              <a:buNone/>
            </a:pPr>
            <a:r>
              <a:rPr lang="en-US" sz="1250" b="1" dirty="0">
                <a:solidFill>
                  <a:srgbClr val="F5F6F8"/>
                </a:solidFill>
                <a:latin typeface="Consolas" pitchFamily="34" charset="0"/>
                <a:ea typeface="Consolas" pitchFamily="34" charset="-122"/>
                <a:cs typeface="Consolas" pitchFamily="34" charset="-120"/>
              </a:rPr>
              <a:t>PLATFORM</a:t>
            </a:r>
            <a:endParaRPr lang="en-US" sz="1250" dirty="0"/>
          </a:p>
        </p:txBody>
      </p:sp>
      <p:sp>
        <p:nvSpPr>
          <p:cNvPr id="35" name="Text 33"/>
          <p:cNvSpPr txBox="1"/>
          <p:nvPr/>
        </p:nvSpPr>
        <p:spPr>
          <a:xfrm>
            <a:off x="8255813" y="2048256"/>
            <a:ext cx="3186074" cy="1115568"/>
          </a:xfrm>
          <a:prstGeom prst="rect">
            <a:avLst/>
          </a:prstGeom>
          <a:noFill/>
          <a:ln/>
        </p:spPr>
        <p:txBody>
          <a:bodyPr wrap="square" lIns="0" tIns="0" rIns="0" bIns="0" rtlCol="0" anchor="t"/>
          <a:lstStyle/>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Counterfactual replay + Recovery Controller</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Framework-agnostic SDK, FastAPI, Postgres</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Dashboard, containerized deployment</a:t>
            </a:r>
            <a:endParaRPr lang="en-US" sz="1300" dirty="0"/>
          </a:p>
        </p:txBody>
      </p:sp>
      <p:sp>
        <p:nvSpPr>
          <p:cNvPr id="36" name="Shape 34"/>
          <p:cNvSpPr/>
          <p:nvPr/>
        </p:nvSpPr>
        <p:spPr>
          <a:xfrm>
            <a:off x="8255813" y="3218688"/>
            <a:ext cx="3186074" cy="0"/>
          </a:xfrm>
          <a:prstGeom prst="line">
            <a:avLst/>
          </a:prstGeom>
          <a:noFill/>
          <a:ln w="9525">
            <a:solidFill>
              <a:srgbClr val="31558F"/>
            </a:solidFill>
            <a:prstDash val="solid"/>
          </a:ln>
        </p:spPr>
        <p:txBody>
          <a:bodyPr/>
          <a:lstStyle/>
          <a:p>
            <a:endParaRPr lang="en-PK"/>
          </a:p>
        </p:txBody>
      </p:sp>
      <p:sp>
        <p:nvSpPr>
          <p:cNvPr id="37" name="Text 35"/>
          <p:cNvSpPr txBox="1"/>
          <p:nvPr/>
        </p:nvSpPr>
        <p:spPr>
          <a:xfrm>
            <a:off x="8255813" y="3273552"/>
            <a:ext cx="3186074" cy="310896"/>
          </a:xfrm>
          <a:prstGeom prst="rect">
            <a:avLst/>
          </a:prstGeom>
          <a:noFill/>
          <a:ln/>
        </p:spPr>
        <p:txBody>
          <a:bodyPr wrap="square" lIns="0" tIns="0" rIns="0" bIns="0" rtlCol="0" anchor="ctr"/>
          <a:lstStyle/>
          <a:p>
            <a:pPr marL="0" indent="0">
              <a:buNone/>
            </a:pPr>
            <a:r>
              <a:rPr lang="en-US" sz="1150" i="1" dirty="0">
                <a:solidFill>
                  <a:srgbClr val="596273"/>
                </a:solidFill>
                <a:latin typeface="Calibri" pitchFamily="34" charset="0"/>
                <a:ea typeface="Calibri" pitchFamily="34" charset="-122"/>
                <a:cs typeface="Calibri" pitchFamily="34" charset="-120"/>
              </a:rPr>
              <a:t>If removed: nothing is installable or operable outside the dev machine</a:t>
            </a:r>
            <a:endParaRPr lang="en-US" sz="1150" dirty="0"/>
          </a:p>
        </p:txBody>
      </p:sp>
      <p:sp>
        <p:nvSpPr>
          <p:cNvPr id="38" name="Shape 36"/>
          <p:cNvSpPr/>
          <p:nvPr/>
        </p:nvSpPr>
        <p:spPr>
          <a:xfrm>
            <a:off x="587045" y="3701491"/>
            <a:ext cx="3551834" cy="969264"/>
          </a:xfrm>
          <a:prstGeom prst="roundRect">
            <a:avLst>
              <a:gd name="adj" fmla="val 5660"/>
            </a:avLst>
          </a:prstGeom>
          <a:solidFill>
            <a:srgbClr val="E4E6EB"/>
          </a:solidFill>
          <a:ln/>
        </p:spPr>
        <p:txBody>
          <a:bodyPr/>
          <a:lstStyle/>
          <a:p>
            <a:endParaRPr lang="en-PK"/>
          </a:p>
        </p:txBody>
      </p:sp>
      <p:sp>
        <p:nvSpPr>
          <p:cNvPr id="39" name="Shape 37"/>
          <p:cNvSpPr/>
          <p:nvPr/>
        </p:nvSpPr>
        <p:spPr>
          <a:xfrm>
            <a:off x="566928" y="3675888"/>
            <a:ext cx="3551834" cy="969264"/>
          </a:xfrm>
          <a:prstGeom prst="roundRect">
            <a:avLst>
              <a:gd name="adj" fmla="val 5660"/>
            </a:avLst>
          </a:prstGeom>
          <a:solidFill>
            <a:srgbClr val="F1F2F5"/>
          </a:solidFill>
          <a:ln w="9525">
            <a:solidFill>
              <a:srgbClr val="D9DCE3"/>
            </a:solidFill>
            <a:prstDash val="solid"/>
          </a:ln>
        </p:spPr>
        <p:txBody>
          <a:bodyPr/>
          <a:lstStyle/>
          <a:p>
            <a:endParaRPr lang="en-PK"/>
          </a:p>
        </p:txBody>
      </p:sp>
      <p:sp>
        <p:nvSpPr>
          <p:cNvPr id="40" name="Shape 38"/>
          <p:cNvSpPr/>
          <p:nvPr/>
        </p:nvSpPr>
        <p:spPr>
          <a:xfrm>
            <a:off x="566928" y="3730752"/>
            <a:ext cx="41148" cy="859536"/>
          </a:xfrm>
          <a:prstGeom prst="rect">
            <a:avLst/>
          </a:prstGeom>
          <a:solidFill>
            <a:srgbClr val="1E7A52"/>
          </a:solidFill>
          <a:ln/>
        </p:spPr>
        <p:txBody>
          <a:bodyPr/>
          <a:lstStyle/>
          <a:p>
            <a:endParaRPr lang="en-PK"/>
          </a:p>
        </p:txBody>
      </p:sp>
      <p:sp>
        <p:nvSpPr>
          <p:cNvPr id="41" name="Text 39"/>
          <p:cNvSpPr txBox="1"/>
          <p:nvPr/>
        </p:nvSpPr>
        <p:spPr>
          <a:xfrm>
            <a:off x="749808" y="3749040"/>
            <a:ext cx="3204362" cy="219456"/>
          </a:xfrm>
          <a:prstGeom prst="rect">
            <a:avLst/>
          </a:prstGeom>
          <a:noFill/>
          <a:ln/>
        </p:spPr>
        <p:txBody>
          <a:bodyPr wrap="square" lIns="0" tIns="0" rIns="0" bIns="0" rtlCol="0" anchor="ctr"/>
          <a:lstStyle/>
          <a:p>
            <a:pPr marL="0" indent="0">
              <a:buNone/>
            </a:pPr>
            <a:r>
              <a:rPr lang="en-US" sz="1130" b="1" kern="0" spc="40" dirty="0">
                <a:solidFill>
                  <a:srgbClr val="1E7A52"/>
                </a:solidFill>
                <a:latin typeface="Consolas" pitchFamily="34" charset="0"/>
                <a:ea typeface="Consolas" pitchFamily="34" charset="-122"/>
                <a:cs typeface="Consolas" pitchFamily="34" charset="-120"/>
              </a:rPr>
              <a:t>COMMITTED CORE</a:t>
            </a:r>
            <a:endParaRPr lang="en-US" sz="1130" dirty="0"/>
          </a:p>
        </p:txBody>
      </p:sp>
      <p:sp>
        <p:nvSpPr>
          <p:cNvPr id="42" name="Text 40"/>
          <p:cNvSpPr txBox="1"/>
          <p:nvPr/>
        </p:nvSpPr>
        <p:spPr>
          <a:xfrm>
            <a:off x="749808" y="3959352"/>
            <a:ext cx="3204362" cy="640080"/>
          </a:xfrm>
          <a:prstGeom prst="rect">
            <a:avLst/>
          </a:prstGeom>
          <a:noFill/>
          <a:ln/>
        </p:spPr>
        <p:txBody>
          <a:bodyPr wrap="square" lIns="0" tIns="0" rIns="0" bIns="0" rtlCol="0" anchor="ctr"/>
          <a:lstStyle/>
          <a:p>
            <a:pPr marL="0" indent="0">
              <a:buNone/>
            </a:pPr>
            <a:r>
              <a:rPr lang="en-US" sz="1130" dirty="0">
                <a:solidFill>
                  <a:srgbClr val="1B202A"/>
                </a:solidFill>
                <a:latin typeface="Calibri" pitchFamily="34" charset="0"/>
                <a:ea typeface="Calibri" pitchFamily="34" charset="-122"/>
                <a:cs typeface="Calibri" pitchFamily="34" charset="-120"/>
              </a:rPr>
              <a:t>Tier 1 — 8 items, evidence-backed. Tier 2 — 2 items, gated on Mid-1 criteria. 8 extensions after core works.</a:t>
            </a:r>
            <a:endParaRPr lang="en-US" sz="1130" dirty="0"/>
          </a:p>
        </p:txBody>
      </p:sp>
      <p:sp>
        <p:nvSpPr>
          <p:cNvPr id="43" name="Shape 41"/>
          <p:cNvSpPr/>
          <p:nvPr/>
        </p:nvSpPr>
        <p:spPr>
          <a:xfrm>
            <a:off x="4340047" y="3701491"/>
            <a:ext cx="3551834" cy="969264"/>
          </a:xfrm>
          <a:prstGeom prst="roundRect">
            <a:avLst>
              <a:gd name="adj" fmla="val 5660"/>
            </a:avLst>
          </a:prstGeom>
          <a:solidFill>
            <a:srgbClr val="E4E6EB"/>
          </a:solidFill>
          <a:ln/>
        </p:spPr>
        <p:txBody>
          <a:bodyPr/>
          <a:lstStyle/>
          <a:p>
            <a:endParaRPr lang="en-PK"/>
          </a:p>
        </p:txBody>
      </p:sp>
      <p:sp>
        <p:nvSpPr>
          <p:cNvPr id="44" name="Shape 42"/>
          <p:cNvSpPr/>
          <p:nvPr/>
        </p:nvSpPr>
        <p:spPr>
          <a:xfrm>
            <a:off x="4319930" y="3675888"/>
            <a:ext cx="3551834" cy="969264"/>
          </a:xfrm>
          <a:prstGeom prst="roundRect">
            <a:avLst>
              <a:gd name="adj" fmla="val 5660"/>
            </a:avLst>
          </a:prstGeom>
          <a:solidFill>
            <a:srgbClr val="F1F2F5"/>
          </a:solidFill>
          <a:ln w="9525">
            <a:solidFill>
              <a:srgbClr val="D9DCE3"/>
            </a:solidFill>
            <a:prstDash val="solid"/>
          </a:ln>
        </p:spPr>
        <p:txBody>
          <a:bodyPr/>
          <a:lstStyle/>
          <a:p>
            <a:endParaRPr lang="en-PK"/>
          </a:p>
        </p:txBody>
      </p:sp>
      <p:sp>
        <p:nvSpPr>
          <p:cNvPr id="45" name="Shape 43"/>
          <p:cNvSpPr/>
          <p:nvPr/>
        </p:nvSpPr>
        <p:spPr>
          <a:xfrm>
            <a:off x="4319930" y="3730752"/>
            <a:ext cx="41148" cy="859536"/>
          </a:xfrm>
          <a:prstGeom prst="rect">
            <a:avLst/>
          </a:prstGeom>
          <a:solidFill>
            <a:srgbClr val="A8760F"/>
          </a:solidFill>
          <a:ln/>
        </p:spPr>
        <p:txBody>
          <a:bodyPr/>
          <a:lstStyle/>
          <a:p>
            <a:endParaRPr lang="en-PK"/>
          </a:p>
        </p:txBody>
      </p:sp>
      <p:sp>
        <p:nvSpPr>
          <p:cNvPr id="46" name="Text 44"/>
          <p:cNvSpPr txBox="1"/>
          <p:nvPr/>
        </p:nvSpPr>
        <p:spPr>
          <a:xfrm>
            <a:off x="4502810" y="3749040"/>
            <a:ext cx="3204362" cy="219456"/>
          </a:xfrm>
          <a:prstGeom prst="rect">
            <a:avLst/>
          </a:prstGeom>
          <a:noFill/>
          <a:ln/>
        </p:spPr>
        <p:txBody>
          <a:bodyPr wrap="square" lIns="0" tIns="0" rIns="0" bIns="0" rtlCol="0" anchor="ctr"/>
          <a:lstStyle/>
          <a:p>
            <a:pPr marL="0" indent="0">
              <a:buNone/>
            </a:pPr>
            <a:r>
              <a:rPr lang="en-US" sz="1130" b="1" kern="0" spc="40" dirty="0">
                <a:solidFill>
                  <a:srgbClr val="A8760F"/>
                </a:solidFill>
                <a:latin typeface="Consolas" pitchFamily="34" charset="0"/>
                <a:ea typeface="Consolas" pitchFamily="34" charset="-122"/>
                <a:cs typeface="Consolas" pitchFamily="34" charset="-120"/>
              </a:rPr>
              <a:t>RESOURCES</a:t>
            </a:r>
            <a:endParaRPr lang="en-US" sz="1130" dirty="0"/>
          </a:p>
        </p:txBody>
      </p:sp>
      <p:sp>
        <p:nvSpPr>
          <p:cNvPr id="47" name="Text 45"/>
          <p:cNvSpPr txBox="1"/>
          <p:nvPr/>
        </p:nvSpPr>
        <p:spPr>
          <a:xfrm>
            <a:off x="4502810" y="3959352"/>
            <a:ext cx="3204362" cy="640080"/>
          </a:xfrm>
          <a:prstGeom prst="rect">
            <a:avLst/>
          </a:prstGeom>
          <a:noFill/>
          <a:ln/>
        </p:spPr>
        <p:txBody>
          <a:bodyPr wrap="square" lIns="0" tIns="0" rIns="0" bIns="0" rtlCol="0" anchor="ctr"/>
          <a:lstStyle/>
          <a:p>
            <a:pPr marL="0" indent="0">
              <a:buNone/>
            </a:pPr>
            <a:r>
              <a:rPr lang="en-US" sz="1130" dirty="0">
                <a:solidFill>
                  <a:srgbClr val="1B202A"/>
                </a:solidFill>
                <a:latin typeface="Calibri" pitchFamily="34" charset="0"/>
                <a:ea typeface="Calibri" pitchFamily="34" charset="-122"/>
                <a:cs typeface="Calibri" pitchFamily="34" charset="-120"/>
              </a:rPr>
              <a:t>$0 committed — local Ollama for every call. Paid backbone (~$353/~$881) declined, confound dual-reported.</a:t>
            </a:r>
            <a:endParaRPr lang="en-US" sz="1130" dirty="0"/>
          </a:p>
        </p:txBody>
      </p:sp>
      <p:sp>
        <p:nvSpPr>
          <p:cNvPr id="48" name="Shape 46"/>
          <p:cNvSpPr/>
          <p:nvPr/>
        </p:nvSpPr>
        <p:spPr>
          <a:xfrm>
            <a:off x="8093050" y="3701491"/>
            <a:ext cx="3551834" cy="969264"/>
          </a:xfrm>
          <a:prstGeom prst="roundRect">
            <a:avLst>
              <a:gd name="adj" fmla="val 5660"/>
            </a:avLst>
          </a:prstGeom>
          <a:solidFill>
            <a:srgbClr val="E4E6EB"/>
          </a:solidFill>
          <a:ln/>
        </p:spPr>
        <p:txBody>
          <a:bodyPr/>
          <a:lstStyle/>
          <a:p>
            <a:endParaRPr lang="en-PK"/>
          </a:p>
        </p:txBody>
      </p:sp>
      <p:sp>
        <p:nvSpPr>
          <p:cNvPr id="49" name="Shape 47"/>
          <p:cNvSpPr/>
          <p:nvPr/>
        </p:nvSpPr>
        <p:spPr>
          <a:xfrm>
            <a:off x="8072933" y="3675888"/>
            <a:ext cx="3551834" cy="969264"/>
          </a:xfrm>
          <a:prstGeom prst="roundRect">
            <a:avLst>
              <a:gd name="adj" fmla="val 5660"/>
            </a:avLst>
          </a:prstGeom>
          <a:solidFill>
            <a:srgbClr val="F1F2F5"/>
          </a:solidFill>
          <a:ln w="9525">
            <a:solidFill>
              <a:srgbClr val="D9DCE3"/>
            </a:solidFill>
            <a:prstDash val="solid"/>
          </a:ln>
        </p:spPr>
        <p:txBody>
          <a:bodyPr/>
          <a:lstStyle/>
          <a:p>
            <a:endParaRPr lang="en-PK"/>
          </a:p>
        </p:txBody>
      </p:sp>
      <p:sp>
        <p:nvSpPr>
          <p:cNvPr id="50" name="Shape 48"/>
          <p:cNvSpPr/>
          <p:nvPr/>
        </p:nvSpPr>
        <p:spPr>
          <a:xfrm>
            <a:off x="8072933" y="3730752"/>
            <a:ext cx="41148" cy="859536"/>
          </a:xfrm>
          <a:prstGeom prst="rect">
            <a:avLst/>
          </a:prstGeom>
          <a:solidFill>
            <a:srgbClr val="31558F"/>
          </a:solidFill>
          <a:ln/>
        </p:spPr>
        <p:txBody>
          <a:bodyPr/>
          <a:lstStyle/>
          <a:p>
            <a:endParaRPr lang="en-PK"/>
          </a:p>
        </p:txBody>
      </p:sp>
      <p:sp>
        <p:nvSpPr>
          <p:cNvPr id="51" name="Text 49"/>
          <p:cNvSpPr txBox="1"/>
          <p:nvPr/>
        </p:nvSpPr>
        <p:spPr>
          <a:xfrm>
            <a:off x="8255813" y="3749040"/>
            <a:ext cx="3204362" cy="219456"/>
          </a:xfrm>
          <a:prstGeom prst="rect">
            <a:avLst/>
          </a:prstGeom>
          <a:noFill/>
          <a:ln/>
        </p:spPr>
        <p:txBody>
          <a:bodyPr wrap="square" lIns="0" tIns="0" rIns="0" bIns="0" rtlCol="0" anchor="ctr"/>
          <a:lstStyle/>
          <a:p>
            <a:pPr marL="0" indent="0">
              <a:buNone/>
            </a:pPr>
            <a:r>
              <a:rPr lang="en-US" sz="1130" b="1" kern="0" spc="40" dirty="0">
                <a:solidFill>
                  <a:srgbClr val="31558F"/>
                </a:solidFill>
                <a:latin typeface="Consolas" pitchFamily="34" charset="0"/>
                <a:ea typeface="Consolas" pitchFamily="34" charset="-122"/>
                <a:cs typeface="Consolas" pitchFamily="34" charset="-120"/>
              </a:rPr>
              <a:t>TOOLS · DEPENDENCIES · DEPLOYMENT</a:t>
            </a:r>
            <a:endParaRPr lang="en-US" sz="1130" dirty="0"/>
          </a:p>
        </p:txBody>
      </p:sp>
      <p:sp>
        <p:nvSpPr>
          <p:cNvPr id="52" name="Text 50"/>
          <p:cNvSpPr txBox="1"/>
          <p:nvPr/>
        </p:nvSpPr>
        <p:spPr>
          <a:xfrm>
            <a:off x="8255813" y="3959352"/>
            <a:ext cx="3204362" cy="640080"/>
          </a:xfrm>
          <a:prstGeom prst="rect">
            <a:avLst/>
          </a:prstGeom>
          <a:noFill/>
          <a:ln/>
        </p:spPr>
        <p:txBody>
          <a:bodyPr wrap="square" lIns="0" tIns="0" rIns="0" bIns="0" rtlCol="0" anchor="ctr"/>
          <a:lstStyle/>
          <a:p>
            <a:pPr marL="0" indent="0">
              <a:buNone/>
            </a:pPr>
            <a:r>
              <a:rPr lang="en-US" sz="1130" dirty="0">
                <a:solidFill>
                  <a:srgbClr val="1B202A"/>
                </a:solidFill>
                <a:latin typeface="Calibri" pitchFamily="34" charset="0"/>
                <a:ea typeface="Calibri" pitchFamily="34" charset="-122"/>
                <a:cs typeface="Calibri" pitchFamily="34" charset="-120"/>
              </a:rPr>
              <a:t>Python · FastAPI · React/TS · Postgres · Docker · CrewAI · LangGraph · Ollama. Container + pip SDK.</a:t>
            </a:r>
            <a:endParaRPr lang="en-US" sz="1130" dirty="0"/>
          </a:p>
        </p:txBody>
      </p:sp>
      <p:sp>
        <p:nvSpPr>
          <p:cNvPr id="53" name="Text 51"/>
          <p:cNvSpPr txBox="1"/>
          <p:nvPr/>
        </p:nvSpPr>
        <p:spPr>
          <a:xfrm>
            <a:off x="566928" y="4736592"/>
            <a:ext cx="11057839" cy="256032"/>
          </a:xfrm>
          <a:prstGeom prst="rect">
            <a:avLst/>
          </a:prstGeom>
          <a:noFill/>
          <a:ln/>
        </p:spPr>
        <p:txBody>
          <a:bodyPr wrap="square" lIns="0" tIns="0" rIns="0" bIns="0" rtlCol="0" anchor="ctr"/>
          <a:lstStyle/>
          <a:p>
            <a:pPr marL="0" indent="0">
              <a:buNone/>
            </a:pPr>
            <a:r>
              <a:rPr lang="en-US" sz="1400" b="1" kern="0" spc="100" dirty="0">
                <a:solidFill>
                  <a:srgbClr val="8E6A1F"/>
                </a:solidFill>
                <a:latin typeface="Consolas" pitchFamily="34" charset="0"/>
                <a:ea typeface="Consolas" pitchFamily="34" charset="-122"/>
                <a:cs typeface="Consolas" pitchFamily="34" charset="-120"/>
              </a:rPr>
              <a:t>FYP-1 → FYP-2 MILESTONES (FIVE APPROVAL GATES)</a:t>
            </a:r>
            <a:endParaRPr lang="en-US" sz="1400" dirty="0"/>
          </a:p>
        </p:txBody>
      </p:sp>
      <p:sp>
        <p:nvSpPr>
          <p:cNvPr id="54" name="Shape 52"/>
          <p:cNvSpPr/>
          <p:nvPr/>
        </p:nvSpPr>
        <p:spPr>
          <a:xfrm>
            <a:off x="1672712" y="5193792"/>
            <a:ext cx="8846271" cy="0"/>
          </a:xfrm>
          <a:prstGeom prst="line">
            <a:avLst/>
          </a:prstGeom>
          <a:noFill/>
          <a:ln w="25400">
            <a:solidFill>
              <a:srgbClr val="C89B3C"/>
            </a:solidFill>
            <a:prstDash val="solid"/>
          </a:ln>
        </p:spPr>
        <p:txBody>
          <a:bodyPr/>
          <a:lstStyle/>
          <a:p>
            <a:endParaRPr lang="en-PK"/>
          </a:p>
        </p:txBody>
      </p:sp>
      <p:sp>
        <p:nvSpPr>
          <p:cNvPr id="55" name="Shape 53"/>
          <p:cNvSpPr/>
          <p:nvPr/>
        </p:nvSpPr>
        <p:spPr>
          <a:xfrm>
            <a:off x="1572128" y="5093208"/>
            <a:ext cx="201168" cy="201168"/>
          </a:xfrm>
          <a:prstGeom prst="ellipse">
            <a:avLst/>
          </a:prstGeom>
          <a:solidFill>
            <a:srgbClr val="C89B3C"/>
          </a:solidFill>
          <a:ln w="25400">
            <a:solidFill>
              <a:srgbClr val="C89B3C"/>
            </a:solidFill>
            <a:prstDash val="solid"/>
          </a:ln>
        </p:spPr>
        <p:txBody>
          <a:bodyPr/>
          <a:lstStyle/>
          <a:p>
            <a:endParaRPr lang="en-PK"/>
          </a:p>
        </p:txBody>
      </p:sp>
      <p:sp>
        <p:nvSpPr>
          <p:cNvPr id="56" name="Text 54"/>
          <p:cNvSpPr txBox="1"/>
          <p:nvPr/>
        </p:nvSpPr>
        <p:spPr>
          <a:xfrm>
            <a:off x="621792" y="5340096"/>
            <a:ext cx="2101840" cy="548640"/>
          </a:xfrm>
          <a:prstGeom prst="rect">
            <a:avLst/>
          </a:prstGeom>
          <a:noFill/>
          <a:ln/>
        </p:spPr>
        <p:txBody>
          <a:bodyPr wrap="square" lIns="0" tIns="0" rIns="0" bIns="0" rtlCol="0" anchor="ctr"/>
          <a:lstStyle/>
          <a:p>
            <a:pPr marL="0" indent="0" algn="ctr">
              <a:buNone/>
            </a:pPr>
            <a:r>
              <a:rPr lang="en-US" sz="1050" b="1" dirty="0">
                <a:solidFill>
                  <a:srgbClr val="8E6A1F"/>
                </a:solidFill>
                <a:latin typeface="Consolas" pitchFamily="34" charset="0"/>
                <a:ea typeface="Consolas" pitchFamily="34" charset="-122"/>
                <a:cs typeface="Consolas" pitchFamily="34" charset="-120"/>
              </a:rPr>
              <a:t>GATE 1</a:t>
            </a:r>
            <a:endParaRPr lang="en-US" sz="1050" dirty="0"/>
          </a:p>
          <a:p>
            <a:pPr marL="0" indent="0" algn="ctr">
              <a:buNone/>
            </a:pPr>
            <a:r>
              <a:rPr lang="en-US" sz="1300" b="1" dirty="0">
                <a:solidFill>
                  <a:srgbClr val="1B202A"/>
                </a:solidFill>
                <a:latin typeface="Calibri" pitchFamily="34" charset="0"/>
                <a:ea typeface="Calibri" pitchFamily="34" charset="-122"/>
                <a:cs typeface="Calibri" pitchFamily="34" charset="-120"/>
              </a:rPr>
              <a:t>Proposal Defense</a:t>
            </a:r>
            <a:endParaRPr lang="en-US" sz="1050" dirty="0"/>
          </a:p>
          <a:p>
            <a:pPr marL="0" indent="0" algn="ctr">
              <a:buNone/>
            </a:pPr>
            <a:r>
              <a:rPr lang="en-US" sz="1050" dirty="0">
                <a:solidFill>
                  <a:srgbClr val="596273"/>
                </a:solidFill>
                <a:latin typeface="Calibri" pitchFamily="34" charset="0"/>
                <a:ea typeface="Calibri" pitchFamily="34" charset="-122"/>
                <a:cs typeface="Calibri" pitchFamily="34" charset="-120"/>
              </a:rPr>
              <a:t>scope approved</a:t>
            </a:r>
            <a:endParaRPr lang="en-US" sz="1050" dirty="0"/>
          </a:p>
        </p:txBody>
      </p:sp>
      <p:sp>
        <p:nvSpPr>
          <p:cNvPr id="57" name="Shape 55"/>
          <p:cNvSpPr/>
          <p:nvPr/>
        </p:nvSpPr>
        <p:spPr>
          <a:xfrm>
            <a:off x="3783696" y="5093208"/>
            <a:ext cx="201168" cy="201168"/>
          </a:xfrm>
          <a:prstGeom prst="ellipse">
            <a:avLst/>
          </a:prstGeom>
          <a:solidFill>
            <a:srgbClr val="FBFBFC"/>
          </a:solidFill>
          <a:ln w="25400">
            <a:solidFill>
              <a:srgbClr val="C89B3C"/>
            </a:solidFill>
            <a:prstDash val="solid"/>
          </a:ln>
        </p:spPr>
        <p:txBody>
          <a:bodyPr/>
          <a:lstStyle/>
          <a:p>
            <a:endParaRPr lang="en-PK"/>
          </a:p>
        </p:txBody>
      </p:sp>
      <p:sp>
        <p:nvSpPr>
          <p:cNvPr id="58" name="Text 56"/>
          <p:cNvSpPr txBox="1"/>
          <p:nvPr/>
        </p:nvSpPr>
        <p:spPr>
          <a:xfrm>
            <a:off x="2833360" y="5340096"/>
            <a:ext cx="2101840" cy="548640"/>
          </a:xfrm>
          <a:prstGeom prst="rect">
            <a:avLst/>
          </a:prstGeom>
          <a:noFill/>
          <a:ln/>
        </p:spPr>
        <p:txBody>
          <a:bodyPr wrap="square" lIns="0" tIns="0" rIns="0" bIns="0" rtlCol="0" anchor="ctr"/>
          <a:lstStyle/>
          <a:p>
            <a:pPr marL="0" indent="0" algn="ctr">
              <a:buNone/>
            </a:pPr>
            <a:r>
              <a:rPr lang="en-US" sz="1050" b="1" dirty="0">
                <a:solidFill>
                  <a:srgbClr val="8E6A1F"/>
                </a:solidFill>
                <a:latin typeface="Consolas" pitchFamily="34" charset="0"/>
                <a:ea typeface="Consolas" pitchFamily="34" charset="-122"/>
                <a:cs typeface="Consolas" pitchFamily="34" charset="-120"/>
              </a:rPr>
              <a:t>GATE 2/3</a:t>
            </a:r>
            <a:endParaRPr lang="en-US" sz="1050" dirty="0"/>
          </a:p>
          <a:p>
            <a:pPr marL="0" indent="0" algn="ctr">
              <a:buNone/>
            </a:pPr>
            <a:r>
              <a:rPr lang="en-US" sz="1300" b="1" dirty="0">
                <a:solidFill>
                  <a:srgbClr val="1B202A"/>
                </a:solidFill>
                <a:latin typeface="Calibri" pitchFamily="34" charset="0"/>
                <a:ea typeface="Calibri" pitchFamily="34" charset="-122"/>
                <a:cs typeface="Calibri" pitchFamily="34" charset="-120"/>
              </a:rPr>
              <a:t>Mid-1</a:t>
            </a:r>
            <a:endParaRPr lang="en-US" sz="1050" dirty="0"/>
          </a:p>
          <a:p>
            <a:pPr marL="0" indent="0" algn="ctr">
              <a:buNone/>
            </a:pPr>
            <a:r>
              <a:rPr lang="en-US" sz="1050" dirty="0">
                <a:solidFill>
                  <a:srgbClr val="596273"/>
                </a:solidFill>
                <a:latin typeface="Calibri" pitchFamily="34" charset="0"/>
                <a:ea typeface="Calibri" pitchFamily="34" charset="-122"/>
                <a:cs typeface="Calibri" pitchFamily="34" charset="-120"/>
              </a:rPr>
              <a:t>reproduction + Tier-2 + baseline</a:t>
            </a:r>
            <a:endParaRPr lang="en-US" sz="1050" dirty="0"/>
          </a:p>
        </p:txBody>
      </p:sp>
      <p:sp>
        <p:nvSpPr>
          <p:cNvPr id="59" name="Shape 57"/>
          <p:cNvSpPr/>
          <p:nvPr/>
        </p:nvSpPr>
        <p:spPr>
          <a:xfrm>
            <a:off x="5995264" y="5093208"/>
            <a:ext cx="201168" cy="201168"/>
          </a:xfrm>
          <a:prstGeom prst="ellipse">
            <a:avLst/>
          </a:prstGeom>
          <a:solidFill>
            <a:srgbClr val="FBFBFC"/>
          </a:solidFill>
          <a:ln w="25400">
            <a:solidFill>
              <a:srgbClr val="C89B3C"/>
            </a:solidFill>
            <a:prstDash val="solid"/>
          </a:ln>
        </p:spPr>
        <p:txBody>
          <a:bodyPr/>
          <a:lstStyle/>
          <a:p>
            <a:endParaRPr lang="en-PK"/>
          </a:p>
        </p:txBody>
      </p:sp>
      <p:sp>
        <p:nvSpPr>
          <p:cNvPr id="60" name="Text 58"/>
          <p:cNvSpPr txBox="1"/>
          <p:nvPr/>
        </p:nvSpPr>
        <p:spPr>
          <a:xfrm>
            <a:off x="5044928" y="5340096"/>
            <a:ext cx="2101840" cy="548640"/>
          </a:xfrm>
          <a:prstGeom prst="rect">
            <a:avLst/>
          </a:prstGeom>
          <a:noFill/>
          <a:ln/>
        </p:spPr>
        <p:txBody>
          <a:bodyPr wrap="square" lIns="0" tIns="0" rIns="0" bIns="0" rtlCol="0" anchor="ctr"/>
          <a:lstStyle/>
          <a:p>
            <a:pPr marL="0" indent="0" algn="ctr">
              <a:buNone/>
            </a:pPr>
            <a:r>
              <a:rPr lang="en-US" sz="1050" b="1" dirty="0">
                <a:solidFill>
                  <a:srgbClr val="8E6A1F"/>
                </a:solidFill>
                <a:latin typeface="Consolas" pitchFamily="34" charset="0"/>
                <a:ea typeface="Consolas" pitchFamily="34" charset="-122"/>
                <a:cs typeface="Consolas" pitchFamily="34" charset="-120"/>
              </a:rPr>
              <a:t>GATE 3</a:t>
            </a:r>
            <a:endParaRPr lang="en-US" sz="1050" dirty="0"/>
          </a:p>
          <a:p>
            <a:pPr marL="0" indent="0" algn="ctr">
              <a:buNone/>
            </a:pPr>
            <a:r>
              <a:rPr lang="en-US" sz="1300" b="1" dirty="0">
                <a:solidFill>
                  <a:srgbClr val="1B202A"/>
                </a:solidFill>
                <a:latin typeface="Calibri" pitchFamily="34" charset="0"/>
                <a:ea typeface="Calibri" pitchFamily="34" charset="-122"/>
                <a:cs typeface="Calibri" pitchFamily="34" charset="-120"/>
              </a:rPr>
              <a:t>Final-1</a:t>
            </a:r>
            <a:endParaRPr lang="en-US" sz="1050" dirty="0"/>
          </a:p>
          <a:p>
            <a:pPr marL="0" indent="0" algn="ctr">
              <a:buNone/>
            </a:pPr>
            <a:r>
              <a:rPr lang="en-US" sz="1050" dirty="0">
                <a:solidFill>
                  <a:srgbClr val="596273"/>
                </a:solidFill>
                <a:latin typeface="Calibri" pitchFamily="34" charset="0"/>
                <a:ea typeface="Calibri" pitchFamily="34" charset="-122"/>
                <a:cs typeface="Calibri" pitchFamily="34" charset="-120"/>
              </a:rPr>
              <a:t>integrated core, end to end</a:t>
            </a:r>
            <a:endParaRPr lang="en-US" sz="1050" dirty="0"/>
          </a:p>
        </p:txBody>
      </p:sp>
      <p:sp>
        <p:nvSpPr>
          <p:cNvPr id="61" name="Shape 59"/>
          <p:cNvSpPr/>
          <p:nvPr/>
        </p:nvSpPr>
        <p:spPr>
          <a:xfrm>
            <a:off x="8206831" y="5093208"/>
            <a:ext cx="201168" cy="201168"/>
          </a:xfrm>
          <a:prstGeom prst="ellipse">
            <a:avLst/>
          </a:prstGeom>
          <a:solidFill>
            <a:srgbClr val="FBFBFC"/>
          </a:solidFill>
          <a:ln w="25400">
            <a:solidFill>
              <a:srgbClr val="C89B3C"/>
            </a:solidFill>
            <a:prstDash val="solid"/>
          </a:ln>
        </p:spPr>
        <p:txBody>
          <a:bodyPr/>
          <a:lstStyle/>
          <a:p>
            <a:endParaRPr lang="en-PK"/>
          </a:p>
        </p:txBody>
      </p:sp>
      <p:sp>
        <p:nvSpPr>
          <p:cNvPr id="62" name="Text 60"/>
          <p:cNvSpPr txBox="1"/>
          <p:nvPr/>
        </p:nvSpPr>
        <p:spPr>
          <a:xfrm>
            <a:off x="7256496" y="5340096"/>
            <a:ext cx="2101840" cy="548640"/>
          </a:xfrm>
          <a:prstGeom prst="rect">
            <a:avLst/>
          </a:prstGeom>
          <a:noFill/>
          <a:ln/>
        </p:spPr>
        <p:txBody>
          <a:bodyPr wrap="square" lIns="0" tIns="0" rIns="0" bIns="0" rtlCol="0" anchor="ctr"/>
          <a:lstStyle/>
          <a:p>
            <a:pPr marL="0" indent="0" algn="ctr">
              <a:buNone/>
            </a:pPr>
            <a:r>
              <a:rPr lang="en-US" sz="1050" b="1" dirty="0">
                <a:solidFill>
                  <a:srgbClr val="8E6A1F"/>
                </a:solidFill>
                <a:latin typeface="Consolas" pitchFamily="34" charset="0"/>
                <a:ea typeface="Consolas" pitchFamily="34" charset="-122"/>
                <a:cs typeface="Consolas" pitchFamily="34" charset="-120"/>
              </a:rPr>
              <a:t>GATE 4</a:t>
            </a:r>
            <a:endParaRPr lang="en-US" sz="1050" dirty="0"/>
          </a:p>
          <a:p>
            <a:pPr marL="0" indent="0" algn="ctr">
              <a:buNone/>
            </a:pPr>
            <a:r>
              <a:rPr lang="en-US" sz="1300" b="1" dirty="0">
                <a:solidFill>
                  <a:srgbClr val="1B202A"/>
                </a:solidFill>
                <a:latin typeface="Calibri" pitchFamily="34" charset="0"/>
                <a:ea typeface="Calibri" pitchFamily="34" charset="-122"/>
                <a:cs typeface="Calibri" pitchFamily="34" charset="-120"/>
              </a:rPr>
              <a:t>Mid-2</a:t>
            </a:r>
            <a:endParaRPr lang="en-US" sz="1050" dirty="0"/>
          </a:p>
          <a:p>
            <a:pPr marL="0" indent="0" algn="ctr">
              <a:buNone/>
            </a:pPr>
            <a:r>
              <a:rPr lang="en-US" sz="1050" dirty="0">
                <a:solidFill>
                  <a:srgbClr val="596273"/>
                </a:solidFill>
                <a:latin typeface="Calibri" pitchFamily="34" charset="0"/>
                <a:ea typeface="Calibri" pitchFamily="34" charset="-122"/>
                <a:cs typeface="Calibri" pitchFamily="34" charset="-120"/>
              </a:rPr>
              <a:t>benchmark ≥500 · release ready</a:t>
            </a:r>
            <a:endParaRPr lang="en-US" sz="1050" dirty="0"/>
          </a:p>
        </p:txBody>
      </p:sp>
      <p:sp>
        <p:nvSpPr>
          <p:cNvPr id="63" name="Shape 61"/>
          <p:cNvSpPr/>
          <p:nvPr/>
        </p:nvSpPr>
        <p:spPr>
          <a:xfrm>
            <a:off x="10418399" y="5093208"/>
            <a:ext cx="201168" cy="201168"/>
          </a:xfrm>
          <a:prstGeom prst="ellipse">
            <a:avLst/>
          </a:prstGeom>
          <a:solidFill>
            <a:srgbClr val="FBFBFC"/>
          </a:solidFill>
          <a:ln w="25400">
            <a:solidFill>
              <a:srgbClr val="C89B3C"/>
            </a:solidFill>
            <a:prstDash val="solid"/>
          </a:ln>
        </p:spPr>
        <p:txBody>
          <a:bodyPr/>
          <a:lstStyle/>
          <a:p>
            <a:endParaRPr lang="en-PK"/>
          </a:p>
        </p:txBody>
      </p:sp>
      <p:sp>
        <p:nvSpPr>
          <p:cNvPr id="64" name="Text 62"/>
          <p:cNvSpPr txBox="1"/>
          <p:nvPr/>
        </p:nvSpPr>
        <p:spPr>
          <a:xfrm>
            <a:off x="9468063" y="5340096"/>
            <a:ext cx="2101840" cy="548640"/>
          </a:xfrm>
          <a:prstGeom prst="rect">
            <a:avLst/>
          </a:prstGeom>
          <a:noFill/>
          <a:ln/>
        </p:spPr>
        <p:txBody>
          <a:bodyPr wrap="square" lIns="0" tIns="0" rIns="0" bIns="0" rtlCol="0" anchor="ctr"/>
          <a:lstStyle/>
          <a:p>
            <a:pPr marL="0" indent="0" algn="ctr">
              <a:buNone/>
            </a:pPr>
            <a:r>
              <a:rPr lang="en-US" sz="1050" b="1" dirty="0">
                <a:solidFill>
                  <a:srgbClr val="8E6A1F"/>
                </a:solidFill>
                <a:latin typeface="Consolas" pitchFamily="34" charset="0"/>
                <a:ea typeface="Consolas" pitchFamily="34" charset="-122"/>
                <a:cs typeface="Consolas" pitchFamily="34" charset="-120"/>
              </a:rPr>
              <a:t>GATE 5</a:t>
            </a:r>
            <a:endParaRPr lang="en-US" sz="1050" dirty="0"/>
          </a:p>
          <a:p>
            <a:pPr marL="0" indent="0" algn="ctr">
              <a:buNone/>
            </a:pPr>
            <a:r>
              <a:rPr lang="en-US" sz="1300" b="1" dirty="0">
                <a:solidFill>
                  <a:srgbClr val="1B202A"/>
                </a:solidFill>
                <a:latin typeface="Calibri" pitchFamily="34" charset="0"/>
                <a:ea typeface="Calibri" pitchFamily="34" charset="-122"/>
                <a:cs typeface="Calibri" pitchFamily="34" charset="-120"/>
              </a:rPr>
              <a:t>Final-2</a:t>
            </a:r>
            <a:endParaRPr lang="en-US" sz="1050" dirty="0"/>
          </a:p>
          <a:p>
            <a:pPr marL="0" indent="0" algn="ctr">
              <a:buNone/>
            </a:pPr>
            <a:r>
              <a:rPr lang="en-US" sz="1050" dirty="0">
                <a:solidFill>
                  <a:srgbClr val="596273"/>
                </a:solidFill>
                <a:latin typeface="Calibri" pitchFamily="34" charset="0"/>
                <a:ea typeface="Calibri" pitchFamily="34" charset="-122"/>
                <a:cs typeface="Calibri" pitchFamily="34" charset="-120"/>
              </a:rPr>
              <a:t>full evaluation, deployed</a:t>
            </a:r>
            <a:endParaRPr lang="en-US" sz="1050" dirty="0"/>
          </a:p>
        </p:txBody>
      </p:sp>
      <p:sp>
        <p:nvSpPr>
          <p:cNvPr id="65" name="Shape 63"/>
          <p:cNvSpPr/>
          <p:nvPr/>
        </p:nvSpPr>
        <p:spPr>
          <a:xfrm>
            <a:off x="587045" y="5987491"/>
            <a:ext cx="11057839" cy="384048"/>
          </a:xfrm>
          <a:prstGeom prst="roundRect">
            <a:avLst>
              <a:gd name="adj" fmla="val 14286"/>
            </a:avLst>
          </a:prstGeom>
          <a:solidFill>
            <a:srgbClr val="E4E6EB"/>
          </a:solidFill>
          <a:ln/>
        </p:spPr>
        <p:txBody>
          <a:bodyPr/>
          <a:lstStyle/>
          <a:p>
            <a:endParaRPr lang="en-PK"/>
          </a:p>
        </p:txBody>
      </p:sp>
      <p:sp>
        <p:nvSpPr>
          <p:cNvPr id="66" name="Shape 64"/>
          <p:cNvSpPr/>
          <p:nvPr/>
        </p:nvSpPr>
        <p:spPr>
          <a:xfrm>
            <a:off x="566928" y="5961888"/>
            <a:ext cx="11057839" cy="384048"/>
          </a:xfrm>
          <a:prstGeom prst="roundRect">
            <a:avLst>
              <a:gd name="adj" fmla="val 14286"/>
            </a:avLst>
          </a:prstGeom>
          <a:solidFill>
            <a:srgbClr val="F1F2F5"/>
          </a:solidFill>
          <a:ln w="9525">
            <a:solidFill>
              <a:srgbClr val="D9DCE3"/>
            </a:solidFill>
            <a:prstDash val="solid"/>
          </a:ln>
        </p:spPr>
        <p:txBody>
          <a:bodyPr/>
          <a:lstStyle/>
          <a:p>
            <a:endParaRPr lang="en-PK"/>
          </a:p>
        </p:txBody>
      </p:sp>
      <p:sp>
        <p:nvSpPr>
          <p:cNvPr id="67" name="Shape 65"/>
          <p:cNvSpPr/>
          <p:nvPr/>
        </p:nvSpPr>
        <p:spPr>
          <a:xfrm>
            <a:off x="566928" y="6016752"/>
            <a:ext cx="41148" cy="274320"/>
          </a:xfrm>
          <a:prstGeom prst="rect">
            <a:avLst/>
          </a:prstGeom>
          <a:solidFill>
            <a:srgbClr val="C89B3C"/>
          </a:solidFill>
          <a:ln/>
        </p:spPr>
        <p:txBody>
          <a:bodyPr/>
          <a:lstStyle/>
          <a:p>
            <a:endParaRPr lang="en-PK"/>
          </a:p>
        </p:txBody>
      </p:sp>
      <p:sp>
        <p:nvSpPr>
          <p:cNvPr id="68" name="Text 66"/>
          <p:cNvSpPr txBox="1"/>
          <p:nvPr/>
        </p:nvSpPr>
        <p:spPr>
          <a:xfrm>
            <a:off x="768096" y="5961888"/>
            <a:ext cx="10655503" cy="384048"/>
          </a:xfrm>
          <a:prstGeom prst="rect">
            <a:avLst/>
          </a:prstGeom>
          <a:noFill/>
          <a:ln/>
        </p:spPr>
        <p:txBody>
          <a:bodyPr wrap="square" lIns="0" tIns="0" rIns="0" bIns="0" rtlCol="0" anchor="ctr"/>
          <a:lstStyle/>
          <a:p>
            <a:pPr marL="0" indent="0">
              <a:buNone/>
            </a:pPr>
            <a:r>
              <a:rPr lang="en-US" sz="1250" b="1" dirty="0">
                <a:solidFill>
                  <a:srgbClr val="8E6A1F"/>
                </a:solidFill>
                <a:latin typeface="Calibri" pitchFamily="34" charset="0"/>
                <a:ea typeface="Calibri" pitchFamily="34" charset="-122"/>
                <a:cs typeface="Calibri" pitchFamily="34" charset="-120"/>
              </a:rPr>
              <a:t>Effort budget:  </a:t>
            </a:r>
            <a:r>
              <a:rPr lang="en-US" sz="1200" dirty="0">
                <a:solidFill>
                  <a:srgbClr val="1B202A"/>
                </a:solidFill>
                <a:latin typeface="Calibri" pitchFamily="34" charset="0"/>
                <a:ea typeface="Calibri" pitchFamily="34" charset="-122"/>
                <a:cs typeface="Calibri" pitchFamily="34" charset="-120"/>
              </a:rPr>
              <a:t>490h (FYP-1) + 640h (FYP-2) = 1,130h, against 1,130h capacity (3 × ~15h/wk × ~28 wks).</a:t>
            </a:r>
            <a:endParaRPr lang="en-US" sz="12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C"/>
        </a:solidFill>
        <a:effectLst/>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txBody>
          <a:bodyPr/>
          <a:lstStyle/>
          <a:p>
            <a:endParaRPr lang="en-PK"/>
          </a:p>
        </p:txBody>
      </p:sp>
      <p:sp>
        <p:nvSpPr>
          <p:cNvPr id="3" name="Shape 1"/>
          <p:cNvSpPr/>
          <p:nvPr/>
        </p:nvSpPr>
        <p:spPr>
          <a:xfrm rot="2700000">
            <a:off x="10618927" y="5285232"/>
            <a:ext cx="1005840" cy="1005840"/>
          </a:xfrm>
          <a:prstGeom prst="rect">
            <a:avLst/>
          </a:prstGeom>
          <a:ln w="12700">
            <a:solidFill>
              <a:srgbClr val="F4F5F7"/>
            </a:solidFill>
            <a:prstDash val="solid"/>
          </a:ln>
        </p:spPr>
        <p:txBody>
          <a:bodyPr/>
          <a:lstStyle/>
          <a:p>
            <a:endParaRPr lang="en-PK"/>
          </a:p>
        </p:txBody>
      </p:sp>
      <p:sp>
        <p:nvSpPr>
          <p:cNvPr id="4" name="Shape 2"/>
          <p:cNvSpPr/>
          <p:nvPr/>
        </p:nvSpPr>
        <p:spPr>
          <a:xfrm rot="2700000">
            <a:off x="10856671" y="5522976"/>
            <a:ext cx="530352" cy="530352"/>
          </a:xfrm>
          <a:prstGeom prst="rect">
            <a:avLst/>
          </a:prstGeom>
          <a:ln w="12700">
            <a:solidFill>
              <a:srgbClr val="F7F4ED"/>
            </a:solidFill>
            <a:prstDash val="solid"/>
          </a:ln>
        </p:spPr>
        <p:txBody>
          <a:bodyPr/>
          <a:lstStyle/>
          <a:p>
            <a:endParaRPr lang="en-PK"/>
          </a:p>
        </p:txBody>
      </p:sp>
      <p:sp>
        <p:nvSpPr>
          <p:cNvPr id="5" name="Text 3"/>
          <p:cNvSpPr txBox="1"/>
          <p:nvPr/>
        </p:nvSpPr>
        <p:spPr>
          <a:xfrm>
            <a:off x="566928" y="292608"/>
            <a:ext cx="11057839" cy="256032"/>
          </a:xfrm>
          <a:prstGeom prst="rect">
            <a:avLst/>
          </a:prstGeom>
          <a:noFill/>
          <a:ln/>
        </p:spPr>
        <p:txBody>
          <a:bodyPr wrap="square" lIns="0" tIns="0" rIns="0" bIns="0" rtlCol="0" anchor="ctr"/>
          <a:lstStyle/>
          <a:p>
            <a:pPr marL="0" indent="0">
              <a:buNone/>
            </a:pPr>
            <a:r>
              <a:rPr lang="en-US" sz="1350" b="1" kern="0" spc="160" dirty="0">
                <a:solidFill>
                  <a:srgbClr val="8E6A1F"/>
                </a:solidFill>
                <a:latin typeface="Consolas" pitchFamily="34" charset="0"/>
                <a:ea typeface="Consolas" pitchFamily="34" charset="-122"/>
                <a:cs typeface="Consolas" pitchFamily="34" charset="-120"/>
              </a:rPr>
              <a:t>WHAT STAYS SHARED, HOW IT ITERATES, AND THE COMPLIANCE LINES THE GUIDE NAMES</a:t>
            </a:r>
            <a:endParaRPr lang="en-US" sz="13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marL="0" indent="0">
              <a:buNone/>
            </a:pPr>
            <a:r>
              <a:rPr lang="en-US" sz="2950" b="1" dirty="0">
                <a:solidFill>
                  <a:srgbClr val="1B202A"/>
                </a:solidFill>
                <a:latin typeface="Georgia" pitchFamily="34" charset="0"/>
                <a:ea typeface="Georgia" pitchFamily="34" charset="-122"/>
                <a:cs typeface="Georgia" pitchFamily="34" charset="-120"/>
              </a:rPr>
              <a:t>Team Responsibilities, Iterations, DEI &amp; Ethics/Legal</a:t>
            </a:r>
            <a:endParaRPr lang="en-US" sz="2950" dirty="0"/>
          </a:p>
        </p:txBody>
      </p:sp>
      <p:sp>
        <p:nvSpPr>
          <p:cNvPr id="7" name="Shape 5"/>
          <p:cNvSpPr/>
          <p:nvPr/>
        </p:nvSpPr>
        <p:spPr>
          <a:xfrm>
            <a:off x="566928" y="1188720"/>
            <a:ext cx="566928" cy="36576"/>
          </a:xfrm>
          <a:prstGeom prst="rect">
            <a:avLst/>
          </a:prstGeom>
          <a:solidFill>
            <a:srgbClr val="C89B3C"/>
          </a:solidFill>
          <a:ln/>
        </p:spPr>
        <p:txBody>
          <a:bodyPr/>
          <a:lstStyle/>
          <a:p>
            <a:endParaRPr lang="en-PK"/>
          </a:p>
        </p:txBody>
      </p:sp>
      <p:sp>
        <p:nvSpPr>
          <p:cNvPr id="8" name="Shape 6"/>
          <p:cNvSpPr/>
          <p:nvPr/>
        </p:nvSpPr>
        <p:spPr>
          <a:xfrm>
            <a:off x="566928" y="6437376"/>
            <a:ext cx="11057839" cy="0"/>
          </a:xfrm>
          <a:prstGeom prst="line">
            <a:avLst/>
          </a:prstGeom>
          <a:noFill/>
          <a:ln w="9525">
            <a:solidFill>
              <a:srgbClr val="D9DCE3"/>
            </a:solidFill>
            <a:prstDash val="solid"/>
          </a:ln>
        </p:spPr>
        <p:txBody>
          <a:bodyPr/>
          <a:lstStyle/>
          <a:p>
            <a:endParaRPr lang="en-PK"/>
          </a:p>
        </p:txBody>
      </p:sp>
      <p:sp>
        <p:nvSpPr>
          <p:cNvPr id="9" name="Text 7"/>
          <p:cNvSpPr txBox="1"/>
          <p:nvPr/>
        </p:nvSpPr>
        <p:spPr>
          <a:xfrm>
            <a:off x="566928" y="6510528"/>
            <a:ext cx="5943600" cy="237744"/>
          </a:xfrm>
          <a:prstGeom prst="rect">
            <a:avLst/>
          </a:prstGeom>
          <a:noFill/>
          <a:ln/>
        </p:spPr>
        <p:txBody>
          <a:bodyPr wrap="square" lIns="0" tIns="0" rIns="0" bIns="0" rtlCol="0" anchor="ctr"/>
          <a:lstStyle/>
          <a:p>
            <a:pPr marL="0" indent="0">
              <a:buNone/>
            </a:pPr>
            <a:r>
              <a:rPr lang="en-US" sz="1050" kern="0" spc="7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10" name="Text 8"/>
          <p:cNvSpPr txBox="1"/>
          <p:nvPr/>
        </p:nvSpPr>
        <p:spPr>
          <a:xfrm>
            <a:off x="10527487" y="6510528"/>
            <a:ext cx="1097280" cy="237744"/>
          </a:xfrm>
          <a:prstGeom prst="rect">
            <a:avLst/>
          </a:prstGeom>
          <a:noFill/>
          <a:ln/>
        </p:spPr>
        <p:txBody>
          <a:bodyPr wrap="square" lIns="0" tIns="0" rIns="0" bIns="0" rtlCol="0" anchor="ctr"/>
          <a:lstStyle/>
          <a:p>
            <a:pPr marL="0" indent="0" algn="r">
              <a:buNone/>
            </a:pPr>
            <a:r>
              <a:rPr lang="en-US" sz="1050" b="1" dirty="0">
                <a:solidFill>
                  <a:srgbClr val="8E6A1F"/>
                </a:solidFill>
                <a:latin typeface="Consolas" pitchFamily="34" charset="0"/>
                <a:ea typeface="Consolas" pitchFamily="34" charset="-122"/>
                <a:cs typeface="Consolas" pitchFamily="34" charset="-120"/>
              </a:rPr>
              <a:t>10 / 10</a:t>
            </a:r>
            <a:endParaRPr lang="en-US" sz="1050" dirty="0"/>
          </a:p>
        </p:txBody>
      </p:sp>
      <p:sp>
        <p:nvSpPr>
          <p:cNvPr id="11" name="Shape 9"/>
          <p:cNvSpPr/>
          <p:nvPr/>
        </p:nvSpPr>
        <p:spPr>
          <a:xfrm>
            <a:off x="587045" y="1305763"/>
            <a:ext cx="11057839" cy="841248"/>
          </a:xfrm>
          <a:prstGeom prst="roundRect">
            <a:avLst>
              <a:gd name="adj" fmla="val 6522"/>
            </a:avLst>
          </a:prstGeom>
          <a:solidFill>
            <a:srgbClr val="E4E6EB"/>
          </a:solidFill>
          <a:ln/>
        </p:spPr>
        <p:txBody>
          <a:bodyPr/>
          <a:lstStyle/>
          <a:p>
            <a:endParaRPr lang="en-PK"/>
          </a:p>
        </p:txBody>
      </p:sp>
      <p:sp>
        <p:nvSpPr>
          <p:cNvPr id="12" name="Shape 10"/>
          <p:cNvSpPr/>
          <p:nvPr/>
        </p:nvSpPr>
        <p:spPr>
          <a:xfrm>
            <a:off x="566928" y="1280160"/>
            <a:ext cx="11057839" cy="841248"/>
          </a:xfrm>
          <a:prstGeom prst="roundRect">
            <a:avLst>
              <a:gd name="adj" fmla="val 6522"/>
            </a:avLst>
          </a:prstGeom>
          <a:solidFill>
            <a:srgbClr val="F1F2F5"/>
          </a:solidFill>
          <a:ln w="9525">
            <a:solidFill>
              <a:srgbClr val="D9DCE3"/>
            </a:solidFill>
            <a:prstDash val="solid"/>
          </a:ln>
        </p:spPr>
        <p:txBody>
          <a:bodyPr/>
          <a:lstStyle/>
          <a:p>
            <a:endParaRPr lang="en-PK"/>
          </a:p>
        </p:txBody>
      </p:sp>
      <p:sp>
        <p:nvSpPr>
          <p:cNvPr id="13" name="Shape 11"/>
          <p:cNvSpPr/>
          <p:nvPr/>
        </p:nvSpPr>
        <p:spPr>
          <a:xfrm>
            <a:off x="566928" y="1335024"/>
            <a:ext cx="41148" cy="731520"/>
          </a:xfrm>
          <a:prstGeom prst="rect">
            <a:avLst/>
          </a:prstGeom>
          <a:solidFill>
            <a:srgbClr val="C89B3C"/>
          </a:solidFill>
          <a:ln/>
        </p:spPr>
        <p:txBody>
          <a:bodyPr/>
          <a:lstStyle/>
          <a:p>
            <a:endParaRPr lang="en-PK"/>
          </a:p>
        </p:txBody>
      </p:sp>
      <p:sp>
        <p:nvSpPr>
          <p:cNvPr id="14" name="Text 12"/>
          <p:cNvSpPr txBox="1"/>
          <p:nvPr/>
        </p:nvSpPr>
        <p:spPr>
          <a:xfrm>
            <a:off x="786384" y="1353312"/>
            <a:ext cx="3291840" cy="256032"/>
          </a:xfrm>
          <a:prstGeom prst="rect">
            <a:avLst/>
          </a:prstGeom>
          <a:noFill/>
          <a:ln/>
        </p:spPr>
        <p:txBody>
          <a:bodyPr wrap="square" lIns="0" tIns="0" rIns="0" bIns="0" rtlCol="0" anchor="ctr"/>
          <a:lstStyle/>
          <a:p>
            <a:pPr marL="0" indent="0">
              <a:buNone/>
            </a:pPr>
            <a:r>
              <a:rPr lang="en-US" sz="1400" b="1" kern="0" spc="100" dirty="0">
                <a:solidFill>
                  <a:srgbClr val="8E6A1F"/>
                </a:solidFill>
                <a:latin typeface="Consolas" pitchFamily="34" charset="0"/>
                <a:ea typeface="Consolas" pitchFamily="34" charset="-122"/>
                <a:cs typeface="Consolas" pitchFamily="34" charset="-120"/>
              </a:rPr>
              <a:t>PRIMARY OWNERSHIP — SLIDE 9</a:t>
            </a:r>
            <a:endParaRPr lang="en-US" sz="1400" dirty="0"/>
          </a:p>
        </p:txBody>
      </p:sp>
      <p:sp>
        <p:nvSpPr>
          <p:cNvPr id="15" name="Text 13"/>
          <p:cNvSpPr txBox="1"/>
          <p:nvPr/>
        </p:nvSpPr>
        <p:spPr>
          <a:xfrm>
            <a:off x="786384" y="1627632"/>
            <a:ext cx="1691640" cy="237744"/>
          </a:xfrm>
          <a:prstGeom prst="rect">
            <a:avLst/>
          </a:prstGeom>
          <a:noFill/>
          <a:ln/>
        </p:spPr>
        <p:txBody>
          <a:bodyPr wrap="square" lIns="0" tIns="0" rIns="0" bIns="0" rtlCol="0" anchor="ctr"/>
          <a:lstStyle/>
          <a:p>
            <a:pPr marL="0" indent="0">
              <a:buNone/>
            </a:pPr>
            <a:r>
              <a:rPr lang="en-US" sz="1250" b="1" dirty="0">
                <a:solidFill>
                  <a:srgbClr val="1B202A"/>
                </a:solidFill>
                <a:latin typeface="Calibri" pitchFamily="34" charset="0"/>
                <a:ea typeface="Calibri" pitchFamily="34" charset="-122"/>
                <a:cs typeface="Calibri" pitchFamily="34" charset="-120"/>
              </a:rPr>
              <a:t>Shahoud — </a:t>
            </a:r>
            <a:r>
              <a:rPr lang="en-US" sz="1250" b="1" dirty="0">
                <a:solidFill>
                  <a:srgbClr val="15707A"/>
                </a:solidFill>
                <a:latin typeface="Calibri" pitchFamily="34" charset="0"/>
                <a:ea typeface="Calibri" pitchFamily="34" charset="-122"/>
                <a:cs typeface="Calibri" pitchFamily="34" charset="-120"/>
              </a:rPr>
              <a:t>Benchmark</a:t>
            </a:r>
            <a:endParaRPr lang="en-US" sz="1250" dirty="0"/>
          </a:p>
        </p:txBody>
      </p:sp>
      <p:sp>
        <p:nvSpPr>
          <p:cNvPr id="16" name="Text 14"/>
          <p:cNvSpPr txBox="1"/>
          <p:nvPr/>
        </p:nvSpPr>
        <p:spPr>
          <a:xfrm>
            <a:off x="2487168" y="1627632"/>
            <a:ext cx="1691640" cy="237744"/>
          </a:xfrm>
          <a:prstGeom prst="rect">
            <a:avLst/>
          </a:prstGeom>
          <a:noFill/>
          <a:ln/>
        </p:spPr>
        <p:txBody>
          <a:bodyPr wrap="square" lIns="0" tIns="0" rIns="0" bIns="0" rtlCol="0" anchor="ctr"/>
          <a:lstStyle/>
          <a:p>
            <a:pPr marL="0" indent="0">
              <a:buNone/>
            </a:pPr>
            <a:r>
              <a:rPr lang="en-US" sz="1250" b="1" dirty="0">
                <a:solidFill>
                  <a:srgbClr val="1B202A"/>
                </a:solidFill>
                <a:latin typeface="Calibri" pitchFamily="34" charset="0"/>
                <a:ea typeface="Calibri" pitchFamily="34" charset="-122"/>
                <a:cs typeface="Calibri" pitchFamily="34" charset="-120"/>
              </a:rPr>
              <a:t>Noor — </a:t>
            </a:r>
            <a:r>
              <a:rPr lang="en-US" sz="1250" b="1" dirty="0">
                <a:solidFill>
                  <a:srgbClr val="B05C1C"/>
                </a:solidFill>
                <a:latin typeface="Calibri" pitchFamily="34" charset="0"/>
                <a:ea typeface="Calibri" pitchFamily="34" charset="-122"/>
                <a:cs typeface="Calibri" pitchFamily="34" charset="-120"/>
              </a:rPr>
              <a:t>Diagnosis</a:t>
            </a:r>
            <a:endParaRPr lang="en-US" sz="1250" dirty="0"/>
          </a:p>
        </p:txBody>
      </p:sp>
      <p:sp>
        <p:nvSpPr>
          <p:cNvPr id="17" name="Text 15"/>
          <p:cNvSpPr txBox="1"/>
          <p:nvPr/>
        </p:nvSpPr>
        <p:spPr>
          <a:xfrm>
            <a:off x="4187952" y="1627632"/>
            <a:ext cx="1691640" cy="237744"/>
          </a:xfrm>
          <a:prstGeom prst="rect">
            <a:avLst/>
          </a:prstGeom>
          <a:noFill/>
          <a:ln/>
        </p:spPr>
        <p:txBody>
          <a:bodyPr wrap="square" lIns="0" tIns="0" rIns="0" bIns="0" rtlCol="0" anchor="ctr"/>
          <a:lstStyle/>
          <a:p>
            <a:pPr marL="0" indent="0">
              <a:buNone/>
            </a:pPr>
            <a:r>
              <a:rPr lang="en-US" sz="1250" b="1" dirty="0">
                <a:solidFill>
                  <a:srgbClr val="1B202A"/>
                </a:solidFill>
                <a:latin typeface="Calibri" pitchFamily="34" charset="0"/>
                <a:ea typeface="Calibri" pitchFamily="34" charset="-122"/>
                <a:cs typeface="Calibri" pitchFamily="34" charset="-120"/>
              </a:rPr>
              <a:t>Saif — </a:t>
            </a:r>
            <a:r>
              <a:rPr lang="en-US" sz="1250" b="1" dirty="0">
                <a:solidFill>
                  <a:srgbClr val="31558F"/>
                </a:solidFill>
                <a:latin typeface="Calibri" pitchFamily="34" charset="0"/>
                <a:ea typeface="Calibri" pitchFamily="34" charset="-122"/>
                <a:cs typeface="Calibri" pitchFamily="34" charset="-120"/>
              </a:rPr>
              <a:t>Platform</a:t>
            </a:r>
            <a:endParaRPr lang="en-US" sz="1250" dirty="0"/>
          </a:p>
        </p:txBody>
      </p:sp>
      <p:sp>
        <p:nvSpPr>
          <p:cNvPr id="18" name="Text 16"/>
          <p:cNvSpPr txBox="1"/>
          <p:nvPr/>
        </p:nvSpPr>
        <p:spPr>
          <a:xfrm>
            <a:off x="786384" y="1865376"/>
            <a:ext cx="4617720" cy="237744"/>
          </a:xfrm>
          <a:prstGeom prst="rect">
            <a:avLst/>
          </a:prstGeom>
          <a:noFill/>
          <a:ln/>
        </p:spPr>
        <p:txBody>
          <a:bodyPr wrap="square" lIns="0" tIns="0" rIns="0" bIns="0" rtlCol="0" anchor="ctr"/>
          <a:lstStyle/>
          <a:p>
            <a:pPr marL="0" indent="0">
              <a:buNone/>
            </a:pPr>
            <a:r>
              <a:rPr lang="en-US" sz="1250" i="1" dirty="0">
                <a:solidFill>
                  <a:srgbClr val="596273"/>
                </a:solidFill>
                <a:latin typeface="Calibri" pitchFamily="34" charset="0"/>
                <a:ea typeface="Calibri" pitchFamily="34" charset="-122"/>
                <a:cs typeface="Calibri" pitchFamily="34" charset="-120"/>
              </a:rPr>
              <a:t>Each lane's own decisions, implementation and validation.</a:t>
            </a:r>
            <a:endParaRPr lang="en-US" sz="1250" dirty="0"/>
          </a:p>
        </p:txBody>
      </p:sp>
      <p:sp>
        <p:nvSpPr>
          <p:cNvPr id="19" name="Shape 17"/>
          <p:cNvSpPr/>
          <p:nvPr/>
        </p:nvSpPr>
        <p:spPr>
          <a:xfrm>
            <a:off x="5641848" y="1389888"/>
            <a:ext cx="0" cy="640080"/>
          </a:xfrm>
          <a:prstGeom prst="line">
            <a:avLst/>
          </a:prstGeom>
          <a:noFill/>
          <a:ln w="12700">
            <a:solidFill>
              <a:srgbClr val="D9DCE3"/>
            </a:solidFill>
            <a:prstDash val="solid"/>
          </a:ln>
        </p:spPr>
        <p:txBody>
          <a:bodyPr/>
          <a:lstStyle/>
          <a:p>
            <a:endParaRPr lang="en-PK"/>
          </a:p>
        </p:txBody>
      </p:sp>
      <p:sp>
        <p:nvSpPr>
          <p:cNvPr id="20" name="Text 18"/>
          <p:cNvSpPr txBox="1"/>
          <p:nvPr/>
        </p:nvSpPr>
        <p:spPr>
          <a:xfrm>
            <a:off x="5870448" y="1353312"/>
            <a:ext cx="5486400" cy="256032"/>
          </a:xfrm>
          <a:prstGeom prst="rect">
            <a:avLst/>
          </a:prstGeom>
          <a:noFill/>
          <a:ln/>
        </p:spPr>
        <p:txBody>
          <a:bodyPr wrap="square" lIns="0" tIns="0" rIns="0" bIns="0" rtlCol="0" anchor="ctr"/>
          <a:lstStyle/>
          <a:p>
            <a:pPr marL="0" indent="0">
              <a:buNone/>
            </a:pPr>
            <a:r>
              <a:rPr lang="en-US" sz="1400" b="1" kern="0" spc="100" dirty="0">
                <a:solidFill>
                  <a:srgbClr val="8E6A1F"/>
                </a:solidFill>
                <a:latin typeface="Consolas" pitchFamily="34" charset="0"/>
                <a:ea typeface="Consolas" pitchFamily="34" charset="-122"/>
                <a:cs typeface="Consolas" pitchFamily="34" charset="-120"/>
              </a:rPr>
              <a:t>SHARED — NEVER DELEGATED TO ONE MEMBER</a:t>
            </a:r>
            <a:endParaRPr lang="en-US" sz="1400" dirty="0"/>
          </a:p>
        </p:txBody>
      </p:sp>
      <p:sp>
        <p:nvSpPr>
          <p:cNvPr id="21" name="Text 19"/>
          <p:cNvSpPr txBox="1"/>
          <p:nvPr/>
        </p:nvSpPr>
        <p:spPr>
          <a:xfrm>
            <a:off x="5870448" y="1609344"/>
            <a:ext cx="5534863" cy="493776"/>
          </a:xfrm>
          <a:prstGeom prst="rect">
            <a:avLst/>
          </a:prstGeom>
          <a:noFill/>
          <a:ln/>
        </p:spPr>
        <p:txBody>
          <a:bodyPr wrap="square" lIns="0" tIns="0" rIns="0" bIns="0" rtlCol="0" anchor="ctr"/>
          <a:lstStyle/>
          <a:p>
            <a:pPr marL="0" indent="0">
              <a:buNone/>
            </a:pPr>
            <a:r>
              <a:rPr lang="en-US" sz="1250" dirty="0">
                <a:solidFill>
                  <a:srgbClr val="1B202A"/>
                </a:solidFill>
                <a:latin typeface="Calibri" pitchFamily="34" charset="0"/>
                <a:ea typeface="Calibri" pitchFamily="34" charset="-122"/>
                <a:cs typeface="Calibri" pitchFamily="34" charset="-120"/>
              </a:rPr>
              <a:t>System architecture · integration · QA · security, ethics, data handling · repo discipline · the defense itself.</a:t>
            </a:r>
            <a:endParaRPr lang="en-US" sz="1250" dirty="0"/>
          </a:p>
        </p:txBody>
      </p:sp>
      <p:sp>
        <p:nvSpPr>
          <p:cNvPr id="22" name="Text 20"/>
          <p:cNvSpPr txBox="1"/>
          <p:nvPr/>
        </p:nvSpPr>
        <p:spPr>
          <a:xfrm>
            <a:off x="566928" y="2212848"/>
            <a:ext cx="11057839" cy="256032"/>
          </a:xfrm>
          <a:prstGeom prst="rect">
            <a:avLst/>
          </a:prstGeom>
          <a:noFill/>
          <a:ln/>
        </p:spPr>
        <p:txBody>
          <a:bodyPr wrap="square" lIns="0" tIns="0" rIns="0" bIns="0" rtlCol="0" anchor="ctr"/>
          <a:lstStyle/>
          <a:p>
            <a:pPr marL="0" indent="0">
              <a:buNone/>
            </a:pPr>
            <a:r>
              <a:rPr lang="en-US" sz="1400" b="1" kern="0" spc="100" dirty="0">
                <a:solidFill>
                  <a:srgbClr val="8E6A1F"/>
                </a:solidFill>
                <a:latin typeface="Consolas" pitchFamily="34" charset="0"/>
                <a:ea typeface="Consolas" pitchFamily="34" charset="-122"/>
                <a:cs typeface="Consolas" pitchFamily="34" charset="-120"/>
              </a:rPr>
              <a:t>ITERATION PLAN — WHAT THE TEAM JOINTLY OWNS AT EACH GATE</a:t>
            </a:r>
            <a:endParaRPr lang="en-US" sz="1400" dirty="0"/>
          </a:p>
        </p:txBody>
      </p:sp>
      <p:sp>
        <p:nvSpPr>
          <p:cNvPr id="23" name="Shape 21"/>
          <p:cNvSpPr/>
          <p:nvPr/>
        </p:nvSpPr>
        <p:spPr>
          <a:xfrm>
            <a:off x="587045" y="2512771"/>
            <a:ext cx="2153046" cy="822960"/>
          </a:xfrm>
          <a:prstGeom prst="roundRect">
            <a:avLst>
              <a:gd name="adj" fmla="val 6667"/>
            </a:avLst>
          </a:prstGeom>
          <a:solidFill>
            <a:srgbClr val="E4E6EB"/>
          </a:solidFill>
          <a:ln/>
        </p:spPr>
        <p:txBody>
          <a:bodyPr/>
          <a:lstStyle/>
          <a:p>
            <a:endParaRPr lang="en-PK"/>
          </a:p>
        </p:txBody>
      </p:sp>
      <p:sp>
        <p:nvSpPr>
          <p:cNvPr id="24" name="Shape 22"/>
          <p:cNvSpPr/>
          <p:nvPr/>
        </p:nvSpPr>
        <p:spPr>
          <a:xfrm>
            <a:off x="566928" y="2487168"/>
            <a:ext cx="2153046" cy="822960"/>
          </a:xfrm>
          <a:prstGeom prst="roundRect">
            <a:avLst>
              <a:gd name="adj" fmla="val 6667"/>
            </a:avLst>
          </a:prstGeom>
          <a:solidFill>
            <a:srgbClr val="FBFBFC"/>
          </a:solidFill>
          <a:ln w="9525">
            <a:solidFill>
              <a:srgbClr val="D9DCE3"/>
            </a:solidFill>
            <a:prstDash val="solid"/>
          </a:ln>
        </p:spPr>
        <p:txBody>
          <a:bodyPr/>
          <a:lstStyle/>
          <a:p>
            <a:endParaRPr lang="en-PK"/>
          </a:p>
        </p:txBody>
      </p:sp>
      <p:sp>
        <p:nvSpPr>
          <p:cNvPr id="25" name="Shape 23"/>
          <p:cNvSpPr/>
          <p:nvPr/>
        </p:nvSpPr>
        <p:spPr>
          <a:xfrm>
            <a:off x="566928" y="2542032"/>
            <a:ext cx="41148" cy="713232"/>
          </a:xfrm>
          <a:prstGeom prst="rect">
            <a:avLst/>
          </a:prstGeom>
          <a:solidFill>
            <a:srgbClr val="C89B3C"/>
          </a:solidFill>
          <a:ln/>
        </p:spPr>
        <p:txBody>
          <a:bodyPr/>
          <a:lstStyle/>
          <a:p>
            <a:endParaRPr lang="en-PK"/>
          </a:p>
        </p:txBody>
      </p:sp>
      <p:sp>
        <p:nvSpPr>
          <p:cNvPr id="26" name="Text 24"/>
          <p:cNvSpPr txBox="1"/>
          <p:nvPr/>
        </p:nvSpPr>
        <p:spPr>
          <a:xfrm>
            <a:off x="694944" y="2551176"/>
            <a:ext cx="1915302" cy="182880"/>
          </a:xfrm>
          <a:prstGeom prst="rect">
            <a:avLst/>
          </a:prstGeom>
          <a:noFill/>
          <a:ln/>
        </p:spPr>
        <p:txBody>
          <a:bodyPr wrap="square" lIns="0" tIns="0" rIns="0" bIns="0" rtlCol="0" anchor="ctr"/>
          <a:lstStyle/>
          <a:p>
            <a:pPr marL="0" indent="0">
              <a:buNone/>
            </a:pPr>
            <a:r>
              <a:rPr lang="en-US" sz="1100" b="1" kern="0" spc="40" dirty="0">
                <a:solidFill>
                  <a:srgbClr val="C89B3C"/>
                </a:solidFill>
                <a:latin typeface="Consolas" pitchFamily="34" charset="0"/>
                <a:ea typeface="Consolas" pitchFamily="34" charset="-122"/>
                <a:cs typeface="Consolas" pitchFamily="34" charset="-120"/>
              </a:rPr>
              <a:t>FYP-1</a:t>
            </a:r>
            <a:endParaRPr lang="en-US" sz="1100" dirty="0"/>
          </a:p>
        </p:txBody>
      </p:sp>
      <p:sp>
        <p:nvSpPr>
          <p:cNvPr id="27" name="Text 25"/>
          <p:cNvSpPr txBox="1"/>
          <p:nvPr/>
        </p:nvSpPr>
        <p:spPr>
          <a:xfrm>
            <a:off x="694944" y="2724912"/>
            <a:ext cx="1915302" cy="219456"/>
          </a:xfrm>
          <a:prstGeom prst="rect">
            <a:avLst/>
          </a:prstGeom>
          <a:noFill/>
          <a:ln/>
        </p:spPr>
        <p:txBody>
          <a:bodyPr wrap="square" lIns="0" tIns="0" rIns="0" bIns="0" rtlCol="0" anchor="ctr"/>
          <a:lstStyle/>
          <a:p>
            <a:pPr marL="0" indent="0">
              <a:buNone/>
            </a:pPr>
            <a:r>
              <a:rPr lang="en-US" sz="1350" b="1" dirty="0">
                <a:solidFill>
                  <a:srgbClr val="1B202A"/>
                </a:solidFill>
                <a:latin typeface="Calibri" pitchFamily="34" charset="0"/>
                <a:ea typeface="Calibri" pitchFamily="34" charset="-122"/>
                <a:cs typeface="Calibri" pitchFamily="34" charset="-120"/>
              </a:rPr>
              <a:t>Gate 1 · Proposal</a:t>
            </a:r>
            <a:endParaRPr lang="en-US" sz="1350" dirty="0"/>
          </a:p>
        </p:txBody>
      </p:sp>
      <p:sp>
        <p:nvSpPr>
          <p:cNvPr id="28" name="Text 26"/>
          <p:cNvSpPr txBox="1"/>
          <p:nvPr/>
        </p:nvSpPr>
        <p:spPr>
          <a:xfrm>
            <a:off x="694944" y="2962656"/>
            <a:ext cx="1915302" cy="329184"/>
          </a:xfrm>
          <a:prstGeom prst="rect">
            <a:avLst/>
          </a:prstGeom>
          <a:noFill/>
          <a:ln/>
        </p:spPr>
        <p:txBody>
          <a:bodyPr wrap="square" lIns="0" tIns="0" rIns="0" bIns="0" rtlCol="0" anchor="ctr"/>
          <a:lstStyle/>
          <a:p>
            <a:pPr marL="0" indent="0">
              <a:buNone/>
            </a:pPr>
            <a:r>
              <a:rPr lang="en-US" sz="1180" dirty="0">
                <a:solidFill>
                  <a:srgbClr val="596273"/>
                </a:solidFill>
                <a:latin typeface="Calibri" pitchFamily="34" charset="0"/>
                <a:ea typeface="Calibri" pitchFamily="34" charset="-122"/>
                <a:cs typeface="Calibri" pitchFamily="34" charset="-120"/>
              </a:rPr>
              <a:t>scope + POC approved</a:t>
            </a:r>
            <a:endParaRPr lang="en-US" sz="1180" dirty="0"/>
          </a:p>
        </p:txBody>
      </p:sp>
      <p:sp>
        <p:nvSpPr>
          <p:cNvPr id="29" name="Shape 27"/>
          <p:cNvSpPr/>
          <p:nvPr/>
        </p:nvSpPr>
        <p:spPr>
          <a:xfrm>
            <a:off x="2813243" y="2512771"/>
            <a:ext cx="2153046" cy="822960"/>
          </a:xfrm>
          <a:prstGeom prst="roundRect">
            <a:avLst>
              <a:gd name="adj" fmla="val 6667"/>
            </a:avLst>
          </a:prstGeom>
          <a:solidFill>
            <a:srgbClr val="E4E6EB"/>
          </a:solidFill>
          <a:ln/>
        </p:spPr>
        <p:txBody>
          <a:bodyPr/>
          <a:lstStyle/>
          <a:p>
            <a:endParaRPr lang="en-PK"/>
          </a:p>
        </p:txBody>
      </p:sp>
      <p:sp>
        <p:nvSpPr>
          <p:cNvPr id="30" name="Shape 28"/>
          <p:cNvSpPr/>
          <p:nvPr/>
        </p:nvSpPr>
        <p:spPr>
          <a:xfrm>
            <a:off x="2793126" y="2487168"/>
            <a:ext cx="2153046" cy="822960"/>
          </a:xfrm>
          <a:prstGeom prst="roundRect">
            <a:avLst>
              <a:gd name="adj" fmla="val 6667"/>
            </a:avLst>
          </a:prstGeom>
          <a:solidFill>
            <a:srgbClr val="FBFBFC"/>
          </a:solidFill>
          <a:ln w="9525">
            <a:solidFill>
              <a:srgbClr val="D9DCE3"/>
            </a:solidFill>
            <a:prstDash val="solid"/>
          </a:ln>
        </p:spPr>
        <p:txBody>
          <a:bodyPr/>
          <a:lstStyle/>
          <a:p>
            <a:endParaRPr lang="en-PK"/>
          </a:p>
        </p:txBody>
      </p:sp>
      <p:sp>
        <p:nvSpPr>
          <p:cNvPr id="31" name="Shape 29"/>
          <p:cNvSpPr/>
          <p:nvPr/>
        </p:nvSpPr>
        <p:spPr>
          <a:xfrm>
            <a:off x="2793126" y="2542032"/>
            <a:ext cx="41148" cy="713232"/>
          </a:xfrm>
          <a:prstGeom prst="rect">
            <a:avLst/>
          </a:prstGeom>
          <a:solidFill>
            <a:srgbClr val="C89B3C"/>
          </a:solidFill>
          <a:ln/>
        </p:spPr>
        <p:txBody>
          <a:bodyPr/>
          <a:lstStyle/>
          <a:p>
            <a:endParaRPr lang="en-PK"/>
          </a:p>
        </p:txBody>
      </p:sp>
      <p:sp>
        <p:nvSpPr>
          <p:cNvPr id="32" name="Text 30"/>
          <p:cNvSpPr txBox="1"/>
          <p:nvPr/>
        </p:nvSpPr>
        <p:spPr>
          <a:xfrm>
            <a:off x="2921142" y="2551176"/>
            <a:ext cx="1915302" cy="182880"/>
          </a:xfrm>
          <a:prstGeom prst="rect">
            <a:avLst/>
          </a:prstGeom>
          <a:noFill/>
          <a:ln/>
        </p:spPr>
        <p:txBody>
          <a:bodyPr wrap="square" lIns="0" tIns="0" rIns="0" bIns="0" rtlCol="0" anchor="ctr"/>
          <a:lstStyle/>
          <a:p>
            <a:pPr marL="0" indent="0">
              <a:buNone/>
            </a:pPr>
            <a:r>
              <a:rPr lang="en-US" sz="1100" b="1" kern="0" spc="40" dirty="0">
                <a:solidFill>
                  <a:srgbClr val="C89B3C"/>
                </a:solidFill>
                <a:latin typeface="Consolas" pitchFamily="34" charset="0"/>
                <a:ea typeface="Consolas" pitchFamily="34" charset="-122"/>
                <a:cs typeface="Consolas" pitchFamily="34" charset="-120"/>
              </a:rPr>
              <a:t>FYP-1</a:t>
            </a:r>
            <a:endParaRPr lang="en-US" sz="1100" dirty="0"/>
          </a:p>
        </p:txBody>
      </p:sp>
      <p:sp>
        <p:nvSpPr>
          <p:cNvPr id="33" name="Text 31"/>
          <p:cNvSpPr txBox="1"/>
          <p:nvPr/>
        </p:nvSpPr>
        <p:spPr>
          <a:xfrm>
            <a:off x="2921142" y="2724912"/>
            <a:ext cx="1915302" cy="219456"/>
          </a:xfrm>
          <a:prstGeom prst="rect">
            <a:avLst/>
          </a:prstGeom>
          <a:noFill/>
          <a:ln/>
        </p:spPr>
        <p:txBody>
          <a:bodyPr wrap="square" lIns="0" tIns="0" rIns="0" bIns="0" rtlCol="0" anchor="ctr"/>
          <a:lstStyle/>
          <a:p>
            <a:pPr marL="0" indent="0">
              <a:buNone/>
            </a:pPr>
            <a:r>
              <a:rPr lang="en-US" sz="1350" b="1" dirty="0">
                <a:solidFill>
                  <a:srgbClr val="1B202A"/>
                </a:solidFill>
                <a:latin typeface="Calibri" pitchFamily="34" charset="0"/>
                <a:ea typeface="Calibri" pitchFamily="34" charset="-122"/>
                <a:cs typeface="Calibri" pitchFamily="34" charset="-120"/>
              </a:rPr>
              <a:t>Gate 2/3 · Mid-1</a:t>
            </a:r>
            <a:endParaRPr lang="en-US" sz="1350" dirty="0"/>
          </a:p>
        </p:txBody>
      </p:sp>
      <p:sp>
        <p:nvSpPr>
          <p:cNvPr id="34" name="Text 32"/>
          <p:cNvSpPr txBox="1"/>
          <p:nvPr/>
        </p:nvSpPr>
        <p:spPr>
          <a:xfrm>
            <a:off x="2921142" y="2962656"/>
            <a:ext cx="1915302" cy="329184"/>
          </a:xfrm>
          <a:prstGeom prst="rect">
            <a:avLst/>
          </a:prstGeom>
          <a:noFill/>
          <a:ln/>
        </p:spPr>
        <p:txBody>
          <a:bodyPr wrap="square" lIns="0" tIns="0" rIns="0" bIns="0" rtlCol="0" anchor="ctr"/>
          <a:lstStyle/>
          <a:p>
            <a:pPr marL="0" indent="0">
              <a:buNone/>
            </a:pPr>
            <a:r>
              <a:rPr lang="en-US" sz="1180" dirty="0">
                <a:solidFill>
                  <a:srgbClr val="596273"/>
                </a:solidFill>
                <a:latin typeface="Calibri" pitchFamily="34" charset="0"/>
                <a:ea typeface="Calibri" pitchFamily="34" charset="-122"/>
                <a:cs typeface="Calibri" pitchFamily="34" charset="-120"/>
              </a:rPr>
              <a:t>reproduction; Tier-2 gates; baseline</a:t>
            </a:r>
            <a:endParaRPr lang="en-US" sz="1180" dirty="0"/>
          </a:p>
        </p:txBody>
      </p:sp>
      <p:sp>
        <p:nvSpPr>
          <p:cNvPr id="35" name="Shape 33"/>
          <p:cNvSpPr/>
          <p:nvPr/>
        </p:nvSpPr>
        <p:spPr>
          <a:xfrm>
            <a:off x="5039441" y="2512771"/>
            <a:ext cx="2153046" cy="822960"/>
          </a:xfrm>
          <a:prstGeom prst="roundRect">
            <a:avLst>
              <a:gd name="adj" fmla="val 6667"/>
            </a:avLst>
          </a:prstGeom>
          <a:solidFill>
            <a:srgbClr val="E4E6EB"/>
          </a:solidFill>
          <a:ln/>
        </p:spPr>
        <p:txBody>
          <a:bodyPr/>
          <a:lstStyle/>
          <a:p>
            <a:endParaRPr lang="en-PK"/>
          </a:p>
        </p:txBody>
      </p:sp>
      <p:sp>
        <p:nvSpPr>
          <p:cNvPr id="36" name="Shape 34"/>
          <p:cNvSpPr/>
          <p:nvPr/>
        </p:nvSpPr>
        <p:spPr>
          <a:xfrm>
            <a:off x="5019324" y="2487168"/>
            <a:ext cx="2153046" cy="822960"/>
          </a:xfrm>
          <a:prstGeom prst="roundRect">
            <a:avLst>
              <a:gd name="adj" fmla="val 6667"/>
            </a:avLst>
          </a:prstGeom>
          <a:solidFill>
            <a:srgbClr val="FBFBFC"/>
          </a:solidFill>
          <a:ln w="9525">
            <a:solidFill>
              <a:srgbClr val="D9DCE3"/>
            </a:solidFill>
            <a:prstDash val="solid"/>
          </a:ln>
        </p:spPr>
        <p:txBody>
          <a:bodyPr/>
          <a:lstStyle/>
          <a:p>
            <a:endParaRPr lang="en-PK"/>
          </a:p>
        </p:txBody>
      </p:sp>
      <p:sp>
        <p:nvSpPr>
          <p:cNvPr id="37" name="Shape 35"/>
          <p:cNvSpPr/>
          <p:nvPr/>
        </p:nvSpPr>
        <p:spPr>
          <a:xfrm>
            <a:off x="5019324" y="2542032"/>
            <a:ext cx="41148" cy="713232"/>
          </a:xfrm>
          <a:prstGeom prst="rect">
            <a:avLst/>
          </a:prstGeom>
          <a:solidFill>
            <a:srgbClr val="C89B3C"/>
          </a:solidFill>
          <a:ln/>
        </p:spPr>
        <p:txBody>
          <a:bodyPr/>
          <a:lstStyle/>
          <a:p>
            <a:endParaRPr lang="en-PK"/>
          </a:p>
        </p:txBody>
      </p:sp>
      <p:sp>
        <p:nvSpPr>
          <p:cNvPr id="38" name="Text 36"/>
          <p:cNvSpPr txBox="1"/>
          <p:nvPr/>
        </p:nvSpPr>
        <p:spPr>
          <a:xfrm>
            <a:off x="5147340" y="2551176"/>
            <a:ext cx="1915302" cy="182880"/>
          </a:xfrm>
          <a:prstGeom prst="rect">
            <a:avLst/>
          </a:prstGeom>
          <a:noFill/>
          <a:ln/>
        </p:spPr>
        <p:txBody>
          <a:bodyPr wrap="square" lIns="0" tIns="0" rIns="0" bIns="0" rtlCol="0" anchor="ctr"/>
          <a:lstStyle/>
          <a:p>
            <a:pPr marL="0" indent="0">
              <a:buNone/>
            </a:pPr>
            <a:r>
              <a:rPr lang="en-US" sz="1100" b="1" kern="0" spc="40" dirty="0">
                <a:solidFill>
                  <a:srgbClr val="C89B3C"/>
                </a:solidFill>
                <a:latin typeface="Consolas" pitchFamily="34" charset="0"/>
                <a:ea typeface="Consolas" pitchFamily="34" charset="-122"/>
                <a:cs typeface="Consolas" pitchFamily="34" charset="-120"/>
              </a:rPr>
              <a:t>FYP-1</a:t>
            </a:r>
            <a:endParaRPr lang="en-US" sz="1100" dirty="0"/>
          </a:p>
        </p:txBody>
      </p:sp>
      <p:sp>
        <p:nvSpPr>
          <p:cNvPr id="39" name="Text 37"/>
          <p:cNvSpPr txBox="1"/>
          <p:nvPr/>
        </p:nvSpPr>
        <p:spPr>
          <a:xfrm>
            <a:off x="5147340" y="2724912"/>
            <a:ext cx="1915302" cy="219456"/>
          </a:xfrm>
          <a:prstGeom prst="rect">
            <a:avLst/>
          </a:prstGeom>
          <a:noFill/>
          <a:ln/>
        </p:spPr>
        <p:txBody>
          <a:bodyPr wrap="square" lIns="0" tIns="0" rIns="0" bIns="0" rtlCol="0" anchor="ctr"/>
          <a:lstStyle/>
          <a:p>
            <a:pPr marL="0" indent="0">
              <a:buNone/>
            </a:pPr>
            <a:r>
              <a:rPr lang="en-US" sz="1350" b="1" dirty="0">
                <a:solidFill>
                  <a:srgbClr val="1B202A"/>
                </a:solidFill>
                <a:latin typeface="Calibri" pitchFamily="34" charset="0"/>
                <a:ea typeface="Calibri" pitchFamily="34" charset="-122"/>
                <a:cs typeface="Calibri" pitchFamily="34" charset="-120"/>
              </a:rPr>
              <a:t>Gate 3 · Final-1</a:t>
            </a:r>
            <a:endParaRPr lang="en-US" sz="1350" dirty="0"/>
          </a:p>
        </p:txBody>
      </p:sp>
      <p:sp>
        <p:nvSpPr>
          <p:cNvPr id="40" name="Text 38"/>
          <p:cNvSpPr txBox="1"/>
          <p:nvPr/>
        </p:nvSpPr>
        <p:spPr>
          <a:xfrm>
            <a:off x="5147340" y="2962656"/>
            <a:ext cx="1915302" cy="329184"/>
          </a:xfrm>
          <a:prstGeom prst="rect">
            <a:avLst/>
          </a:prstGeom>
          <a:noFill/>
          <a:ln/>
        </p:spPr>
        <p:txBody>
          <a:bodyPr wrap="square" lIns="0" tIns="0" rIns="0" bIns="0" rtlCol="0" anchor="ctr"/>
          <a:lstStyle/>
          <a:p>
            <a:pPr marL="0" indent="0">
              <a:buNone/>
            </a:pPr>
            <a:r>
              <a:rPr lang="en-US" sz="1180" dirty="0">
                <a:solidFill>
                  <a:srgbClr val="596273"/>
                </a:solidFill>
                <a:latin typeface="Calibri" pitchFamily="34" charset="0"/>
                <a:ea typeface="Calibri" pitchFamily="34" charset="-122"/>
                <a:cs typeface="Calibri" pitchFamily="34" charset="-120"/>
              </a:rPr>
              <a:t>integrated core, end to end</a:t>
            </a:r>
            <a:endParaRPr lang="en-US" sz="1180" dirty="0"/>
          </a:p>
        </p:txBody>
      </p:sp>
      <p:sp>
        <p:nvSpPr>
          <p:cNvPr id="41" name="Shape 39"/>
          <p:cNvSpPr/>
          <p:nvPr/>
        </p:nvSpPr>
        <p:spPr>
          <a:xfrm>
            <a:off x="7265640" y="2512771"/>
            <a:ext cx="2153046" cy="822960"/>
          </a:xfrm>
          <a:prstGeom prst="roundRect">
            <a:avLst>
              <a:gd name="adj" fmla="val 6667"/>
            </a:avLst>
          </a:prstGeom>
          <a:solidFill>
            <a:srgbClr val="E4E6EB"/>
          </a:solidFill>
          <a:ln/>
        </p:spPr>
        <p:txBody>
          <a:bodyPr/>
          <a:lstStyle/>
          <a:p>
            <a:endParaRPr lang="en-PK"/>
          </a:p>
        </p:txBody>
      </p:sp>
      <p:sp>
        <p:nvSpPr>
          <p:cNvPr id="42" name="Shape 40"/>
          <p:cNvSpPr/>
          <p:nvPr/>
        </p:nvSpPr>
        <p:spPr>
          <a:xfrm>
            <a:off x="7245523" y="2487168"/>
            <a:ext cx="2153046" cy="822960"/>
          </a:xfrm>
          <a:prstGeom prst="roundRect">
            <a:avLst>
              <a:gd name="adj" fmla="val 6667"/>
            </a:avLst>
          </a:prstGeom>
          <a:solidFill>
            <a:srgbClr val="FBFBFC"/>
          </a:solidFill>
          <a:ln w="9525">
            <a:solidFill>
              <a:srgbClr val="D9DCE3"/>
            </a:solidFill>
            <a:prstDash val="solid"/>
          </a:ln>
        </p:spPr>
        <p:txBody>
          <a:bodyPr/>
          <a:lstStyle/>
          <a:p>
            <a:endParaRPr lang="en-PK"/>
          </a:p>
        </p:txBody>
      </p:sp>
      <p:sp>
        <p:nvSpPr>
          <p:cNvPr id="43" name="Shape 41"/>
          <p:cNvSpPr/>
          <p:nvPr/>
        </p:nvSpPr>
        <p:spPr>
          <a:xfrm>
            <a:off x="7245523" y="2542032"/>
            <a:ext cx="41148" cy="713232"/>
          </a:xfrm>
          <a:prstGeom prst="rect">
            <a:avLst/>
          </a:prstGeom>
          <a:solidFill>
            <a:srgbClr val="31558F"/>
          </a:solidFill>
          <a:ln/>
        </p:spPr>
        <p:txBody>
          <a:bodyPr/>
          <a:lstStyle/>
          <a:p>
            <a:endParaRPr lang="en-PK"/>
          </a:p>
        </p:txBody>
      </p:sp>
      <p:sp>
        <p:nvSpPr>
          <p:cNvPr id="44" name="Text 42"/>
          <p:cNvSpPr txBox="1"/>
          <p:nvPr/>
        </p:nvSpPr>
        <p:spPr>
          <a:xfrm>
            <a:off x="7373539" y="2551176"/>
            <a:ext cx="1915302" cy="182880"/>
          </a:xfrm>
          <a:prstGeom prst="rect">
            <a:avLst/>
          </a:prstGeom>
          <a:noFill/>
          <a:ln/>
        </p:spPr>
        <p:txBody>
          <a:bodyPr wrap="square" lIns="0" tIns="0" rIns="0" bIns="0" rtlCol="0" anchor="ctr"/>
          <a:lstStyle/>
          <a:p>
            <a:pPr marL="0" indent="0">
              <a:buNone/>
            </a:pPr>
            <a:r>
              <a:rPr lang="en-US" sz="1100" b="1" kern="0" spc="40" dirty="0">
                <a:solidFill>
                  <a:srgbClr val="31558F"/>
                </a:solidFill>
                <a:latin typeface="Consolas" pitchFamily="34" charset="0"/>
                <a:ea typeface="Consolas" pitchFamily="34" charset="-122"/>
                <a:cs typeface="Consolas" pitchFamily="34" charset="-120"/>
              </a:rPr>
              <a:t>FYP-2</a:t>
            </a:r>
            <a:endParaRPr lang="en-US" sz="1100" dirty="0"/>
          </a:p>
        </p:txBody>
      </p:sp>
      <p:sp>
        <p:nvSpPr>
          <p:cNvPr id="45" name="Text 43"/>
          <p:cNvSpPr txBox="1"/>
          <p:nvPr/>
        </p:nvSpPr>
        <p:spPr>
          <a:xfrm>
            <a:off x="7373539" y="2724912"/>
            <a:ext cx="1915302" cy="219456"/>
          </a:xfrm>
          <a:prstGeom prst="rect">
            <a:avLst/>
          </a:prstGeom>
          <a:noFill/>
          <a:ln/>
        </p:spPr>
        <p:txBody>
          <a:bodyPr wrap="square" lIns="0" tIns="0" rIns="0" bIns="0" rtlCol="0" anchor="ctr"/>
          <a:lstStyle/>
          <a:p>
            <a:pPr marL="0" indent="0">
              <a:buNone/>
            </a:pPr>
            <a:r>
              <a:rPr lang="en-US" sz="1350" b="1" dirty="0">
                <a:solidFill>
                  <a:srgbClr val="1B202A"/>
                </a:solidFill>
                <a:latin typeface="Calibri" pitchFamily="34" charset="0"/>
                <a:ea typeface="Calibri" pitchFamily="34" charset="-122"/>
                <a:cs typeface="Calibri" pitchFamily="34" charset="-120"/>
              </a:rPr>
              <a:t>Gate 4 · Mid-2</a:t>
            </a:r>
            <a:endParaRPr lang="en-US" sz="1350" dirty="0"/>
          </a:p>
        </p:txBody>
      </p:sp>
      <p:sp>
        <p:nvSpPr>
          <p:cNvPr id="46" name="Text 44"/>
          <p:cNvSpPr txBox="1"/>
          <p:nvPr/>
        </p:nvSpPr>
        <p:spPr>
          <a:xfrm>
            <a:off x="7373539" y="2962656"/>
            <a:ext cx="1915302" cy="329184"/>
          </a:xfrm>
          <a:prstGeom prst="rect">
            <a:avLst/>
          </a:prstGeom>
          <a:noFill/>
          <a:ln/>
        </p:spPr>
        <p:txBody>
          <a:bodyPr wrap="square" lIns="0" tIns="0" rIns="0" bIns="0" rtlCol="0" anchor="ctr"/>
          <a:lstStyle/>
          <a:p>
            <a:pPr marL="0" indent="0">
              <a:buNone/>
            </a:pPr>
            <a:r>
              <a:rPr lang="en-US" sz="1180" dirty="0">
                <a:solidFill>
                  <a:srgbClr val="596273"/>
                </a:solidFill>
                <a:latin typeface="Calibri" pitchFamily="34" charset="0"/>
                <a:ea typeface="Calibri" pitchFamily="34" charset="-122"/>
                <a:cs typeface="Calibri" pitchFamily="34" charset="-120"/>
              </a:rPr>
              <a:t>benchmark ≥500; targets measured</a:t>
            </a:r>
            <a:endParaRPr lang="en-US" sz="1180" dirty="0"/>
          </a:p>
        </p:txBody>
      </p:sp>
      <p:sp>
        <p:nvSpPr>
          <p:cNvPr id="47" name="Shape 45"/>
          <p:cNvSpPr/>
          <p:nvPr/>
        </p:nvSpPr>
        <p:spPr>
          <a:xfrm>
            <a:off x="9491838" y="2512771"/>
            <a:ext cx="2153046" cy="822960"/>
          </a:xfrm>
          <a:prstGeom prst="roundRect">
            <a:avLst>
              <a:gd name="adj" fmla="val 6667"/>
            </a:avLst>
          </a:prstGeom>
          <a:solidFill>
            <a:srgbClr val="E4E6EB"/>
          </a:solidFill>
          <a:ln/>
        </p:spPr>
        <p:txBody>
          <a:bodyPr/>
          <a:lstStyle/>
          <a:p>
            <a:endParaRPr lang="en-PK"/>
          </a:p>
        </p:txBody>
      </p:sp>
      <p:sp>
        <p:nvSpPr>
          <p:cNvPr id="48" name="Shape 46"/>
          <p:cNvSpPr/>
          <p:nvPr/>
        </p:nvSpPr>
        <p:spPr>
          <a:xfrm>
            <a:off x="9471721" y="2487168"/>
            <a:ext cx="2153046" cy="822960"/>
          </a:xfrm>
          <a:prstGeom prst="roundRect">
            <a:avLst>
              <a:gd name="adj" fmla="val 6667"/>
            </a:avLst>
          </a:prstGeom>
          <a:solidFill>
            <a:srgbClr val="FBFBFC"/>
          </a:solidFill>
          <a:ln w="9525">
            <a:solidFill>
              <a:srgbClr val="D9DCE3"/>
            </a:solidFill>
            <a:prstDash val="solid"/>
          </a:ln>
        </p:spPr>
        <p:txBody>
          <a:bodyPr/>
          <a:lstStyle/>
          <a:p>
            <a:endParaRPr lang="en-PK"/>
          </a:p>
        </p:txBody>
      </p:sp>
      <p:sp>
        <p:nvSpPr>
          <p:cNvPr id="49" name="Shape 47"/>
          <p:cNvSpPr/>
          <p:nvPr/>
        </p:nvSpPr>
        <p:spPr>
          <a:xfrm>
            <a:off x="9471721" y="2542032"/>
            <a:ext cx="41148" cy="713232"/>
          </a:xfrm>
          <a:prstGeom prst="rect">
            <a:avLst/>
          </a:prstGeom>
          <a:solidFill>
            <a:srgbClr val="31558F"/>
          </a:solidFill>
          <a:ln/>
        </p:spPr>
        <p:txBody>
          <a:bodyPr/>
          <a:lstStyle/>
          <a:p>
            <a:endParaRPr lang="en-PK"/>
          </a:p>
        </p:txBody>
      </p:sp>
      <p:sp>
        <p:nvSpPr>
          <p:cNvPr id="50" name="Text 48"/>
          <p:cNvSpPr txBox="1"/>
          <p:nvPr/>
        </p:nvSpPr>
        <p:spPr>
          <a:xfrm>
            <a:off x="9599737" y="2551176"/>
            <a:ext cx="1915302" cy="182880"/>
          </a:xfrm>
          <a:prstGeom prst="rect">
            <a:avLst/>
          </a:prstGeom>
          <a:noFill/>
          <a:ln/>
        </p:spPr>
        <p:txBody>
          <a:bodyPr wrap="square" lIns="0" tIns="0" rIns="0" bIns="0" rtlCol="0" anchor="ctr"/>
          <a:lstStyle/>
          <a:p>
            <a:pPr marL="0" indent="0">
              <a:buNone/>
            </a:pPr>
            <a:r>
              <a:rPr lang="en-US" sz="1100" b="1" kern="0" spc="40" dirty="0">
                <a:solidFill>
                  <a:srgbClr val="31558F"/>
                </a:solidFill>
                <a:latin typeface="Consolas" pitchFamily="34" charset="0"/>
                <a:ea typeface="Consolas" pitchFamily="34" charset="-122"/>
                <a:cs typeface="Consolas" pitchFamily="34" charset="-120"/>
              </a:rPr>
              <a:t>FYP-2</a:t>
            </a:r>
            <a:endParaRPr lang="en-US" sz="1100" dirty="0"/>
          </a:p>
        </p:txBody>
      </p:sp>
      <p:sp>
        <p:nvSpPr>
          <p:cNvPr id="51" name="Text 49"/>
          <p:cNvSpPr txBox="1"/>
          <p:nvPr/>
        </p:nvSpPr>
        <p:spPr>
          <a:xfrm>
            <a:off x="9599737" y="2724912"/>
            <a:ext cx="1915302" cy="219456"/>
          </a:xfrm>
          <a:prstGeom prst="rect">
            <a:avLst/>
          </a:prstGeom>
          <a:noFill/>
          <a:ln/>
        </p:spPr>
        <p:txBody>
          <a:bodyPr wrap="square" lIns="0" tIns="0" rIns="0" bIns="0" rtlCol="0" anchor="ctr"/>
          <a:lstStyle/>
          <a:p>
            <a:pPr marL="0" indent="0">
              <a:buNone/>
            </a:pPr>
            <a:r>
              <a:rPr lang="en-US" sz="1350" b="1" dirty="0">
                <a:solidFill>
                  <a:srgbClr val="1B202A"/>
                </a:solidFill>
                <a:latin typeface="Calibri" pitchFamily="34" charset="0"/>
                <a:ea typeface="Calibri" pitchFamily="34" charset="-122"/>
                <a:cs typeface="Calibri" pitchFamily="34" charset="-120"/>
              </a:rPr>
              <a:t>Gate 5 · Final-2</a:t>
            </a:r>
            <a:endParaRPr lang="en-US" sz="1350" dirty="0"/>
          </a:p>
        </p:txBody>
      </p:sp>
      <p:sp>
        <p:nvSpPr>
          <p:cNvPr id="52" name="Text 50"/>
          <p:cNvSpPr txBox="1"/>
          <p:nvPr/>
        </p:nvSpPr>
        <p:spPr>
          <a:xfrm>
            <a:off x="9599737" y="2962656"/>
            <a:ext cx="1915302" cy="329184"/>
          </a:xfrm>
          <a:prstGeom prst="rect">
            <a:avLst/>
          </a:prstGeom>
          <a:noFill/>
          <a:ln/>
        </p:spPr>
        <p:txBody>
          <a:bodyPr wrap="square" lIns="0" tIns="0" rIns="0" bIns="0" rtlCol="0" anchor="ctr"/>
          <a:lstStyle/>
          <a:p>
            <a:pPr marL="0" indent="0">
              <a:buNone/>
            </a:pPr>
            <a:r>
              <a:rPr lang="en-US" sz="1180" dirty="0">
                <a:solidFill>
                  <a:srgbClr val="596273"/>
                </a:solidFill>
                <a:latin typeface="Calibri" pitchFamily="34" charset="0"/>
                <a:ea typeface="Calibri" pitchFamily="34" charset="-122"/>
                <a:cs typeface="Calibri" pitchFamily="34" charset="-120"/>
              </a:rPr>
              <a:t>full evaluation, deployed + released</a:t>
            </a:r>
            <a:endParaRPr lang="en-US" sz="1180" dirty="0"/>
          </a:p>
        </p:txBody>
      </p:sp>
      <p:sp>
        <p:nvSpPr>
          <p:cNvPr id="53" name="Shape 51"/>
          <p:cNvSpPr/>
          <p:nvPr/>
        </p:nvSpPr>
        <p:spPr>
          <a:xfrm>
            <a:off x="587045" y="3427171"/>
            <a:ext cx="3551834" cy="1847088"/>
          </a:xfrm>
          <a:prstGeom prst="roundRect">
            <a:avLst>
              <a:gd name="adj" fmla="val 2970"/>
            </a:avLst>
          </a:prstGeom>
          <a:solidFill>
            <a:srgbClr val="E4E6EB"/>
          </a:solidFill>
          <a:ln/>
        </p:spPr>
        <p:txBody>
          <a:bodyPr/>
          <a:lstStyle/>
          <a:p>
            <a:endParaRPr lang="en-PK"/>
          </a:p>
        </p:txBody>
      </p:sp>
      <p:sp>
        <p:nvSpPr>
          <p:cNvPr id="54" name="Shape 52"/>
          <p:cNvSpPr/>
          <p:nvPr/>
        </p:nvSpPr>
        <p:spPr>
          <a:xfrm>
            <a:off x="566928" y="3401568"/>
            <a:ext cx="3551834" cy="1847088"/>
          </a:xfrm>
          <a:prstGeom prst="roundRect">
            <a:avLst>
              <a:gd name="adj" fmla="val 2970"/>
            </a:avLst>
          </a:prstGeom>
          <a:solidFill>
            <a:srgbClr val="E3EFF1"/>
          </a:solidFill>
          <a:ln w="9525">
            <a:solidFill>
              <a:srgbClr val="D9DCE3"/>
            </a:solidFill>
            <a:prstDash val="solid"/>
          </a:ln>
        </p:spPr>
        <p:txBody>
          <a:bodyPr/>
          <a:lstStyle/>
          <a:p>
            <a:endParaRPr lang="en-PK"/>
          </a:p>
        </p:txBody>
      </p:sp>
      <p:sp>
        <p:nvSpPr>
          <p:cNvPr id="55" name="Shape 53"/>
          <p:cNvSpPr/>
          <p:nvPr/>
        </p:nvSpPr>
        <p:spPr>
          <a:xfrm>
            <a:off x="566928" y="3456432"/>
            <a:ext cx="41148" cy="1737360"/>
          </a:xfrm>
          <a:prstGeom prst="rect">
            <a:avLst/>
          </a:prstGeom>
          <a:solidFill>
            <a:srgbClr val="15707A"/>
          </a:solidFill>
          <a:ln/>
        </p:spPr>
        <p:txBody>
          <a:bodyPr/>
          <a:lstStyle/>
          <a:p>
            <a:endParaRPr lang="en-PK"/>
          </a:p>
        </p:txBody>
      </p:sp>
      <p:sp>
        <p:nvSpPr>
          <p:cNvPr id="56" name="Text 54"/>
          <p:cNvSpPr txBox="1"/>
          <p:nvPr/>
        </p:nvSpPr>
        <p:spPr>
          <a:xfrm>
            <a:off x="749808" y="3474720"/>
            <a:ext cx="3186074" cy="237744"/>
          </a:xfrm>
          <a:prstGeom prst="rect">
            <a:avLst/>
          </a:prstGeom>
          <a:noFill/>
          <a:ln/>
        </p:spPr>
        <p:txBody>
          <a:bodyPr wrap="square" lIns="0" tIns="0" rIns="0" bIns="0" rtlCol="0" anchor="ctr"/>
          <a:lstStyle/>
          <a:p>
            <a:pPr marL="0" indent="0">
              <a:buNone/>
            </a:pPr>
            <a:r>
              <a:rPr lang="en-US" sz="1300" b="1" kern="0" spc="80" dirty="0">
                <a:solidFill>
                  <a:srgbClr val="15707A"/>
                </a:solidFill>
                <a:latin typeface="Consolas" pitchFamily="34" charset="0"/>
                <a:ea typeface="Consolas" pitchFamily="34" charset="-122"/>
                <a:cs typeface="Consolas" pitchFamily="34" charset="-120"/>
              </a:rPr>
              <a:t>DEI</a:t>
            </a:r>
            <a:endParaRPr lang="en-US" sz="1300" dirty="0"/>
          </a:p>
        </p:txBody>
      </p:sp>
      <p:sp>
        <p:nvSpPr>
          <p:cNvPr id="57" name="Text 55"/>
          <p:cNvSpPr txBox="1"/>
          <p:nvPr/>
        </p:nvSpPr>
        <p:spPr>
          <a:xfrm>
            <a:off x="749808" y="3749040"/>
            <a:ext cx="3186074" cy="1444752"/>
          </a:xfrm>
          <a:prstGeom prst="rect">
            <a:avLst/>
          </a:prstGeom>
          <a:noFill/>
          <a:ln/>
        </p:spPr>
        <p:txBody>
          <a:bodyPr wrap="square" lIns="0" tIns="0" rIns="0" bIns="0" rtlCol="0" anchor="t"/>
          <a:lstStyle/>
          <a:p>
            <a:pPr marL="190500" indent="-190500">
              <a:spcAft>
                <a:spcPts val="900"/>
              </a:spcAft>
              <a:buSzPct val="100000"/>
              <a:buChar char="▪"/>
            </a:pPr>
            <a:r>
              <a:rPr lang="en-US" sz="1330" dirty="0">
                <a:solidFill>
                  <a:srgbClr val="1B202A"/>
                </a:solidFill>
                <a:latin typeface="Calibri" pitchFamily="34" charset="0"/>
                <a:ea typeface="Calibri" pitchFamily="34" charset="-122"/>
                <a:cs typeface="Calibri" pitchFamily="34" charset="-120"/>
              </a:rPr>
              <a:t>Open-source release widens access — SDG 9 access-equity</a:t>
            </a:r>
            <a:endParaRPr lang="en-US" sz="1330" dirty="0"/>
          </a:p>
          <a:p>
            <a:pPr marL="190500" indent="-190500">
              <a:spcAft>
                <a:spcPts val="900"/>
              </a:spcAft>
              <a:buSzPct val="100000"/>
              <a:buChar char="▪"/>
            </a:pPr>
            <a:r>
              <a:rPr lang="en-US" sz="1330" dirty="0">
                <a:solidFill>
                  <a:srgbClr val="1B202A"/>
                </a:solidFill>
                <a:latin typeface="Calibri" pitchFamily="34" charset="0"/>
                <a:ea typeface="Calibri" pitchFamily="34" charset="-122"/>
                <a:cs typeface="Calibri" pitchFamily="34" charset="-120"/>
              </a:rPr>
              <a:t>Colour + text + shape, never colour alone — WCAG owed by Final-1</a:t>
            </a:r>
            <a:endParaRPr lang="en-US" sz="1330" dirty="0"/>
          </a:p>
          <a:p>
            <a:pPr marL="190500" indent="-190500">
              <a:spcAft>
                <a:spcPts val="900"/>
              </a:spcAft>
              <a:buSzPct val="100000"/>
              <a:buChar char="▪"/>
            </a:pPr>
            <a:r>
              <a:rPr lang="en-US" sz="1330" dirty="0">
                <a:solidFill>
                  <a:srgbClr val="1B202A"/>
                </a:solidFill>
                <a:latin typeface="Calibri" pitchFamily="34" charset="0"/>
                <a:ea typeface="Calibri" pitchFamily="34" charset="-122"/>
                <a:cs typeface="Calibri" pitchFamily="34" charset="-120"/>
              </a:rPr>
              <a:t>Accuracy claims stated as English-only</a:t>
            </a:r>
            <a:endParaRPr lang="en-US" sz="1330" dirty="0"/>
          </a:p>
        </p:txBody>
      </p:sp>
      <p:sp>
        <p:nvSpPr>
          <p:cNvPr id="58" name="Shape 56"/>
          <p:cNvSpPr/>
          <p:nvPr/>
        </p:nvSpPr>
        <p:spPr>
          <a:xfrm>
            <a:off x="4340047" y="3427171"/>
            <a:ext cx="3551834" cy="1847088"/>
          </a:xfrm>
          <a:prstGeom prst="roundRect">
            <a:avLst>
              <a:gd name="adj" fmla="val 2970"/>
            </a:avLst>
          </a:prstGeom>
          <a:solidFill>
            <a:srgbClr val="E4E6EB"/>
          </a:solidFill>
          <a:ln/>
        </p:spPr>
        <p:txBody>
          <a:bodyPr/>
          <a:lstStyle/>
          <a:p>
            <a:endParaRPr lang="en-PK"/>
          </a:p>
        </p:txBody>
      </p:sp>
      <p:sp>
        <p:nvSpPr>
          <p:cNvPr id="59" name="Shape 57"/>
          <p:cNvSpPr/>
          <p:nvPr/>
        </p:nvSpPr>
        <p:spPr>
          <a:xfrm>
            <a:off x="4319930" y="3401568"/>
            <a:ext cx="3551834" cy="1847088"/>
          </a:xfrm>
          <a:prstGeom prst="roundRect">
            <a:avLst>
              <a:gd name="adj" fmla="val 2970"/>
            </a:avLst>
          </a:prstGeom>
          <a:solidFill>
            <a:srgbClr val="F6E6E3"/>
          </a:solidFill>
          <a:ln w="9525">
            <a:solidFill>
              <a:srgbClr val="D9DCE3"/>
            </a:solidFill>
            <a:prstDash val="solid"/>
          </a:ln>
        </p:spPr>
        <p:txBody>
          <a:bodyPr/>
          <a:lstStyle/>
          <a:p>
            <a:endParaRPr lang="en-PK"/>
          </a:p>
        </p:txBody>
      </p:sp>
      <p:sp>
        <p:nvSpPr>
          <p:cNvPr id="60" name="Shape 58"/>
          <p:cNvSpPr/>
          <p:nvPr/>
        </p:nvSpPr>
        <p:spPr>
          <a:xfrm>
            <a:off x="4319930" y="3456432"/>
            <a:ext cx="41148" cy="1737360"/>
          </a:xfrm>
          <a:prstGeom prst="rect">
            <a:avLst/>
          </a:prstGeom>
          <a:solidFill>
            <a:srgbClr val="A83A30"/>
          </a:solidFill>
          <a:ln/>
        </p:spPr>
        <p:txBody>
          <a:bodyPr/>
          <a:lstStyle/>
          <a:p>
            <a:endParaRPr lang="en-PK"/>
          </a:p>
        </p:txBody>
      </p:sp>
      <p:sp>
        <p:nvSpPr>
          <p:cNvPr id="61" name="Text 59"/>
          <p:cNvSpPr txBox="1"/>
          <p:nvPr/>
        </p:nvSpPr>
        <p:spPr>
          <a:xfrm>
            <a:off x="4502810" y="3474720"/>
            <a:ext cx="3186074" cy="237744"/>
          </a:xfrm>
          <a:prstGeom prst="rect">
            <a:avLst/>
          </a:prstGeom>
          <a:noFill/>
          <a:ln/>
        </p:spPr>
        <p:txBody>
          <a:bodyPr wrap="square" lIns="0" tIns="0" rIns="0" bIns="0" rtlCol="0" anchor="ctr"/>
          <a:lstStyle/>
          <a:p>
            <a:pPr marL="0" indent="0">
              <a:buNone/>
            </a:pPr>
            <a:r>
              <a:rPr lang="en-US" sz="1300" b="1" kern="0" spc="80" dirty="0">
                <a:solidFill>
                  <a:srgbClr val="A83A30"/>
                </a:solidFill>
                <a:latin typeface="Consolas" pitchFamily="34" charset="0"/>
                <a:ea typeface="Consolas" pitchFamily="34" charset="-122"/>
                <a:cs typeface="Consolas" pitchFamily="34" charset="-120"/>
              </a:rPr>
              <a:t>ETHICAL</a:t>
            </a:r>
            <a:endParaRPr lang="en-US" sz="1300" dirty="0"/>
          </a:p>
        </p:txBody>
      </p:sp>
      <p:sp>
        <p:nvSpPr>
          <p:cNvPr id="62" name="Text 60"/>
          <p:cNvSpPr txBox="1"/>
          <p:nvPr/>
        </p:nvSpPr>
        <p:spPr>
          <a:xfrm>
            <a:off x="4502810" y="3749040"/>
            <a:ext cx="3186074" cy="1444752"/>
          </a:xfrm>
          <a:prstGeom prst="rect">
            <a:avLst/>
          </a:prstGeom>
          <a:noFill/>
          <a:ln/>
        </p:spPr>
        <p:txBody>
          <a:bodyPr wrap="square" lIns="0" tIns="0" rIns="0" bIns="0" rtlCol="0" anchor="t"/>
          <a:lstStyle/>
          <a:p>
            <a:pPr marL="190500" indent="-190500">
              <a:spcAft>
                <a:spcPts val="900"/>
              </a:spcAft>
              <a:buSzPct val="100000"/>
              <a:buChar char="▪"/>
            </a:pPr>
            <a:r>
              <a:rPr lang="en-US" sz="1330" dirty="0">
                <a:solidFill>
                  <a:srgbClr val="1B202A"/>
                </a:solidFill>
                <a:latin typeface="Calibri" pitchFamily="34" charset="0"/>
                <a:ea typeface="Calibri" pitchFamily="34" charset="-122"/>
                <a:cs typeface="Calibri" pitchFamily="34" charset="-120"/>
              </a:rPr>
              <a:t>Advisory only — every repair is human-gated</a:t>
            </a:r>
            <a:endParaRPr lang="en-US" sz="1330" dirty="0"/>
          </a:p>
          <a:p>
            <a:pPr marL="190500" indent="-190500">
              <a:spcAft>
                <a:spcPts val="900"/>
              </a:spcAft>
              <a:buSzPct val="100000"/>
              <a:buChar char="▪"/>
            </a:pPr>
            <a:r>
              <a:rPr lang="en-US" sz="1330" dirty="0">
                <a:solidFill>
                  <a:srgbClr val="1B202A"/>
                </a:solidFill>
                <a:latin typeface="Calibri" pitchFamily="34" charset="0"/>
                <a:ea typeface="Calibri" pitchFamily="34" charset="-122"/>
                <a:cs typeface="Calibri" pitchFamily="34" charset="-120"/>
              </a:rPr>
              <a:t>Consent for real trace data; injection only on consenting systems</a:t>
            </a:r>
            <a:endParaRPr lang="en-US" sz="1330" dirty="0"/>
          </a:p>
          <a:p>
            <a:pPr marL="190500" indent="-190500">
              <a:spcAft>
                <a:spcPts val="900"/>
              </a:spcAft>
              <a:buSzPct val="100000"/>
              <a:buChar char="▪"/>
            </a:pPr>
            <a:r>
              <a:rPr lang="en-US" sz="1330" dirty="0">
                <a:solidFill>
                  <a:srgbClr val="1B202A"/>
                </a:solidFill>
                <a:latin typeface="Calibri" pitchFamily="34" charset="0"/>
                <a:ea typeface="Calibri" pitchFamily="34" charset="-122"/>
                <a:cs typeface="Calibri" pitchFamily="34" charset="-120"/>
              </a:rPr>
              <a:t>Negative results published as found — Spike 7 not buried</a:t>
            </a:r>
            <a:endParaRPr lang="en-US" sz="1330" dirty="0"/>
          </a:p>
        </p:txBody>
      </p:sp>
      <p:sp>
        <p:nvSpPr>
          <p:cNvPr id="63" name="Shape 61"/>
          <p:cNvSpPr/>
          <p:nvPr/>
        </p:nvSpPr>
        <p:spPr>
          <a:xfrm>
            <a:off x="8093050" y="3427171"/>
            <a:ext cx="3551834" cy="1847088"/>
          </a:xfrm>
          <a:prstGeom prst="roundRect">
            <a:avLst>
              <a:gd name="adj" fmla="val 2970"/>
            </a:avLst>
          </a:prstGeom>
          <a:solidFill>
            <a:srgbClr val="E4E6EB"/>
          </a:solidFill>
          <a:ln/>
        </p:spPr>
        <p:txBody>
          <a:bodyPr/>
          <a:lstStyle/>
          <a:p>
            <a:endParaRPr lang="en-PK"/>
          </a:p>
        </p:txBody>
      </p:sp>
      <p:sp>
        <p:nvSpPr>
          <p:cNvPr id="64" name="Shape 62"/>
          <p:cNvSpPr/>
          <p:nvPr/>
        </p:nvSpPr>
        <p:spPr>
          <a:xfrm>
            <a:off x="8072933" y="3401568"/>
            <a:ext cx="3551834" cy="1847088"/>
          </a:xfrm>
          <a:prstGeom prst="roundRect">
            <a:avLst>
              <a:gd name="adj" fmla="val 2970"/>
            </a:avLst>
          </a:prstGeom>
          <a:solidFill>
            <a:srgbClr val="E4E9F2"/>
          </a:solidFill>
          <a:ln w="9525">
            <a:solidFill>
              <a:srgbClr val="D9DCE3"/>
            </a:solidFill>
            <a:prstDash val="solid"/>
          </a:ln>
        </p:spPr>
        <p:txBody>
          <a:bodyPr/>
          <a:lstStyle/>
          <a:p>
            <a:endParaRPr lang="en-PK"/>
          </a:p>
        </p:txBody>
      </p:sp>
      <p:sp>
        <p:nvSpPr>
          <p:cNvPr id="65" name="Shape 63"/>
          <p:cNvSpPr/>
          <p:nvPr/>
        </p:nvSpPr>
        <p:spPr>
          <a:xfrm>
            <a:off x="8072933" y="3456432"/>
            <a:ext cx="41148" cy="1737360"/>
          </a:xfrm>
          <a:prstGeom prst="rect">
            <a:avLst/>
          </a:prstGeom>
          <a:solidFill>
            <a:srgbClr val="31558F"/>
          </a:solidFill>
          <a:ln/>
        </p:spPr>
        <p:txBody>
          <a:bodyPr/>
          <a:lstStyle/>
          <a:p>
            <a:endParaRPr lang="en-PK"/>
          </a:p>
        </p:txBody>
      </p:sp>
      <p:sp>
        <p:nvSpPr>
          <p:cNvPr id="66" name="Text 64"/>
          <p:cNvSpPr txBox="1"/>
          <p:nvPr/>
        </p:nvSpPr>
        <p:spPr>
          <a:xfrm>
            <a:off x="8255813" y="3474720"/>
            <a:ext cx="3186074" cy="237744"/>
          </a:xfrm>
          <a:prstGeom prst="rect">
            <a:avLst/>
          </a:prstGeom>
          <a:noFill/>
          <a:ln/>
        </p:spPr>
        <p:txBody>
          <a:bodyPr wrap="square" lIns="0" tIns="0" rIns="0" bIns="0" rtlCol="0" anchor="ctr"/>
          <a:lstStyle/>
          <a:p>
            <a:pPr marL="0" indent="0">
              <a:buNone/>
            </a:pPr>
            <a:r>
              <a:rPr lang="en-US" sz="1300" b="1" kern="0" spc="80" dirty="0">
                <a:solidFill>
                  <a:srgbClr val="31558F"/>
                </a:solidFill>
                <a:latin typeface="Consolas" pitchFamily="34" charset="0"/>
                <a:ea typeface="Consolas" pitchFamily="34" charset="-122"/>
                <a:cs typeface="Consolas" pitchFamily="34" charset="-120"/>
              </a:rPr>
              <a:t>LEGAL / PROFESSIONAL</a:t>
            </a:r>
            <a:endParaRPr lang="en-US" sz="1300" dirty="0"/>
          </a:p>
        </p:txBody>
      </p:sp>
      <p:sp>
        <p:nvSpPr>
          <p:cNvPr id="67" name="Text 65"/>
          <p:cNvSpPr txBox="1"/>
          <p:nvPr/>
        </p:nvSpPr>
        <p:spPr>
          <a:xfrm>
            <a:off x="8255813" y="3749040"/>
            <a:ext cx="3186074" cy="1444752"/>
          </a:xfrm>
          <a:prstGeom prst="rect">
            <a:avLst/>
          </a:prstGeom>
          <a:noFill/>
          <a:ln/>
        </p:spPr>
        <p:txBody>
          <a:bodyPr wrap="square" lIns="0" tIns="0" rIns="0" bIns="0" rtlCol="0" anchor="t"/>
          <a:lstStyle/>
          <a:p>
            <a:pPr marL="190500" indent="-190500">
              <a:spcAft>
                <a:spcPts val="900"/>
              </a:spcAft>
              <a:buSzPct val="100000"/>
              <a:buChar char="▪"/>
            </a:pPr>
            <a:r>
              <a:rPr lang="en-US" sz="1330" dirty="0">
                <a:solidFill>
                  <a:srgbClr val="1B202A"/>
                </a:solidFill>
                <a:latin typeface="Calibri" pitchFamily="34" charset="0"/>
                <a:ea typeface="Calibri" pitchFamily="34" charset="-122"/>
                <a:cs typeface="Calibri" pitchFamily="34" charset="-120"/>
              </a:rPr>
              <a:t>Who&amp;When · GSM8K · tau-bench — all MIT, confirmed against the LICENSE file</a:t>
            </a:r>
            <a:endParaRPr lang="en-US" sz="1330" dirty="0"/>
          </a:p>
          <a:p>
            <a:pPr marL="190500" indent="-190500">
              <a:spcAft>
                <a:spcPts val="900"/>
              </a:spcAft>
              <a:buSzPct val="100000"/>
              <a:buChar char="▪"/>
            </a:pPr>
            <a:r>
              <a:rPr lang="en-US" sz="1330" dirty="0">
                <a:solidFill>
                  <a:srgbClr val="1B202A"/>
                </a:solidFill>
                <a:latin typeface="Calibri" pitchFamily="34" charset="0"/>
                <a:ea typeface="Calibri" pitchFamily="34" charset="-122"/>
                <a:cs typeface="Calibri" pitchFamily="34" charset="-120"/>
              </a:rPr>
              <a:t>Released artefacts carry MIT / CC BY 4.0</a:t>
            </a:r>
            <a:endParaRPr lang="en-US" sz="1330" dirty="0"/>
          </a:p>
          <a:p>
            <a:pPr marL="190500" indent="-190500">
              <a:spcAft>
                <a:spcPts val="900"/>
              </a:spcAft>
              <a:buSzPct val="100000"/>
              <a:buChar char="▪"/>
            </a:pPr>
            <a:r>
              <a:rPr lang="en-US" sz="1330" dirty="0">
                <a:solidFill>
                  <a:srgbClr val="1B202A"/>
                </a:solidFill>
                <a:latin typeface="Calibri" pitchFamily="34" charset="0"/>
                <a:ea typeface="Calibri" pitchFamily="34" charset="-122"/>
                <a:cs typeface="Calibri" pitchFamily="34" charset="-120"/>
              </a:rPr>
              <a:t>AI usage disclosed per session (19 logged) on Form 13</a:t>
            </a:r>
            <a:endParaRPr lang="en-US" sz="1330" dirty="0"/>
          </a:p>
        </p:txBody>
      </p:sp>
      <p:sp>
        <p:nvSpPr>
          <p:cNvPr id="68" name="Shape 66"/>
          <p:cNvSpPr/>
          <p:nvPr/>
        </p:nvSpPr>
        <p:spPr>
          <a:xfrm>
            <a:off x="587045" y="5383987"/>
            <a:ext cx="11057839" cy="1042416"/>
          </a:xfrm>
          <a:prstGeom prst="roundRect">
            <a:avLst>
              <a:gd name="adj" fmla="val 5263"/>
            </a:avLst>
          </a:prstGeom>
          <a:solidFill>
            <a:srgbClr val="E4E6EB"/>
          </a:solidFill>
          <a:ln/>
        </p:spPr>
        <p:txBody>
          <a:bodyPr/>
          <a:lstStyle/>
          <a:p>
            <a:endParaRPr lang="en-PK"/>
          </a:p>
        </p:txBody>
      </p:sp>
      <p:sp>
        <p:nvSpPr>
          <p:cNvPr id="69" name="Shape 67"/>
          <p:cNvSpPr/>
          <p:nvPr/>
        </p:nvSpPr>
        <p:spPr>
          <a:xfrm>
            <a:off x="566928" y="5358384"/>
            <a:ext cx="11057839" cy="1042416"/>
          </a:xfrm>
          <a:prstGeom prst="roundRect">
            <a:avLst>
              <a:gd name="adj" fmla="val 5263"/>
            </a:avLst>
          </a:prstGeom>
          <a:solidFill>
            <a:srgbClr val="171C26"/>
          </a:solidFill>
          <a:ln w="9525">
            <a:solidFill>
              <a:srgbClr val="D9DCE3"/>
            </a:solidFill>
            <a:prstDash val="solid"/>
          </a:ln>
        </p:spPr>
        <p:txBody>
          <a:bodyPr/>
          <a:lstStyle/>
          <a:p>
            <a:endParaRPr lang="en-PK"/>
          </a:p>
        </p:txBody>
      </p:sp>
      <p:sp>
        <p:nvSpPr>
          <p:cNvPr id="70" name="Text 68"/>
          <p:cNvSpPr txBox="1"/>
          <p:nvPr/>
        </p:nvSpPr>
        <p:spPr>
          <a:xfrm>
            <a:off x="822960" y="5431536"/>
            <a:ext cx="10545775" cy="237744"/>
          </a:xfrm>
          <a:prstGeom prst="rect">
            <a:avLst/>
          </a:prstGeom>
          <a:noFill/>
          <a:ln/>
        </p:spPr>
        <p:txBody>
          <a:bodyPr wrap="square" lIns="0" tIns="0" rIns="0" bIns="0" rtlCol="0" anchor="ctr"/>
          <a:lstStyle/>
          <a:p>
            <a:pPr marL="0" indent="0">
              <a:buNone/>
            </a:pPr>
            <a:r>
              <a:rPr lang="en-US" sz="1250" b="1" kern="0" spc="50" dirty="0">
                <a:solidFill>
                  <a:srgbClr val="E3BC6E"/>
                </a:solidFill>
                <a:latin typeface="Consolas" pitchFamily="34" charset="0"/>
                <a:ea typeface="Consolas" pitchFamily="34" charset="-122"/>
                <a:cs typeface="Consolas" pitchFamily="34" charset="-120"/>
              </a:rPr>
              <a:t>AI-ASSISTED DEVELOPMENT LEVEL — NAMED AND JUSTIFIED PER HANDBOOK C.8</a:t>
            </a:r>
            <a:endParaRPr lang="en-US" sz="1250" dirty="0"/>
          </a:p>
        </p:txBody>
      </p:sp>
      <p:sp>
        <p:nvSpPr>
          <p:cNvPr id="71" name="Text 69"/>
          <p:cNvSpPr txBox="1"/>
          <p:nvPr/>
        </p:nvSpPr>
        <p:spPr>
          <a:xfrm>
            <a:off x="822960" y="5669280"/>
            <a:ext cx="10545775" cy="694944"/>
          </a:xfrm>
          <a:prstGeom prst="rect">
            <a:avLst/>
          </a:prstGeom>
          <a:noFill/>
          <a:ln/>
        </p:spPr>
        <p:txBody>
          <a:bodyPr wrap="square" lIns="0" tIns="0" rIns="0" bIns="0" rtlCol="0" anchor="ctr"/>
          <a:lstStyle/>
          <a:p>
            <a:pPr marL="0" indent="0">
              <a:buNone/>
            </a:pPr>
            <a:r>
              <a:rPr lang="en-US" sz="1650" b="1" dirty="0">
                <a:solidFill>
                  <a:srgbClr val="E3BC6E"/>
                </a:solidFill>
                <a:latin typeface="Georgia" pitchFamily="34" charset="0"/>
                <a:ea typeface="Georgia" pitchFamily="34" charset="-122"/>
                <a:cs typeface="Georgia" pitchFamily="34" charset="-120"/>
              </a:rPr>
              <a:t>Level 2 — AI-Assisted.  </a:t>
            </a:r>
            <a:r>
              <a:rPr lang="en-US" sz="1300" dirty="0">
                <a:solidFill>
                  <a:srgbClr val="A9B0BE"/>
                </a:solidFill>
                <a:latin typeface="Calibri" pitchFamily="34" charset="0"/>
                <a:ea typeface="Calibri" pitchFamily="34" charset="-122"/>
                <a:cs typeface="Calibri" pitchFamily="34" charset="-120"/>
              </a:rPr>
              <a:t>Humans lead judgment and execution; AI assists isolated tasks.  </a:t>
            </a:r>
            <a:r>
              <a:rPr lang="en-US" sz="1300" b="1" dirty="0">
                <a:solidFill>
                  <a:srgbClr val="E3BC6E"/>
                </a:solidFill>
                <a:latin typeface="Calibri" pitchFamily="34" charset="0"/>
                <a:ea typeface="Calibri" pitchFamily="34" charset="-122"/>
                <a:cs typeface="Calibri" pitchFamily="34" charset="-120"/>
              </a:rPr>
              <a:t>Ownership standard: </a:t>
            </a:r>
            <a:r>
              <a:rPr lang="en-US" sz="1300" dirty="0">
                <a:solidFill>
                  <a:srgbClr val="A9B0BE"/>
                </a:solidFill>
                <a:latin typeface="Calibri" pitchFamily="34" charset="0"/>
                <a:ea typeface="Calibri" pitchFamily="34" charset="-122"/>
                <a:cs typeface="Calibri" pitchFamily="34" charset="-120"/>
              </a:rPr>
              <a:t>the responsible member can explain, justify against an alternative, predict what breaks, and modify under questioning.</a:t>
            </a:r>
            <a:endParaRPr lang="en-US" sz="165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3302</Words>
  <Application>Microsoft Office PowerPoint</Application>
  <PresentationFormat>Widescreen</PresentationFormat>
  <Paragraphs>385</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FAST School of Computing, NUCES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Granite — Proposal Defense (v2)</dc:title>
  <dc:subject>Stage 1 Proposal Defense — F26-060-Granite</dc:subject>
  <dc:creator>Granite — F26-060</dc:creator>
  <cp:lastModifiedBy>Muhammad Noor</cp:lastModifiedBy>
  <cp:revision>2</cp:revision>
  <dcterms:created xsi:type="dcterms:W3CDTF">2026-09-08T16:24:37Z</dcterms:created>
  <dcterms:modified xsi:type="dcterms:W3CDTF">2026-09-08T16:32:16Z</dcterms:modified>
</cp:coreProperties>
</file>