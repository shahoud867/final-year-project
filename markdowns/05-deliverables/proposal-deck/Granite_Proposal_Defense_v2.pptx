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Step accuracy</c:v>
                </c:pt>
              </c:strCache>
            </c:strRef>
          </c:tx>
          <c:spPr>
            <a:solidFill>
              <a:srgbClr val="C89B3C"/>
            </a:solidFill>
            <a:effectLst/>
          </c:spPr>
          <c:invertIfNegative val="0"/>
          <c:dLbls>
            <c:numFmt formatCode="0.0" sourceLinked="0"/>
            <c:txPr>
              <a:bodyPr/>
              <a:lstStyle/>
              <a:p>
                <a:pPr>
                  <a:defRPr b="1" i="0" strike="noStrike" sz="1100" u="none">
                    <a:solidFill>
                      <a:srgbClr val="1B202A"/>
                    </a:solidFill>
                    <a:latin typeface="Arial"/>
                  </a:defRPr>
                </a:pPr>
              </a:p>
            </c:txPr>
            <c:showLegendKey val="0"/>
            <c:showVal val="1"/>
            <c:showCatName val="0"/>
            <c:showSerName val="0"/>
            <c:showPercent val="0"/>
            <c:showBubbleSize val="0"/>
            <c:showLeaderLines val="0"/>
          </c:dLbls>
          <c:cat>
            <c:multiLvlStrRef>
              <c:f>Sheet1!$A$2:$A$4</c:f>
              <c:multiLvlStrCache>
                <c:ptCount val="3"/>
                <c:lvl>
                  <c:pt idx="0">
                    <c:v>Who&amp;When
(single-LLM)</c:v>
                  </c:pt>
                  <c:pt idx="1">
                    <c:v>AgenTracer
(midpoint of range)</c:v>
                  </c:pt>
                  <c:pt idx="2">
                    <c:v>ErrorProbe
(baseline)</c:v>
                  </c:pt>
                </c:lvl>
              </c:multiLvlStrCache>
            </c:multiLvlStrRef>
          </c:cat>
          <c:val>
            <c:numRef>
              <c:f>Sheet1!$B$2:$B$4</c:f>
              <c:numCache>
                <c:formatCode>General</c:formatCode>
                <c:ptCount val="3"/>
                <c:pt idx="0">
                  <c:v>14.2</c:v>
                </c:pt>
                <c:pt idx="1">
                  <c:v>40</c:v>
                </c:pt>
                <c:pt idx="2">
                  <c:v>59.5</c:v>
                </c:pt>
              </c:numCache>
            </c:numRef>
          </c:val>
        </c:ser>
        <c:dLbls>
          <c:numFmt formatCode="0.0" sourceLinked="0"/>
          <c:txPr>
            <a:bodyPr/>
            <a:lstStyle/>
            <a:p>
              <a:pPr>
                <a:defRPr b="1" i="0" strike="noStrike" sz="1100" u="none">
                  <a:solidFill>
                    <a:srgbClr val="1B20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96273"/>
                </a:solidFill>
                <a:latin typeface="Calibri"/>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6350" cap="flat">
              <a:solidFill>
                <a:srgbClr val="D9DC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96273"/>
                </a:solidFill>
                <a:latin typeface="Arial"/>
              </a:defRPr>
            </a:pPr>
            <a:endParaRPr lang="en-US"/>
          </a:p>
        </c:txPr>
        <c:crossAx val="2094734554"/>
        <c:crosses val="autoZero"/>
        <c:crossBetween val="between"/>
      </c:valAx>
      <c:spPr>
        <a:solidFill>
          <a:srgbClr val="FBFBFC"/>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one-line problem exactly as written — WHO (teams running multi-agent systems), WHAT fails (attribution + silent failures), WHY it matters (nobody can verify a fix), in one breath. Do not explain the title word-by-word — slide 6 does that. Three names, three distinct subsystems, said aloud here sets the ownership tone before the panel has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 is the field's own measured baseline for 'a human reads the trace' — the number the whole project is trying to beat. On stakeholders: state plainly that this is Stream A, that the problem's reality rests on published evidence and a commercial market, and that live practitioner contact is scheduled in the Mid-2 acceptance study (C.13.1) — declared open, not claimed as done. Do not overclaim contact that has not happened — risk-register R33. Citations: plan §0.1 · §0.05 (SDG) · Full_Literature_Landscape_Analysis.md.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correction story: an early draft said 'nobody automates this' — direct vendor checks proved that stale, corrected on the record (R9). On prior FYPs, give the number unprompted: 660 titles across every published cohort back to 2019, checked structurally, not by title. Other analogs use 'multi-agent' only as an application pattern (PropPal, LawSphere, CampusHive); nearest detect-then-repair is AutoVulRepair (fuzzing/C++) — name it before a panelist finds it. The gap is the combination, not any single missing feature. Citations: plan §0.095 (full 660-title comparison) · Commercial_Product_Comparison.md · risk-register R9/R33.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backbone-confound caveat before being asked. Name that credible unpublished preprints exist in adjacent territory and the team made a recorded decision not to chase every one — the strategy is beating a peer-reviewed baseline, not pre-empting unpublished work. If a win partly reflects backbone strength, report both numbers, declared in advance. Citations: Full_Literature_Landscape_Analysis.md · ErrorProbe_Baseline_Selection.md · plan §0.08.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panel uses to decide whether the project deserves capstone status. Concede up front that a trace-capture-plus-LLM-guess wrapper is a weekend's work, then name precisely what such a version would get wrong: no benchmark on unseen architectures, no way to tell a silent failure from a correct answer, no measured false-positive rate on clean controls, no evidence its fix works. NOTE — on-slide badges are renumbered 1-6 for readability; they are NOT the Seoul Accord characteristic numbers. Badge 4 on the slide = real characteristic 6 (Diverse stakeholders) — it's amber on purpose, say so before they spot it. Badge 6 on the slide = real characteristic 9 (Ill-defined cause) — read its resolution aloud if pressed on complexity; the diagram on the right is that resolution, drawn: hypothesis generation, evidence-grounding, and the controlled-replay loop that gates every fix. Real characteristics 4, 5 and 8 (Unfamiliar issues / Beyond standard practice / Interdependence) are off-slide entirely but still true and still fully argued in Granite_CCP_Justification_Seoul_Accord.docx and CCP_Characteristics_Not_On_Slide.md — cover them only if asked directly. Citations: 02_Panel_Defense_Question_Bank.md Q8a · plan §1 (three-tier CCP) · §2 (9-characteristic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unprompted: 'controlled, not deterministic' — the replay protocol is deterministic, LLM-step variance is measured over N replays, never assumed away (R25). Say unprompted: the Semantic Error Diagnostic abstains where no checkable constraint exists, and the abstention rate is reported as a metric, not hidden. If asked about scope: in scope is 10 committed mechanisms; out of scope is message queues, Kubernetes, full RBAC, DR infra, multi-tenant billing; deployment target is Docker + a pip-installable SDK, operable by someone who didn't build it. Full traceable spec behind this diagram: Use Case Model + diagram, 3 System Sequence Diagrams, SRS, Test Plan, Software Development Plan, Traceability Matrix, 16-screen wireframes — architecture atlas, tab 'Requirements &amp; Design'. Citations: Software_Design_Specification.md §2–§6 · plan §7.0 (frozen scope) · architecture-sketch.md.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Spike 7's negative result and Spike 8's failure analysis — quote the guide's own words on this directly: a POC that disproved an assumption is more valuable than one that confirmed it. Every number on this slide is real and recomputable from files in the repository; offer to open one. In progress: full 3-stage reproduction, top FYP-1 priority. Planned: Recovery Controller + Verified Repair Memory Tier-2 gates, pre-registered Mid-1 criteria, not yet run. Prototype: 5 screens, mocked backend, dist-static/index.html. Citations: dev/spikes/poc/ (8 scripts + output JSONs on disk) · markdowns/04-poc-evidence/POC_Spike_Outputs_Full.md.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false-positive-rate-on-clean-controls metric is absent from every paper in the reviewed corpus and every platform checked — say this is the field's gap, not just ours. Deliver the risk column as confidence, not confession: each decision rule was pre-registered before results exist. Outside the acceptance band, both numbers are reported transparently, declared before the run, not after. Full GenAI boundary line: every external component classified Support / Core-assist / Core-replacement; the contribution survives swapping the LLM. Citations: plan §11 (acceptance band, pre-registered) · risk-register.md (R4/R25/R37).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states their own subsystem in one sentence, aloud — the panel is applying the guide's four ownership questions (explain / justify against an alternative / predict what breaks / modify under questioning), and hearing three distinct voices here sets that tone early. The 'if removed' line under each card is the guide's own scope test, answered honestly rather than asserted. If pressed on effort/capacity: 490h (FYP-1) + 640h (FYP-2) = 1,130h against 1,130h capacity (3 × ~15h/wk × ~28 wks), balanced depth not identical tasks. Citations: plan §3 (ownership) · §7.0 (frozen scope) · §12 (effort) · cost-estimate.md · 06_Expanded_Scope_and_Feasibility_Plan.md.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DEI line is a real, checkable commitment, not a decorative label — say the access-equity sentence in your own words. Ownership per lane and the FYP-1/FYP-2 milestone gates are both on slide 9; this slide is deliberately just the three compliance statements the guide names. Every CCP-relevant component has a member who can defend it live — offer to demonstrate that on any component they pick. Citations: plan §3 (ownership) · AI_Usage_Log.md · risk-register R30/R38.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19"/>
        </a:solidFill>
      </p:bgPr>
    </p:bg>
    <p:spTree>
      <p:nvGrpSpPr>
        <p:cNvPr id="1" name=""/>
        <p:cNvGrpSpPr/>
        <p:nvPr/>
      </p:nvGrpSpPr>
      <p:grpSpPr>
        <a:xfrm>
          <a:off x="0" y="0"/>
          <a:ext cx="0" cy="0"/>
          <a:chOff x="0" y="0"/>
          <a:chExt cx="0" cy="0"/>
        </a:xfrm>
      </p:grpSpPr>
      <p:sp>
        <p:nvSpPr>
          <p:cNvPr id="2" name="Shape 0"/>
          <p:cNvSpPr/>
          <p:nvPr/>
        </p:nvSpPr>
        <p:spPr>
          <a:xfrm rot="2700000">
            <a:off x="9448495" y="1051560"/>
            <a:ext cx="1371600" cy="1371600"/>
          </a:xfrm>
          <a:prstGeom prst="rect">
            <a:avLst/>
          </a:prstGeom>
          <a:solidFill>
            <a:srgbClr val="171C26"/>
          </a:solidFill>
          <a:ln w="12700">
            <a:solidFill>
              <a:srgbClr val="8E6A1F"/>
            </a:solidFill>
            <a:prstDash val="solid"/>
          </a:ln>
        </p:spPr>
      </p:sp>
      <p:sp>
        <p:nvSpPr>
          <p:cNvPr id="3" name="Shape 1"/>
          <p:cNvSpPr/>
          <p:nvPr/>
        </p:nvSpPr>
        <p:spPr>
          <a:xfrm rot="2700000">
            <a:off x="9686239" y="1289304"/>
            <a:ext cx="896112" cy="896112"/>
          </a:xfrm>
          <a:prstGeom prst="rect">
            <a:avLst/>
          </a:prstGeom>
          <a:solidFill>
            <a:srgbClr val="C89B3C"/>
          </a:solidFill>
          <a:ln/>
        </p:spPr>
      </p:sp>
      <p:sp>
        <p:nvSpPr>
          <p:cNvPr id="4" name="Shape 2"/>
          <p:cNvSpPr/>
          <p:nvPr/>
        </p:nvSpPr>
        <p:spPr>
          <a:xfrm rot="2700000">
            <a:off x="9905695" y="1508760"/>
            <a:ext cx="457200" cy="457200"/>
          </a:xfrm>
          <a:prstGeom prst="rect">
            <a:avLst/>
          </a:prstGeom>
          <a:solidFill>
            <a:srgbClr val="0F1219"/>
          </a:solidFill>
          <a:ln w="12700">
            <a:solidFill>
              <a:srgbClr val="E3BC6E"/>
            </a:solidFill>
            <a:prstDash val="solid"/>
          </a:ln>
        </p:spPr>
      </p:sp>
      <p:sp>
        <p:nvSpPr>
          <p:cNvPr id="5" name="Shape 3"/>
          <p:cNvSpPr/>
          <p:nvPr/>
        </p:nvSpPr>
        <p:spPr>
          <a:xfrm>
            <a:off x="0" y="0"/>
            <a:ext cx="80467" cy="6858000"/>
          </a:xfrm>
          <a:prstGeom prst="rect">
            <a:avLst/>
          </a:prstGeom>
          <a:solidFill>
            <a:srgbClr val="C89B3C"/>
          </a:solidFill>
          <a:ln/>
        </p:spPr>
      </p:sp>
      <p:sp>
        <p:nvSpPr>
          <p:cNvPr id="6" name="Text 4"/>
          <p:cNvSpPr txBox="1"/>
          <p:nvPr/>
        </p:nvSpPr>
        <p:spPr>
          <a:xfrm>
            <a:off x="566928" y="1325880"/>
            <a:ext cx="8412480" cy="274320"/>
          </a:xfrm>
          <a:prstGeom prst="rect">
            <a:avLst/>
          </a:prstGeom>
          <a:noFill/>
          <a:ln/>
        </p:spPr>
        <p:txBody>
          <a:bodyPr wrap="square" lIns="0" tIns="0" rIns="0" bIns="0" rtlCol="0" anchor="ctr"/>
          <a:lstStyle/>
          <a:p>
            <a:pPr indent="0" marL="0">
              <a:buNone/>
            </a:pPr>
            <a:r>
              <a:rPr lang="en-US" sz="1450" b="1" spc="160" kern="0" dirty="0">
                <a:solidFill>
                  <a:srgbClr val="E3BC6E"/>
                </a:solidFill>
                <a:latin typeface="Consolas" pitchFamily="34" charset="0"/>
                <a:ea typeface="Consolas" pitchFamily="34" charset="-122"/>
                <a:cs typeface="Consolas" pitchFamily="34" charset="-120"/>
              </a:rPr>
              <a:t>F26-060  ·  PROPOSAL DEFENSE  ·  STREAM A — RESEARCH-DERIVED</a:t>
            </a:r>
            <a:endParaRPr lang="en-US" sz="1450" dirty="0"/>
          </a:p>
        </p:txBody>
      </p:sp>
      <p:sp>
        <p:nvSpPr>
          <p:cNvPr id="7" name="Text 5"/>
          <p:cNvSpPr txBox="1"/>
          <p:nvPr/>
        </p:nvSpPr>
        <p:spPr>
          <a:xfrm>
            <a:off x="566928" y="1645920"/>
            <a:ext cx="8412480" cy="1051560"/>
          </a:xfrm>
          <a:prstGeom prst="rect">
            <a:avLst/>
          </a:prstGeom>
          <a:noFill/>
          <a:ln/>
        </p:spPr>
        <p:txBody>
          <a:bodyPr wrap="square" lIns="0" tIns="0" rIns="0" bIns="0" rtlCol="0" anchor="ctr"/>
          <a:lstStyle/>
          <a:p>
            <a:pPr indent="0" marL="0">
              <a:buNone/>
            </a:pPr>
            <a:r>
              <a:rPr lang="en-US" sz="6950" b="1" dirty="0">
                <a:solidFill>
                  <a:srgbClr val="F5F6F8"/>
                </a:solidFill>
                <a:latin typeface="Georgia" pitchFamily="34" charset="0"/>
                <a:ea typeface="Georgia" pitchFamily="34" charset="-122"/>
                <a:cs typeface="Georgia" pitchFamily="34" charset="-120"/>
              </a:rPr>
              <a:t>Granite</a:t>
            </a:r>
            <a:endParaRPr lang="en-US" sz="6950" dirty="0"/>
          </a:p>
        </p:txBody>
      </p:sp>
      <p:sp>
        <p:nvSpPr>
          <p:cNvPr id="8" name="Text 6"/>
          <p:cNvSpPr txBox="1"/>
          <p:nvPr/>
        </p:nvSpPr>
        <p:spPr>
          <a:xfrm>
            <a:off x="566928" y="2724912"/>
            <a:ext cx="7680960" cy="566928"/>
          </a:xfrm>
          <a:prstGeom prst="rect">
            <a:avLst/>
          </a:prstGeom>
          <a:noFill/>
          <a:ln/>
        </p:spPr>
        <p:txBody>
          <a:bodyPr wrap="square" lIns="0" tIns="0" rIns="0" bIns="0" rtlCol="0" anchor="ctr"/>
          <a:lstStyle/>
          <a:p>
            <a:pPr indent="0" marL="0">
              <a:buNone/>
            </a:pPr>
            <a:r>
              <a:rPr lang="en-US" sz="1850" i="1" dirty="0">
                <a:solidFill>
                  <a:srgbClr val="A9B0BE"/>
                </a:solidFill>
                <a:latin typeface="Calibri" pitchFamily="34" charset="0"/>
                <a:ea typeface="Calibri" pitchFamily="34" charset="-122"/>
                <a:cs typeface="Calibri" pitchFamily="34" charset="-120"/>
              </a:rPr>
              <a:t>A Self-Healing Multi-Agent System for Semantic Error Diagnosis, Verified Repair and Recovery</a:t>
            </a:r>
            <a:endParaRPr lang="en-US" sz="1850" dirty="0"/>
          </a:p>
        </p:txBody>
      </p:sp>
      <p:sp>
        <p:nvSpPr>
          <p:cNvPr id="9" name="Shape 7"/>
          <p:cNvSpPr/>
          <p:nvPr/>
        </p:nvSpPr>
        <p:spPr>
          <a:xfrm>
            <a:off x="566928" y="3456432"/>
            <a:ext cx="1005840" cy="32004"/>
          </a:xfrm>
          <a:prstGeom prst="rect">
            <a:avLst/>
          </a:prstGeom>
          <a:solidFill>
            <a:srgbClr val="C89B3C"/>
          </a:solidFill>
          <a:ln/>
        </p:spPr>
      </p:sp>
      <p:sp>
        <p:nvSpPr>
          <p:cNvPr id="10" name="Text 8"/>
          <p:cNvSpPr txBox="1"/>
          <p:nvPr/>
        </p:nvSpPr>
        <p:spPr>
          <a:xfrm>
            <a:off x="566928" y="3657600"/>
            <a:ext cx="7863840" cy="1005840"/>
          </a:xfrm>
          <a:prstGeom prst="rect">
            <a:avLst/>
          </a:prstGeom>
          <a:noFill/>
          <a:ln/>
        </p:spPr>
        <p:txBody>
          <a:bodyPr wrap="square" lIns="0" tIns="0" rIns="0" bIns="0" rtlCol="0" anchor="ctr"/>
          <a:lstStyle/>
          <a:p>
            <a:pPr indent="0" marL="0">
              <a:buNone/>
            </a:pPr>
            <a:r>
              <a:rPr lang="en-US" sz="2150" i="1" dirty="0">
                <a:solidFill>
                  <a:srgbClr val="F5F6F8"/>
                </a:solidFill>
                <a:latin typeface="Georgia" pitchFamily="34" charset="0"/>
                <a:ea typeface="Georgia" pitchFamily="34" charset="-122"/>
                <a:cs typeface="Georgia" pitchFamily="34" charset="-120"/>
              </a:rPr>
              <a:t>When a multi-agent AI system fails — including when the wrong answer looks completely right — no published method can reliably say which agent caused it, and none can verify a fix before trusting it.</a:t>
            </a:r>
            <a:endParaRPr lang="en-US" sz="2150" dirty="0"/>
          </a:p>
        </p:txBody>
      </p:sp>
      <p:sp>
        <p:nvSpPr>
          <p:cNvPr id="11" name="Shape 9"/>
          <p:cNvSpPr/>
          <p:nvPr/>
        </p:nvSpPr>
        <p:spPr>
          <a:xfrm>
            <a:off x="566928" y="5029200"/>
            <a:ext cx="7680960" cy="0"/>
          </a:xfrm>
          <a:prstGeom prst="line">
            <a:avLst/>
          </a:prstGeom>
          <a:noFill/>
          <a:ln w="12700">
            <a:solidFill>
              <a:srgbClr val="2C3340"/>
            </a:solidFill>
            <a:prstDash val="solid"/>
          </a:ln>
        </p:spPr>
      </p:sp>
      <p:sp>
        <p:nvSpPr>
          <p:cNvPr id="12" name="Text 10"/>
          <p:cNvSpPr txBox="1"/>
          <p:nvPr/>
        </p:nvSpPr>
        <p:spPr>
          <a:xfrm>
            <a:off x="566928" y="5138928"/>
            <a:ext cx="2560320" cy="566928"/>
          </a:xfrm>
          <a:prstGeom prst="rect">
            <a:avLst/>
          </a:prstGeom>
          <a:noFill/>
          <a:ln/>
        </p:spPr>
        <p:txBody>
          <a:bodyPr wrap="square" lIns="0" tIns="0" rIns="0" bIns="0" rtlCol="0" anchor="ctr"/>
          <a:lstStyle/>
          <a:p>
            <a:pPr indent="0" marL="0">
              <a:buNone/>
            </a:pPr>
            <a:r>
              <a:rPr lang="en-US" sz="1550" b="1" dirty="0">
                <a:solidFill>
                  <a:srgbClr val="F5F6F8"/>
                </a:solidFill>
                <a:latin typeface="Calibri" pitchFamily="34" charset="0"/>
                <a:ea typeface="Calibri" pitchFamily="34" charset="-122"/>
                <a:cs typeface="Calibri" pitchFamily="34" charset="-120"/>
              </a:rPr>
              <a:t>Shahoud Shahid</a:t>
            </a:r>
            <a:endParaRPr lang="en-US" sz="1550" dirty="0"/>
          </a:p>
          <a:p>
            <a:pPr indent="0" marL="0">
              <a:buNone/>
            </a:pPr>
            <a:r>
              <a:rPr lang="en-US" sz="1300" dirty="0">
                <a:solidFill>
                  <a:srgbClr val="A9B0BE"/>
                </a:solidFill>
                <a:latin typeface="Calibri" pitchFamily="34" charset="0"/>
                <a:ea typeface="Calibri" pitchFamily="34" charset="-122"/>
                <a:cs typeface="Calibri" pitchFamily="34" charset="-120"/>
              </a:rPr>
              <a:t>23i-2515</a:t>
            </a:r>
            <a:endParaRPr lang="en-US" sz="1550" dirty="0"/>
          </a:p>
        </p:txBody>
      </p:sp>
      <p:sp>
        <p:nvSpPr>
          <p:cNvPr id="13" name="Text 11"/>
          <p:cNvSpPr txBox="1"/>
          <p:nvPr/>
        </p:nvSpPr>
        <p:spPr>
          <a:xfrm>
            <a:off x="3172968" y="5138928"/>
            <a:ext cx="2560320" cy="566928"/>
          </a:xfrm>
          <a:prstGeom prst="rect">
            <a:avLst/>
          </a:prstGeom>
          <a:noFill/>
          <a:ln/>
        </p:spPr>
        <p:txBody>
          <a:bodyPr wrap="square" lIns="0" tIns="0" rIns="0" bIns="0" rtlCol="0" anchor="ctr"/>
          <a:lstStyle/>
          <a:p>
            <a:pPr indent="0" marL="0">
              <a:buNone/>
            </a:pPr>
            <a:r>
              <a:rPr lang="en-US" sz="1550" b="1" dirty="0">
                <a:solidFill>
                  <a:srgbClr val="F5F6F8"/>
                </a:solidFill>
                <a:latin typeface="Calibri" pitchFamily="34" charset="0"/>
                <a:ea typeface="Calibri" pitchFamily="34" charset="-122"/>
                <a:cs typeface="Calibri" pitchFamily="34" charset="-120"/>
              </a:rPr>
              <a:t>Muhammad Noor</a:t>
            </a:r>
            <a:endParaRPr lang="en-US" sz="1550" dirty="0"/>
          </a:p>
          <a:p>
            <a:pPr indent="0" marL="0">
              <a:buNone/>
            </a:pPr>
            <a:r>
              <a:rPr lang="en-US" sz="1300" dirty="0">
                <a:solidFill>
                  <a:srgbClr val="A9B0BE"/>
                </a:solidFill>
                <a:latin typeface="Calibri" pitchFamily="34" charset="0"/>
                <a:ea typeface="Calibri" pitchFamily="34" charset="-122"/>
                <a:cs typeface="Calibri" pitchFamily="34" charset="-120"/>
              </a:rPr>
              <a:t>23i-2520</a:t>
            </a:r>
            <a:endParaRPr lang="en-US" sz="1550" dirty="0"/>
          </a:p>
        </p:txBody>
      </p:sp>
      <p:sp>
        <p:nvSpPr>
          <p:cNvPr id="14" name="Text 12"/>
          <p:cNvSpPr txBox="1"/>
          <p:nvPr/>
        </p:nvSpPr>
        <p:spPr>
          <a:xfrm>
            <a:off x="5779008" y="5138928"/>
            <a:ext cx="2560320" cy="566928"/>
          </a:xfrm>
          <a:prstGeom prst="rect">
            <a:avLst/>
          </a:prstGeom>
          <a:noFill/>
          <a:ln/>
        </p:spPr>
        <p:txBody>
          <a:bodyPr wrap="square" lIns="0" tIns="0" rIns="0" bIns="0" rtlCol="0" anchor="ctr"/>
          <a:lstStyle/>
          <a:p>
            <a:pPr indent="0" marL="0">
              <a:buNone/>
            </a:pPr>
            <a:r>
              <a:rPr lang="en-US" sz="1550" b="1" dirty="0">
                <a:solidFill>
                  <a:srgbClr val="F5F6F8"/>
                </a:solidFill>
                <a:latin typeface="Calibri" pitchFamily="34" charset="0"/>
                <a:ea typeface="Calibri" pitchFamily="34" charset="-122"/>
                <a:cs typeface="Calibri" pitchFamily="34" charset="-120"/>
              </a:rPr>
              <a:t>Saif Shahzad</a:t>
            </a:r>
            <a:endParaRPr lang="en-US" sz="1550" dirty="0"/>
          </a:p>
          <a:p>
            <a:pPr indent="0" marL="0">
              <a:buNone/>
            </a:pPr>
            <a:r>
              <a:rPr lang="en-US" sz="1300" dirty="0">
                <a:solidFill>
                  <a:srgbClr val="A9B0BE"/>
                </a:solidFill>
                <a:latin typeface="Calibri" pitchFamily="34" charset="0"/>
                <a:ea typeface="Calibri" pitchFamily="34" charset="-122"/>
                <a:cs typeface="Calibri" pitchFamily="34" charset="-120"/>
              </a:rPr>
              <a:t>23i-2634</a:t>
            </a:r>
            <a:endParaRPr lang="en-US" sz="1550" dirty="0"/>
          </a:p>
        </p:txBody>
      </p:sp>
      <p:sp>
        <p:nvSpPr>
          <p:cNvPr id="15" name="Text 13"/>
          <p:cNvSpPr txBox="1"/>
          <p:nvPr/>
        </p:nvSpPr>
        <p:spPr>
          <a:xfrm>
            <a:off x="566928" y="5961888"/>
            <a:ext cx="5486400" cy="548640"/>
          </a:xfrm>
          <a:prstGeom prst="rect">
            <a:avLst/>
          </a:prstGeom>
          <a:noFill/>
          <a:ln/>
        </p:spPr>
        <p:txBody>
          <a:bodyPr wrap="square" lIns="0" tIns="0" rIns="0" bIns="0" rtlCol="0" anchor="ctr"/>
          <a:lstStyle/>
          <a:p>
            <a:pPr indent="0" marL="0">
              <a:buNone/>
            </a:pPr>
            <a:r>
              <a:rPr lang="en-US" sz="1350" dirty="0">
                <a:solidFill>
                  <a:srgbClr val="A9B0BE"/>
                </a:solidFill>
                <a:latin typeface="Calibri" pitchFamily="34" charset="0"/>
                <a:ea typeface="Calibri" pitchFamily="34" charset="-122"/>
                <a:cs typeface="Calibri" pitchFamily="34" charset="-120"/>
              </a:rPr>
              <a:t>Supervisor   </a:t>
            </a:r>
            <a:pPr indent="0" marL="0">
              <a:buNone/>
            </a:pPr>
            <a:r>
              <a:rPr lang="en-US" sz="1550" b="1" dirty="0">
                <a:solidFill>
                  <a:srgbClr val="F5F6F8"/>
                </a:solidFill>
                <a:latin typeface="Calibri" pitchFamily="34" charset="0"/>
                <a:ea typeface="Calibri" pitchFamily="34" charset="-122"/>
                <a:cs typeface="Calibri" pitchFamily="34" charset="-120"/>
              </a:rPr>
              <a:t>Dr. Adil Majeed</a:t>
            </a:r>
            <a:endParaRPr lang="en-US" sz="1350" dirty="0"/>
          </a:p>
          <a:p>
            <a:pPr indent="0" marL="0">
              <a:buNone/>
            </a:pPr>
            <a:r>
              <a:rPr lang="en-US" sz="1300" dirty="0">
                <a:solidFill>
                  <a:srgbClr val="A9B0BE"/>
                </a:solidFill>
                <a:latin typeface="Calibri" pitchFamily="34" charset="0"/>
                <a:ea typeface="Calibri" pitchFamily="34" charset="-122"/>
                <a:cs typeface="Calibri" pitchFamily="34" charset="-120"/>
              </a:rPr>
              <a:t>FAST School of Computing, NUCES Islamabad</a:t>
            </a:r>
            <a:endParaRPr lang="en-US" sz="135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Problem &amp; Users</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2 / 10</a:t>
            </a:r>
            <a:endParaRPr lang="en-US" sz="1050" dirty="0"/>
          </a:p>
        </p:txBody>
      </p:sp>
      <p:sp>
        <p:nvSpPr>
          <p:cNvPr id="10" name="Shape 8"/>
          <p:cNvSpPr/>
          <p:nvPr/>
        </p:nvSpPr>
        <p:spPr>
          <a:xfrm>
            <a:off x="587045" y="1415491"/>
            <a:ext cx="4983480" cy="2240280"/>
          </a:xfrm>
          <a:prstGeom prst="roundRect">
            <a:avLst>
              <a:gd name="adj" fmla="val 2449"/>
            </a:avLst>
          </a:prstGeom>
          <a:solidFill>
            <a:srgbClr val="E4E6EB"/>
          </a:solidFill>
          <a:ln/>
        </p:spPr>
      </p:sp>
      <p:sp>
        <p:nvSpPr>
          <p:cNvPr id="11" name="Shape 9"/>
          <p:cNvSpPr/>
          <p:nvPr/>
        </p:nvSpPr>
        <p:spPr>
          <a:xfrm>
            <a:off x="566928" y="1389888"/>
            <a:ext cx="4983480" cy="2240280"/>
          </a:xfrm>
          <a:prstGeom prst="roundRect">
            <a:avLst>
              <a:gd name="adj" fmla="val 2449"/>
            </a:avLst>
          </a:prstGeom>
          <a:solidFill>
            <a:srgbClr val="F1F2F5"/>
          </a:solidFill>
          <a:ln w="9525">
            <a:solidFill>
              <a:srgbClr val="D9DCE3"/>
            </a:solidFill>
            <a:prstDash val="solid"/>
          </a:ln>
        </p:spPr>
      </p:sp>
      <p:sp>
        <p:nvSpPr>
          <p:cNvPr id="12" name="Shape 10"/>
          <p:cNvSpPr/>
          <p:nvPr/>
        </p:nvSpPr>
        <p:spPr>
          <a:xfrm>
            <a:off x="566928" y="1444752"/>
            <a:ext cx="41148" cy="2130552"/>
          </a:xfrm>
          <a:prstGeom prst="rect">
            <a:avLst/>
          </a:prstGeom>
          <a:solidFill>
            <a:srgbClr val="15707A"/>
          </a:solidFill>
          <a:ln/>
        </p:spPr>
      </p:sp>
      <p:sp>
        <p:nvSpPr>
          <p:cNvPr id="13" name="Text 11"/>
          <p:cNvSpPr txBox="1"/>
          <p:nvPr/>
        </p:nvSpPr>
        <p:spPr>
          <a:xfrm>
            <a:off x="822960" y="1536192"/>
            <a:ext cx="4572000"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STAKEHOLDERS</a:t>
            </a:r>
            <a:endParaRPr lang="en-US" sz="1400" dirty="0"/>
          </a:p>
        </p:txBody>
      </p:sp>
      <p:sp>
        <p:nvSpPr>
          <p:cNvPr id="14" name="Text 12"/>
          <p:cNvSpPr txBox="1"/>
          <p:nvPr/>
        </p:nvSpPr>
        <p:spPr>
          <a:xfrm>
            <a:off x="822960" y="1847088"/>
            <a:ext cx="4526280" cy="1737360"/>
          </a:xfrm>
          <a:prstGeom prst="rect">
            <a:avLst/>
          </a:prstGeom>
          <a:noFill/>
          <a:ln/>
        </p:spPr>
        <p:txBody>
          <a:bodyPr wrap="square" lIns="0" tIns="0" rIns="0" bIns="0" rtlCol="0" anchor="t"/>
          <a:lstStyle/>
          <a:p>
            <a:pPr marL="190500" indent="-190500">
              <a:spcAft>
                <a:spcPts val="900"/>
              </a:spcAft>
              <a:buSzPct val="100000"/>
              <a:buChar char="▪"/>
            </a:pPr>
            <a:r>
              <a:rPr lang="en-US" sz="1650" dirty="0">
                <a:solidFill>
                  <a:srgbClr val="1B202A"/>
                </a:solidFill>
                <a:latin typeface="Calibri" pitchFamily="34" charset="0"/>
                <a:ea typeface="Calibri" pitchFamily="34" charset="-122"/>
                <a:cs typeface="Calibri" pitchFamily="34" charset="-120"/>
              </a:rPr>
              <a:t>Primary — an engineering team running a multi-agent AI system in or near production</a:t>
            </a:r>
            <a:endParaRPr lang="en-US" sz="1650" dirty="0"/>
          </a:p>
          <a:p>
            <a:pPr marL="190500" indent="-190500">
              <a:spcAft>
                <a:spcPts val="900"/>
              </a:spcAft>
              <a:buSzPct val="100000"/>
              <a:buChar char="▪"/>
            </a:pPr>
            <a:r>
              <a:rPr lang="en-US" sz="1650" dirty="0">
                <a:solidFill>
                  <a:srgbClr val="1B202A"/>
                </a:solidFill>
                <a:latin typeface="Calibri" pitchFamily="34" charset="0"/>
                <a:ea typeface="Calibri" pitchFamily="34" charset="-122"/>
                <a:cs typeface="Calibri" pitchFamily="34" charset="-120"/>
              </a:rPr>
              <a:t>Secondary — downstream product teams</a:t>
            </a:r>
            <a:endParaRPr lang="en-US" sz="1650" dirty="0"/>
          </a:p>
          <a:p>
            <a:pPr marL="190500" indent="-190500">
              <a:spcAft>
                <a:spcPts val="900"/>
              </a:spcAft>
              <a:buSzPct val="100000"/>
              <a:buChar char="▪"/>
            </a:pPr>
            <a:r>
              <a:rPr lang="en-US" sz="1650" dirty="0">
                <a:solidFill>
                  <a:srgbClr val="1B202A"/>
                </a:solidFill>
                <a:latin typeface="Calibri" pitchFamily="34" charset="0"/>
                <a:ea typeface="Calibri" pitchFamily="34" charset="-122"/>
                <a:cs typeface="Calibri" pitchFamily="34" charset="-120"/>
              </a:rPr>
              <a:t>Secondary — auditors needing traceable evidence</a:t>
            </a:r>
            <a:endParaRPr lang="en-US" sz="1650" dirty="0"/>
          </a:p>
        </p:txBody>
      </p:sp>
      <p:sp>
        <p:nvSpPr>
          <p:cNvPr id="15" name="Shape 13"/>
          <p:cNvSpPr/>
          <p:nvPr/>
        </p:nvSpPr>
        <p:spPr>
          <a:xfrm>
            <a:off x="587045" y="3774643"/>
            <a:ext cx="4983480" cy="841248"/>
          </a:xfrm>
          <a:prstGeom prst="roundRect">
            <a:avLst>
              <a:gd name="adj" fmla="val 6522"/>
            </a:avLst>
          </a:prstGeom>
          <a:solidFill>
            <a:srgbClr val="E4E6EB"/>
          </a:solidFill>
          <a:ln/>
        </p:spPr>
      </p:sp>
      <p:sp>
        <p:nvSpPr>
          <p:cNvPr id="16" name="Shape 14"/>
          <p:cNvSpPr/>
          <p:nvPr/>
        </p:nvSpPr>
        <p:spPr>
          <a:xfrm>
            <a:off x="566928" y="3749040"/>
            <a:ext cx="4983480" cy="841248"/>
          </a:xfrm>
          <a:prstGeom prst="roundRect">
            <a:avLst>
              <a:gd name="adj" fmla="val 6522"/>
            </a:avLst>
          </a:prstGeom>
          <a:solidFill>
            <a:srgbClr val="E3EFF1"/>
          </a:solidFill>
          <a:ln w="9525">
            <a:solidFill>
              <a:srgbClr val="D9DCE3"/>
            </a:solidFill>
            <a:prstDash val="solid"/>
          </a:ln>
        </p:spPr>
      </p:sp>
      <p:sp>
        <p:nvSpPr>
          <p:cNvPr id="17" name="Text 15"/>
          <p:cNvSpPr txBox="1"/>
          <p:nvPr/>
        </p:nvSpPr>
        <p:spPr>
          <a:xfrm>
            <a:off x="822960" y="3877056"/>
            <a:ext cx="4526280" cy="603504"/>
          </a:xfrm>
          <a:prstGeom prst="rect">
            <a:avLst/>
          </a:prstGeom>
          <a:noFill/>
          <a:ln/>
        </p:spPr>
        <p:txBody>
          <a:bodyPr wrap="square" lIns="0" tIns="0" rIns="0" bIns="0" rtlCol="0" anchor="ctr"/>
          <a:lstStyle/>
          <a:p>
            <a:pPr indent="0" marL="0">
              <a:buNone/>
            </a:pPr>
            <a:r>
              <a:rPr lang="en-US" sz="1650" b="1" dirty="0">
                <a:solidFill>
                  <a:srgbClr val="15707A"/>
                </a:solidFill>
                <a:latin typeface="Calibri" pitchFamily="34" charset="0"/>
                <a:ea typeface="Calibri" pitchFamily="34" charset="-122"/>
                <a:cs typeface="Calibri" pitchFamily="34" charset="-120"/>
              </a:rPr>
              <a:t>SDG 9  </a:t>
            </a:r>
            <a:pPr indent="0" marL="0">
              <a:buNone/>
            </a:pPr>
            <a:r>
              <a:rPr lang="en-US" sz="1550" dirty="0">
                <a:solidFill>
                  <a:srgbClr val="1B202A"/>
                </a:solidFill>
                <a:latin typeface="Calibri" pitchFamily="34" charset="0"/>
                <a:ea typeface="Calibri" pitchFamily="34" charset="-122"/>
                <a:cs typeface="Calibri" pitchFamily="34" charset="-120"/>
              </a:rPr>
              <a:t>Industry, Innovation &amp; Infrastructure — reliability tooling, new industrial category</a:t>
            </a:r>
            <a:endParaRPr lang="en-US" sz="1650" dirty="0"/>
          </a:p>
        </p:txBody>
      </p:sp>
      <p:sp>
        <p:nvSpPr>
          <p:cNvPr id="18" name="Shape 16"/>
          <p:cNvSpPr/>
          <p:nvPr/>
        </p:nvSpPr>
        <p:spPr>
          <a:xfrm>
            <a:off x="587045" y="4734763"/>
            <a:ext cx="4983480" cy="1188720"/>
          </a:xfrm>
          <a:prstGeom prst="roundRect">
            <a:avLst>
              <a:gd name="adj" fmla="val 4615"/>
            </a:avLst>
          </a:prstGeom>
          <a:solidFill>
            <a:srgbClr val="E4E6EB"/>
          </a:solidFill>
          <a:ln/>
        </p:spPr>
      </p:sp>
      <p:sp>
        <p:nvSpPr>
          <p:cNvPr id="19" name="Shape 17"/>
          <p:cNvSpPr/>
          <p:nvPr/>
        </p:nvSpPr>
        <p:spPr>
          <a:xfrm>
            <a:off x="566928" y="4709160"/>
            <a:ext cx="4983480" cy="1188720"/>
          </a:xfrm>
          <a:prstGeom prst="roundRect">
            <a:avLst>
              <a:gd name="adj" fmla="val 4615"/>
            </a:avLst>
          </a:prstGeom>
          <a:solidFill>
            <a:srgbClr val="F6E6E3"/>
          </a:solidFill>
          <a:ln w="9525">
            <a:solidFill>
              <a:srgbClr val="D9DCE3"/>
            </a:solidFill>
            <a:prstDash val="solid"/>
          </a:ln>
        </p:spPr>
      </p:sp>
      <p:sp>
        <p:nvSpPr>
          <p:cNvPr id="20" name="Shape 18"/>
          <p:cNvSpPr/>
          <p:nvPr/>
        </p:nvSpPr>
        <p:spPr>
          <a:xfrm>
            <a:off x="566928" y="4764024"/>
            <a:ext cx="41148" cy="1078992"/>
          </a:xfrm>
          <a:prstGeom prst="rect">
            <a:avLst/>
          </a:prstGeom>
          <a:solidFill>
            <a:srgbClr val="A83A30"/>
          </a:solidFill>
          <a:ln/>
        </p:spPr>
      </p:sp>
      <p:sp>
        <p:nvSpPr>
          <p:cNvPr id="21" name="Text 19"/>
          <p:cNvSpPr txBox="1"/>
          <p:nvPr/>
        </p:nvSpPr>
        <p:spPr>
          <a:xfrm>
            <a:off x="822960" y="4846320"/>
            <a:ext cx="4572000" cy="256032"/>
          </a:xfrm>
          <a:prstGeom prst="rect">
            <a:avLst/>
          </a:prstGeom>
          <a:noFill/>
          <a:ln/>
        </p:spPr>
        <p:txBody>
          <a:bodyPr wrap="square" lIns="0" tIns="0" rIns="0" bIns="0" rtlCol="0" anchor="ctr"/>
          <a:lstStyle/>
          <a:p>
            <a:pPr indent="0" marL="0">
              <a:buNone/>
            </a:pPr>
            <a:r>
              <a:rPr lang="en-US" sz="1400" b="1" spc="100" kern="0" dirty="0">
                <a:solidFill>
                  <a:srgbClr val="A83A30"/>
                </a:solidFill>
                <a:latin typeface="Consolas" pitchFamily="34" charset="0"/>
                <a:ea typeface="Consolas" pitchFamily="34" charset="-122"/>
                <a:cs typeface="Consolas" pitchFamily="34" charset="-120"/>
              </a:rPr>
              <a:t>CONSEQUENCE OF FAILURE</a:t>
            </a:r>
            <a:endParaRPr lang="en-US" sz="1400" dirty="0"/>
          </a:p>
        </p:txBody>
      </p:sp>
      <p:sp>
        <p:nvSpPr>
          <p:cNvPr id="22" name="Text 20"/>
          <p:cNvSpPr txBox="1"/>
          <p:nvPr/>
        </p:nvSpPr>
        <p:spPr>
          <a:xfrm>
            <a:off x="822960" y="5138928"/>
            <a:ext cx="4526280" cy="731520"/>
          </a:xfrm>
          <a:prstGeom prst="rect">
            <a:avLst/>
          </a:prstGeom>
          <a:noFill/>
          <a:ln/>
        </p:spPr>
        <p:txBody>
          <a:bodyPr wrap="square" lIns="0" tIns="0" rIns="0" bIns="0" rtlCol="0" anchor="ctr"/>
          <a:lstStyle/>
          <a:p>
            <a:pPr indent="0" marL="0">
              <a:buNone/>
            </a:pPr>
            <a:r>
              <a:rPr lang="en-US" sz="1650" i="1" dirty="0">
                <a:solidFill>
                  <a:srgbClr val="1B202A"/>
                </a:solidFill>
                <a:latin typeface="Calibri" pitchFamily="34" charset="0"/>
                <a:ea typeface="Calibri" pitchFamily="34" charset="-122"/>
                <a:cs typeface="Calibri" pitchFamily="34" charset="-120"/>
              </a:rPr>
              <a:t>Ships a confident, wrong answer — no crash, no error, no signal anything went wrong.</a:t>
            </a:r>
            <a:endParaRPr lang="en-US" sz="1650" dirty="0"/>
          </a:p>
        </p:txBody>
      </p:sp>
      <p:sp>
        <p:nvSpPr>
          <p:cNvPr id="23" name="Text 21"/>
          <p:cNvSpPr txBox="1"/>
          <p:nvPr/>
        </p:nvSpPr>
        <p:spPr>
          <a:xfrm>
            <a:off x="5870448" y="1389888"/>
            <a:ext cx="5754319" cy="256032"/>
          </a:xfrm>
          <a:prstGeom prst="rect">
            <a:avLst/>
          </a:prstGeom>
          <a:noFill/>
          <a:ln/>
        </p:spPr>
        <p:txBody>
          <a:bodyPr wrap="square" lIns="0" tIns="0" rIns="0" bIns="0" rtlCol="0" anchor="ctr"/>
          <a:lstStyle/>
          <a:p>
            <a:pPr indent="0" marL="0">
              <a:buNone/>
            </a:pPr>
            <a:r>
              <a:rPr lang="en-US" sz="1400" b="1" spc="100" kern="0" dirty="0">
                <a:solidFill>
                  <a:srgbClr val="596273"/>
                </a:solidFill>
                <a:latin typeface="Consolas" pitchFamily="34" charset="0"/>
                <a:ea typeface="Consolas" pitchFamily="34" charset="-122"/>
                <a:cs typeface="Consolas" pitchFamily="34" charset="-120"/>
              </a:rPr>
              <a:t>CURRENT WORKFLOW — WITHOUT GRANITE</a:t>
            </a:r>
            <a:endParaRPr lang="en-US" sz="1400" dirty="0"/>
          </a:p>
        </p:txBody>
      </p:sp>
      <p:sp>
        <p:nvSpPr>
          <p:cNvPr id="24" name="Shape 22"/>
          <p:cNvSpPr/>
          <p:nvPr/>
        </p:nvSpPr>
        <p:spPr>
          <a:xfrm>
            <a:off x="5870448" y="1792224"/>
            <a:ext cx="402336" cy="402336"/>
          </a:xfrm>
          <a:prstGeom prst="ellipse">
            <a:avLst/>
          </a:prstGeom>
          <a:solidFill>
            <a:srgbClr val="E4E9F2"/>
          </a:solidFill>
          <a:ln/>
        </p:spPr>
      </p:sp>
      <p:sp>
        <p:nvSpPr>
          <p:cNvPr id="25" name="Text 23"/>
          <p:cNvSpPr txBox="1"/>
          <p:nvPr/>
        </p:nvSpPr>
        <p:spPr>
          <a:xfrm>
            <a:off x="5870448" y="1792224"/>
            <a:ext cx="402336" cy="402336"/>
          </a:xfrm>
          <a:prstGeom prst="rect">
            <a:avLst/>
          </a:prstGeom>
          <a:noFill/>
          <a:ln/>
        </p:spPr>
        <p:txBody>
          <a:bodyPr wrap="square" lIns="0" tIns="0" rIns="0" bIns="0" rtlCol="0" anchor="ctr"/>
          <a:lstStyle/>
          <a:p>
            <a:pPr algn="ctr" indent="0" marL="0">
              <a:buNone/>
            </a:pPr>
            <a:r>
              <a:rPr lang="en-US" sz="1450" b="1" dirty="0">
                <a:solidFill>
                  <a:srgbClr val="31558F"/>
                </a:solidFill>
                <a:latin typeface="Georgia" pitchFamily="34" charset="0"/>
                <a:ea typeface="Georgia" pitchFamily="34" charset="-122"/>
                <a:cs typeface="Georgia" pitchFamily="34" charset="-120"/>
              </a:rPr>
              <a:t>1</a:t>
            </a:r>
            <a:endParaRPr lang="en-US" sz="1450" dirty="0"/>
          </a:p>
        </p:txBody>
      </p:sp>
      <p:sp>
        <p:nvSpPr>
          <p:cNvPr id="26" name="Text 24"/>
          <p:cNvSpPr txBox="1"/>
          <p:nvPr/>
        </p:nvSpPr>
        <p:spPr>
          <a:xfrm>
            <a:off x="6419088" y="1737360"/>
            <a:ext cx="5187391" cy="804672"/>
          </a:xfrm>
          <a:prstGeom prst="rect">
            <a:avLst/>
          </a:prstGeom>
          <a:noFill/>
          <a:ln/>
        </p:spPr>
        <p:txBody>
          <a:bodyPr wrap="square" lIns="0" tIns="0" rIns="0" bIns="0" rtlCol="0" anchor="ctr"/>
          <a:lstStyle/>
          <a:p>
            <a:pPr indent="0" marL="0">
              <a:buNone/>
            </a:pPr>
            <a:r>
              <a:rPr lang="en-US" sz="1700" b="1" dirty="0">
                <a:solidFill>
                  <a:srgbClr val="1B202A"/>
                </a:solidFill>
                <a:latin typeface="Calibri" pitchFamily="34" charset="0"/>
                <a:ea typeface="Calibri" pitchFamily="34" charset="-122"/>
                <a:cs typeface="Calibri" pitchFamily="34" charset="-120"/>
              </a:rPr>
              <a:t>Trace captured</a:t>
            </a:r>
            <a:endParaRPr lang="en-US" sz="1700" dirty="0"/>
          </a:p>
          <a:p>
            <a:pPr indent="0" marL="0">
              <a:buNone/>
            </a:pPr>
            <a:r>
              <a:rPr lang="en-US" sz="1450" dirty="0">
                <a:solidFill>
                  <a:srgbClr val="596273"/>
                </a:solidFill>
                <a:latin typeface="Calibri" pitchFamily="34" charset="0"/>
                <a:ea typeface="Calibri" pitchFamily="34" charset="-122"/>
                <a:cs typeface="Calibri" pitchFamily="34" charset="-120"/>
              </a:rPr>
              <a:t>LangSmith / Langfuse / Braintrust / Arize</a:t>
            </a:r>
            <a:endParaRPr lang="en-US" sz="1700" dirty="0"/>
          </a:p>
        </p:txBody>
      </p:sp>
      <p:sp>
        <p:nvSpPr>
          <p:cNvPr id="27" name="Shape 25"/>
          <p:cNvSpPr/>
          <p:nvPr/>
        </p:nvSpPr>
        <p:spPr>
          <a:xfrm>
            <a:off x="6071616" y="2194560"/>
            <a:ext cx="0" cy="384048"/>
          </a:xfrm>
          <a:prstGeom prst="line">
            <a:avLst/>
          </a:prstGeom>
          <a:noFill/>
          <a:ln w="19050">
            <a:solidFill>
              <a:srgbClr val="D9DCE3"/>
            </a:solidFill>
            <a:prstDash val="dash"/>
          </a:ln>
        </p:spPr>
      </p:sp>
      <p:sp>
        <p:nvSpPr>
          <p:cNvPr id="28" name="Shape 26"/>
          <p:cNvSpPr/>
          <p:nvPr/>
        </p:nvSpPr>
        <p:spPr>
          <a:xfrm>
            <a:off x="5870448" y="2889504"/>
            <a:ext cx="402336" cy="402336"/>
          </a:xfrm>
          <a:prstGeom prst="ellipse">
            <a:avLst/>
          </a:prstGeom>
          <a:solidFill>
            <a:srgbClr val="F6EADD"/>
          </a:solidFill>
          <a:ln/>
        </p:spPr>
      </p:sp>
      <p:sp>
        <p:nvSpPr>
          <p:cNvPr id="29" name="Text 27"/>
          <p:cNvSpPr txBox="1"/>
          <p:nvPr/>
        </p:nvSpPr>
        <p:spPr>
          <a:xfrm>
            <a:off x="5870448" y="2889504"/>
            <a:ext cx="402336" cy="402336"/>
          </a:xfrm>
          <a:prstGeom prst="rect">
            <a:avLst/>
          </a:prstGeom>
          <a:noFill/>
          <a:ln/>
        </p:spPr>
        <p:txBody>
          <a:bodyPr wrap="square" lIns="0" tIns="0" rIns="0" bIns="0" rtlCol="0" anchor="ctr"/>
          <a:lstStyle/>
          <a:p>
            <a:pPr algn="ctr" indent="0" marL="0">
              <a:buNone/>
            </a:pPr>
            <a:r>
              <a:rPr lang="en-US" sz="1450" b="1" dirty="0">
                <a:solidFill>
                  <a:srgbClr val="B05C1C"/>
                </a:solidFill>
                <a:latin typeface="Georgia" pitchFamily="34" charset="0"/>
                <a:ea typeface="Georgia" pitchFamily="34" charset="-122"/>
                <a:cs typeface="Georgia" pitchFamily="34" charset="-120"/>
              </a:rPr>
              <a:t>2</a:t>
            </a:r>
            <a:endParaRPr lang="en-US" sz="1450" dirty="0"/>
          </a:p>
        </p:txBody>
      </p:sp>
      <p:sp>
        <p:nvSpPr>
          <p:cNvPr id="30" name="Text 28"/>
          <p:cNvSpPr txBox="1"/>
          <p:nvPr/>
        </p:nvSpPr>
        <p:spPr>
          <a:xfrm>
            <a:off x="6419088" y="2834640"/>
            <a:ext cx="5187391" cy="804672"/>
          </a:xfrm>
          <a:prstGeom prst="rect">
            <a:avLst/>
          </a:prstGeom>
          <a:noFill/>
          <a:ln/>
        </p:spPr>
        <p:txBody>
          <a:bodyPr wrap="square" lIns="0" tIns="0" rIns="0" bIns="0" rtlCol="0" anchor="ctr"/>
          <a:lstStyle/>
          <a:p>
            <a:pPr indent="0" marL="0">
              <a:buNone/>
            </a:pPr>
            <a:r>
              <a:rPr lang="en-US" sz="1700" b="1" dirty="0">
                <a:solidFill>
                  <a:srgbClr val="1B202A"/>
                </a:solidFill>
                <a:latin typeface="Calibri" pitchFamily="34" charset="0"/>
                <a:ea typeface="Calibri" pitchFamily="34" charset="-122"/>
                <a:cs typeface="Calibri" pitchFamily="34" charset="-120"/>
              </a:rPr>
              <a:t>Human guesses the root cause</a:t>
            </a:r>
            <a:endParaRPr lang="en-US" sz="1700" dirty="0"/>
          </a:p>
          <a:p>
            <a:pPr indent="0" marL="0">
              <a:buNone/>
            </a:pPr>
            <a:r>
              <a:rPr lang="en-US" sz="1450" dirty="0">
                <a:solidFill>
                  <a:srgbClr val="596273"/>
                </a:solidFill>
                <a:latin typeface="Calibri" pitchFamily="34" charset="0"/>
                <a:ea typeface="Calibri" pitchFamily="34" charset="-122"/>
                <a:cs typeface="Calibri" pitchFamily="34" charset="-120"/>
              </a:rPr>
              <a:t>no published accuracy</a:t>
            </a:r>
            <a:endParaRPr lang="en-US" sz="1700" dirty="0"/>
          </a:p>
        </p:txBody>
      </p:sp>
      <p:sp>
        <p:nvSpPr>
          <p:cNvPr id="31" name="Shape 29"/>
          <p:cNvSpPr/>
          <p:nvPr/>
        </p:nvSpPr>
        <p:spPr>
          <a:xfrm>
            <a:off x="6071616" y="3291840"/>
            <a:ext cx="0" cy="384048"/>
          </a:xfrm>
          <a:prstGeom prst="line">
            <a:avLst/>
          </a:prstGeom>
          <a:noFill/>
          <a:ln w="19050">
            <a:solidFill>
              <a:srgbClr val="D9DCE3"/>
            </a:solidFill>
            <a:prstDash val="dash"/>
          </a:ln>
        </p:spPr>
      </p:sp>
      <p:sp>
        <p:nvSpPr>
          <p:cNvPr id="32" name="Shape 30"/>
          <p:cNvSpPr/>
          <p:nvPr/>
        </p:nvSpPr>
        <p:spPr>
          <a:xfrm>
            <a:off x="5870448" y="3986784"/>
            <a:ext cx="402336" cy="402336"/>
          </a:xfrm>
          <a:prstGeom prst="ellipse">
            <a:avLst/>
          </a:prstGeom>
          <a:solidFill>
            <a:srgbClr val="F6E6E3"/>
          </a:solidFill>
          <a:ln/>
        </p:spPr>
      </p:sp>
      <p:sp>
        <p:nvSpPr>
          <p:cNvPr id="33" name="Text 31"/>
          <p:cNvSpPr txBox="1"/>
          <p:nvPr/>
        </p:nvSpPr>
        <p:spPr>
          <a:xfrm>
            <a:off x="5870448" y="3986784"/>
            <a:ext cx="402336" cy="402336"/>
          </a:xfrm>
          <a:prstGeom prst="rect">
            <a:avLst/>
          </a:prstGeom>
          <a:noFill/>
          <a:ln/>
        </p:spPr>
        <p:txBody>
          <a:bodyPr wrap="square" lIns="0" tIns="0" rIns="0" bIns="0" rtlCol="0" anchor="ctr"/>
          <a:lstStyle/>
          <a:p>
            <a:pPr algn="ctr" indent="0" marL="0">
              <a:buNone/>
            </a:pPr>
            <a:r>
              <a:rPr lang="en-US" sz="1450" b="1" dirty="0">
                <a:solidFill>
                  <a:srgbClr val="A83A30"/>
                </a:solidFill>
                <a:latin typeface="Georgia" pitchFamily="34" charset="0"/>
                <a:ea typeface="Georgia" pitchFamily="34" charset="-122"/>
                <a:cs typeface="Georgia" pitchFamily="34" charset="-120"/>
              </a:rPr>
              <a:t>3</a:t>
            </a:r>
            <a:endParaRPr lang="en-US" sz="1450" dirty="0"/>
          </a:p>
        </p:txBody>
      </p:sp>
      <p:sp>
        <p:nvSpPr>
          <p:cNvPr id="34" name="Text 32"/>
          <p:cNvSpPr txBox="1"/>
          <p:nvPr/>
        </p:nvSpPr>
        <p:spPr>
          <a:xfrm>
            <a:off x="6419088" y="3931920"/>
            <a:ext cx="5187391" cy="804672"/>
          </a:xfrm>
          <a:prstGeom prst="rect">
            <a:avLst/>
          </a:prstGeom>
          <a:noFill/>
          <a:ln/>
        </p:spPr>
        <p:txBody>
          <a:bodyPr wrap="square" lIns="0" tIns="0" rIns="0" bIns="0" rtlCol="0" anchor="ctr"/>
          <a:lstStyle/>
          <a:p>
            <a:pPr indent="0" marL="0">
              <a:buNone/>
            </a:pPr>
            <a:r>
              <a:rPr lang="en-US" sz="1700" b="1" dirty="0">
                <a:solidFill>
                  <a:srgbClr val="1B202A"/>
                </a:solidFill>
                <a:latin typeface="Calibri" pitchFamily="34" charset="0"/>
                <a:ea typeface="Calibri" pitchFamily="34" charset="-122"/>
                <a:cs typeface="Calibri" pitchFamily="34" charset="-120"/>
              </a:rPr>
              <a:t>No silent-failure check</a:t>
            </a:r>
            <a:endParaRPr lang="en-US" sz="1700" dirty="0"/>
          </a:p>
          <a:p>
            <a:pPr indent="0" marL="0">
              <a:buNone/>
            </a:pPr>
            <a:r>
              <a:rPr lang="en-US" sz="1450" dirty="0">
                <a:solidFill>
                  <a:srgbClr val="596273"/>
                </a:solidFill>
                <a:latin typeface="Calibri" pitchFamily="34" charset="0"/>
                <a:ea typeface="Calibri" pitchFamily="34" charset="-122"/>
                <a:cs typeface="Calibri" pitchFamily="34" charset="-120"/>
              </a:rPr>
              <a:t>a confident, wrong answer passes unnoticed</a:t>
            </a:r>
            <a:endParaRPr lang="en-US" sz="1700" dirty="0"/>
          </a:p>
        </p:txBody>
      </p:sp>
      <p:sp>
        <p:nvSpPr>
          <p:cNvPr id="35" name="Shape 33"/>
          <p:cNvSpPr/>
          <p:nvPr/>
        </p:nvSpPr>
        <p:spPr>
          <a:xfrm>
            <a:off x="6071616" y="4389120"/>
            <a:ext cx="0" cy="384048"/>
          </a:xfrm>
          <a:prstGeom prst="line">
            <a:avLst/>
          </a:prstGeom>
          <a:noFill/>
          <a:ln w="19050">
            <a:solidFill>
              <a:srgbClr val="D9DCE3"/>
            </a:solidFill>
            <a:prstDash val="dash"/>
          </a:ln>
        </p:spPr>
      </p:sp>
      <p:sp>
        <p:nvSpPr>
          <p:cNvPr id="36" name="Shape 34"/>
          <p:cNvSpPr/>
          <p:nvPr/>
        </p:nvSpPr>
        <p:spPr>
          <a:xfrm>
            <a:off x="5870448" y="5084064"/>
            <a:ext cx="402336" cy="402336"/>
          </a:xfrm>
          <a:prstGeom prst="ellipse">
            <a:avLst/>
          </a:prstGeom>
          <a:solidFill>
            <a:srgbClr val="F6E6E3"/>
          </a:solidFill>
          <a:ln/>
        </p:spPr>
      </p:sp>
      <p:sp>
        <p:nvSpPr>
          <p:cNvPr id="37" name="Text 35"/>
          <p:cNvSpPr txBox="1"/>
          <p:nvPr/>
        </p:nvSpPr>
        <p:spPr>
          <a:xfrm>
            <a:off x="5870448" y="5084064"/>
            <a:ext cx="402336" cy="402336"/>
          </a:xfrm>
          <a:prstGeom prst="rect">
            <a:avLst/>
          </a:prstGeom>
          <a:noFill/>
          <a:ln/>
        </p:spPr>
        <p:txBody>
          <a:bodyPr wrap="square" lIns="0" tIns="0" rIns="0" bIns="0" rtlCol="0" anchor="ctr"/>
          <a:lstStyle/>
          <a:p>
            <a:pPr algn="ctr" indent="0" marL="0">
              <a:buNone/>
            </a:pPr>
            <a:r>
              <a:rPr lang="en-US" sz="1450" b="1" dirty="0">
                <a:solidFill>
                  <a:srgbClr val="A83A30"/>
                </a:solidFill>
                <a:latin typeface="Georgia" pitchFamily="34" charset="0"/>
                <a:ea typeface="Georgia" pitchFamily="34" charset="-122"/>
                <a:cs typeface="Georgia" pitchFamily="34" charset="-120"/>
              </a:rPr>
              <a:t>4</a:t>
            </a:r>
            <a:endParaRPr lang="en-US" sz="1450" dirty="0"/>
          </a:p>
        </p:txBody>
      </p:sp>
      <p:sp>
        <p:nvSpPr>
          <p:cNvPr id="38" name="Text 36"/>
          <p:cNvSpPr txBox="1"/>
          <p:nvPr/>
        </p:nvSpPr>
        <p:spPr>
          <a:xfrm>
            <a:off x="6419088" y="5029200"/>
            <a:ext cx="5187391" cy="804672"/>
          </a:xfrm>
          <a:prstGeom prst="rect">
            <a:avLst/>
          </a:prstGeom>
          <a:noFill/>
          <a:ln/>
        </p:spPr>
        <p:txBody>
          <a:bodyPr wrap="square" lIns="0" tIns="0" rIns="0" bIns="0" rtlCol="0" anchor="ctr"/>
          <a:lstStyle/>
          <a:p>
            <a:pPr indent="0" marL="0">
              <a:buNone/>
            </a:pPr>
            <a:r>
              <a:rPr lang="en-US" sz="1700" b="1" dirty="0">
                <a:solidFill>
                  <a:srgbClr val="1B202A"/>
                </a:solidFill>
                <a:latin typeface="Calibri" pitchFamily="34" charset="0"/>
                <a:ea typeface="Calibri" pitchFamily="34" charset="-122"/>
                <a:cs typeface="Calibri" pitchFamily="34" charset="-120"/>
              </a:rPr>
              <a:t>No way to test a fix first</a:t>
            </a:r>
            <a:endParaRPr lang="en-US" sz="1700" dirty="0"/>
          </a:p>
          <a:p>
            <a:pPr indent="0" marL="0">
              <a:buNone/>
            </a:pPr>
            <a:r>
              <a:rPr lang="en-US" sz="1450" dirty="0">
                <a:solidFill>
                  <a:srgbClr val="596273"/>
                </a:solidFill>
                <a:latin typeface="Calibri" pitchFamily="34" charset="0"/>
                <a:ea typeface="Calibri" pitchFamily="34" charset="-122"/>
                <a:cs typeface="Calibri" pitchFamily="34" charset="-120"/>
              </a:rPr>
              <a:t>field baseline: 14.2% step accuracy (Who&amp;When)</a:t>
            </a:r>
            <a:endParaRPr lang="en-US" sz="1700" dirty="0"/>
          </a:p>
        </p:txBody>
      </p:sp>
      <p:sp>
        <p:nvSpPr>
          <p:cNvPr id="39" name="Shape 37"/>
          <p:cNvSpPr/>
          <p:nvPr/>
        </p:nvSpPr>
        <p:spPr>
          <a:xfrm>
            <a:off x="5890565" y="5786323"/>
            <a:ext cx="5754319" cy="475488"/>
          </a:xfrm>
          <a:prstGeom prst="roundRect">
            <a:avLst>
              <a:gd name="adj" fmla="val 11538"/>
            </a:avLst>
          </a:prstGeom>
          <a:solidFill>
            <a:srgbClr val="E4E6EB"/>
          </a:solidFill>
          <a:ln/>
        </p:spPr>
      </p:sp>
      <p:sp>
        <p:nvSpPr>
          <p:cNvPr id="40" name="Shape 38"/>
          <p:cNvSpPr/>
          <p:nvPr/>
        </p:nvSpPr>
        <p:spPr>
          <a:xfrm>
            <a:off x="5870448" y="5760720"/>
            <a:ext cx="5754319" cy="475488"/>
          </a:xfrm>
          <a:prstGeom prst="roundRect">
            <a:avLst>
              <a:gd name="adj" fmla="val 11538"/>
            </a:avLst>
          </a:prstGeom>
          <a:solidFill>
            <a:srgbClr val="F7EFDC"/>
          </a:solidFill>
          <a:ln w="9525">
            <a:solidFill>
              <a:srgbClr val="D9DCE3"/>
            </a:solidFill>
            <a:prstDash val="solid"/>
          </a:ln>
        </p:spPr>
      </p:sp>
      <p:sp>
        <p:nvSpPr>
          <p:cNvPr id="41" name="Text 39"/>
          <p:cNvSpPr txBox="1"/>
          <p:nvPr/>
        </p:nvSpPr>
        <p:spPr>
          <a:xfrm>
            <a:off x="6053328" y="5760720"/>
            <a:ext cx="5388559" cy="475488"/>
          </a:xfrm>
          <a:prstGeom prst="rect">
            <a:avLst/>
          </a:prstGeom>
          <a:noFill/>
          <a:ln/>
        </p:spPr>
        <p:txBody>
          <a:bodyPr wrap="square" lIns="0" tIns="0" rIns="0" bIns="0" rtlCol="0" anchor="ctr"/>
          <a:lstStyle/>
          <a:p>
            <a:pPr indent="0" marL="0">
              <a:buNone/>
            </a:pPr>
            <a:r>
              <a:rPr lang="en-US" sz="1400" b="1" dirty="0">
                <a:solidFill>
                  <a:srgbClr val="A8760F"/>
                </a:solidFill>
                <a:latin typeface="Calibri" pitchFamily="34" charset="0"/>
                <a:ea typeface="Calibri" pitchFamily="34" charset="-122"/>
                <a:cs typeface="Calibri" pitchFamily="34" charset="-120"/>
              </a:rPr>
              <a:t>Stakeholder evidence today:  </a:t>
            </a:r>
            <a:pPr indent="0" marL="0">
              <a:buNone/>
            </a:pPr>
            <a:r>
              <a:rPr lang="en-US" sz="1400" dirty="0">
                <a:solidFill>
                  <a:srgbClr val="1B202A"/>
                </a:solidFill>
                <a:latin typeface="Calibri" pitchFamily="34" charset="0"/>
                <a:ea typeface="Calibri" pitchFamily="34" charset="-122"/>
                <a:cs typeface="Calibri" pitchFamily="34" charset="-120"/>
              </a:rPr>
              <a:t>literature + 7 commercial vendors</a:t>
            </a:r>
            <a:endParaRPr lang="en-US" sz="14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Existing Solutions &amp; Prior FYP Comparison</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3 / 10</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3675888"/>
        </p:xfrm>
        <a:graphic>
          <a:graphicData uri="http://schemas.openxmlformats.org/drawingml/2006/table">
            <a:tbl>
              <a:tblPr/>
              <a:tblGrid>
                <a:gridCol w="1572768"/>
                <a:gridCol w="1920240"/>
                <a:gridCol w="1828800"/>
                <a:gridCol w="1645920"/>
                <a:gridCol w="1920240"/>
                <a:gridCol w="1709928"/>
              </a:tblGrid>
              <a:tr h="525127">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ctr" indent="0" marL="0">
                        <a:buNone/>
                      </a:pPr>
                      <a:r>
                        <a:rPr lang="en-US" sz="1100" b="1" dirty="0">
                          <a:solidFill>
                            <a:srgbClr val="F5F6F8"/>
                          </a:solidFill>
                          <a:latin typeface="Calibri" pitchFamily="34" charset="0"/>
                          <a:ea typeface="Calibri" pitchFamily="34" charset="-122"/>
                          <a:cs typeface="Calibri" pitchFamily="34" charset="-120"/>
                        </a:rPr>
                        <a:t>Core approach</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ctr" indent="0" marL="0">
                        <a:buNone/>
                      </a:pPr>
                      <a:r>
                        <a:rPr lang="en-US" sz="1100" b="1" dirty="0">
                          <a:solidFill>
                            <a:srgbClr val="F5F6F8"/>
                          </a:solidFill>
                          <a:latin typeface="Calibri" pitchFamily="34" charset="0"/>
                          <a:ea typeface="Calibri" pitchFamily="34" charset="-122"/>
                          <a:cs typeface="Calibri" pitchFamily="34" charset="-120"/>
                        </a:rPr>
                        <a:t>Step-level attribution</a:t>
                      </a:r>
                      <a:endParaRPr lang="en-US" sz="1100" dirty="0">
                        <a:latin typeface="Calibri" charset="0"/>
                        <a:ea typeface="Calibri" charset="0"/>
                        <a:cs typeface="Calibri" charset="0"/>
                      </a:endParaRPr>
                    </a:p>
                    <a:p>
                      <a:pPr algn="ctr" indent="0" marL="0">
                        <a:buNone/>
                      </a:pPr>
                      <a:r>
                        <a:rPr lang="en-US" sz="1100" b="1" dirty="0">
                          <a:solidFill>
                            <a:srgbClr val="F5F6F8"/>
                          </a:solidFill>
                          <a:latin typeface="Calibri" pitchFamily="34" charset="0"/>
                          <a:ea typeface="Calibri" pitchFamily="34" charset="-122"/>
                          <a:cs typeface="Calibri" pitchFamily="34" charset="-120"/>
                        </a:rPr>
                        <a:t>(published accuracy)</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ctr" indent="0" marL="0">
                        <a:buNone/>
                      </a:pPr>
                      <a:r>
                        <a:rPr lang="en-US" sz="1100" b="1" dirty="0">
                          <a:solidFill>
                            <a:srgbClr val="F5F6F8"/>
                          </a:solidFill>
                          <a:latin typeface="Calibri" pitchFamily="34" charset="0"/>
                          <a:ea typeface="Calibri" pitchFamily="34" charset="-122"/>
                          <a:cs typeface="Calibri" pitchFamily="34" charset="-120"/>
                        </a:rPr>
                        <a:t>Silent-failure</a:t>
                      </a:r>
                      <a:endParaRPr lang="en-US" sz="1100" dirty="0">
                        <a:latin typeface="Calibri" charset="0"/>
                        <a:ea typeface="Calibri" charset="0"/>
                        <a:cs typeface="Calibri" charset="0"/>
                      </a:endParaRPr>
                    </a:p>
                    <a:p>
                      <a:pPr algn="ctr" indent="0" marL="0">
                        <a:buNone/>
                      </a:pPr>
                      <a:r>
                        <a:rPr lang="en-US" sz="1100" b="1" dirty="0">
                          <a:solidFill>
                            <a:srgbClr val="F5F6F8"/>
                          </a:solidFill>
                          <a:latin typeface="Calibri" pitchFamily="34" charset="0"/>
                          <a:ea typeface="Calibri" pitchFamily="34" charset="-122"/>
                          <a:cs typeface="Calibri" pitchFamily="34" charset="-120"/>
                        </a:rPr>
                        <a:t>detection</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ctr" indent="0" marL="0">
                        <a:buNone/>
                      </a:pPr>
                      <a:r>
                        <a:rPr lang="en-US" sz="1100" b="1" dirty="0">
                          <a:solidFill>
                            <a:srgbClr val="F5F6F8"/>
                          </a:solidFill>
                          <a:latin typeface="Calibri" pitchFamily="34" charset="0"/>
                          <a:ea typeface="Calibri" pitchFamily="34" charset="-122"/>
                          <a:cs typeface="Calibri" pitchFamily="34" charset="-120"/>
                        </a:rPr>
                        <a:t>Counterfactual fix-</a:t>
                      </a:r>
                      <a:endParaRPr lang="en-US" sz="1100" dirty="0">
                        <a:latin typeface="Calibri" charset="0"/>
                        <a:ea typeface="Calibri" charset="0"/>
                        <a:cs typeface="Calibri" charset="0"/>
                      </a:endParaRPr>
                    </a:p>
                    <a:p>
                      <a:pPr algn="ctr" indent="0" marL="0">
                        <a:buNone/>
                      </a:pPr>
                      <a:r>
                        <a:rPr lang="en-US" sz="1100" b="1" dirty="0">
                          <a:solidFill>
                            <a:srgbClr val="F5F6F8"/>
                          </a:solidFill>
                          <a:latin typeface="Calibri" pitchFamily="34" charset="0"/>
                          <a:ea typeface="Calibri" pitchFamily="34" charset="-122"/>
                          <a:cs typeface="Calibri" pitchFamily="34" charset="-120"/>
                        </a:rPr>
                        <a:t>testing, measured</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ctr" indent="0" marL="0">
                        <a:buNone/>
                      </a:pPr>
                      <a:r>
                        <a:rPr lang="en-US" sz="1100" b="1" dirty="0">
                          <a:solidFill>
                            <a:srgbClr val="F5F6F8"/>
                          </a:solidFill>
                          <a:latin typeface="Calibri" pitchFamily="34" charset="0"/>
                          <a:ea typeface="Calibri" pitchFamily="34" charset="-122"/>
                          <a:cs typeface="Calibri" pitchFamily="34" charset="-120"/>
                        </a:rPr>
                        <a:t>Framework-</a:t>
                      </a:r>
                      <a:endParaRPr lang="en-US" sz="1100" dirty="0">
                        <a:latin typeface="Calibri" charset="0"/>
                        <a:ea typeface="Calibri" charset="0"/>
                        <a:cs typeface="Calibri" charset="0"/>
                      </a:endParaRPr>
                    </a:p>
                    <a:p>
                      <a:pPr algn="ctr" indent="0" marL="0">
                        <a:buNone/>
                      </a:pPr>
                      <a:r>
                        <a:rPr lang="en-US" sz="1100" b="1" dirty="0">
                          <a:solidFill>
                            <a:srgbClr val="F5F6F8"/>
                          </a:solidFill>
                          <a:latin typeface="Calibri" pitchFamily="34" charset="0"/>
                          <a:ea typeface="Calibri" pitchFamily="34" charset="-122"/>
                          <a:cs typeface="Calibri" pitchFamily="34" charset="-120"/>
                        </a:rPr>
                        <a:t>agnostic</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r>
              <a:tr h="525127">
                <a:tc>
                  <a:txBody>
                    <a:bodyPr/>
                    <a:lstStyle/>
                    <a:p>
                      <a:pPr algn="l" indent="0" marL="0">
                        <a:buNone/>
                      </a:pPr>
                      <a:r>
                        <a:rPr lang="en-US" sz="1100" b="1" dirty="0">
                          <a:solidFill>
                            <a:srgbClr val="1B202A"/>
                          </a:solidFill>
                          <a:latin typeface="Calibri" pitchFamily="34" charset="0"/>
                          <a:ea typeface="Calibri" pitchFamily="34" charset="-122"/>
                          <a:cs typeface="Calibri" pitchFamily="34" charset="-120"/>
                        </a:rPr>
                        <a:t>ErrorProbe</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(ACL 2026)</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3-stage LLM diagnosis</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 memory</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59.5%</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 admits</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it cannot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 2 archs only</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r h="525127">
                <a:tc>
                  <a:txBody>
                    <a:bodyPr/>
                    <a:lstStyle/>
                    <a:p>
                      <a:pPr algn="l" indent="0" marL="0">
                        <a:buNone/>
                      </a:pPr>
                      <a:r>
                        <a:rPr lang="en-US" sz="1100" b="1" dirty="0">
                          <a:solidFill>
                            <a:srgbClr val="1B202A"/>
                          </a:solidFill>
                          <a:latin typeface="Calibri" pitchFamily="34" charset="0"/>
                          <a:ea typeface="Calibri" pitchFamily="34" charset="-122"/>
                          <a:cs typeface="Calibri" pitchFamily="34" charset="-120"/>
                        </a:rPr>
                        <a:t>LangSmith Engine /</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Arize Alyx (2026)</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Automated RCA</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 fix drafting</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not published</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 stack-locked</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r>
              <a:tr h="525127">
                <a:tc>
                  <a:txBody>
                    <a:bodyPr/>
                    <a:lstStyle/>
                    <a:p>
                      <a:pPr algn="l" indent="0" marL="0">
                        <a:buNone/>
                      </a:pPr>
                      <a:r>
                        <a:rPr lang="en-US" sz="1100" b="1" dirty="0">
                          <a:solidFill>
                            <a:srgbClr val="1B202A"/>
                          </a:solidFill>
                          <a:latin typeface="Calibri" pitchFamily="34" charset="0"/>
                          <a:ea typeface="Calibri" pitchFamily="34" charset="-122"/>
                          <a:cs typeface="Calibri" pitchFamily="34" charset="-120"/>
                        </a:rPr>
                        <a:t>Langfuse / Braintrust /</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Phoenix / Maxim / Opik</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Trace capture</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 eval</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human-driven</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RAG only</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r h="525127">
                <a:tc>
                  <a:txBody>
                    <a:bodyPr/>
                    <a:lstStyle/>
                    <a:p>
                      <a:pPr algn="l" indent="0" marL="0">
                        <a:buNone/>
                      </a:pPr>
                      <a:r>
                        <a:rPr lang="en-US" sz="1100" b="1" dirty="0">
                          <a:solidFill>
                            <a:srgbClr val="1B202A"/>
                          </a:solidFill>
                          <a:latin typeface="Calibri" pitchFamily="34" charset="0"/>
                          <a:ea typeface="Calibri" pitchFamily="34" charset="-122"/>
                          <a:cs typeface="Calibri" pitchFamily="34" charset="-120"/>
                        </a:rPr>
                        <a:t>Closest prior FYP</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(S24-011-D-HDLM,</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Spring 2024)</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hallucination detection</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in single-LLM text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no attribution at all</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partial — single-LLM</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text only</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 no repair /</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replay step</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N/A — not a</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multi-agent system</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r>
              <a:tr h="525127">
                <a:tc>
                  <a:txBody>
                    <a:bodyPr/>
                    <a:lstStyle/>
                    <a:p>
                      <a:pPr algn="l" indent="0" marL="0">
                        <a:buNone/>
                      </a:pPr>
                      <a:r>
                        <a:rPr lang="en-US" sz="1100" b="1" dirty="0">
                          <a:solidFill>
                            <a:srgbClr val="1B202A"/>
                          </a:solidFill>
                          <a:latin typeface="Calibri" pitchFamily="34" charset="0"/>
                          <a:ea typeface="Calibri" pitchFamily="34" charset="-122"/>
                          <a:cs typeface="Calibri" pitchFamily="34" charset="-120"/>
                        </a:rPr>
                        <a:t>Current manual</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workflow</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human reads,</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guesses</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14.2%</a:t>
                      </a:r>
                      <a:endParaRPr lang="en-US" sz="1100" dirty="0">
                        <a:latin typeface="Calibri" charset="0"/>
                        <a:ea typeface="Calibri" charset="0"/>
                        <a:cs typeface="Calibri" charset="0"/>
                      </a:endParaRPr>
                    </a:p>
                    <a:p>
                      <a:pPr algn="ctr" indent="0" marL="0">
                        <a:buNone/>
                      </a:pPr>
                      <a:r>
                        <a:rPr lang="en-US" sz="1100" dirty="0">
                          <a:solidFill>
                            <a:srgbClr val="1B202A"/>
                          </a:solidFill>
                          <a:latin typeface="Calibri" pitchFamily="34" charset="0"/>
                          <a:ea typeface="Calibri" pitchFamily="34" charset="-122"/>
                          <a:cs typeface="Calibri" pitchFamily="34" charset="-120"/>
                        </a:rPr>
                        <a:t>(Who&amp;When)</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ctr" indent="0" marL="0">
                        <a:buNone/>
                      </a:pPr>
                      <a:r>
                        <a:rPr lang="en-US" sz="1100" dirty="0">
                          <a:solidFill>
                            <a:srgbClr val="1B202A"/>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r h="525127">
                <a:tc>
                  <a:txBody>
                    <a:bodyPr/>
                    <a:lstStyle/>
                    <a:p>
                      <a:pPr algn="l" indent="0" marL="0">
                        <a:buNone/>
                      </a:pPr>
                      <a:r>
                        <a:rPr lang="en-US" sz="1100" b="1" dirty="0">
                          <a:solidFill>
                            <a:srgbClr val="1B202A"/>
                          </a:solidFill>
                          <a:latin typeface="Calibri" pitchFamily="34" charset="0"/>
                          <a:ea typeface="Calibri" pitchFamily="34" charset="-122"/>
                          <a:cs typeface="Calibri" pitchFamily="34" charset="-120"/>
                        </a:rPr>
                        <a:t>Granite</a:t>
                      </a:r>
                      <a:endParaRPr lang="en-US" sz="1100" dirty="0">
                        <a:latin typeface="Calibri" charset="0"/>
                        <a:ea typeface="Calibri" charset="0"/>
                        <a:cs typeface="Calibri" charset="0"/>
                      </a:endParaRPr>
                    </a:p>
                    <a:p>
                      <a:pPr algn="l" indent="0" marL="0">
                        <a:buNone/>
                      </a:pPr>
                      <a:r>
                        <a:rPr lang="en-US" sz="1100" b="1" dirty="0">
                          <a:solidFill>
                            <a:srgbClr val="1B202A"/>
                          </a:solidFill>
                          <a:latin typeface="Calibri" pitchFamily="34" charset="0"/>
                          <a:ea typeface="Calibri" pitchFamily="34" charset="-122"/>
                          <a:cs typeface="Calibri" pitchFamily="34" charset="-120"/>
                        </a:rPr>
                        <a:t>(proposed)</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algn="ctr" indent="0" marL="0">
                        <a:buNone/>
                      </a:pPr>
                      <a:r>
                        <a:rPr lang="en-US" sz="1100" b="1" dirty="0">
                          <a:solidFill>
                            <a:srgbClr val="1B202A"/>
                          </a:solidFill>
                          <a:latin typeface="Calibri" pitchFamily="34" charset="0"/>
                          <a:ea typeface="Calibri" pitchFamily="34" charset="-122"/>
                          <a:cs typeface="Calibri" pitchFamily="34" charset="-120"/>
                        </a:rPr>
                        <a:t>Constraint-based SED</a:t>
                      </a:r>
                      <a:endParaRPr lang="en-US" sz="1100" dirty="0">
                        <a:latin typeface="Calibri" charset="0"/>
                        <a:ea typeface="Calibri" charset="0"/>
                        <a:cs typeface="Calibri" charset="0"/>
                      </a:endParaRPr>
                    </a:p>
                    <a:p>
                      <a:pPr algn="ctr" indent="0" marL="0">
                        <a:buNone/>
                      </a:pPr>
                      <a:r>
                        <a:rPr lang="en-US" sz="1100" b="1" dirty="0">
                          <a:solidFill>
                            <a:srgbClr val="1B202A"/>
                          </a:solidFill>
                          <a:latin typeface="Calibri" pitchFamily="34" charset="0"/>
                          <a:ea typeface="Calibri" pitchFamily="34" charset="-122"/>
                          <a:cs typeface="Calibri" pitchFamily="34" charset="-120"/>
                        </a:rPr>
                        <a:t>+ verified repair loop</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algn="ctr" indent="0" marL="0">
                        <a:buNone/>
                      </a:pPr>
                      <a:r>
                        <a:rPr lang="en-US" sz="1100" b="1" dirty="0">
                          <a:solidFill>
                            <a:srgbClr val="1B202A"/>
                          </a:solidFill>
                          <a:latin typeface="Calibri" pitchFamily="34" charset="0"/>
                          <a:ea typeface="Calibri" pitchFamily="34" charset="-122"/>
                          <a:cs typeface="Calibri" pitchFamily="34" charset="-120"/>
                        </a:rPr>
                        <a:t>building on</a:t>
                      </a:r>
                      <a:endParaRPr lang="en-US" sz="1100" dirty="0">
                        <a:latin typeface="Calibri" charset="0"/>
                        <a:ea typeface="Calibri" charset="0"/>
                        <a:cs typeface="Calibri" charset="0"/>
                      </a:endParaRPr>
                    </a:p>
                    <a:p>
                      <a:pPr algn="ctr" indent="0" marL="0">
                        <a:buNone/>
                      </a:pPr>
                      <a:r>
                        <a:rPr lang="en-US" sz="1100" b="1" dirty="0">
                          <a:solidFill>
                            <a:srgbClr val="1B202A"/>
                          </a:solidFill>
                          <a:latin typeface="Calibri" pitchFamily="34" charset="0"/>
                          <a:ea typeface="Calibri" pitchFamily="34" charset="-122"/>
                          <a:cs typeface="Calibri" pitchFamily="34" charset="-120"/>
                        </a:rPr>
                        <a:t>ErrorProbe</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algn="ctr" indent="0" marL="0">
                        <a:buNone/>
                      </a:pPr>
                      <a:r>
                        <a:rPr lang="en-US" sz="1100" b="1" dirty="0">
                          <a:solidFill>
                            <a:srgbClr val="1B202A"/>
                          </a:solidFill>
                          <a:latin typeface="Calibri" pitchFamily="34" charset="0"/>
                          <a:ea typeface="Calibri" pitchFamily="34" charset="-122"/>
                          <a:cs typeface="Calibri" pitchFamily="34" charset="-120"/>
                        </a:rPr>
                        <a:t>✓ scoped &amp;</a:t>
                      </a:r>
                      <a:endParaRPr lang="en-US" sz="1100" dirty="0">
                        <a:latin typeface="Calibri" charset="0"/>
                        <a:ea typeface="Calibri" charset="0"/>
                        <a:cs typeface="Calibri" charset="0"/>
                      </a:endParaRPr>
                    </a:p>
                    <a:p>
                      <a:pPr algn="ctr" indent="0" marL="0">
                        <a:buNone/>
                      </a:pPr>
                      <a:r>
                        <a:rPr lang="en-US" sz="1100" b="1" dirty="0">
                          <a:solidFill>
                            <a:srgbClr val="1B202A"/>
                          </a:solidFill>
                          <a:latin typeface="Calibri" pitchFamily="34" charset="0"/>
                          <a:ea typeface="Calibri" pitchFamily="34" charset="-122"/>
                          <a:cs typeface="Calibri" pitchFamily="34" charset="-120"/>
                        </a:rPr>
                        <a:t>measured</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algn="ctr" indent="0" marL="0">
                        <a:buNone/>
                      </a:pPr>
                      <a:r>
                        <a:rPr lang="en-US" sz="1100" b="1" dirty="0">
                          <a:solidFill>
                            <a:srgbClr val="1B202A"/>
                          </a:solidFill>
                          <a:latin typeface="Calibri" pitchFamily="34" charset="0"/>
                          <a:ea typeface="Calibri" pitchFamily="34" charset="-122"/>
                          <a:cs typeface="Calibri" pitchFamily="34" charset="-120"/>
                        </a:rPr>
                        <a:t>✓ recovery rate</a:t>
                      </a:r>
                      <a:endParaRPr lang="en-US" sz="1100" dirty="0">
                        <a:latin typeface="Calibri" charset="0"/>
                        <a:ea typeface="Calibri" charset="0"/>
                        <a:cs typeface="Calibri" charset="0"/>
                      </a:endParaRPr>
                    </a:p>
                    <a:p>
                      <a:pPr algn="ctr" indent="0" marL="0">
                        <a:buNone/>
                      </a:pPr>
                      <a:r>
                        <a:rPr lang="en-US" sz="1100" b="1" dirty="0">
                          <a:solidFill>
                            <a:srgbClr val="1B202A"/>
                          </a:solidFill>
                          <a:latin typeface="Calibri" pitchFamily="34" charset="0"/>
                          <a:ea typeface="Calibri" pitchFamily="34" charset="-122"/>
                          <a:cs typeface="Calibri" pitchFamily="34" charset="-120"/>
                        </a:rPr>
                        <a:t>over N replays</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algn="ctr" indent="0" marL="0">
                        <a:buNone/>
                      </a:pPr>
                      <a:r>
                        <a:rPr lang="en-US" sz="1100" b="1" dirty="0">
                          <a:solidFill>
                            <a:srgbClr val="1B202A"/>
                          </a:solidFill>
                          <a:latin typeface="Calibri" pitchFamily="34" charset="0"/>
                          <a:ea typeface="Calibri" pitchFamily="34" charset="-122"/>
                          <a:cs typeface="Calibri" pitchFamily="34" charset="-120"/>
                        </a:rPr>
                        <a:t>✓ CrewAI +</a:t>
                      </a:r>
                      <a:endParaRPr lang="en-US" sz="1100" dirty="0">
                        <a:latin typeface="Calibri" charset="0"/>
                        <a:ea typeface="Calibri" charset="0"/>
                        <a:cs typeface="Calibri" charset="0"/>
                      </a:endParaRPr>
                    </a:p>
                    <a:p>
                      <a:pPr algn="ctr" indent="0" marL="0">
                        <a:buNone/>
                      </a:pPr>
                      <a:r>
                        <a:rPr lang="en-US" sz="1100" b="1" dirty="0">
                          <a:solidFill>
                            <a:srgbClr val="1B202A"/>
                          </a:solidFill>
                          <a:latin typeface="Calibri" pitchFamily="34" charset="0"/>
                          <a:ea typeface="Calibri" pitchFamily="34" charset="-122"/>
                          <a:cs typeface="Calibri" pitchFamily="34" charset="-120"/>
                        </a:rPr>
                        <a:t>LangGraph, unseen</a:t>
                      </a:r>
                      <a:endParaRPr lang="en-US" sz="110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r>
            </a:tbl>
          </a:graphicData>
        </a:graphic>
      </p:graphicFrame>
      <p:sp>
        <p:nvSpPr>
          <p:cNvPr id="11" name="Shape 8"/>
          <p:cNvSpPr/>
          <p:nvPr/>
        </p:nvSpPr>
        <p:spPr>
          <a:xfrm>
            <a:off x="587045" y="5383987"/>
            <a:ext cx="5532120" cy="1042416"/>
          </a:xfrm>
          <a:prstGeom prst="roundRect">
            <a:avLst>
              <a:gd name="adj" fmla="val 5263"/>
            </a:avLst>
          </a:prstGeom>
          <a:solidFill>
            <a:srgbClr val="E4E6EB"/>
          </a:solidFill>
          <a:ln/>
        </p:spPr>
      </p:sp>
      <p:sp>
        <p:nvSpPr>
          <p:cNvPr id="12" name="Shape 9"/>
          <p:cNvSpPr/>
          <p:nvPr/>
        </p:nvSpPr>
        <p:spPr>
          <a:xfrm>
            <a:off x="566928" y="5358384"/>
            <a:ext cx="5532120" cy="1042416"/>
          </a:xfrm>
          <a:prstGeom prst="roundRect">
            <a:avLst>
              <a:gd name="adj" fmla="val 5263"/>
            </a:avLst>
          </a:prstGeom>
          <a:solidFill>
            <a:srgbClr val="E6F1EB"/>
          </a:solidFill>
          <a:ln w="9525">
            <a:solidFill>
              <a:srgbClr val="D9DCE3"/>
            </a:solidFill>
            <a:prstDash val="solid"/>
          </a:ln>
        </p:spPr>
      </p:sp>
      <p:sp>
        <p:nvSpPr>
          <p:cNvPr id="13" name="Shape 10"/>
          <p:cNvSpPr/>
          <p:nvPr/>
        </p:nvSpPr>
        <p:spPr>
          <a:xfrm>
            <a:off x="566928" y="5413248"/>
            <a:ext cx="41148" cy="932688"/>
          </a:xfrm>
          <a:prstGeom prst="rect">
            <a:avLst/>
          </a:prstGeom>
          <a:solidFill>
            <a:srgbClr val="1E7A52"/>
          </a:solidFill>
          <a:ln/>
        </p:spPr>
      </p:sp>
      <p:sp>
        <p:nvSpPr>
          <p:cNvPr id="14" name="Text 11"/>
          <p:cNvSpPr txBox="1"/>
          <p:nvPr/>
        </p:nvSpPr>
        <p:spPr>
          <a:xfrm>
            <a:off x="768096" y="5449824"/>
            <a:ext cx="5120640" cy="256032"/>
          </a:xfrm>
          <a:prstGeom prst="rect">
            <a:avLst/>
          </a:prstGeom>
          <a:noFill/>
          <a:ln/>
        </p:spPr>
        <p:txBody>
          <a:bodyPr wrap="square" lIns="0" tIns="0" rIns="0" bIns="0" rtlCol="0" anchor="ctr"/>
          <a:lstStyle/>
          <a:p>
            <a:pPr indent="0" marL="0">
              <a:buNone/>
            </a:pPr>
            <a:r>
              <a:rPr lang="en-US" sz="1400" b="1" spc="100" kern="0" dirty="0">
                <a:solidFill>
                  <a:srgbClr val="1E7A52"/>
                </a:solidFill>
                <a:latin typeface="Consolas" pitchFamily="34" charset="0"/>
                <a:ea typeface="Consolas" pitchFamily="34" charset="-122"/>
                <a:cs typeface="Consolas" pitchFamily="34" charset="-120"/>
              </a:rPr>
              <a:t>PRIOR-FYP CHECK — CLOSED</a:t>
            </a:r>
            <a:endParaRPr lang="en-US" sz="1400" dirty="0"/>
          </a:p>
        </p:txBody>
      </p:sp>
      <p:sp>
        <p:nvSpPr>
          <p:cNvPr id="15" name="Text 12"/>
          <p:cNvSpPr txBox="1"/>
          <p:nvPr/>
        </p:nvSpPr>
        <p:spPr>
          <a:xfrm>
            <a:off x="768096" y="5705856"/>
            <a:ext cx="5166360" cy="658368"/>
          </a:xfrm>
          <a:prstGeom prst="rect">
            <a:avLst/>
          </a:prstGeom>
          <a:noFill/>
          <a:ln/>
        </p:spPr>
        <p:txBody>
          <a:bodyPr wrap="square" lIns="0" tIns="0" rIns="0" bIns="0" rtlCol="0" anchor="ctr"/>
          <a:lstStyle/>
          <a:p>
            <a:pPr indent="0" marL="0">
              <a:buNone/>
            </a:pPr>
            <a:r>
              <a:rPr lang="en-US" sz="1250" dirty="0">
                <a:solidFill>
                  <a:srgbClr val="1B202A"/>
                </a:solidFill>
                <a:latin typeface="Calibri" pitchFamily="34" charset="0"/>
                <a:ea typeface="Calibri" pitchFamily="34" charset="-122"/>
                <a:cs typeface="Calibri" pitchFamily="34" charset="-120"/>
              </a:rPr>
              <a:t>660 titles, 12 cohorts since 2019, checked structurally. Closest: </a:t>
            </a:r>
            <a:pPr indent="0" marL="0">
              <a:buNone/>
            </a:pPr>
            <a:r>
              <a:rPr lang="en-US" sz="1250" b="1" dirty="0">
                <a:solidFill>
                  <a:srgbClr val="1E7A52"/>
                </a:solidFill>
                <a:latin typeface="Calibri" pitchFamily="34" charset="0"/>
                <a:ea typeface="Calibri" pitchFamily="34" charset="-122"/>
                <a:cs typeface="Calibri" pitchFamily="34" charset="-120"/>
              </a:rPr>
              <a:t>S24-011-D-HDLM</a:t>
            </a:r>
            <a:pPr indent="0" marL="0">
              <a:buNone/>
            </a:pPr>
            <a:r>
              <a:rPr lang="en-US" sz="1250" dirty="0">
                <a:solidFill>
                  <a:srgbClr val="1B202A"/>
                </a:solidFill>
                <a:latin typeface="Calibri" pitchFamily="34" charset="0"/>
                <a:ea typeface="Calibri" pitchFamily="34" charset="-122"/>
                <a:cs typeface="Calibri" pitchFamily="34" charset="-120"/>
              </a:rPr>
              <a:t> — hallucination detection in single-LLM text: same core problem, ~1 of our 4 stages.</a:t>
            </a:r>
            <a:endParaRPr lang="en-US" sz="1250" dirty="0"/>
          </a:p>
        </p:txBody>
      </p:sp>
      <p:sp>
        <p:nvSpPr>
          <p:cNvPr id="16" name="Shape 13"/>
          <p:cNvSpPr/>
          <p:nvPr/>
        </p:nvSpPr>
        <p:spPr>
          <a:xfrm>
            <a:off x="6302045" y="5383987"/>
            <a:ext cx="5342839" cy="1042416"/>
          </a:xfrm>
          <a:prstGeom prst="roundRect">
            <a:avLst>
              <a:gd name="adj" fmla="val 5263"/>
            </a:avLst>
          </a:prstGeom>
          <a:solidFill>
            <a:srgbClr val="E4E6EB"/>
          </a:solidFill>
          <a:ln/>
        </p:spPr>
      </p:sp>
      <p:sp>
        <p:nvSpPr>
          <p:cNvPr id="17" name="Shape 14"/>
          <p:cNvSpPr/>
          <p:nvPr/>
        </p:nvSpPr>
        <p:spPr>
          <a:xfrm>
            <a:off x="6281928" y="5358384"/>
            <a:ext cx="5342839" cy="1042416"/>
          </a:xfrm>
          <a:prstGeom prst="roundRect">
            <a:avLst>
              <a:gd name="adj" fmla="val 5263"/>
            </a:avLst>
          </a:prstGeom>
          <a:solidFill>
            <a:srgbClr val="F7EFDC"/>
          </a:solidFill>
          <a:ln w="9525">
            <a:solidFill>
              <a:srgbClr val="D9DCE3"/>
            </a:solidFill>
            <a:prstDash val="solid"/>
          </a:ln>
        </p:spPr>
      </p:sp>
      <p:sp>
        <p:nvSpPr>
          <p:cNvPr id="18" name="Shape 15"/>
          <p:cNvSpPr/>
          <p:nvPr/>
        </p:nvSpPr>
        <p:spPr>
          <a:xfrm>
            <a:off x="6281928" y="5413248"/>
            <a:ext cx="41148" cy="932688"/>
          </a:xfrm>
          <a:prstGeom prst="rect">
            <a:avLst/>
          </a:prstGeom>
          <a:solidFill>
            <a:srgbClr val="A8760F"/>
          </a:solidFill>
          <a:ln/>
        </p:spPr>
      </p:sp>
      <p:sp>
        <p:nvSpPr>
          <p:cNvPr id="19" name="Text 16"/>
          <p:cNvSpPr txBox="1"/>
          <p:nvPr/>
        </p:nvSpPr>
        <p:spPr>
          <a:xfrm>
            <a:off x="6483096" y="5449824"/>
            <a:ext cx="4937760" cy="256032"/>
          </a:xfrm>
          <a:prstGeom prst="rect">
            <a:avLst/>
          </a:prstGeom>
          <a:noFill/>
          <a:ln/>
        </p:spPr>
        <p:txBody>
          <a:bodyPr wrap="square" lIns="0" tIns="0" rIns="0" bIns="0" rtlCol="0" anchor="ctr"/>
          <a:lstStyle/>
          <a:p>
            <a:pPr indent="0" marL="0">
              <a:buNone/>
            </a:pPr>
            <a:r>
              <a:rPr lang="en-US" sz="1400" b="1" spc="100" kern="0" dirty="0">
                <a:solidFill>
                  <a:srgbClr val="A8760F"/>
                </a:solidFill>
                <a:latin typeface="Consolas" pitchFamily="34" charset="0"/>
                <a:ea typeface="Consolas" pitchFamily="34" charset="-122"/>
                <a:cs typeface="Consolas" pitchFamily="34" charset="-120"/>
              </a:rPr>
              <a:t>THE REAL GAP</a:t>
            </a:r>
            <a:endParaRPr lang="en-US" sz="1400" dirty="0"/>
          </a:p>
        </p:txBody>
      </p:sp>
      <p:sp>
        <p:nvSpPr>
          <p:cNvPr id="20" name="Text 17"/>
          <p:cNvSpPr txBox="1"/>
          <p:nvPr/>
        </p:nvSpPr>
        <p:spPr>
          <a:xfrm>
            <a:off x="6483096" y="5705856"/>
            <a:ext cx="4931359" cy="658368"/>
          </a:xfrm>
          <a:prstGeom prst="rect">
            <a:avLst/>
          </a:prstGeom>
          <a:noFill/>
          <a:ln/>
        </p:spPr>
        <p:txBody>
          <a:bodyPr wrap="square" lIns="0" tIns="0" rIns="0" bIns="0" rtlCol="0" anchor="ctr"/>
          <a:lstStyle/>
          <a:p>
            <a:pPr indent="0" marL="0">
              <a:buNone/>
            </a:pPr>
            <a:r>
              <a:rPr lang="en-US" sz="1250" dirty="0">
                <a:solidFill>
                  <a:srgbClr val="1B202A"/>
                </a:solidFill>
                <a:latin typeface="Calibri" pitchFamily="34" charset="0"/>
                <a:ea typeface="Calibri" pitchFamily="34" charset="-122"/>
                <a:cs typeface="Calibri" pitchFamily="34" charset="-120"/>
              </a:rPr>
              <a:t>No system combines attribution + silent-failure detection + verified repair + cross-arch generalization in one pipeline.</a:t>
            </a:r>
            <a:endParaRPr lang="en-US" sz="12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Research &amp; Technical Basis</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4 / 10</a:t>
            </a:r>
            <a:endParaRPr lang="en-US" sz="1050" dirty="0"/>
          </a:p>
        </p:txBody>
      </p:sp>
      <p:sp>
        <p:nvSpPr>
          <p:cNvPr id="10" name="Text 8"/>
          <p:cNvSpPr txBox="1"/>
          <p:nvPr/>
        </p:nvSpPr>
        <p:spPr>
          <a:xfrm>
            <a:off x="566928" y="1389888"/>
            <a:ext cx="5943600"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DECISIONS THE LITERATURE ACTUALLY CHANGED</a:t>
            </a:r>
            <a:endParaRPr lang="en-US" sz="1400" dirty="0"/>
          </a:p>
        </p:txBody>
      </p:sp>
      <p:sp>
        <p:nvSpPr>
          <p:cNvPr id="11" name="Shape 9"/>
          <p:cNvSpPr/>
          <p:nvPr/>
        </p:nvSpPr>
        <p:spPr>
          <a:xfrm>
            <a:off x="566928" y="1737360"/>
            <a:ext cx="310896" cy="310896"/>
          </a:xfrm>
          <a:prstGeom prst="ellipse">
            <a:avLst/>
          </a:prstGeom>
          <a:solidFill>
            <a:srgbClr val="E3BC6E"/>
          </a:solidFill>
          <a:ln/>
        </p:spPr>
      </p:sp>
      <p:sp>
        <p:nvSpPr>
          <p:cNvPr id="12" name="Text 10"/>
          <p:cNvSpPr txBox="1"/>
          <p:nvPr/>
        </p:nvSpPr>
        <p:spPr>
          <a:xfrm>
            <a:off x="566928" y="1737360"/>
            <a:ext cx="310896" cy="310896"/>
          </a:xfrm>
          <a:prstGeom prst="rect">
            <a:avLst/>
          </a:prstGeom>
          <a:noFill/>
          <a:ln/>
        </p:spPr>
        <p:txBody>
          <a:bodyPr wrap="square" lIns="0" tIns="0" rIns="0" bIns="0" rtlCol="0" anchor="ctr"/>
          <a:lstStyle/>
          <a:p>
            <a:pPr algn="ctr" indent="0" marL="0">
              <a:buNone/>
            </a:pPr>
            <a:r>
              <a:rPr lang="en-US" sz="1450" b="1" dirty="0">
                <a:solidFill>
                  <a:srgbClr val="0F1219"/>
                </a:solidFill>
                <a:latin typeface="Georgia" pitchFamily="34" charset="0"/>
                <a:ea typeface="Georgia" pitchFamily="34" charset="-122"/>
                <a:cs typeface="Georgia" pitchFamily="34" charset="-120"/>
              </a:rPr>
              <a:t>✓</a:t>
            </a:r>
            <a:endParaRPr lang="en-US" sz="1450" dirty="0"/>
          </a:p>
        </p:txBody>
      </p:sp>
      <p:sp>
        <p:nvSpPr>
          <p:cNvPr id="13" name="Text 11"/>
          <p:cNvSpPr txBox="1"/>
          <p:nvPr/>
        </p:nvSpPr>
        <p:spPr>
          <a:xfrm>
            <a:off x="1005840" y="1673352"/>
            <a:ext cx="5468112" cy="841248"/>
          </a:xfrm>
          <a:prstGeom prst="rect">
            <a:avLst/>
          </a:prstGeom>
          <a:noFill/>
          <a:ln/>
        </p:spPr>
        <p:txBody>
          <a:bodyPr wrap="square" lIns="0" tIns="0" rIns="0" bIns="0" rtlCol="0" anchor="ctr"/>
          <a:lstStyle/>
          <a:p>
            <a:pPr indent="0" marL="0">
              <a:buNone/>
            </a:pPr>
            <a:r>
              <a:rPr lang="en-US" sz="1650" b="1" dirty="0">
                <a:solidFill>
                  <a:srgbClr val="1B202A"/>
                </a:solidFill>
                <a:latin typeface="Calibri" pitchFamily="34" charset="0"/>
                <a:ea typeface="Calibri" pitchFamily="34" charset="-122"/>
                <a:cs typeface="Calibri" pitchFamily="34" charset="-120"/>
              </a:rPr>
              <a:t>ErrorProbe chosen as baseline</a:t>
            </a:r>
            <a:endParaRPr lang="en-US" sz="1650" dirty="0"/>
          </a:p>
          <a:p>
            <a:pPr indent="0" marL="0">
              <a:buNone/>
            </a:pPr>
            <a:r>
              <a:rPr lang="en-US" sz="1450" dirty="0">
                <a:solidFill>
                  <a:srgbClr val="596273"/>
                </a:solidFill>
                <a:latin typeface="Calibri" pitchFamily="34" charset="0"/>
                <a:ea typeface="Calibri" pitchFamily="34" charset="-122"/>
                <a:cs typeface="Calibri" pitchFamily="34" charset="-120"/>
              </a:rPr>
              <a:t>On performance (59.5%), not recency</a:t>
            </a:r>
            <a:endParaRPr lang="en-US" sz="1650" dirty="0"/>
          </a:p>
        </p:txBody>
      </p:sp>
      <p:sp>
        <p:nvSpPr>
          <p:cNvPr id="14" name="Shape 12"/>
          <p:cNvSpPr/>
          <p:nvPr/>
        </p:nvSpPr>
        <p:spPr>
          <a:xfrm>
            <a:off x="566928" y="2706624"/>
            <a:ext cx="310896" cy="310896"/>
          </a:xfrm>
          <a:prstGeom prst="ellipse">
            <a:avLst/>
          </a:prstGeom>
          <a:solidFill>
            <a:srgbClr val="E3BC6E"/>
          </a:solidFill>
          <a:ln/>
        </p:spPr>
      </p:sp>
      <p:sp>
        <p:nvSpPr>
          <p:cNvPr id="15" name="Text 13"/>
          <p:cNvSpPr txBox="1"/>
          <p:nvPr/>
        </p:nvSpPr>
        <p:spPr>
          <a:xfrm>
            <a:off x="566928" y="2706624"/>
            <a:ext cx="310896" cy="310896"/>
          </a:xfrm>
          <a:prstGeom prst="rect">
            <a:avLst/>
          </a:prstGeom>
          <a:noFill/>
          <a:ln/>
        </p:spPr>
        <p:txBody>
          <a:bodyPr wrap="square" lIns="0" tIns="0" rIns="0" bIns="0" rtlCol="0" anchor="ctr"/>
          <a:lstStyle/>
          <a:p>
            <a:pPr algn="ctr" indent="0" marL="0">
              <a:buNone/>
            </a:pPr>
            <a:r>
              <a:rPr lang="en-US" sz="1450" b="1" dirty="0">
                <a:solidFill>
                  <a:srgbClr val="0F1219"/>
                </a:solidFill>
                <a:latin typeface="Georgia" pitchFamily="34" charset="0"/>
                <a:ea typeface="Georgia" pitchFamily="34" charset="-122"/>
                <a:cs typeface="Georgia" pitchFamily="34" charset="-120"/>
              </a:rPr>
              <a:t>✓</a:t>
            </a:r>
            <a:endParaRPr lang="en-US" sz="1450" dirty="0"/>
          </a:p>
        </p:txBody>
      </p:sp>
      <p:sp>
        <p:nvSpPr>
          <p:cNvPr id="16" name="Text 14"/>
          <p:cNvSpPr txBox="1"/>
          <p:nvPr/>
        </p:nvSpPr>
        <p:spPr>
          <a:xfrm>
            <a:off x="1005840" y="2642616"/>
            <a:ext cx="5468112" cy="841248"/>
          </a:xfrm>
          <a:prstGeom prst="rect">
            <a:avLst/>
          </a:prstGeom>
          <a:noFill/>
          <a:ln/>
        </p:spPr>
        <p:txBody>
          <a:bodyPr wrap="square" lIns="0" tIns="0" rIns="0" bIns="0" rtlCol="0" anchor="ctr"/>
          <a:lstStyle/>
          <a:p>
            <a:pPr indent="0" marL="0">
              <a:buNone/>
            </a:pPr>
            <a:r>
              <a:rPr lang="en-US" sz="1650" b="1" dirty="0">
                <a:solidFill>
                  <a:srgbClr val="1B202A"/>
                </a:solidFill>
                <a:latin typeface="Calibri" pitchFamily="34" charset="0"/>
                <a:ea typeface="Calibri" pitchFamily="34" charset="-122"/>
                <a:cs typeface="Calibri" pitchFamily="34" charset="-120"/>
              </a:rPr>
              <a:t>CrewAI + LangGraph committed</a:t>
            </a:r>
            <a:endParaRPr lang="en-US" sz="1650" dirty="0"/>
          </a:p>
          <a:p>
            <a:pPr indent="0" marL="0">
              <a:buNone/>
            </a:pPr>
            <a:r>
              <a:rPr lang="en-US" sz="1450" dirty="0">
                <a:solidFill>
                  <a:srgbClr val="596273"/>
                </a:solidFill>
                <a:latin typeface="Calibri" pitchFamily="34" charset="0"/>
                <a:ea typeface="Calibri" pitchFamily="34" charset="-122"/>
                <a:cs typeface="Calibri" pitchFamily="34" charset="-120"/>
              </a:rPr>
              <a:t>Unused by all 9 papers reviewed</a:t>
            </a:r>
            <a:endParaRPr lang="en-US" sz="1650" dirty="0"/>
          </a:p>
        </p:txBody>
      </p:sp>
      <p:sp>
        <p:nvSpPr>
          <p:cNvPr id="17" name="Shape 15"/>
          <p:cNvSpPr/>
          <p:nvPr/>
        </p:nvSpPr>
        <p:spPr>
          <a:xfrm>
            <a:off x="566928" y="3675888"/>
            <a:ext cx="310896" cy="310896"/>
          </a:xfrm>
          <a:prstGeom prst="ellipse">
            <a:avLst/>
          </a:prstGeom>
          <a:solidFill>
            <a:srgbClr val="E3BC6E"/>
          </a:solidFill>
          <a:ln/>
        </p:spPr>
      </p:sp>
      <p:sp>
        <p:nvSpPr>
          <p:cNvPr id="18" name="Text 16"/>
          <p:cNvSpPr txBox="1"/>
          <p:nvPr/>
        </p:nvSpPr>
        <p:spPr>
          <a:xfrm>
            <a:off x="566928" y="3675888"/>
            <a:ext cx="310896" cy="310896"/>
          </a:xfrm>
          <a:prstGeom prst="rect">
            <a:avLst/>
          </a:prstGeom>
          <a:noFill/>
          <a:ln/>
        </p:spPr>
        <p:txBody>
          <a:bodyPr wrap="square" lIns="0" tIns="0" rIns="0" bIns="0" rtlCol="0" anchor="ctr"/>
          <a:lstStyle/>
          <a:p>
            <a:pPr algn="ctr" indent="0" marL="0">
              <a:buNone/>
            </a:pPr>
            <a:r>
              <a:rPr lang="en-US" sz="1450" b="1" dirty="0">
                <a:solidFill>
                  <a:srgbClr val="0F1219"/>
                </a:solidFill>
                <a:latin typeface="Georgia" pitchFamily="34" charset="0"/>
                <a:ea typeface="Georgia" pitchFamily="34" charset="-122"/>
                <a:cs typeface="Georgia" pitchFamily="34" charset="-120"/>
              </a:rPr>
              <a:t>✓</a:t>
            </a:r>
            <a:endParaRPr lang="en-US" sz="1450" dirty="0"/>
          </a:p>
        </p:txBody>
      </p:sp>
      <p:sp>
        <p:nvSpPr>
          <p:cNvPr id="19" name="Text 17"/>
          <p:cNvSpPr txBox="1"/>
          <p:nvPr/>
        </p:nvSpPr>
        <p:spPr>
          <a:xfrm>
            <a:off x="1005840" y="3611880"/>
            <a:ext cx="5468112" cy="841248"/>
          </a:xfrm>
          <a:prstGeom prst="rect">
            <a:avLst/>
          </a:prstGeom>
          <a:noFill/>
          <a:ln/>
        </p:spPr>
        <p:txBody>
          <a:bodyPr wrap="square" lIns="0" tIns="0" rIns="0" bIns="0" rtlCol="0" anchor="ctr"/>
          <a:lstStyle/>
          <a:p>
            <a:pPr indent="0" marL="0">
              <a:buNone/>
            </a:pPr>
            <a:r>
              <a:rPr lang="en-US" sz="1650" b="1" dirty="0">
                <a:solidFill>
                  <a:srgbClr val="1B202A"/>
                </a:solidFill>
                <a:latin typeface="Calibri" pitchFamily="34" charset="0"/>
                <a:ea typeface="Calibri" pitchFamily="34" charset="-122"/>
                <a:cs typeface="Calibri" pitchFamily="34" charset="-120"/>
              </a:rPr>
              <a:t>Constraint-based SED, not LLM-judge</a:t>
            </a:r>
            <a:endParaRPr lang="en-US" sz="1650" dirty="0"/>
          </a:p>
          <a:p>
            <a:pPr indent="0" marL="0">
              <a:buNone/>
            </a:pPr>
            <a:r>
              <a:rPr lang="en-US" sz="1450" dirty="0">
                <a:solidFill>
                  <a:srgbClr val="596273"/>
                </a:solidFill>
                <a:latin typeface="Calibri" pitchFamily="34" charset="0"/>
                <a:ea typeface="Calibri" pitchFamily="34" charset="-122"/>
                <a:cs typeface="Calibri" pitchFamily="34" charset="-120"/>
              </a:rPr>
              <a:t>LLM-judge AUROC ≤ 0.65 — barely above chance</a:t>
            </a:r>
            <a:endParaRPr lang="en-US" sz="1650" dirty="0"/>
          </a:p>
        </p:txBody>
      </p:sp>
      <p:sp>
        <p:nvSpPr>
          <p:cNvPr id="20" name="Shape 18"/>
          <p:cNvSpPr/>
          <p:nvPr/>
        </p:nvSpPr>
        <p:spPr>
          <a:xfrm>
            <a:off x="566928" y="4645152"/>
            <a:ext cx="310896" cy="310896"/>
          </a:xfrm>
          <a:prstGeom prst="ellipse">
            <a:avLst/>
          </a:prstGeom>
          <a:solidFill>
            <a:srgbClr val="E3BC6E"/>
          </a:solidFill>
          <a:ln/>
        </p:spPr>
      </p:sp>
      <p:sp>
        <p:nvSpPr>
          <p:cNvPr id="21" name="Text 19"/>
          <p:cNvSpPr txBox="1"/>
          <p:nvPr/>
        </p:nvSpPr>
        <p:spPr>
          <a:xfrm>
            <a:off x="566928" y="4645152"/>
            <a:ext cx="310896" cy="310896"/>
          </a:xfrm>
          <a:prstGeom prst="rect">
            <a:avLst/>
          </a:prstGeom>
          <a:noFill/>
          <a:ln/>
        </p:spPr>
        <p:txBody>
          <a:bodyPr wrap="square" lIns="0" tIns="0" rIns="0" bIns="0" rtlCol="0" anchor="ctr"/>
          <a:lstStyle/>
          <a:p>
            <a:pPr algn="ctr" indent="0" marL="0">
              <a:buNone/>
            </a:pPr>
            <a:r>
              <a:rPr lang="en-US" sz="1450" b="1" dirty="0">
                <a:solidFill>
                  <a:srgbClr val="0F1219"/>
                </a:solidFill>
                <a:latin typeface="Georgia" pitchFamily="34" charset="0"/>
                <a:ea typeface="Georgia" pitchFamily="34" charset="-122"/>
                <a:cs typeface="Georgia" pitchFamily="34" charset="-120"/>
              </a:rPr>
              <a:t>✓</a:t>
            </a:r>
            <a:endParaRPr lang="en-US" sz="1450" dirty="0"/>
          </a:p>
        </p:txBody>
      </p:sp>
      <p:sp>
        <p:nvSpPr>
          <p:cNvPr id="22" name="Text 20"/>
          <p:cNvSpPr txBox="1"/>
          <p:nvPr/>
        </p:nvSpPr>
        <p:spPr>
          <a:xfrm>
            <a:off x="1005840" y="4581144"/>
            <a:ext cx="5468112" cy="841248"/>
          </a:xfrm>
          <a:prstGeom prst="rect">
            <a:avLst/>
          </a:prstGeom>
          <a:noFill/>
          <a:ln/>
        </p:spPr>
        <p:txBody>
          <a:bodyPr wrap="square" lIns="0" tIns="0" rIns="0" bIns="0" rtlCol="0" anchor="ctr"/>
          <a:lstStyle/>
          <a:p>
            <a:pPr indent="0" marL="0">
              <a:buNone/>
            </a:pPr>
            <a:r>
              <a:rPr lang="en-US" sz="1650" b="1" dirty="0">
                <a:solidFill>
                  <a:srgbClr val="1B202A"/>
                </a:solidFill>
                <a:latin typeface="Calibri" pitchFamily="34" charset="0"/>
                <a:ea typeface="Calibri" pitchFamily="34" charset="-122"/>
                <a:cs typeface="Calibri" pitchFamily="34" charset="-120"/>
              </a:rPr>
              <a:t>Single-framework narrowing rejected</a:t>
            </a:r>
            <a:endParaRPr lang="en-US" sz="1650" dirty="0"/>
          </a:p>
          <a:p>
            <a:pPr indent="0" marL="0">
              <a:buNone/>
            </a:pPr>
            <a:r>
              <a:rPr lang="en-US" sz="1450" dirty="0">
                <a:solidFill>
                  <a:srgbClr val="596273"/>
                </a:solidFill>
                <a:latin typeface="Calibri" pitchFamily="34" charset="0"/>
                <a:ea typeface="Calibri" pitchFamily="34" charset="-122"/>
                <a:cs typeface="Calibri" pitchFamily="34" charset="-120"/>
              </a:rPr>
              <a:t>Market survey's own advice, declined (R19)</a:t>
            </a:r>
            <a:endParaRPr lang="en-US" sz="1650" dirty="0"/>
          </a:p>
        </p:txBody>
      </p:sp>
      <p:sp>
        <p:nvSpPr>
          <p:cNvPr id="23" name="Text 21"/>
          <p:cNvSpPr txBox="1"/>
          <p:nvPr/>
        </p:nvSpPr>
        <p:spPr>
          <a:xfrm>
            <a:off x="6784848" y="1389888"/>
            <a:ext cx="4839919"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PUBLISHED STEP-ACCURACY LINEAGE</a:t>
            </a:r>
            <a:endParaRPr lang="en-US" sz="1400" dirty="0"/>
          </a:p>
        </p:txBody>
      </p:sp>
      <p:graphicFrame>
        <p:nvGraphicFramePr>
          <p:cNvPr id="24" name="Chart 0" descr=""/>
          <p:cNvGraphicFramePr/>
          <p:nvPr/>
        </p:nvGraphicFramePr>
        <p:xfrm>
          <a:off x="6784848" y="1682496"/>
          <a:ext cx="4839919" cy="1956816"/>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txBox="1"/>
          <p:nvPr/>
        </p:nvSpPr>
        <p:spPr>
          <a:xfrm>
            <a:off x="6784848" y="3657600"/>
            <a:ext cx="4839919" cy="274320"/>
          </a:xfrm>
          <a:prstGeom prst="rect">
            <a:avLst/>
          </a:prstGeom>
          <a:noFill/>
          <a:ln/>
        </p:spPr>
        <p:txBody>
          <a:bodyPr wrap="square" lIns="0" tIns="0" rIns="0" bIns="0" rtlCol="0" anchor="ctr"/>
          <a:lstStyle/>
          <a:p>
            <a:pPr indent="0" marL="0">
              <a:buNone/>
            </a:pPr>
            <a:r>
              <a:rPr lang="en-US" sz="1250" i="1" dirty="0">
                <a:solidFill>
                  <a:srgbClr val="596273"/>
                </a:solidFill>
                <a:latin typeface="Calibri" pitchFamily="34" charset="0"/>
                <a:ea typeface="Calibri" pitchFamily="34" charset="-122"/>
                <a:cs typeface="Calibri" pitchFamily="34" charset="-120"/>
              </a:rPr>
              <a:t>Step-level accuracy on Who&amp;When, % · AgenTracer-8B is a published 37–43% range — midpoint plotted.</a:t>
            </a:r>
            <a:endParaRPr lang="en-US" sz="1250" dirty="0"/>
          </a:p>
        </p:txBody>
      </p:sp>
      <p:sp>
        <p:nvSpPr>
          <p:cNvPr id="26" name="Shape 23"/>
          <p:cNvSpPr/>
          <p:nvPr/>
        </p:nvSpPr>
        <p:spPr>
          <a:xfrm>
            <a:off x="6804965" y="4012387"/>
            <a:ext cx="4839919" cy="932688"/>
          </a:xfrm>
          <a:prstGeom prst="roundRect">
            <a:avLst>
              <a:gd name="adj" fmla="val 5882"/>
            </a:avLst>
          </a:prstGeom>
          <a:solidFill>
            <a:srgbClr val="E4E6EB"/>
          </a:solidFill>
          <a:ln/>
        </p:spPr>
      </p:sp>
      <p:sp>
        <p:nvSpPr>
          <p:cNvPr id="27" name="Shape 24"/>
          <p:cNvSpPr/>
          <p:nvPr/>
        </p:nvSpPr>
        <p:spPr>
          <a:xfrm>
            <a:off x="6784848" y="3986784"/>
            <a:ext cx="4839919" cy="932688"/>
          </a:xfrm>
          <a:prstGeom prst="roundRect">
            <a:avLst>
              <a:gd name="adj" fmla="val 5882"/>
            </a:avLst>
          </a:prstGeom>
          <a:solidFill>
            <a:srgbClr val="F6E6E3"/>
          </a:solidFill>
          <a:ln w="9525">
            <a:solidFill>
              <a:srgbClr val="D9DCE3"/>
            </a:solidFill>
            <a:prstDash val="solid"/>
          </a:ln>
        </p:spPr>
      </p:sp>
      <p:sp>
        <p:nvSpPr>
          <p:cNvPr id="28" name="Shape 25"/>
          <p:cNvSpPr/>
          <p:nvPr/>
        </p:nvSpPr>
        <p:spPr>
          <a:xfrm>
            <a:off x="6784848" y="4041648"/>
            <a:ext cx="41148" cy="822960"/>
          </a:xfrm>
          <a:prstGeom prst="rect">
            <a:avLst/>
          </a:prstGeom>
          <a:solidFill>
            <a:srgbClr val="A83A30"/>
          </a:solidFill>
          <a:ln/>
        </p:spPr>
      </p:sp>
      <p:sp>
        <p:nvSpPr>
          <p:cNvPr id="29" name="Text 26"/>
          <p:cNvSpPr txBox="1"/>
          <p:nvPr/>
        </p:nvSpPr>
        <p:spPr>
          <a:xfrm>
            <a:off x="6986016" y="3986784"/>
            <a:ext cx="4437583" cy="932688"/>
          </a:xfrm>
          <a:prstGeom prst="rect">
            <a:avLst/>
          </a:prstGeom>
          <a:noFill/>
          <a:ln/>
        </p:spPr>
        <p:txBody>
          <a:bodyPr wrap="square" lIns="0" tIns="0" rIns="0" bIns="0" rtlCol="0" anchor="ctr"/>
          <a:lstStyle/>
          <a:p>
            <a:pPr indent="0" marL="0">
              <a:buNone/>
            </a:pPr>
            <a:r>
              <a:rPr lang="en-US" sz="1550" b="1" dirty="0">
                <a:solidFill>
                  <a:srgbClr val="A83A30"/>
                </a:solidFill>
                <a:latin typeface="Calibri" pitchFamily="34" charset="0"/>
                <a:ea typeface="Calibri" pitchFamily="34" charset="-122"/>
                <a:cs typeface="Calibri" pitchFamily="34" charset="-120"/>
              </a:rPr>
              <a:t>40.5 points still wrong  </a:t>
            </a:r>
            <a:pPr indent="0" marL="0">
              <a:buNone/>
            </a:pPr>
            <a:r>
              <a:rPr lang="en-US" sz="1550" dirty="0">
                <a:solidFill>
                  <a:srgbClr val="1B202A"/>
                </a:solidFill>
                <a:latin typeface="Calibri" pitchFamily="34" charset="0"/>
                <a:ea typeface="Calibri" pitchFamily="34" charset="-122"/>
                <a:cs typeface="Calibri" pitchFamily="34" charset="-120"/>
              </a:rPr>
              <a:t>— misattributes 4 of 10 steps; cannot see silent failures at all.</a:t>
            </a:r>
            <a:endParaRPr lang="en-US" sz="1550" dirty="0"/>
          </a:p>
        </p:txBody>
      </p:sp>
      <p:sp>
        <p:nvSpPr>
          <p:cNvPr id="30" name="Shape 27"/>
          <p:cNvSpPr/>
          <p:nvPr/>
        </p:nvSpPr>
        <p:spPr>
          <a:xfrm>
            <a:off x="6804965" y="5054803"/>
            <a:ext cx="4839919" cy="896112"/>
          </a:xfrm>
          <a:prstGeom prst="roundRect">
            <a:avLst>
              <a:gd name="adj" fmla="val 6122"/>
            </a:avLst>
          </a:prstGeom>
          <a:solidFill>
            <a:srgbClr val="E4E6EB"/>
          </a:solidFill>
          <a:ln/>
        </p:spPr>
      </p:sp>
      <p:sp>
        <p:nvSpPr>
          <p:cNvPr id="31" name="Shape 28"/>
          <p:cNvSpPr/>
          <p:nvPr/>
        </p:nvSpPr>
        <p:spPr>
          <a:xfrm>
            <a:off x="6784848" y="5029200"/>
            <a:ext cx="4839919" cy="896112"/>
          </a:xfrm>
          <a:prstGeom prst="roundRect">
            <a:avLst>
              <a:gd name="adj" fmla="val 6122"/>
            </a:avLst>
          </a:prstGeom>
          <a:solidFill>
            <a:srgbClr val="F1F2F5"/>
          </a:solidFill>
          <a:ln w="9525">
            <a:solidFill>
              <a:srgbClr val="D9DCE3"/>
            </a:solidFill>
            <a:prstDash val="solid"/>
          </a:ln>
        </p:spPr>
      </p:sp>
      <p:sp>
        <p:nvSpPr>
          <p:cNvPr id="32" name="Text 29"/>
          <p:cNvSpPr txBox="1"/>
          <p:nvPr/>
        </p:nvSpPr>
        <p:spPr>
          <a:xfrm>
            <a:off x="6986016" y="5138928"/>
            <a:ext cx="4437583" cy="256032"/>
          </a:xfrm>
          <a:prstGeom prst="rect">
            <a:avLst/>
          </a:prstGeom>
          <a:noFill/>
          <a:ln/>
        </p:spPr>
        <p:txBody>
          <a:bodyPr wrap="square" lIns="0" tIns="0" rIns="0" bIns="0" rtlCol="0" anchor="ctr"/>
          <a:lstStyle/>
          <a:p>
            <a:pPr indent="0" marL="0">
              <a:buNone/>
            </a:pPr>
            <a:r>
              <a:rPr lang="en-US" sz="1400" b="1" spc="100" kern="0" dirty="0">
                <a:solidFill>
                  <a:srgbClr val="596273"/>
                </a:solidFill>
                <a:latin typeface="Consolas" pitchFamily="34" charset="0"/>
                <a:ea typeface="Consolas" pitchFamily="34" charset="-122"/>
                <a:cs typeface="Consolas" pitchFamily="34" charset="-120"/>
              </a:rPr>
              <a:t>BACKBONE-CONFOUND CAVEAT</a:t>
            </a:r>
            <a:endParaRPr lang="en-US" sz="1400" dirty="0"/>
          </a:p>
        </p:txBody>
      </p:sp>
      <p:sp>
        <p:nvSpPr>
          <p:cNvPr id="33" name="Text 30"/>
          <p:cNvSpPr txBox="1"/>
          <p:nvPr/>
        </p:nvSpPr>
        <p:spPr>
          <a:xfrm>
            <a:off x="6986016" y="5394960"/>
            <a:ext cx="4437583" cy="475488"/>
          </a:xfrm>
          <a:prstGeom prst="rect">
            <a:avLst/>
          </a:prstGeom>
          <a:noFill/>
          <a:ln/>
        </p:spPr>
        <p:txBody>
          <a:bodyPr wrap="square" lIns="0" tIns="0" rIns="0" bIns="0" rtlCol="0" anchor="ctr"/>
          <a:lstStyle/>
          <a:p>
            <a:pPr indent="0" marL="0">
              <a:buNone/>
            </a:pPr>
            <a:r>
              <a:rPr lang="en-US" sz="1500" dirty="0">
                <a:solidFill>
                  <a:srgbClr val="1B202A"/>
                </a:solidFill>
                <a:latin typeface="Calibri" pitchFamily="34" charset="0"/>
                <a:ea typeface="Calibri" pitchFamily="34" charset="-122"/>
                <a:cs typeface="Calibri" pitchFamily="34" charset="-120"/>
              </a:rPr>
              <a:t>Cross-paper backbones differ — controlled within our own experiments.</a:t>
            </a:r>
            <a:endParaRPr lang="en-US" sz="15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Complex Computing Challenge</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5 / 10</a:t>
            </a:r>
            <a:endParaRPr lang="en-US" sz="1050" dirty="0"/>
          </a:p>
        </p:txBody>
      </p:sp>
      <p:sp>
        <p:nvSpPr>
          <p:cNvPr id="10" name="Shape 8"/>
          <p:cNvSpPr/>
          <p:nvPr/>
        </p:nvSpPr>
        <p:spPr>
          <a:xfrm>
            <a:off x="587045" y="1909267"/>
            <a:ext cx="3218688" cy="1170432"/>
          </a:xfrm>
          <a:prstGeom prst="roundRect">
            <a:avLst>
              <a:gd name="adj" fmla="val 4688"/>
            </a:avLst>
          </a:prstGeom>
          <a:solidFill>
            <a:srgbClr val="E4E6EB"/>
          </a:solidFill>
          <a:ln/>
        </p:spPr>
      </p:sp>
      <p:sp>
        <p:nvSpPr>
          <p:cNvPr id="11" name="Shape 9"/>
          <p:cNvSpPr/>
          <p:nvPr/>
        </p:nvSpPr>
        <p:spPr>
          <a:xfrm>
            <a:off x="566928" y="1883664"/>
            <a:ext cx="3218688" cy="1170432"/>
          </a:xfrm>
          <a:prstGeom prst="roundRect">
            <a:avLst>
              <a:gd name="adj" fmla="val 4688"/>
            </a:avLst>
          </a:prstGeom>
          <a:solidFill>
            <a:srgbClr val="E6F1EB"/>
          </a:solidFill>
          <a:ln w="9525">
            <a:solidFill>
              <a:srgbClr val="D9DCE3"/>
            </a:solidFill>
            <a:prstDash val="solid"/>
          </a:ln>
        </p:spPr>
      </p:sp>
      <p:sp>
        <p:nvSpPr>
          <p:cNvPr id="12" name="Shape 10"/>
          <p:cNvSpPr/>
          <p:nvPr/>
        </p:nvSpPr>
        <p:spPr>
          <a:xfrm>
            <a:off x="566928" y="1938528"/>
            <a:ext cx="41148" cy="1060704"/>
          </a:xfrm>
          <a:prstGeom prst="rect">
            <a:avLst/>
          </a:prstGeom>
          <a:solidFill>
            <a:srgbClr val="1E7A52"/>
          </a:solidFill>
          <a:ln/>
        </p:spPr>
      </p:sp>
      <p:sp>
        <p:nvSpPr>
          <p:cNvPr id="13" name="Shape 11"/>
          <p:cNvSpPr/>
          <p:nvPr/>
        </p:nvSpPr>
        <p:spPr>
          <a:xfrm>
            <a:off x="713232" y="2002536"/>
            <a:ext cx="274320" cy="274320"/>
          </a:xfrm>
          <a:prstGeom prst="ellipse">
            <a:avLst/>
          </a:prstGeom>
          <a:solidFill>
            <a:srgbClr val="1E7A52"/>
          </a:solidFill>
          <a:ln/>
        </p:spPr>
      </p:sp>
      <p:sp>
        <p:nvSpPr>
          <p:cNvPr id="14" name="Text 12"/>
          <p:cNvSpPr txBox="1"/>
          <p:nvPr/>
        </p:nvSpPr>
        <p:spPr>
          <a:xfrm>
            <a:off x="713232" y="2002536"/>
            <a:ext cx="274320" cy="274320"/>
          </a:xfrm>
          <a:prstGeom prst="rect">
            <a:avLst/>
          </a:prstGeom>
          <a:noFill/>
          <a:ln/>
        </p:spPr>
        <p:txBody>
          <a:bodyPr wrap="square" lIns="0" tIns="0" rIns="0" bIns="0" rtlCol="0" anchor="ctr"/>
          <a:lstStyle/>
          <a:p>
            <a:pPr algn="ctr" indent="0" marL="0">
              <a:buNone/>
            </a:pPr>
            <a:r>
              <a:rPr lang="en-US" sz="1450" b="1" dirty="0">
                <a:solidFill>
                  <a:srgbClr val="F5F6F8"/>
                </a:solidFill>
                <a:latin typeface="Georgia" pitchFamily="34" charset="0"/>
                <a:ea typeface="Georgia" pitchFamily="34" charset="-122"/>
                <a:cs typeface="Georgia" pitchFamily="34" charset="-120"/>
              </a:rPr>
              <a:t>1</a:t>
            </a:r>
            <a:endParaRPr lang="en-US" sz="1450" dirty="0"/>
          </a:p>
        </p:txBody>
      </p:sp>
      <p:sp>
        <p:nvSpPr>
          <p:cNvPr id="15" name="Text 13"/>
          <p:cNvSpPr txBox="1"/>
          <p:nvPr/>
        </p:nvSpPr>
        <p:spPr>
          <a:xfrm>
            <a:off x="1078992" y="1984248"/>
            <a:ext cx="2596896" cy="329184"/>
          </a:xfrm>
          <a:prstGeom prst="rect">
            <a:avLst/>
          </a:prstGeom>
          <a:noFill/>
          <a:ln/>
        </p:spPr>
        <p:txBody>
          <a:bodyPr wrap="square" lIns="0" tIns="0" rIns="0" bIns="0" rtlCol="0" anchor="ctr"/>
          <a:lstStyle/>
          <a:p>
            <a:pPr indent="0" marL="0">
              <a:buNone/>
            </a:pPr>
            <a:r>
              <a:rPr lang="en-US" sz="1400" b="1" dirty="0">
                <a:solidFill>
                  <a:srgbClr val="1B202A"/>
                </a:solidFill>
                <a:latin typeface="Georgia" pitchFamily="34" charset="0"/>
                <a:ea typeface="Georgia" pitchFamily="34" charset="-122"/>
                <a:cs typeface="Georgia" pitchFamily="34" charset="-120"/>
              </a:rPr>
              <a:t>Conflicting requirements</a:t>
            </a:r>
            <a:endParaRPr lang="en-US" sz="1400" dirty="0"/>
          </a:p>
        </p:txBody>
      </p:sp>
      <p:sp>
        <p:nvSpPr>
          <p:cNvPr id="16" name="Text 14"/>
          <p:cNvSpPr txBox="1"/>
          <p:nvPr/>
        </p:nvSpPr>
        <p:spPr>
          <a:xfrm>
            <a:off x="713232" y="2322576"/>
            <a:ext cx="2944368" cy="676656"/>
          </a:xfrm>
          <a:prstGeom prst="rect">
            <a:avLst/>
          </a:prstGeom>
          <a:noFill/>
          <a:ln/>
        </p:spPr>
        <p:txBody>
          <a:bodyPr wrap="square" lIns="0" tIns="0" rIns="0" bIns="0" rtlCol="0" anchor="ctr"/>
          <a:lstStyle/>
          <a:p>
            <a:pPr indent="0" marL="0">
              <a:buNone/>
            </a:pPr>
            <a:r>
              <a:rPr lang="en-US" sz="1150" dirty="0">
                <a:solidFill>
                  <a:srgbClr val="596273"/>
                </a:solidFill>
                <a:latin typeface="Calibri" pitchFamily="34" charset="0"/>
                <a:ea typeface="Calibri" pitchFamily="34" charset="-122"/>
                <a:cs typeface="Calibri" pitchFamily="34" charset="-120"/>
              </a:rPr>
              <a:t>Depth vs. latency; privacy vs. completeness</a:t>
            </a:r>
            <a:endParaRPr lang="en-US" sz="1150" dirty="0"/>
          </a:p>
        </p:txBody>
      </p:sp>
      <p:sp>
        <p:nvSpPr>
          <p:cNvPr id="17" name="Shape 15"/>
          <p:cNvSpPr/>
          <p:nvPr/>
        </p:nvSpPr>
        <p:spPr>
          <a:xfrm>
            <a:off x="3970325" y="1909267"/>
            <a:ext cx="3218688" cy="1170432"/>
          </a:xfrm>
          <a:prstGeom prst="roundRect">
            <a:avLst>
              <a:gd name="adj" fmla="val 4688"/>
            </a:avLst>
          </a:prstGeom>
          <a:solidFill>
            <a:srgbClr val="E4E6EB"/>
          </a:solidFill>
          <a:ln/>
        </p:spPr>
      </p:sp>
      <p:sp>
        <p:nvSpPr>
          <p:cNvPr id="18" name="Shape 16"/>
          <p:cNvSpPr/>
          <p:nvPr/>
        </p:nvSpPr>
        <p:spPr>
          <a:xfrm>
            <a:off x="3950208" y="1883664"/>
            <a:ext cx="3218688" cy="1170432"/>
          </a:xfrm>
          <a:prstGeom prst="roundRect">
            <a:avLst>
              <a:gd name="adj" fmla="val 4688"/>
            </a:avLst>
          </a:prstGeom>
          <a:solidFill>
            <a:srgbClr val="E6F1EB"/>
          </a:solidFill>
          <a:ln w="9525">
            <a:solidFill>
              <a:srgbClr val="D9DCE3"/>
            </a:solidFill>
            <a:prstDash val="solid"/>
          </a:ln>
        </p:spPr>
      </p:sp>
      <p:sp>
        <p:nvSpPr>
          <p:cNvPr id="19" name="Shape 17"/>
          <p:cNvSpPr/>
          <p:nvPr/>
        </p:nvSpPr>
        <p:spPr>
          <a:xfrm>
            <a:off x="3950208" y="1938528"/>
            <a:ext cx="41148" cy="1060704"/>
          </a:xfrm>
          <a:prstGeom prst="rect">
            <a:avLst/>
          </a:prstGeom>
          <a:solidFill>
            <a:srgbClr val="1E7A52"/>
          </a:solidFill>
          <a:ln/>
        </p:spPr>
      </p:sp>
      <p:sp>
        <p:nvSpPr>
          <p:cNvPr id="20" name="Shape 18"/>
          <p:cNvSpPr/>
          <p:nvPr/>
        </p:nvSpPr>
        <p:spPr>
          <a:xfrm>
            <a:off x="4096512" y="2002536"/>
            <a:ext cx="274320" cy="274320"/>
          </a:xfrm>
          <a:prstGeom prst="ellipse">
            <a:avLst/>
          </a:prstGeom>
          <a:solidFill>
            <a:srgbClr val="1E7A52"/>
          </a:solidFill>
          <a:ln/>
        </p:spPr>
      </p:sp>
      <p:sp>
        <p:nvSpPr>
          <p:cNvPr id="21" name="Text 19"/>
          <p:cNvSpPr txBox="1"/>
          <p:nvPr/>
        </p:nvSpPr>
        <p:spPr>
          <a:xfrm>
            <a:off x="4096512" y="2002536"/>
            <a:ext cx="274320" cy="274320"/>
          </a:xfrm>
          <a:prstGeom prst="rect">
            <a:avLst/>
          </a:prstGeom>
          <a:noFill/>
          <a:ln/>
        </p:spPr>
        <p:txBody>
          <a:bodyPr wrap="square" lIns="0" tIns="0" rIns="0" bIns="0" rtlCol="0" anchor="ctr"/>
          <a:lstStyle/>
          <a:p>
            <a:pPr algn="ctr" indent="0" marL="0">
              <a:buNone/>
            </a:pPr>
            <a:r>
              <a:rPr lang="en-US" sz="1450" b="1" dirty="0">
                <a:solidFill>
                  <a:srgbClr val="F5F6F8"/>
                </a:solidFill>
                <a:latin typeface="Georgia" pitchFamily="34" charset="0"/>
                <a:ea typeface="Georgia" pitchFamily="34" charset="-122"/>
                <a:cs typeface="Georgia" pitchFamily="34" charset="-120"/>
              </a:rPr>
              <a:t>2</a:t>
            </a:r>
            <a:endParaRPr lang="en-US" sz="1450" dirty="0"/>
          </a:p>
        </p:txBody>
      </p:sp>
      <p:sp>
        <p:nvSpPr>
          <p:cNvPr id="22" name="Text 20"/>
          <p:cNvSpPr txBox="1"/>
          <p:nvPr/>
        </p:nvSpPr>
        <p:spPr>
          <a:xfrm>
            <a:off x="4462272" y="1984248"/>
            <a:ext cx="2596896" cy="329184"/>
          </a:xfrm>
          <a:prstGeom prst="rect">
            <a:avLst/>
          </a:prstGeom>
          <a:noFill/>
          <a:ln/>
        </p:spPr>
        <p:txBody>
          <a:bodyPr wrap="square" lIns="0" tIns="0" rIns="0" bIns="0" rtlCol="0" anchor="ctr"/>
          <a:lstStyle/>
          <a:p>
            <a:pPr indent="0" marL="0">
              <a:buNone/>
            </a:pPr>
            <a:r>
              <a:rPr lang="en-US" sz="1400" b="1" dirty="0">
                <a:solidFill>
                  <a:srgbClr val="1B202A"/>
                </a:solidFill>
                <a:latin typeface="Georgia" pitchFamily="34" charset="0"/>
                <a:ea typeface="Georgia" pitchFamily="34" charset="-122"/>
                <a:cs typeface="Georgia" pitchFamily="34" charset="-120"/>
              </a:rPr>
              <a:t>No obvious solution</a:t>
            </a:r>
            <a:endParaRPr lang="en-US" sz="1400" dirty="0"/>
          </a:p>
        </p:txBody>
      </p:sp>
      <p:sp>
        <p:nvSpPr>
          <p:cNvPr id="23" name="Text 21"/>
          <p:cNvSpPr txBox="1"/>
          <p:nvPr/>
        </p:nvSpPr>
        <p:spPr>
          <a:xfrm>
            <a:off x="4096512" y="2322576"/>
            <a:ext cx="2944368" cy="676656"/>
          </a:xfrm>
          <a:prstGeom prst="rect">
            <a:avLst/>
          </a:prstGeom>
          <a:noFill/>
          <a:ln/>
        </p:spPr>
        <p:txBody>
          <a:bodyPr wrap="square" lIns="0" tIns="0" rIns="0" bIns="0" rtlCol="0" anchor="ctr"/>
          <a:lstStyle/>
          <a:p>
            <a:pPr indent="0" marL="0">
              <a:buNone/>
            </a:pPr>
            <a:r>
              <a:rPr lang="en-US" sz="1150" dirty="0">
                <a:solidFill>
                  <a:srgbClr val="596273"/>
                </a:solidFill>
                <a:latin typeface="Calibri" pitchFamily="34" charset="0"/>
                <a:ea typeface="Calibri" pitchFamily="34" charset="-122"/>
                <a:cs typeface="Calibri" pitchFamily="34" charset="-120"/>
              </a:rPr>
              <a:t>Best published: 59.5% after 15 months, 7 papers</a:t>
            </a:r>
            <a:endParaRPr lang="en-US" sz="1150" dirty="0"/>
          </a:p>
        </p:txBody>
      </p:sp>
      <p:sp>
        <p:nvSpPr>
          <p:cNvPr id="24" name="Shape 22"/>
          <p:cNvSpPr/>
          <p:nvPr/>
        </p:nvSpPr>
        <p:spPr>
          <a:xfrm>
            <a:off x="587045" y="3189427"/>
            <a:ext cx="3218688" cy="1170432"/>
          </a:xfrm>
          <a:prstGeom prst="roundRect">
            <a:avLst>
              <a:gd name="adj" fmla="val 4688"/>
            </a:avLst>
          </a:prstGeom>
          <a:solidFill>
            <a:srgbClr val="E4E6EB"/>
          </a:solidFill>
          <a:ln/>
        </p:spPr>
      </p:sp>
      <p:sp>
        <p:nvSpPr>
          <p:cNvPr id="25" name="Shape 23"/>
          <p:cNvSpPr/>
          <p:nvPr/>
        </p:nvSpPr>
        <p:spPr>
          <a:xfrm>
            <a:off x="566928" y="3163824"/>
            <a:ext cx="3218688" cy="1170432"/>
          </a:xfrm>
          <a:prstGeom prst="roundRect">
            <a:avLst>
              <a:gd name="adj" fmla="val 4688"/>
            </a:avLst>
          </a:prstGeom>
          <a:solidFill>
            <a:srgbClr val="E6F1EB"/>
          </a:solidFill>
          <a:ln w="9525">
            <a:solidFill>
              <a:srgbClr val="D9DCE3"/>
            </a:solidFill>
            <a:prstDash val="solid"/>
          </a:ln>
        </p:spPr>
      </p:sp>
      <p:sp>
        <p:nvSpPr>
          <p:cNvPr id="26" name="Shape 24"/>
          <p:cNvSpPr/>
          <p:nvPr/>
        </p:nvSpPr>
        <p:spPr>
          <a:xfrm>
            <a:off x="566928" y="3218688"/>
            <a:ext cx="41148" cy="1060704"/>
          </a:xfrm>
          <a:prstGeom prst="rect">
            <a:avLst/>
          </a:prstGeom>
          <a:solidFill>
            <a:srgbClr val="1E7A52"/>
          </a:solidFill>
          <a:ln/>
        </p:spPr>
      </p:sp>
      <p:sp>
        <p:nvSpPr>
          <p:cNvPr id="27" name="Shape 25"/>
          <p:cNvSpPr/>
          <p:nvPr/>
        </p:nvSpPr>
        <p:spPr>
          <a:xfrm>
            <a:off x="713232" y="3282696"/>
            <a:ext cx="274320" cy="274320"/>
          </a:xfrm>
          <a:prstGeom prst="ellipse">
            <a:avLst/>
          </a:prstGeom>
          <a:solidFill>
            <a:srgbClr val="1E7A52"/>
          </a:solidFill>
          <a:ln/>
        </p:spPr>
      </p:sp>
      <p:sp>
        <p:nvSpPr>
          <p:cNvPr id="28" name="Text 26"/>
          <p:cNvSpPr txBox="1"/>
          <p:nvPr/>
        </p:nvSpPr>
        <p:spPr>
          <a:xfrm>
            <a:off x="713232" y="3282696"/>
            <a:ext cx="274320" cy="274320"/>
          </a:xfrm>
          <a:prstGeom prst="rect">
            <a:avLst/>
          </a:prstGeom>
          <a:noFill/>
          <a:ln/>
        </p:spPr>
        <p:txBody>
          <a:bodyPr wrap="square" lIns="0" tIns="0" rIns="0" bIns="0" rtlCol="0" anchor="ctr"/>
          <a:lstStyle/>
          <a:p>
            <a:pPr algn="ctr" indent="0" marL="0">
              <a:buNone/>
            </a:pPr>
            <a:r>
              <a:rPr lang="en-US" sz="1450" b="1" dirty="0">
                <a:solidFill>
                  <a:srgbClr val="F5F6F8"/>
                </a:solidFill>
                <a:latin typeface="Georgia" pitchFamily="34" charset="0"/>
                <a:ea typeface="Georgia" pitchFamily="34" charset="-122"/>
                <a:cs typeface="Georgia" pitchFamily="34" charset="-120"/>
              </a:rPr>
              <a:t>3</a:t>
            </a:r>
            <a:endParaRPr lang="en-US" sz="1450" dirty="0"/>
          </a:p>
        </p:txBody>
      </p:sp>
      <p:sp>
        <p:nvSpPr>
          <p:cNvPr id="29" name="Text 27"/>
          <p:cNvSpPr txBox="1"/>
          <p:nvPr/>
        </p:nvSpPr>
        <p:spPr>
          <a:xfrm>
            <a:off x="1078992" y="3264408"/>
            <a:ext cx="2596896" cy="329184"/>
          </a:xfrm>
          <a:prstGeom prst="rect">
            <a:avLst/>
          </a:prstGeom>
          <a:noFill/>
          <a:ln/>
        </p:spPr>
        <p:txBody>
          <a:bodyPr wrap="square" lIns="0" tIns="0" rIns="0" bIns="0" rtlCol="0" anchor="ctr"/>
          <a:lstStyle/>
          <a:p>
            <a:pPr indent="0" marL="0">
              <a:buNone/>
            </a:pPr>
            <a:r>
              <a:rPr lang="en-US" sz="1400" b="1" dirty="0">
                <a:solidFill>
                  <a:srgbClr val="1B202A"/>
                </a:solidFill>
                <a:latin typeface="Georgia" pitchFamily="34" charset="0"/>
                <a:ea typeface="Georgia" pitchFamily="34" charset="-122"/>
                <a:cs typeface="Georgia" pitchFamily="34" charset="-120"/>
              </a:rPr>
              <a:t>Depth of knowledge</a:t>
            </a:r>
            <a:endParaRPr lang="en-US" sz="1400" dirty="0"/>
          </a:p>
        </p:txBody>
      </p:sp>
      <p:sp>
        <p:nvSpPr>
          <p:cNvPr id="30" name="Text 28"/>
          <p:cNvSpPr txBox="1"/>
          <p:nvPr/>
        </p:nvSpPr>
        <p:spPr>
          <a:xfrm>
            <a:off x="713232" y="3602736"/>
            <a:ext cx="2944368" cy="676656"/>
          </a:xfrm>
          <a:prstGeom prst="rect">
            <a:avLst/>
          </a:prstGeom>
          <a:noFill/>
          <a:ln/>
        </p:spPr>
        <p:txBody>
          <a:bodyPr wrap="square" lIns="0" tIns="0" rIns="0" bIns="0" rtlCol="0" anchor="ctr"/>
          <a:lstStyle/>
          <a:p>
            <a:pPr indent="0" marL="0">
              <a:buNone/>
            </a:pPr>
            <a:r>
              <a:rPr lang="en-US" sz="1150" dirty="0">
                <a:solidFill>
                  <a:srgbClr val="596273"/>
                </a:solidFill>
                <a:latin typeface="Calibri" pitchFamily="34" charset="0"/>
                <a:ea typeface="Calibri" pitchFamily="34" charset="-122"/>
                <a:cs typeface="Calibri" pitchFamily="34" charset="-120"/>
              </a:rPr>
              <a:t>Graph modeling, causal reasoning, tracing</a:t>
            </a:r>
            <a:endParaRPr lang="en-US" sz="1150" dirty="0"/>
          </a:p>
        </p:txBody>
      </p:sp>
      <p:sp>
        <p:nvSpPr>
          <p:cNvPr id="31" name="Shape 29"/>
          <p:cNvSpPr/>
          <p:nvPr/>
        </p:nvSpPr>
        <p:spPr>
          <a:xfrm>
            <a:off x="3970325" y="3189427"/>
            <a:ext cx="3218688" cy="1170432"/>
          </a:xfrm>
          <a:prstGeom prst="roundRect">
            <a:avLst>
              <a:gd name="adj" fmla="val 4688"/>
            </a:avLst>
          </a:prstGeom>
          <a:solidFill>
            <a:srgbClr val="E4E6EB"/>
          </a:solidFill>
          <a:ln/>
        </p:spPr>
      </p:sp>
      <p:sp>
        <p:nvSpPr>
          <p:cNvPr id="32" name="Shape 30"/>
          <p:cNvSpPr/>
          <p:nvPr/>
        </p:nvSpPr>
        <p:spPr>
          <a:xfrm>
            <a:off x="3950208" y="3163824"/>
            <a:ext cx="3218688" cy="1170432"/>
          </a:xfrm>
          <a:prstGeom prst="roundRect">
            <a:avLst>
              <a:gd name="adj" fmla="val 4688"/>
            </a:avLst>
          </a:prstGeom>
          <a:solidFill>
            <a:srgbClr val="F7EFDC"/>
          </a:solidFill>
          <a:ln w="9525">
            <a:solidFill>
              <a:srgbClr val="D9DCE3"/>
            </a:solidFill>
            <a:prstDash val="solid"/>
          </a:ln>
        </p:spPr>
      </p:sp>
      <p:sp>
        <p:nvSpPr>
          <p:cNvPr id="33" name="Shape 31"/>
          <p:cNvSpPr/>
          <p:nvPr/>
        </p:nvSpPr>
        <p:spPr>
          <a:xfrm>
            <a:off x="3950208" y="3218688"/>
            <a:ext cx="41148" cy="1060704"/>
          </a:xfrm>
          <a:prstGeom prst="rect">
            <a:avLst/>
          </a:prstGeom>
          <a:solidFill>
            <a:srgbClr val="A8760F"/>
          </a:solidFill>
          <a:ln/>
        </p:spPr>
      </p:sp>
      <p:sp>
        <p:nvSpPr>
          <p:cNvPr id="34" name="Shape 32"/>
          <p:cNvSpPr/>
          <p:nvPr/>
        </p:nvSpPr>
        <p:spPr>
          <a:xfrm>
            <a:off x="4096512" y="3282696"/>
            <a:ext cx="274320" cy="274320"/>
          </a:xfrm>
          <a:prstGeom prst="ellipse">
            <a:avLst/>
          </a:prstGeom>
          <a:solidFill>
            <a:srgbClr val="A8760F"/>
          </a:solidFill>
          <a:ln/>
        </p:spPr>
      </p:sp>
      <p:sp>
        <p:nvSpPr>
          <p:cNvPr id="35" name="Text 33"/>
          <p:cNvSpPr txBox="1"/>
          <p:nvPr/>
        </p:nvSpPr>
        <p:spPr>
          <a:xfrm>
            <a:off x="4096512" y="3282696"/>
            <a:ext cx="274320" cy="274320"/>
          </a:xfrm>
          <a:prstGeom prst="rect">
            <a:avLst/>
          </a:prstGeom>
          <a:noFill/>
          <a:ln/>
        </p:spPr>
        <p:txBody>
          <a:bodyPr wrap="square" lIns="0" tIns="0" rIns="0" bIns="0" rtlCol="0" anchor="ctr"/>
          <a:lstStyle/>
          <a:p>
            <a:pPr algn="ctr" indent="0" marL="0">
              <a:buNone/>
            </a:pPr>
            <a:r>
              <a:rPr lang="en-US" sz="1450" b="1" dirty="0">
                <a:solidFill>
                  <a:srgbClr val="F5F6F8"/>
                </a:solidFill>
                <a:latin typeface="Georgia" pitchFamily="34" charset="0"/>
                <a:ea typeface="Georgia" pitchFamily="34" charset="-122"/>
                <a:cs typeface="Georgia" pitchFamily="34" charset="-120"/>
              </a:rPr>
              <a:t>4</a:t>
            </a:r>
            <a:endParaRPr lang="en-US" sz="1450" dirty="0"/>
          </a:p>
        </p:txBody>
      </p:sp>
      <p:sp>
        <p:nvSpPr>
          <p:cNvPr id="36" name="Text 34"/>
          <p:cNvSpPr txBox="1"/>
          <p:nvPr/>
        </p:nvSpPr>
        <p:spPr>
          <a:xfrm>
            <a:off x="4462272" y="3264408"/>
            <a:ext cx="2596896" cy="329184"/>
          </a:xfrm>
          <a:prstGeom prst="rect">
            <a:avLst/>
          </a:prstGeom>
          <a:noFill/>
          <a:ln/>
        </p:spPr>
        <p:txBody>
          <a:bodyPr wrap="square" lIns="0" tIns="0" rIns="0" bIns="0" rtlCol="0" anchor="ctr"/>
          <a:lstStyle/>
          <a:p>
            <a:pPr indent="0" marL="0">
              <a:buNone/>
            </a:pPr>
            <a:r>
              <a:rPr lang="en-US" sz="1400" b="1" dirty="0">
                <a:solidFill>
                  <a:srgbClr val="1B202A"/>
                </a:solidFill>
                <a:latin typeface="Georgia" pitchFamily="34" charset="0"/>
                <a:ea typeface="Georgia" pitchFamily="34" charset="-122"/>
                <a:cs typeface="Georgia" pitchFamily="34" charset="-120"/>
              </a:rPr>
              <a:t>Diverse stakeholders</a:t>
            </a:r>
            <a:endParaRPr lang="en-US" sz="1400" dirty="0"/>
          </a:p>
        </p:txBody>
      </p:sp>
      <p:sp>
        <p:nvSpPr>
          <p:cNvPr id="37" name="Text 35"/>
          <p:cNvSpPr txBox="1"/>
          <p:nvPr/>
        </p:nvSpPr>
        <p:spPr>
          <a:xfrm>
            <a:off x="4096512" y="3602736"/>
            <a:ext cx="2944368" cy="676656"/>
          </a:xfrm>
          <a:prstGeom prst="rect">
            <a:avLst/>
          </a:prstGeom>
          <a:noFill/>
          <a:ln/>
        </p:spPr>
        <p:txBody>
          <a:bodyPr wrap="square" lIns="0" tIns="0" rIns="0" bIns="0" rtlCol="0" anchor="ctr"/>
          <a:lstStyle/>
          <a:p>
            <a:pPr indent="0" marL="0">
              <a:buNone/>
            </a:pPr>
            <a:r>
              <a:rPr lang="en-US" sz="1150" dirty="0">
                <a:solidFill>
                  <a:srgbClr val="596273"/>
                </a:solidFill>
                <a:latin typeface="Calibri" pitchFamily="34" charset="0"/>
                <a:ea typeface="Calibri" pitchFamily="34" charset="-122"/>
                <a:cs typeface="Calibri" pitchFamily="34" charset="-120"/>
              </a:rPr>
              <a:t>Named; live contact scheduled Mid-2</a:t>
            </a:r>
            <a:endParaRPr lang="en-US" sz="1150" dirty="0"/>
          </a:p>
        </p:txBody>
      </p:sp>
      <p:sp>
        <p:nvSpPr>
          <p:cNvPr id="38" name="Shape 36"/>
          <p:cNvSpPr/>
          <p:nvPr/>
        </p:nvSpPr>
        <p:spPr>
          <a:xfrm>
            <a:off x="587045" y="4469587"/>
            <a:ext cx="3218688" cy="1170432"/>
          </a:xfrm>
          <a:prstGeom prst="roundRect">
            <a:avLst>
              <a:gd name="adj" fmla="val 4688"/>
            </a:avLst>
          </a:prstGeom>
          <a:solidFill>
            <a:srgbClr val="E4E6EB"/>
          </a:solidFill>
          <a:ln/>
        </p:spPr>
      </p:sp>
      <p:sp>
        <p:nvSpPr>
          <p:cNvPr id="39" name="Shape 37"/>
          <p:cNvSpPr/>
          <p:nvPr/>
        </p:nvSpPr>
        <p:spPr>
          <a:xfrm>
            <a:off x="566928" y="4443984"/>
            <a:ext cx="3218688" cy="1170432"/>
          </a:xfrm>
          <a:prstGeom prst="roundRect">
            <a:avLst>
              <a:gd name="adj" fmla="val 4688"/>
            </a:avLst>
          </a:prstGeom>
          <a:solidFill>
            <a:srgbClr val="E6F1EB"/>
          </a:solidFill>
          <a:ln w="9525">
            <a:solidFill>
              <a:srgbClr val="D9DCE3"/>
            </a:solidFill>
            <a:prstDash val="solid"/>
          </a:ln>
        </p:spPr>
      </p:sp>
      <p:sp>
        <p:nvSpPr>
          <p:cNvPr id="40" name="Shape 38"/>
          <p:cNvSpPr/>
          <p:nvPr/>
        </p:nvSpPr>
        <p:spPr>
          <a:xfrm>
            <a:off x="566928" y="4498848"/>
            <a:ext cx="41148" cy="1060704"/>
          </a:xfrm>
          <a:prstGeom prst="rect">
            <a:avLst/>
          </a:prstGeom>
          <a:solidFill>
            <a:srgbClr val="1E7A52"/>
          </a:solidFill>
          <a:ln/>
        </p:spPr>
      </p:sp>
      <p:sp>
        <p:nvSpPr>
          <p:cNvPr id="41" name="Shape 39"/>
          <p:cNvSpPr/>
          <p:nvPr/>
        </p:nvSpPr>
        <p:spPr>
          <a:xfrm>
            <a:off x="713232" y="4562856"/>
            <a:ext cx="274320" cy="274320"/>
          </a:xfrm>
          <a:prstGeom prst="ellipse">
            <a:avLst/>
          </a:prstGeom>
          <a:solidFill>
            <a:srgbClr val="1E7A52"/>
          </a:solidFill>
          <a:ln/>
        </p:spPr>
      </p:sp>
      <p:sp>
        <p:nvSpPr>
          <p:cNvPr id="42" name="Text 40"/>
          <p:cNvSpPr txBox="1"/>
          <p:nvPr/>
        </p:nvSpPr>
        <p:spPr>
          <a:xfrm>
            <a:off x="713232" y="4562856"/>
            <a:ext cx="274320" cy="274320"/>
          </a:xfrm>
          <a:prstGeom prst="rect">
            <a:avLst/>
          </a:prstGeom>
          <a:noFill/>
          <a:ln/>
        </p:spPr>
        <p:txBody>
          <a:bodyPr wrap="square" lIns="0" tIns="0" rIns="0" bIns="0" rtlCol="0" anchor="ctr"/>
          <a:lstStyle/>
          <a:p>
            <a:pPr algn="ctr" indent="0" marL="0">
              <a:buNone/>
            </a:pPr>
            <a:r>
              <a:rPr lang="en-US" sz="1450" b="1" dirty="0">
                <a:solidFill>
                  <a:srgbClr val="F5F6F8"/>
                </a:solidFill>
                <a:latin typeface="Georgia" pitchFamily="34" charset="0"/>
                <a:ea typeface="Georgia" pitchFamily="34" charset="-122"/>
                <a:cs typeface="Georgia" pitchFamily="34" charset="-120"/>
              </a:rPr>
              <a:t>5</a:t>
            </a:r>
            <a:endParaRPr lang="en-US" sz="1450" dirty="0"/>
          </a:p>
        </p:txBody>
      </p:sp>
      <p:sp>
        <p:nvSpPr>
          <p:cNvPr id="43" name="Text 41"/>
          <p:cNvSpPr txBox="1"/>
          <p:nvPr/>
        </p:nvSpPr>
        <p:spPr>
          <a:xfrm>
            <a:off x="1078992" y="4544568"/>
            <a:ext cx="2596896" cy="329184"/>
          </a:xfrm>
          <a:prstGeom prst="rect">
            <a:avLst/>
          </a:prstGeom>
          <a:noFill/>
          <a:ln/>
        </p:spPr>
        <p:txBody>
          <a:bodyPr wrap="square" lIns="0" tIns="0" rIns="0" bIns="0" rtlCol="0" anchor="ctr"/>
          <a:lstStyle/>
          <a:p>
            <a:pPr indent="0" marL="0">
              <a:buNone/>
            </a:pPr>
            <a:r>
              <a:rPr lang="en-US" sz="1400" b="1" dirty="0">
                <a:solidFill>
                  <a:srgbClr val="1B202A"/>
                </a:solidFill>
                <a:latin typeface="Georgia" pitchFamily="34" charset="0"/>
                <a:ea typeface="Georgia" pitchFamily="34" charset="-122"/>
                <a:cs typeface="Georgia" pitchFamily="34" charset="-120"/>
              </a:rPr>
              <a:t>Significant consequences</a:t>
            </a:r>
            <a:endParaRPr lang="en-US" sz="1400" dirty="0"/>
          </a:p>
        </p:txBody>
      </p:sp>
      <p:sp>
        <p:nvSpPr>
          <p:cNvPr id="44" name="Text 42"/>
          <p:cNvSpPr txBox="1"/>
          <p:nvPr/>
        </p:nvSpPr>
        <p:spPr>
          <a:xfrm>
            <a:off x="713232" y="4882896"/>
            <a:ext cx="2944368" cy="676656"/>
          </a:xfrm>
          <a:prstGeom prst="rect">
            <a:avLst/>
          </a:prstGeom>
          <a:noFill/>
          <a:ln/>
        </p:spPr>
        <p:txBody>
          <a:bodyPr wrap="square" lIns="0" tIns="0" rIns="0" bIns="0" rtlCol="0" anchor="ctr"/>
          <a:lstStyle/>
          <a:p>
            <a:pPr indent="0" marL="0">
              <a:buNone/>
            </a:pPr>
            <a:r>
              <a:rPr lang="en-US" sz="1150" dirty="0">
                <a:solidFill>
                  <a:srgbClr val="596273"/>
                </a:solidFill>
                <a:latin typeface="Calibri" pitchFamily="34" charset="0"/>
                <a:ea typeface="Calibri" pitchFamily="34" charset="-122"/>
                <a:cs typeface="Calibri" pitchFamily="34" charset="-120"/>
              </a:rPr>
              <a:t>A missed failure ships a wrong answer, undetected</a:t>
            </a:r>
            <a:endParaRPr lang="en-US" sz="1150" dirty="0"/>
          </a:p>
        </p:txBody>
      </p:sp>
      <p:sp>
        <p:nvSpPr>
          <p:cNvPr id="45" name="Shape 43"/>
          <p:cNvSpPr/>
          <p:nvPr/>
        </p:nvSpPr>
        <p:spPr>
          <a:xfrm>
            <a:off x="3970325" y="4469587"/>
            <a:ext cx="3218688" cy="1170432"/>
          </a:xfrm>
          <a:prstGeom prst="roundRect">
            <a:avLst>
              <a:gd name="adj" fmla="val 4688"/>
            </a:avLst>
          </a:prstGeom>
          <a:solidFill>
            <a:srgbClr val="E4E6EB"/>
          </a:solidFill>
          <a:ln/>
        </p:spPr>
      </p:sp>
      <p:sp>
        <p:nvSpPr>
          <p:cNvPr id="46" name="Shape 44"/>
          <p:cNvSpPr/>
          <p:nvPr/>
        </p:nvSpPr>
        <p:spPr>
          <a:xfrm>
            <a:off x="3950208" y="4443984"/>
            <a:ext cx="3218688" cy="1170432"/>
          </a:xfrm>
          <a:prstGeom prst="roundRect">
            <a:avLst>
              <a:gd name="adj" fmla="val 4688"/>
            </a:avLst>
          </a:prstGeom>
          <a:solidFill>
            <a:srgbClr val="E6F1EB"/>
          </a:solidFill>
          <a:ln w="9525">
            <a:solidFill>
              <a:srgbClr val="D9DCE3"/>
            </a:solidFill>
            <a:prstDash val="solid"/>
          </a:ln>
        </p:spPr>
      </p:sp>
      <p:sp>
        <p:nvSpPr>
          <p:cNvPr id="47" name="Shape 45"/>
          <p:cNvSpPr/>
          <p:nvPr/>
        </p:nvSpPr>
        <p:spPr>
          <a:xfrm>
            <a:off x="3950208" y="4498848"/>
            <a:ext cx="41148" cy="1060704"/>
          </a:xfrm>
          <a:prstGeom prst="rect">
            <a:avLst/>
          </a:prstGeom>
          <a:solidFill>
            <a:srgbClr val="1E7A52"/>
          </a:solidFill>
          <a:ln/>
        </p:spPr>
      </p:sp>
      <p:sp>
        <p:nvSpPr>
          <p:cNvPr id="48" name="Shape 46"/>
          <p:cNvSpPr/>
          <p:nvPr/>
        </p:nvSpPr>
        <p:spPr>
          <a:xfrm>
            <a:off x="4096512" y="4562856"/>
            <a:ext cx="274320" cy="274320"/>
          </a:xfrm>
          <a:prstGeom prst="ellipse">
            <a:avLst/>
          </a:prstGeom>
          <a:solidFill>
            <a:srgbClr val="1E7A52"/>
          </a:solidFill>
          <a:ln/>
        </p:spPr>
      </p:sp>
      <p:sp>
        <p:nvSpPr>
          <p:cNvPr id="49" name="Text 47"/>
          <p:cNvSpPr txBox="1"/>
          <p:nvPr/>
        </p:nvSpPr>
        <p:spPr>
          <a:xfrm>
            <a:off x="4096512" y="4562856"/>
            <a:ext cx="274320" cy="274320"/>
          </a:xfrm>
          <a:prstGeom prst="rect">
            <a:avLst/>
          </a:prstGeom>
          <a:noFill/>
          <a:ln/>
        </p:spPr>
        <p:txBody>
          <a:bodyPr wrap="square" lIns="0" tIns="0" rIns="0" bIns="0" rtlCol="0" anchor="ctr"/>
          <a:lstStyle/>
          <a:p>
            <a:pPr algn="ctr" indent="0" marL="0">
              <a:buNone/>
            </a:pPr>
            <a:r>
              <a:rPr lang="en-US" sz="1450" b="1" dirty="0">
                <a:solidFill>
                  <a:srgbClr val="F5F6F8"/>
                </a:solidFill>
                <a:latin typeface="Georgia" pitchFamily="34" charset="0"/>
                <a:ea typeface="Georgia" pitchFamily="34" charset="-122"/>
                <a:cs typeface="Georgia" pitchFamily="34" charset="-120"/>
              </a:rPr>
              <a:t>6</a:t>
            </a:r>
            <a:endParaRPr lang="en-US" sz="1450" dirty="0"/>
          </a:p>
        </p:txBody>
      </p:sp>
      <p:sp>
        <p:nvSpPr>
          <p:cNvPr id="50" name="Text 48"/>
          <p:cNvSpPr txBox="1"/>
          <p:nvPr/>
        </p:nvSpPr>
        <p:spPr>
          <a:xfrm>
            <a:off x="4462272" y="4544568"/>
            <a:ext cx="2596896" cy="329184"/>
          </a:xfrm>
          <a:prstGeom prst="rect">
            <a:avLst/>
          </a:prstGeom>
          <a:noFill/>
          <a:ln/>
        </p:spPr>
        <p:txBody>
          <a:bodyPr wrap="square" lIns="0" tIns="0" rIns="0" bIns="0" rtlCol="0" anchor="ctr"/>
          <a:lstStyle/>
          <a:p>
            <a:pPr indent="0" marL="0">
              <a:buNone/>
            </a:pPr>
            <a:r>
              <a:rPr lang="en-US" sz="1400" b="1" dirty="0">
                <a:solidFill>
                  <a:srgbClr val="1B202A"/>
                </a:solidFill>
                <a:latin typeface="Georgia" pitchFamily="34" charset="0"/>
                <a:ea typeface="Georgia" pitchFamily="34" charset="-122"/>
                <a:cs typeface="Georgia" pitchFamily="34" charset="-120"/>
              </a:rPr>
              <a:t>Ill-defined cause</a:t>
            </a:r>
            <a:endParaRPr lang="en-US" sz="1400" dirty="0"/>
          </a:p>
        </p:txBody>
      </p:sp>
      <p:sp>
        <p:nvSpPr>
          <p:cNvPr id="51" name="Text 49"/>
          <p:cNvSpPr txBox="1"/>
          <p:nvPr/>
        </p:nvSpPr>
        <p:spPr>
          <a:xfrm>
            <a:off x="4096512" y="4882896"/>
            <a:ext cx="2944368" cy="676656"/>
          </a:xfrm>
          <a:prstGeom prst="rect">
            <a:avLst/>
          </a:prstGeom>
          <a:noFill/>
          <a:ln/>
        </p:spPr>
        <p:txBody>
          <a:bodyPr wrap="square" lIns="0" tIns="0" rIns="0" bIns="0" rtlCol="0" anchor="ctr"/>
          <a:lstStyle/>
          <a:p>
            <a:pPr indent="0" marL="0">
              <a:buNone/>
            </a:pPr>
            <a:r>
              <a:rPr lang="en-US" sz="1150" dirty="0">
                <a:solidFill>
                  <a:srgbClr val="596273"/>
                </a:solidFill>
                <a:latin typeface="Calibri" pitchFamily="34" charset="0"/>
                <a:ea typeface="Calibri" pitchFamily="34" charset="-122"/>
                <a:cs typeface="Calibri" pitchFamily="34" charset="-120"/>
              </a:rPr>
              <a:t>3 unknowns: whether, which step, what's correct</a:t>
            </a:r>
            <a:endParaRPr lang="en-US" sz="1150" dirty="0"/>
          </a:p>
        </p:txBody>
      </p:sp>
      <p:sp>
        <p:nvSpPr>
          <p:cNvPr id="52" name="Text 50"/>
          <p:cNvSpPr txBox="1"/>
          <p:nvPr/>
        </p:nvSpPr>
        <p:spPr>
          <a:xfrm>
            <a:off x="7644384" y="1298448"/>
            <a:ext cx="3980383" cy="182880"/>
          </a:xfrm>
          <a:prstGeom prst="rect">
            <a:avLst/>
          </a:prstGeom>
          <a:noFill/>
          <a:ln/>
        </p:spPr>
        <p:txBody>
          <a:bodyPr wrap="square" lIns="0" tIns="0" rIns="0" bIns="0" rtlCol="0" anchor="ctr"/>
          <a:lstStyle/>
          <a:p>
            <a:pPr indent="0" marL="0">
              <a:buNone/>
            </a:pPr>
            <a:r>
              <a:rPr lang="en-US" sz="1050" b="1" spc="60" kern="0" dirty="0">
                <a:solidFill>
                  <a:srgbClr val="8E6A1F"/>
                </a:solidFill>
                <a:latin typeface="Consolas" pitchFamily="34" charset="0"/>
                <a:ea typeface="Consolas" pitchFamily="34" charset="-122"/>
                <a:cs typeface="Consolas" pitchFamily="34" charset="-120"/>
              </a:rPr>
              <a:t>CORE PIPELINE — HYPOTHESIS TO VERIFIED REPAIR</a:t>
            </a:r>
            <a:endParaRPr lang="en-US" sz="1050" dirty="0"/>
          </a:p>
        </p:txBody>
      </p:sp>
      <p:pic>
        <p:nvPicPr>
          <p:cNvPr id="53" name="Image 0" descr="diagram4_cropped.png">    </p:cNvPr>
          <p:cNvPicPr>
            <a:picLocks noChangeAspect="1"/>
          </p:cNvPicPr>
          <p:nvPr/>
        </p:nvPicPr>
        <p:blipFill>
          <a:blip r:embed="rId1"/>
          <a:stretch>
            <a:fillRect/>
          </a:stretch>
        </p:blipFill>
        <p:spPr>
          <a:xfrm>
            <a:off x="7644384" y="1517904"/>
            <a:ext cx="3921337" cy="484632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Proposed Solution &amp; Contribution</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6 / 10</a:t>
            </a:r>
            <a:endParaRPr lang="en-US" sz="1050" dirty="0"/>
          </a:p>
        </p:txBody>
      </p:sp>
      <p:sp>
        <p:nvSpPr>
          <p:cNvPr id="10" name="Shape 8"/>
          <p:cNvSpPr/>
          <p:nvPr/>
        </p:nvSpPr>
        <p:spPr>
          <a:xfrm>
            <a:off x="587045" y="1378915"/>
            <a:ext cx="11057839" cy="932688"/>
          </a:xfrm>
          <a:prstGeom prst="roundRect">
            <a:avLst>
              <a:gd name="adj" fmla="val 5882"/>
            </a:avLst>
          </a:prstGeom>
          <a:solidFill>
            <a:srgbClr val="E4E6EB"/>
          </a:solidFill>
          <a:ln/>
        </p:spPr>
      </p:sp>
      <p:sp>
        <p:nvSpPr>
          <p:cNvPr id="11" name="Shape 9"/>
          <p:cNvSpPr/>
          <p:nvPr/>
        </p:nvSpPr>
        <p:spPr>
          <a:xfrm>
            <a:off x="566928" y="1353312"/>
            <a:ext cx="11057839" cy="932688"/>
          </a:xfrm>
          <a:prstGeom prst="roundRect">
            <a:avLst>
              <a:gd name="adj" fmla="val 5882"/>
            </a:avLst>
          </a:prstGeom>
          <a:solidFill>
            <a:srgbClr val="F1F2F5"/>
          </a:solidFill>
          <a:ln w="9525">
            <a:solidFill>
              <a:srgbClr val="D9DCE3"/>
            </a:solidFill>
            <a:prstDash val="solid"/>
          </a:ln>
        </p:spPr>
      </p:sp>
      <p:sp>
        <p:nvSpPr>
          <p:cNvPr id="12" name="Shape 10"/>
          <p:cNvSpPr/>
          <p:nvPr/>
        </p:nvSpPr>
        <p:spPr>
          <a:xfrm>
            <a:off x="566928" y="1408176"/>
            <a:ext cx="41148" cy="822960"/>
          </a:xfrm>
          <a:prstGeom prst="rect">
            <a:avLst/>
          </a:prstGeom>
          <a:solidFill>
            <a:srgbClr val="C89B3C"/>
          </a:solidFill>
          <a:ln/>
        </p:spPr>
      </p:sp>
      <p:sp>
        <p:nvSpPr>
          <p:cNvPr id="13" name="Text 11"/>
          <p:cNvSpPr txBox="1"/>
          <p:nvPr/>
        </p:nvSpPr>
        <p:spPr>
          <a:xfrm>
            <a:off x="822960" y="1353312"/>
            <a:ext cx="10545775" cy="932688"/>
          </a:xfrm>
          <a:prstGeom prst="rect">
            <a:avLst/>
          </a:prstGeom>
          <a:noFill/>
          <a:ln/>
        </p:spPr>
        <p:txBody>
          <a:bodyPr wrap="square" lIns="0" tIns="0" rIns="0" bIns="0" rtlCol="0" anchor="ctr"/>
          <a:lstStyle/>
          <a:p>
            <a:pPr indent="0" marL="0">
              <a:buNone/>
            </a:pPr>
            <a:r>
              <a:rPr lang="en-US" sz="1650" b="1" dirty="0">
                <a:solidFill>
                  <a:srgbClr val="8E6A1F"/>
                </a:solidFill>
                <a:latin typeface="Calibri" pitchFamily="34" charset="0"/>
                <a:ea typeface="Calibri" pitchFamily="34" charset="-122"/>
                <a:cs typeface="Calibri" pitchFamily="34" charset="-120"/>
              </a:rPr>
              <a:t>Contribution.  </a:t>
            </a:r>
            <a:pPr indent="0" marL="0">
              <a:buNone/>
            </a:pPr>
            <a:r>
              <a:rPr lang="en-US" sz="1550" dirty="0">
                <a:solidFill>
                  <a:srgbClr val="1B202A"/>
                </a:solidFill>
                <a:latin typeface="Calibri" pitchFamily="34" charset="0"/>
                <a:ea typeface="Calibri" pitchFamily="34" charset="-122"/>
                <a:cs typeface="Calibri" pitchFamily="34" charset="-120"/>
              </a:rPr>
              <a:t>Best method: 59.5% — but it's untested on unseen architectures and misses silent failures. We build a cross-architecture benchmark and a diagnosis pipeline with constraint-based silent-failure verification, as a framework-agnostic SDK.</a:t>
            </a:r>
            <a:endParaRPr lang="en-US" sz="1650" dirty="0"/>
          </a:p>
        </p:txBody>
      </p:sp>
      <p:sp>
        <p:nvSpPr>
          <p:cNvPr id="14" name="Shape 12"/>
          <p:cNvSpPr/>
          <p:nvPr/>
        </p:nvSpPr>
        <p:spPr>
          <a:xfrm>
            <a:off x="566928" y="2468880"/>
            <a:ext cx="1417320" cy="777240"/>
          </a:xfrm>
          <a:prstGeom prst="roundRect">
            <a:avLst>
              <a:gd name="adj" fmla="val 5882"/>
            </a:avLst>
          </a:prstGeom>
          <a:solidFill>
            <a:srgbClr val="FBFBFC"/>
          </a:solidFill>
          <a:ln w="13970">
            <a:solidFill>
              <a:srgbClr val="596273"/>
            </a:solidFill>
            <a:prstDash val="solid"/>
          </a:ln>
        </p:spPr>
      </p:sp>
      <p:sp>
        <p:nvSpPr>
          <p:cNvPr id="15" name="Text 13"/>
          <p:cNvSpPr txBox="1"/>
          <p:nvPr/>
        </p:nvSpPr>
        <p:spPr>
          <a:xfrm>
            <a:off x="621792" y="2514600"/>
            <a:ext cx="130759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Target Multi-Agent System</a:t>
            </a:r>
            <a:endParaRPr lang="en-US" sz="1030" dirty="0"/>
          </a:p>
        </p:txBody>
      </p:sp>
      <p:sp>
        <p:nvSpPr>
          <p:cNvPr id="16" name="Text 14"/>
          <p:cNvSpPr txBox="1"/>
          <p:nvPr/>
        </p:nvSpPr>
        <p:spPr>
          <a:xfrm>
            <a:off x="621792" y="3026664"/>
            <a:ext cx="130759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CrewAI / LangGraph</a:t>
            </a:r>
            <a:endParaRPr lang="en-US" sz="760" dirty="0"/>
          </a:p>
        </p:txBody>
      </p:sp>
      <p:sp>
        <p:nvSpPr>
          <p:cNvPr id="17" name="Shape 15"/>
          <p:cNvSpPr/>
          <p:nvPr/>
        </p:nvSpPr>
        <p:spPr>
          <a:xfrm>
            <a:off x="566928" y="5440680"/>
            <a:ext cx="1417320" cy="777240"/>
          </a:xfrm>
          <a:prstGeom prst="roundRect">
            <a:avLst>
              <a:gd name="adj" fmla="val 5882"/>
            </a:avLst>
          </a:prstGeom>
          <a:solidFill>
            <a:srgbClr val="FBFBFC"/>
          </a:solidFill>
          <a:ln w="13970">
            <a:solidFill>
              <a:srgbClr val="596273"/>
            </a:solidFill>
            <a:prstDash val="solid"/>
          </a:ln>
        </p:spPr>
      </p:sp>
      <p:sp>
        <p:nvSpPr>
          <p:cNvPr id="18" name="Text 16"/>
          <p:cNvSpPr txBox="1"/>
          <p:nvPr/>
        </p:nvSpPr>
        <p:spPr>
          <a:xfrm>
            <a:off x="621792" y="5486400"/>
            <a:ext cx="130759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Operator</a:t>
            </a:r>
            <a:endParaRPr lang="en-US" sz="1030" dirty="0"/>
          </a:p>
        </p:txBody>
      </p:sp>
      <p:sp>
        <p:nvSpPr>
          <p:cNvPr id="19" name="Text 17"/>
          <p:cNvSpPr txBox="1"/>
          <p:nvPr/>
        </p:nvSpPr>
        <p:spPr>
          <a:xfrm>
            <a:off x="621792" y="5998464"/>
            <a:ext cx="130759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engineering team</a:t>
            </a:r>
            <a:endParaRPr lang="en-US" sz="760" dirty="0"/>
          </a:p>
        </p:txBody>
      </p:sp>
      <p:sp>
        <p:nvSpPr>
          <p:cNvPr id="20" name="Shape 18"/>
          <p:cNvSpPr/>
          <p:nvPr/>
        </p:nvSpPr>
        <p:spPr>
          <a:xfrm>
            <a:off x="1275588" y="3246120"/>
            <a:ext cx="914" cy="2194560"/>
          </a:xfrm>
          <a:prstGeom prst="line">
            <a:avLst/>
          </a:prstGeom>
          <a:noFill/>
          <a:ln w="13970">
            <a:solidFill>
              <a:srgbClr val="596273"/>
            </a:solidFill>
            <a:prstDash val="solid"/>
            <a:tailEnd type="triangle"/>
          </a:ln>
        </p:spPr>
      </p:sp>
      <p:sp>
        <p:nvSpPr>
          <p:cNvPr id="21" name="Shape 19"/>
          <p:cNvSpPr/>
          <p:nvPr/>
        </p:nvSpPr>
        <p:spPr>
          <a:xfrm>
            <a:off x="2240280" y="2377440"/>
            <a:ext cx="7875727" cy="3931920"/>
          </a:xfrm>
          <a:prstGeom prst="roundRect">
            <a:avLst>
              <a:gd name="adj" fmla="val 1860"/>
            </a:avLst>
          </a:prstGeom>
          <a:solidFill>
            <a:srgbClr val="FFFFFF"/>
          </a:solidFill>
          <a:ln w="22225">
            <a:solidFill>
              <a:srgbClr val="8E6A1F"/>
            </a:solidFill>
            <a:prstDash val="dash"/>
          </a:ln>
        </p:spPr>
      </p:sp>
      <p:sp>
        <p:nvSpPr>
          <p:cNvPr id="22" name="Text 20"/>
          <p:cNvSpPr txBox="1"/>
          <p:nvPr/>
        </p:nvSpPr>
        <p:spPr>
          <a:xfrm>
            <a:off x="2386584" y="2432304"/>
            <a:ext cx="3657600" cy="201168"/>
          </a:xfrm>
          <a:prstGeom prst="rect">
            <a:avLst/>
          </a:prstGeom>
          <a:noFill/>
          <a:ln/>
        </p:spPr>
        <p:txBody>
          <a:bodyPr wrap="square" lIns="0" tIns="0" rIns="0" bIns="0" rtlCol="0" anchor="ctr"/>
          <a:lstStyle/>
          <a:p>
            <a:pPr indent="0" marL="0">
              <a:buNone/>
            </a:pPr>
            <a:r>
              <a:rPr lang="en-US" sz="950" b="1" spc="100" kern="0" dirty="0">
                <a:solidFill>
                  <a:srgbClr val="8E6A1F"/>
                </a:solidFill>
                <a:latin typeface="Consolas" pitchFamily="34" charset="0"/>
                <a:ea typeface="Consolas" pitchFamily="34" charset="-122"/>
                <a:cs typeface="Consolas" pitchFamily="34" charset="-120"/>
              </a:rPr>
              <a:t>GRANITE — SYSTEM BOUNDARY</a:t>
            </a:r>
            <a:endParaRPr lang="en-US" sz="950" dirty="0"/>
          </a:p>
        </p:txBody>
      </p:sp>
      <p:sp>
        <p:nvSpPr>
          <p:cNvPr id="23" name="Shape 21"/>
          <p:cNvSpPr/>
          <p:nvPr/>
        </p:nvSpPr>
        <p:spPr>
          <a:xfrm>
            <a:off x="1984248" y="2852928"/>
            <a:ext cx="256032" cy="914"/>
          </a:xfrm>
          <a:prstGeom prst="line">
            <a:avLst/>
          </a:prstGeom>
          <a:noFill/>
          <a:ln w="13970">
            <a:solidFill>
              <a:srgbClr val="596273"/>
            </a:solidFill>
            <a:prstDash val="solid"/>
            <a:tailEnd type="triangle"/>
          </a:ln>
        </p:spPr>
      </p:sp>
      <p:sp>
        <p:nvSpPr>
          <p:cNvPr id="24" name="Shape 22"/>
          <p:cNvSpPr/>
          <p:nvPr/>
        </p:nvSpPr>
        <p:spPr>
          <a:xfrm>
            <a:off x="2377440" y="2670048"/>
            <a:ext cx="7601407" cy="932688"/>
          </a:xfrm>
          <a:prstGeom prst="roundRect">
            <a:avLst>
              <a:gd name="adj" fmla="val 5882"/>
            </a:avLst>
          </a:prstGeom>
          <a:solidFill>
            <a:srgbClr val="E3EFF1"/>
          </a:solidFill>
          <a:ln w="15240">
            <a:solidFill>
              <a:srgbClr val="15707A"/>
            </a:solidFill>
            <a:prstDash val="solid"/>
          </a:ln>
        </p:spPr>
      </p:sp>
      <p:sp>
        <p:nvSpPr>
          <p:cNvPr id="25" name="Text 23"/>
          <p:cNvSpPr txBox="1"/>
          <p:nvPr/>
        </p:nvSpPr>
        <p:spPr>
          <a:xfrm>
            <a:off x="2505456" y="2724912"/>
            <a:ext cx="3657600" cy="182880"/>
          </a:xfrm>
          <a:prstGeom prst="rect">
            <a:avLst/>
          </a:prstGeom>
          <a:noFill/>
          <a:ln/>
        </p:spPr>
        <p:txBody>
          <a:bodyPr wrap="square" lIns="0" tIns="0" rIns="0" bIns="0" rtlCol="0" anchor="ctr"/>
          <a:lstStyle/>
          <a:p>
            <a:pPr indent="0" marL="0">
              <a:buNone/>
            </a:pPr>
            <a:r>
              <a:rPr lang="en-US" sz="950" b="1" spc="60" kern="0" dirty="0">
                <a:solidFill>
                  <a:srgbClr val="15707A"/>
                </a:solidFill>
                <a:latin typeface="Consolas" pitchFamily="34" charset="0"/>
                <a:ea typeface="Consolas" pitchFamily="34" charset="-122"/>
                <a:cs typeface="Consolas" pitchFamily="34" charset="-120"/>
              </a:rPr>
              <a:t>LANE A — DATA / BENCHMARK</a:t>
            </a:r>
            <a:endParaRPr lang="en-US" sz="950" dirty="0"/>
          </a:p>
        </p:txBody>
      </p:sp>
      <p:sp>
        <p:nvSpPr>
          <p:cNvPr id="26" name="Shape 24"/>
          <p:cNvSpPr/>
          <p:nvPr/>
        </p:nvSpPr>
        <p:spPr>
          <a:xfrm>
            <a:off x="2514600" y="2962656"/>
            <a:ext cx="2606040" cy="548640"/>
          </a:xfrm>
          <a:prstGeom prst="roundRect">
            <a:avLst>
              <a:gd name="adj" fmla="val 8333"/>
            </a:avLst>
          </a:prstGeom>
          <a:solidFill>
            <a:srgbClr val="FFFFFF"/>
          </a:solidFill>
          <a:ln w="13970">
            <a:solidFill>
              <a:srgbClr val="15707A"/>
            </a:solidFill>
            <a:prstDash val="solid"/>
          </a:ln>
        </p:spPr>
      </p:sp>
      <p:sp>
        <p:nvSpPr>
          <p:cNvPr id="27" name="Text 25"/>
          <p:cNvSpPr txBox="1"/>
          <p:nvPr/>
        </p:nvSpPr>
        <p:spPr>
          <a:xfrm>
            <a:off x="2569464" y="3008376"/>
            <a:ext cx="249631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Framework Adapters</a:t>
            </a:r>
            <a:endParaRPr lang="en-US" sz="1030" dirty="0"/>
          </a:p>
        </p:txBody>
      </p:sp>
      <p:sp>
        <p:nvSpPr>
          <p:cNvPr id="28" name="Text 26"/>
          <p:cNvSpPr txBox="1"/>
          <p:nvPr/>
        </p:nvSpPr>
        <p:spPr>
          <a:xfrm>
            <a:off x="2569464" y="3291840"/>
            <a:ext cx="249631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CrewAI + LangGraph hooks</a:t>
            </a:r>
            <a:endParaRPr lang="en-US" sz="760" dirty="0"/>
          </a:p>
        </p:txBody>
      </p:sp>
      <p:sp>
        <p:nvSpPr>
          <p:cNvPr id="29" name="Shape 27"/>
          <p:cNvSpPr/>
          <p:nvPr/>
        </p:nvSpPr>
        <p:spPr>
          <a:xfrm>
            <a:off x="5248656" y="2962656"/>
            <a:ext cx="2788920" cy="548640"/>
          </a:xfrm>
          <a:prstGeom prst="roundRect">
            <a:avLst>
              <a:gd name="adj" fmla="val 8333"/>
            </a:avLst>
          </a:prstGeom>
          <a:solidFill>
            <a:srgbClr val="FFFFFF"/>
          </a:solidFill>
          <a:ln w="13970">
            <a:solidFill>
              <a:srgbClr val="15707A"/>
            </a:solidFill>
            <a:prstDash val="solid"/>
          </a:ln>
        </p:spPr>
      </p:sp>
      <p:sp>
        <p:nvSpPr>
          <p:cNvPr id="30" name="Text 28"/>
          <p:cNvSpPr txBox="1"/>
          <p:nvPr/>
        </p:nvSpPr>
        <p:spPr>
          <a:xfrm>
            <a:off x="5303520" y="3008376"/>
            <a:ext cx="267919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Fault Injection Operators</a:t>
            </a:r>
            <a:endParaRPr lang="en-US" sz="1030" dirty="0"/>
          </a:p>
        </p:txBody>
      </p:sp>
      <p:sp>
        <p:nvSpPr>
          <p:cNvPr id="31" name="Text 29"/>
          <p:cNvSpPr txBox="1"/>
          <p:nvPr/>
        </p:nvSpPr>
        <p:spPr>
          <a:xfrm>
            <a:off x="5303520" y="3291840"/>
            <a:ext cx="267919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rule-based · 0% API</a:t>
            </a:r>
            <a:endParaRPr lang="en-US" sz="760" dirty="0"/>
          </a:p>
        </p:txBody>
      </p:sp>
      <p:sp>
        <p:nvSpPr>
          <p:cNvPr id="32" name="Shape 30"/>
          <p:cNvSpPr/>
          <p:nvPr/>
        </p:nvSpPr>
        <p:spPr>
          <a:xfrm>
            <a:off x="8165592" y="3035808"/>
            <a:ext cx="1737360" cy="475488"/>
          </a:xfrm>
          <a:prstGeom prst="roundRect">
            <a:avLst>
              <a:gd name="adj" fmla="val 7692"/>
            </a:avLst>
          </a:prstGeom>
          <a:solidFill>
            <a:srgbClr val="FFFFFF"/>
          </a:solidFill>
          <a:ln w="13970">
            <a:solidFill>
              <a:srgbClr val="15707A"/>
            </a:solidFill>
            <a:prstDash val="solid"/>
          </a:ln>
        </p:spPr>
      </p:sp>
      <p:sp>
        <p:nvSpPr>
          <p:cNvPr id="33" name="Shape 31"/>
          <p:cNvSpPr/>
          <p:nvPr/>
        </p:nvSpPr>
        <p:spPr>
          <a:xfrm>
            <a:off x="8165592" y="2962656"/>
            <a:ext cx="1737360" cy="146304"/>
          </a:xfrm>
          <a:prstGeom prst="ellipse">
            <a:avLst/>
          </a:prstGeom>
          <a:solidFill>
            <a:srgbClr val="FFFFFF"/>
          </a:solidFill>
          <a:ln w="13970">
            <a:solidFill>
              <a:srgbClr val="15707A"/>
            </a:solidFill>
            <a:prstDash val="solid"/>
          </a:ln>
        </p:spPr>
      </p:sp>
      <p:sp>
        <p:nvSpPr>
          <p:cNvPr id="34" name="Text 32"/>
          <p:cNvSpPr txBox="1"/>
          <p:nvPr/>
        </p:nvSpPr>
        <p:spPr>
          <a:xfrm>
            <a:off x="8202168" y="3108960"/>
            <a:ext cx="1664208" cy="256032"/>
          </a:xfrm>
          <a:prstGeom prst="rect">
            <a:avLst/>
          </a:prstGeom>
          <a:noFill/>
          <a:ln/>
        </p:spPr>
        <p:txBody>
          <a:bodyPr wrap="square" lIns="0" tIns="0" rIns="0" bIns="0" rtlCol="0" anchor="ctr"/>
          <a:lstStyle/>
          <a:p>
            <a:pPr algn="ctr" indent="0" marL="0">
              <a:buNone/>
            </a:pPr>
            <a:r>
              <a:rPr lang="en-US" sz="950" b="1" dirty="0">
                <a:solidFill>
                  <a:srgbClr val="1B202A"/>
                </a:solidFill>
                <a:latin typeface="Calibri" pitchFamily="34" charset="0"/>
                <a:ea typeface="Calibri" pitchFamily="34" charset="-122"/>
                <a:cs typeface="Calibri" pitchFamily="34" charset="-120"/>
              </a:rPr>
              <a:t>Benchmark Store</a:t>
            </a:r>
            <a:endParaRPr lang="en-US" sz="950" dirty="0"/>
          </a:p>
        </p:txBody>
      </p:sp>
      <p:sp>
        <p:nvSpPr>
          <p:cNvPr id="35" name="Shape 33"/>
          <p:cNvSpPr/>
          <p:nvPr/>
        </p:nvSpPr>
        <p:spPr>
          <a:xfrm>
            <a:off x="5120640" y="3236976"/>
            <a:ext cx="128016" cy="914"/>
          </a:xfrm>
          <a:prstGeom prst="line">
            <a:avLst/>
          </a:prstGeom>
          <a:noFill/>
          <a:ln w="13970">
            <a:solidFill>
              <a:srgbClr val="15707A"/>
            </a:solidFill>
            <a:prstDash val="solid"/>
            <a:tailEnd type="triangle"/>
          </a:ln>
        </p:spPr>
      </p:sp>
      <p:sp>
        <p:nvSpPr>
          <p:cNvPr id="36" name="Shape 34"/>
          <p:cNvSpPr/>
          <p:nvPr/>
        </p:nvSpPr>
        <p:spPr>
          <a:xfrm>
            <a:off x="8037576" y="3236976"/>
            <a:ext cx="128016" cy="914"/>
          </a:xfrm>
          <a:prstGeom prst="line">
            <a:avLst/>
          </a:prstGeom>
          <a:noFill/>
          <a:ln w="13970">
            <a:solidFill>
              <a:srgbClr val="15707A"/>
            </a:solidFill>
            <a:prstDash val="solid"/>
            <a:tailEnd type="triangle"/>
          </a:ln>
        </p:spPr>
      </p:sp>
      <p:sp>
        <p:nvSpPr>
          <p:cNvPr id="37" name="Shape 35"/>
          <p:cNvSpPr/>
          <p:nvPr/>
        </p:nvSpPr>
        <p:spPr>
          <a:xfrm>
            <a:off x="2377440" y="3739896"/>
            <a:ext cx="7601407" cy="1298448"/>
          </a:xfrm>
          <a:prstGeom prst="roundRect">
            <a:avLst>
              <a:gd name="adj" fmla="val 4225"/>
            </a:avLst>
          </a:prstGeom>
          <a:solidFill>
            <a:srgbClr val="F6EADD"/>
          </a:solidFill>
          <a:ln w="15240">
            <a:solidFill>
              <a:srgbClr val="B05C1C"/>
            </a:solidFill>
            <a:prstDash val="solid"/>
          </a:ln>
        </p:spPr>
      </p:sp>
      <p:sp>
        <p:nvSpPr>
          <p:cNvPr id="38" name="Text 36"/>
          <p:cNvSpPr txBox="1"/>
          <p:nvPr/>
        </p:nvSpPr>
        <p:spPr>
          <a:xfrm>
            <a:off x="2505456" y="3794760"/>
            <a:ext cx="3657600" cy="182880"/>
          </a:xfrm>
          <a:prstGeom prst="rect">
            <a:avLst/>
          </a:prstGeom>
          <a:noFill/>
          <a:ln/>
        </p:spPr>
        <p:txBody>
          <a:bodyPr wrap="square" lIns="0" tIns="0" rIns="0" bIns="0" rtlCol="0" anchor="ctr"/>
          <a:lstStyle/>
          <a:p>
            <a:pPr indent="0" marL="0">
              <a:buNone/>
            </a:pPr>
            <a:r>
              <a:rPr lang="en-US" sz="950" b="1" spc="60" kern="0" dirty="0">
                <a:solidFill>
                  <a:srgbClr val="B05C1C"/>
                </a:solidFill>
                <a:latin typeface="Consolas" pitchFamily="34" charset="0"/>
                <a:ea typeface="Consolas" pitchFamily="34" charset="-122"/>
                <a:cs typeface="Consolas" pitchFamily="34" charset="-120"/>
              </a:rPr>
              <a:t>LANE B — DIAGNOSIS</a:t>
            </a:r>
            <a:endParaRPr lang="en-US" sz="950" dirty="0"/>
          </a:p>
        </p:txBody>
      </p:sp>
      <p:sp>
        <p:nvSpPr>
          <p:cNvPr id="39" name="Shape 37"/>
          <p:cNvSpPr/>
          <p:nvPr/>
        </p:nvSpPr>
        <p:spPr>
          <a:xfrm flipH="1">
            <a:off x="3817620" y="3611880"/>
            <a:ext cx="2825496" cy="118872"/>
          </a:xfrm>
          <a:prstGeom prst="line">
            <a:avLst/>
          </a:prstGeom>
          <a:noFill/>
          <a:ln w="13970">
            <a:solidFill>
              <a:srgbClr val="596273"/>
            </a:solidFill>
            <a:prstDash val="solid"/>
            <a:tailEnd type="triangle"/>
          </a:ln>
        </p:spPr>
      </p:sp>
      <p:sp>
        <p:nvSpPr>
          <p:cNvPr id="40" name="Shape 38"/>
          <p:cNvSpPr/>
          <p:nvPr/>
        </p:nvSpPr>
        <p:spPr>
          <a:xfrm>
            <a:off x="2514600" y="4032504"/>
            <a:ext cx="2606040" cy="475488"/>
          </a:xfrm>
          <a:prstGeom prst="roundRect">
            <a:avLst>
              <a:gd name="adj" fmla="val 9615"/>
            </a:avLst>
          </a:prstGeom>
          <a:solidFill>
            <a:srgbClr val="FFFFFF"/>
          </a:solidFill>
          <a:ln w="13970">
            <a:solidFill>
              <a:srgbClr val="B05C1C"/>
            </a:solidFill>
            <a:prstDash val="solid"/>
          </a:ln>
        </p:spPr>
      </p:sp>
      <p:sp>
        <p:nvSpPr>
          <p:cNvPr id="41" name="Text 39"/>
          <p:cNvSpPr txBox="1"/>
          <p:nvPr/>
        </p:nvSpPr>
        <p:spPr>
          <a:xfrm>
            <a:off x="2569464" y="4078224"/>
            <a:ext cx="249631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Trace Normalizer</a:t>
            </a:r>
            <a:endParaRPr lang="en-US" sz="1030" dirty="0"/>
          </a:p>
        </p:txBody>
      </p:sp>
      <p:sp>
        <p:nvSpPr>
          <p:cNvPr id="42" name="Text 40"/>
          <p:cNvSpPr txBox="1"/>
          <p:nvPr/>
        </p:nvSpPr>
        <p:spPr>
          <a:xfrm>
            <a:off x="2569464" y="4288536"/>
            <a:ext cx="249631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standard schema in</a:t>
            </a:r>
            <a:endParaRPr lang="en-US" sz="760" dirty="0"/>
          </a:p>
        </p:txBody>
      </p:sp>
      <p:sp>
        <p:nvSpPr>
          <p:cNvPr id="43" name="Shape 41"/>
          <p:cNvSpPr/>
          <p:nvPr/>
        </p:nvSpPr>
        <p:spPr>
          <a:xfrm>
            <a:off x="5285232" y="4032504"/>
            <a:ext cx="3246120" cy="475488"/>
          </a:xfrm>
          <a:prstGeom prst="roundRect">
            <a:avLst>
              <a:gd name="adj" fmla="val 9615"/>
            </a:avLst>
          </a:prstGeom>
          <a:solidFill>
            <a:srgbClr val="FFFFFF"/>
          </a:solidFill>
          <a:ln w="13970">
            <a:solidFill>
              <a:srgbClr val="B05C1C"/>
            </a:solidFill>
            <a:prstDash val="solid"/>
          </a:ln>
        </p:spPr>
      </p:sp>
      <p:sp>
        <p:nvSpPr>
          <p:cNvPr id="44" name="Text 42"/>
          <p:cNvSpPr txBox="1"/>
          <p:nvPr/>
        </p:nvSpPr>
        <p:spPr>
          <a:xfrm>
            <a:off x="5340096" y="4078224"/>
            <a:ext cx="313639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Execution Graph Builder</a:t>
            </a:r>
            <a:endParaRPr lang="en-US" sz="1030" dirty="0"/>
          </a:p>
        </p:txBody>
      </p:sp>
      <p:sp>
        <p:nvSpPr>
          <p:cNvPr id="45" name="Text 43"/>
          <p:cNvSpPr txBox="1"/>
          <p:nvPr/>
        </p:nvSpPr>
        <p:spPr>
          <a:xfrm>
            <a:off x="5340096" y="4288536"/>
            <a:ext cx="313639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0% API</a:t>
            </a:r>
            <a:endParaRPr lang="en-US" sz="760" dirty="0"/>
          </a:p>
        </p:txBody>
      </p:sp>
      <p:sp>
        <p:nvSpPr>
          <p:cNvPr id="46" name="Shape 44"/>
          <p:cNvSpPr/>
          <p:nvPr/>
        </p:nvSpPr>
        <p:spPr>
          <a:xfrm>
            <a:off x="5120640" y="4270248"/>
            <a:ext cx="164592" cy="914"/>
          </a:xfrm>
          <a:prstGeom prst="line">
            <a:avLst/>
          </a:prstGeom>
          <a:noFill/>
          <a:ln w="13970">
            <a:solidFill>
              <a:srgbClr val="B05C1C"/>
            </a:solidFill>
            <a:prstDash val="solid"/>
            <a:tailEnd type="triangle"/>
          </a:ln>
        </p:spPr>
      </p:sp>
      <p:sp>
        <p:nvSpPr>
          <p:cNvPr id="47" name="Shape 45"/>
          <p:cNvSpPr/>
          <p:nvPr/>
        </p:nvSpPr>
        <p:spPr>
          <a:xfrm>
            <a:off x="2514600" y="4581144"/>
            <a:ext cx="3749040" cy="384048"/>
          </a:xfrm>
          <a:prstGeom prst="roundRect">
            <a:avLst>
              <a:gd name="adj" fmla="val 11905"/>
            </a:avLst>
          </a:prstGeom>
          <a:solidFill>
            <a:srgbClr val="FFFFFF"/>
          </a:solidFill>
          <a:ln w="13970">
            <a:solidFill>
              <a:srgbClr val="B05C1C"/>
            </a:solidFill>
            <a:prstDash val="solid"/>
          </a:ln>
        </p:spPr>
      </p:sp>
      <p:sp>
        <p:nvSpPr>
          <p:cNvPr id="48" name="Text 46"/>
          <p:cNvSpPr txBox="1"/>
          <p:nvPr/>
        </p:nvSpPr>
        <p:spPr>
          <a:xfrm>
            <a:off x="2569464" y="4626864"/>
            <a:ext cx="363931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Semantic Error Diagnostic — runs in parallel, unconditionally</a:t>
            </a:r>
            <a:endParaRPr lang="en-US" sz="1030" dirty="0"/>
          </a:p>
        </p:txBody>
      </p:sp>
      <p:sp>
        <p:nvSpPr>
          <p:cNvPr id="49" name="Shape 47"/>
          <p:cNvSpPr/>
          <p:nvPr/>
        </p:nvSpPr>
        <p:spPr>
          <a:xfrm>
            <a:off x="6400800" y="4581144"/>
            <a:ext cx="3440887" cy="384048"/>
          </a:xfrm>
          <a:prstGeom prst="roundRect">
            <a:avLst>
              <a:gd name="adj" fmla="val 11905"/>
            </a:avLst>
          </a:prstGeom>
          <a:solidFill>
            <a:srgbClr val="FFFFFF"/>
          </a:solidFill>
          <a:ln w="13970">
            <a:solidFill>
              <a:srgbClr val="B05C1C"/>
            </a:solidFill>
            <a:prstDash val="solid"/>
          </a:ln>
        </p:spPr>
      </p:sp>
      <p:sp>
        <p:nvSpPr>
          <p:cNvPr id="50" name="Text 48"/>
          <p:cNvSpPr txBox="1"/>
          <p:nvPr/>
        </p:nvSpPr>
        <p:spPr>
          <a:xfrm>
            <a:off x="6455664" y="4626864"/>
            <a:ext cx="3331159"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Backward Causal Tracer</a:t>
            </a:r>
            <a:endParaRPr lang="en-US" sz="1030" dirty="0"/>
          </a:p>
        </p:txBody>
      </p:sp>
      <p:sp>
        <p:nvSpPr>
          <p:cNvPr id="51" name="Shape 49"/>
          <p:cNvSpPr/>
          <p:nvPr/>
        </p:nvSpPr>
        <p:spPr>
          <a:xfrm flipH="1">
            <a:off x="4764024" y="4507992"/>
            <a:ext cx="1495044" cy="73152"/>
          </a:xfrm>
          <a:prstGeom prst="line">
            <a:avLst/>
          </a:prstGeom>
          <a:noFill/>
          <a:ln w="13970">
            <a:solidFill>
              <a:srgbClr val="596273"/>
            </a:solidFill>
            <a:prstDash val="solid"/>
            <a:tailEnd type="triangle"/>
          </a:ln>
        </p:spPr>
      </p:sp>
      <p:sp>
        <p:nvSpPr>
          <p:cNvPr id="52" name="Shape 50"/>
          <p:cNvSpPr/>
          <p:nvPr/>
        </p:nvSpPr>
        <p:spPr>
          <a:xfrm>
            <a:off x="7557516" y="4507992"/>
            <a:ext cx="219639" cy="73152"/>
          </a:xfrm>
          <a:prstGeom prst="line">
            <a:avLst/>
          </a:prstGeom>
          <a:noFill/>
          <a:ln w="13970">
            <a:solidFill>
              <a:srgbClr val="596273"/>
            </a:solidFill>
            <a:prstDash val="solid"/>
            <a:tailEnd type="triangle"/>
          </a:ln>
        </p:spPr>
      </p:sp>
      <p:sp>
        <p:nvSpPr>
          <p:cNvPr id="53" name="Shape 51"/>
          <p:cNvSpPr/>
          <p:nvPr/>
        </p:nvSpPr>
        <p:spPr>
          <a:xfrm>
            <a:off x="2377440" y="5175504"/>
            <a:ext cx="7601407" cy="1024128"/>
          </a:xfrm>
          <a:prstGeom prst="roundRect">
            <a:avLst>
              <a:gd name="adj" fmla="val 5357"/>
            </a:avLst>
          </a:prstGeom>
          <a:solidFill>
            <a:srgbClr val="E4E9F2"/>
          </a:solidFill>
          <a:ln w="15240">
            <a:solidFill>
              <a:srgbClr val="31558F"/>
            </a:solidFill>
            <a:prstDash val="solid"/>
          </a:ln>
        </p:spPr>
      </p:sp>
      <p:sp>
        <p:nvSpPr>
          <p:cNvPr id="54" name="Text 52"/>
          <p:cNvSpPr txBox="1"/>
          <p:nvPr/>
        </p:nvSpPr>
        <p:spPr>
          <a:xfrm>
            <a:off x="2505456" y="5230368"/>
            <a:ext cx="3657600" cy="182880"/>
          </a:xfrm>
          <a:prstGeom prst="rect">
            <a:avLst/>
          </a:prstGeom>
          <a:noFill/>
          <a:ln/>
        </p:spPr>
        <p:txBody>
          <a:bodyPr wrap="square" lIns="0" tIns="0" rIns="0" bIns="0" rtlCol="0" anchor="ctr"/>
          <a:lstStyle/>
          <a:p>
            <a:pPr indent="0" marL="0">
              <a:buNone/>
            </a:pPr>
            <a:r>
              <a:rPr lang="en-US" sz="950" b="1" spc="60" kern="0" dirty="0">
                <a:solidFill>
                  <a:srgbClr val="31558F"/>
                </a:solidFill>
                <a:latin typeface="Consolas" pitchFamily="34" charset="0"/>
                <a:ea typeface="Consolas" pitchFamily="34" charset="-122"/>
                <a:cs typeface="Consolas" pitchFamily="34" charset="-120"/>
              </a:rPr>
              <a:t>LANE C — PLATFORM</a:t>
            </a:r>
            <a:endParaRPr lang="en-US" sz="950" dirty="0"/>
          </a:p>
        </p:txBody>
      </p:sp>
      <p:sp>
        <p:nvSpPr>
          <p:cNvPr id="55" name="Shape 53"/>
          <p:cNvSpPr/>
          <p:nvPr/>
        </p:nvSpPr>
        <p:spPr>
          <a:xfrm>
            <a:off x="2514600" y="5449824"/>
            <a:ext cx="2057400" cy="457200"/>
          </a:xfrm>
          <a:prstGeom prst="roundRect">
            <a:avLst>
              <a:gd name="adj" fmla="val 10000"/>
            </a:avLst>
          </a:prstGeom>
          <a:solidFill>
            <a:srgbClr val="FFFFFF"/>
          </a:solidFill>
          <a:ln w="13970">
            <a:solidFill>
              <a:srgbClr val="31558F"/>
            </a:solidFill>
            <a:prstDash val="solid"/>
          </a:ln>
        </p:spPr>
      </p:sp>
      <p:sp>
        <p:nvSpPr>
          <p:cNvPr id="56" name="Text 54"/>
          <p:cNvSpPr txBox="1"/>
          <p:nvPr/>
        </p:nvSpPr>
        <p:spPr>
          <a:xfrm>
            <a:off x="2569464" y="5495544"/>
            <a:ext cx="194767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Repair Agent</a:t>
            </a:r>
            <a:endParaRPr lang="en-US" sz="1030" dirty="0"/>
          </a:p>
        </p:txBody>
      </p:sp>
      <p:sp>
        <p:nvSpPr>
          <p:cNvPr id="57" name="Text 55"/>
          <p:cNvSpPr txBox="1"/>
          <p:nvPr/>
        </p:nvSpPr>
        <p:spPr>
          <a:xfrm>
            <a:off x="2569464" y="5687568"/>
            <a:ext cx="194767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candidate fix</a:t>
            </a:r>
            <a:endParaRPr lang="en-US" sz="760" dirty="0"/>
          </a:p>
        </p:txBody>
      </p:sp>
      <p:sp>
        <p:nvSpPr>
          <p:cNvPr id="58" name="Shape 56"/>
          <p:cNvSpPr/>
          <p:nvPr/>
        </p:nvSpPr>
        <p:spPr>
          <a:xfrm>
            <a:off x="4700016" y="5449824"/>
            <a:ext cx="2697480" cy="457200"/>
          </a:xfrm>
          <a:prstGeom prst="roundRect">
            <a:avLst>
              <a:gd name="adj" fmla="val 10000"/>
            </a:avLst>
          </a:prstGeom>
          <a:solidFill>
            <a:srgbClr val="FFFFFF"/>
          </a:solidFill>
          <a:ln w="13970">
            <a:solidFill>
              <a:srgbClr val="31558F"/>
            </a:solidFill>
            <a:prstDash val="solid"/>
          </a:ln>
        </p:spPr>
      </p:sp>
      <p:sp>
        <p:nvSpPr>
          <p:cNvPr id="59" name="Text 57"/>
          <p:cNvSpPr txBox="1"/>
          <p:nvPr/>
        </p:nvSpPr>
        <p:spPr>
          <a:xfrm>
            <a:off x="4754880" y="5495544"/>
            <a:ext cx="2587752"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Verified Automatic Repair</a:t>
            </a:r>
            <a:endParaRPr lang="en-US" sz="1030" dirty="0"/>
          </a:p>
        </p:txBody>
      </p:sp>
      <p:sp>
        <p:nvSpPr>
          <p:cNvPr id="60" name="Text 58"/>
          <p:cNvSpPr txBox="1"/>
          <p:nvPr/>
        </p:nvSpPr>
        <p:spPr>
          <a:xfrm>
            <a:off x="4754880" y="5687568"/>
            <a:ext cx="2587752"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controlled replay, N runs</a:t>
            </a:r>
            <a:endParaRPr lang="en-US" sz="760" dirty="0"/>
          </a:p>
        </p:txBody>
      </p:sp>
      <p:sp>
        <p:nvSpPr>
          <p:cNvPr id="61" name="Shape 59"/>
          <p:cNvSpPr/>
          <p:nvPr/>
        </p:nvSpPr>
        <p:spPr>
          <a:xfrm>
            <a:off x="7525512" y="5449824"/>
            <a:ext cx="2316175" cy="457200"/>
          </a:xfrm>
          <a:prstGeom prst="roundRect">
            <a:avLst>
              <a:gd name="adj" fmla="val 10000"/>
            </a:avLst>
          </a:prstGeom>
          <a:solidFill>
            <a:srgbClr val="FFFFFF"/>
          </a:solidFill>
          <a:ln w="13970">
            <a:solidFill>
              <a:srgbClr val="31558F"/>
            </a:solidFill>
            <a:prstDash val="solid"/>
          </a:ln>
        </p:spPr>
      </p:sp>
      <p:sp>
        <p:nvSpPr>
          <p:cNvPr id="62" name="Text 60"/>
          <p:cNvSpPr txBox="1"/>
          <p:nvPr/>
        </p:nvSpPr>
        <p:spPr>
          <a:xfrm>
            <a:off x="7580376" y="5495544"/>
            <a:ext cx="2206447" cy="237744"/>
          </a:xfrm>
          <a:prstGeom prst="rect">
            <a:avLst/>
          </a:prstGeom>
          <a:noFill/>
          <a:ln/>
        </p:spPr>
        <p:txBody>
          <a:bodyPr wrap="square" lIns="0" tIns="0" rIns="0" bIns="0" rtlCol="0" anchor="ctr"/>
          <a:lstStyle/>
          <a:p>
            <a:pPr algn="ctr" indent="0" marL="0">
              <a:buNone/>
            </a:pPr>
            <a:r>
              <a:rPr lang="en-US" sz="1030" b="1" dirty="0">
                <a:solidFill>
                  <a:srgbClr val="1B202A"/>
                </a:solidFill>
                <a:latin typeface="Calibri" pitchFamily="34" charset="0"/>
                <a:ea typeface="Calibri" pitchFamily="34" charset="-122"/>
                <a:cs typeface="Calibri" pitchFamily="34" charset="-120"/>
              </a:rPr>
              <a:t>Backend API</a:t>
            </a:r>
            <a:endParaRPr lang="en-US" sz="1030" dirty="0"/>
          </a:p>
        </p:txBody>
      </p:sp>
      <p:sp>
        <p:nvSpPr>
          <p:cNvPr id="63" name="Text 61"/>
          <p:cNvSpPr txBox="1"/>
          <p:nvPr/>
        </p:nvSpPr>
        <p:spPr>
          <a:xfrm>
            <a:off x="7580376" y="5687568"/>
            <a:ext cx="2206447" cy="182880"/>
          </a:xfrm>
          <a:prstGeom prst="rect">
            <a:avLst/>
          </a:prstGeom>
          <a:noFill/>
          <a:ln/>
        </p:spPr>
        <p:txBody>
          <a:bodyPr wrap="square" lIns="0" tIns="0" rIns="0" bIns="0" rtlCol="0" anchor="ctr"/>
          <a:lstStyle/>
          <a:p>
            <a:pPr algn="ctr" indent="0" marL="0">
              <a:buNone/>
            </a:pPr>
            <a:r>
              <a:rPr lang="en-US" sz="760" dirty="0">
                <a:solidFill>
                  <a:srgbClr val="596273"/>
                </a:solidFill>
                <a:latin typeface="Consolas" pitchFamily="34" charset="0"/>
                <a:ea typeface="Consolas" pitchFamily="34" charset="-122"/>
                <a:cs typeface="Consolas" pitchFamily="34" charset="-120"/>
              </a:rPr>
              <a:t>FastAPI</a:t>
            </a:r>
            <a:endParaRPr lang="en-US" sz="760" dirty="0"/>
          </a:p>
        </p:txBody>
      </p:sp>
      <p:sp>
        <p:nvSpPr>
          <p:cNvPr id="64" name="Shape 62"/>
          <p:cNvSpPr/>
          <p:nvPr/>
        </p:nvSpPr>
        <p:spPr>
          <a:xfrm>
            <a:off x="4572000" y="5678424"/>
            <a:ext cx="128016" cy="914"/>
          </a:xfrm>
          <a:prstGeom prst="line">
            <a:avLst/>
          </a:prstGeom>
          <a:noFill/>
          <a:ln w="13970">
            <a:solidFill>
              <a:srgbClr val="31558F"/>
            </a:solidFill>
            <a:prstDash val="solid"/>
            <a:tailEnd type="triangle"/>
          </a:ln>
        </p:spPr>
      </p:sp>
      <p:sp>
        <p:nvSpPr>
          <p:cNvPr id="65" name="Shape 63"/>
          <p:cNvSpPr/>
          <p:nvPr/>
        </p:nvSpPr>
        <p:spPr>
          <a:xfrm>
            <a:off x="7397496" y="5678424"/>
            <a:ext cx="128016" cy="914"/>
          </a:xfrm>
          <a:prstGeom prst="line">
            <a:avLst/>
          </a:prstGeom>
          <a:noFill/>
          <a:ln w="13970">
            <a:solidFill>
              <a:srgbClr val="31558F"/>
            </a:solidFill>
            <a:prstDash val="solid"/>
            <a:tailEnd type="triangle"/>
          </a:ln>
        </p:spPr>
      </p:sp>
      <p:sp>
        <p:nvSpPr>
          <p:cNvPr id="66" name="Text 64"/>
          <p:cNvSpPr txBox="1"/>
          <p:nvPr/>
        </p:nvSpPr>
        <p:spPr>
          <a:xfrm>
            <a:off x="2514600" y="5961888"/>
            <a:ext cx="7327087" cy="201168"/>
          </a:xfrm>
          <a:prstGeom prst="rect">
            <a:avLst/>
          </a:prstGeom>
          <a:noFill/>
          <a:ln/>
        </p:spPr>
        <p:txBody>
          <a:bodyPr wrap="square" lIns="0" tIns="0" rIns="0" bIns="0" rtlCol="0" anchor="ctr"/>
          <a:lstStyle/>
          <a:p>
            <a:pPr indent="0" marL="0">
              <a:buNone/>
            </a:pPr>
            <a:r>
              <a:rPr lang="en-US" sz="1000" b="1" i="1" dirty="0">
                <a:solidFill>
                  <a:srgbClr val="A8760F"/>
                </a:solidFill>
                <a:latin typeface="Calibri" pitchFamily="34" charset="0"/>
                <a:ea typeface="Calibri" pitchFamily="34" charset="-122"/>
                <a:cs typeface="Calibri" pitchFamily="34" charset="-120"/>
              </a:rPr>
              <a:t>Tier 2 (gated): </a:t>
            </a:r>
            <a:pPr indent="0" marL="0">
              <a:buNone/>
            </a:pPr>
            <a:r>
              <a:rPr lang="en-US" sz="1000" i="1" dirty="0">
                <a:solidFill>
                  <a:srgbClr val="1B202A"/>
                </a:solidFill>
                <a:latin typeface="Calibri" pitchFamily="34" charset="0"/>
                <a:ea typeface="Calibri" pitchFamily="34" charset="-122"/>
                <a:cs typeface="Calibri" pitchFamily="34" charset="-120"/>
              </a:rPr>
              <a:t>Recovery Controller + Verified Repair Memory   ·   </a:t>
            </a:r>
            <a:pPr indent="0" marL="0">
              <a:buNone/>
            </a:pPr>
            <a:r>
              <a:rPr lang="en-US" sz="1000" i="1" dirty="0">
                <a:solidFill>
                  <a:srgbClr val="1B202A"/>
                </a:solidFill>
                <a:latin typeface="Calibri" pitchFamily="34" charset="0"/>
                <a:ea typeface="Calibri" pitchFamily="34" charset="-122"/>
                <a:cs typeface="Calibri" pitchFamily="34" charset="-120"/>
              </a:rPr>
              <a:t>Postgres   ·   Dashboard — 3 screens</a:t>
            </a:r>
            <a:endParaRPr lang="en-US" sz="1000" dirty="0"/>
          </a:p>
        </p:txBody>
      </p:sp>
      <p:sp>
        <p:nvSpPr>
          <p:cNvPr id="67" name="Shape 65"/>
          <p:cNvSpPr/>
          <p:nvPr/>
        </p:nvSpPr>
        <p:spPr>
          <a:xfrm>
            <a:off x="6178144" y="5047488"/>
            <a:ext cx="914" cy="118872"/>
          </a:xfrm>
          <a:prstGeom prst="line">
            <a:avLst/>
          </a:prstGeom>
          <a:noFill/>
          <a:ln w="13970">
            <a:solidFill>
              <a:srgbClr val="596273"/>
            </a:solidFill>
            <a:prstDash val="solid"/>
            <a:tailEnd type="triangle"/>
          </a:ln>
        </p:spPr>
      </p:sp>
      <p:sp>
        <p:nvSpPr>
          <p:cNvPr id="68" name="Shape 66"/>
          <p:cNvSpPr/>
          <p:nvPr/>
        </p:nvSpPr>
        <p:spPr>
          <a:xfrm>
            <a:off x="10298887" y="3813048"/>
            <a:ext cx="1325880" cy="1060704"/>
          </a:xfrm>
          <a:prstGeom prst="roundRect">
            <a:avLst>
              <a:gd name="adj" fmla="val 5172"/>
            </a:avLst>
          </a:prstGeom>
          <a:solidFill>
            <a:srgbClr val="FBF3E3"/>
          </a:solidFill>
          <a:ln w="19050">
            <a:solidFill>
              <a:srgbClr val="8E6A1F"/>
            </a:solidFill>
            <a:prstDash val="dash"/>
          </a:ln>
        </p:spPr>
      </p:sp>
      <p:sp>
        <p:nvSpPr>
          <p:cNvPr id="69" name="Text 67"/>
          <p:cNvSpPr txBox="1"/>
          <p:nvPr/>
        </p:nvSpPr>
        <p:spPr>
          <a:xfrm>
            <a:off x="10353751" y="3867912"/>
            <a:ext cx="1216152" cy="950976"/>
          </a:xfrm>
          <a:prstGeom prst="rect">
            <a:avLst/>
          </a:prstGeom>
          <a:noFill/>
          <a:ln/>
        </p:spPr>
        <p:txBody>
          <a:bodyPr wrap="square" lIns="0" tIns="0" rIns="0" bIns="0" rtlCol="0" anchor="ctr"/>
          <a:lstStyle/>
          <a:p>
            <a:pPr algn="ctr" indent="0" marL="0">
              <a:buNone/>
            </a:pPr>
            <a:r>
              <a:rPr lang="en-US" sz="1250" b="1" dirty="0">
                <a:solidFill>
                  <a:srgbClr val="8E6A1F"/>
                </a:solidFill>
                <a:latin typeface="Calibri" pitchFamily="34" charset="0"/>
                <a:ea typeface="Calibri" pitchFamily="34" charset="-122"/>
                <a:cs typeface="Calibri" pitchFamily="34" charset="-120"/>
              </a:rPr>
              <a:t>LLM API</a:t>
            </a:r>
            <a:endParaRPr lang="en-US" sz="1250" dirty="0"/>
          </a:p>
          <a:p>
            <a:pPr algn="ctr" indent="0" marL="0">
              <a:buNone/>
            </a:pPr>
            <a:r>
              <a:rPr lang="en-US" sz="900" dirty="0">
                <a:solidFill>
                  <a:srgbClr val="596273"/>
                </a:solidFill>
                <a:latin typeface="Calibri" pitchFamily="34" charset="0"/>
                <a:ea typeface="Calibri" pitchFamily="34" charset="-122"/>
                <a:cs typeface="Calibri" pitchFamily="34" charset="-120"/>
              </a:rPr>
              <a:t>core-assist only</a:t>
            </a:r>
            <a:endParaRPr lang="en-US" sz="1250" dirty="0"/>
          </a:p>
          <a:p>
            <a:pPr algn="ctr" indent="0" marL="0">
              <a:buNone/>
            </a:pPr>
            <a:r>
              <a:rPr lang="en-US" sz="900" dirty="0">
                <a:solidFill>
                  <a:srgbClr val="596273"/>
                </a:solidFill>
                <a:latin typeface="Calibri" pitchFamily="34" charset="0"/>
                <a:ea typeface="Calibri" pitchFamily="34" charset="-122"/>
                <a:cs typeface="Calibri" pitchFamily="34" charset="-120"/>
              </a:rPr>
              <a:t>~15–20% of components</a:t>
            </a:r>
            <a:endParaRPr lang="en-US" sz="1250" dirty="0"/>
          </a:p>
        </p:txBody>
      </p:sp>
      <p:sp>
        <p:nvSpPr>
          <p:cNvPr id="70" name="Shape 68"/>
          <p:cNvSpPr/>
          <p:nvPr/>
        </p:nvSpPr>
        <p:spPr>
          <a:xfrm flipV="1">
            <a:off x="10116007" y="4160520"/>
            <a:ext cx="182880" cy="82296"/>
          </a:xfrm>
          <a:prstGeom prst="line">
            <a:avLst/>
          </a:prstGeom>
          <a:noFill/>
          <a:ln w="13970">
            <a:solidFill>
              <a:srgbClr val="C89B3C"/>
            </a:solidFill>
            <a:prstDash val="dash"/>
            <a:tailEnd type="triangle"/>
          </a:ln>
        </p:spPr>
      </p:sp>
      <p:sp>
        <p:nvSpPr>
          <p:cNvPr id="71" name="Shape 69"/>
          <p:cNvSpPr/>
          <p:nvPr/>
        </p:nvSpPr>
        <p:spPr>
          <a:xfrm flipV="1">
            <a:off x="10116007" y="4526280"/>
            <a:ext cx="182880" cy="1106424"/>
          </a:xfrm>
          <a:prstGeom prst="line">
            <a:avLst/>
          </a:prstGeom>
          <a:noFill/>
          <a:ln w="13970">
            <a:solidFill>
              <a:srgbClr val="C89B3C"/>
            </a:solidFill>
            <a:prstDash val="dash"/>
            <a:tailEnd type="triangle"/>
          </a:ln>
        </p:spPr>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POC / Feasibility Evidence</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7 / 10</a:t>
            </a:r>
            <a:endParaRPr lang="en-US" sz="1050" dirty="0"/>
          </a:p>
        </p:txBody>
      </p:sp>
      <p:sp>
        <p:nvSpPr>
          <p:cNvPr id="10" name="Text 8"/>
          <p:cNvSpPr txBox="1"/>
          <p:nvPr/>
        </p:nvSpPr>
        <p:spPr>
          <a:xfrm>
            <a:off x="566928" y="1298448"/>
            <a:ext cx="2581580" cy="420624"/>
          </a:xfrm>
          <a:prstGeom prst="rect">
            <a:avLst/>
          </a:prstGeom>
          <a:noFill/>
          <a:ln/>
        </p:spPr>
        <p:txBody>
          <a:bodyPr wrap="square" lIns="0" tIns="0" rIns="0" bIns="0" rtlCol="0" anchor="ctr"/>
          <a:lstStyle/>
          <a:p>
            <a:pPr indent="0" marL="0">
              <a:buNone/>
            </a:pPr>
            <a:r>
              <a:rPr lang="en-US" sz="1900" b="1" dirty="0">
                <a:solidFill>
                  <a:srgbClr val="8E6A1F"/>
                </a:solidFill>
                <a:latin typeface="Georgia" pitchFamily="34" charset="0"/>
                <a:ea typeface="Georgia" pitchFamily="34" charset="-122"/>
                <a:cs typeface="Georgia" pitchFamily="34" charset="-120"/>
              </a:rPr>
              <a:t>71.4%  </a:t>
            </a:r>
            <a:pPr indent="0" marL="0">
              <a:buNone/>
            </a:pPr>
            <a:r>
              <a:rPr lang="en-US" sz="1150" dirty="0">
                <a:solidFill>
                  <a:srgbClr val="596273"/>
                </a:solidFill>
                <a:latin typeface="Calibri" pitchFamily="34" charset="0"/>
                <a:ea typeface="Calibri" pitchFamily="34" charset="-122"/>
                <a:cs typeface="Calibri" pitchFamily="34" charset="-120"/>
              </a:rPr>
              <a:t>agent accuracy (5 runs)</a:t>
            </a:r>
            <a:endParaRPr lang="en-US" sz="1900" dirty="0"/>
          </a:p>
        </p:txBody>
      </p:sp>
      <p:sp>
        <p:nvSpPr>
          <p:cNvPr id="11" name="Text 9"/>
          <p:cNvSpPr txBox="1"/>
          <p:nvPr/>
        </p:nvSpPr>
        <p:spPr>
          <a:xfrm>
            <a:off x="3331388" y="1298448"/>
            <a:ext cx="2581580" cy="420624"/>
          </a:xfrm>
          <a:prstGeom prst="rect">
            <a:avLst/>
          </a:prstGeom>
          <a:noFill/>
          <a:ln/>
        </p:spPr>
        <p:txBody>
          <a:bodyPr wrap="square" lIns="0" tIns="0" rIns="0" bIns="0" rtlCol="0" anchor="ctr"/>
          <a:lstStyle/>
          <a:p>
            <a:pPr indent="0" marL="0">
              <a:buNone/>
            </a:pPr>
            <a:r>
              <a:rPr lang="en-US" sz="1900" b="1" dirty="0">
                <a:solidFill>
                  <a:srgbClr val="8E6A1F"/>
                </a:solidFill>
                <a:latin typeface="Georgia" pitchFamily="34" charset="0"/>
                <a:ea typeface="Georgia" pitchFamily="34" charset="-122"/>
                <a:cs typeface="Georgia" pitchFamily="34" charset="-120"/>
              </a:rPr>
              <a:t>13.2%  </a:t>
            </a:r>
            <a:pPr indent="0" marL="0">
              <a:buNone/>
            </a:pPr>
            <a:r>
              <a:rPr lang="en-US" sz="1150" dirty="0">
                <a:solidFill>
                  <a:srgbClr val="596273"/>
                </a:solidFill>
                <a:latin typeface="Calibri" pitchFamily="34" charset="0"/>
                <a:ea typeface="Calibri" pitchFamily="34" charset="-122"/>
                <a:cs typeface="Calibri" pitchFamily="34" charset="-120"/>
              </a:rPr>
              <a:t>step accuracy (5 runs)</a:t>
            </a:r>
            <a:endParaRPr lang="en-US" sz="1900" dirty="0"/>
          </a:p>
        </p:txBody>
      </p:sp>
      <p:sp>
        <p:nvSpPr>
          <p:cNvPr id="12" name="Text 10"/>
          <p:cNvSpPr txBox="1"/>
          <p:nvPr/>
        </p:nvSpPr>
        <p:spPr>
          <a:xfrm>
            <a:off x="6095848" y="1298448"/>
            <a:ext cx="2581580" cy="420624"/>
          </a:xfrm>
          <a:prstGeom prst="rect">
            <a:avLst/>
          </a:prstGeom>
          <a:noFill/>
          <a:ln/>
        </p:spPr>
        <p:txBody>
          <a:bodyPr wrap="square" lIns="0" tIns="0" rIns="0" bIns="0" rtlCol="0" anchor="ctr"/>
          <a:lstStyle/>
          <a:p>
            <a:pPr indent="0" marL="0">
              <a:buNone/>
            </a:pPr>
            <a:r>
              <a:rPr lang="en-US" sz="1900" b="1" dirty="0">
                <a:solidFill>
                  <a:srgbClr val="8E6A1F"/>
                </a:solidFill>
                <a:latin typeface="Georgia" pitchFamily="34" charset="0"/>
                <a:ea typeface="Georgia" pitchFamily="34" charset="-122"/>
                <a:cs typeface="Georgia" pitchFamily="34" charset="-120"/>
              </a:rPr>
              <a:t>4 / 6  </a:t>
            </a:r>
            <a:pPr indent="0" marL="0">
              <a:buNone/>
            </a:pPr>
            <a:r>
              <a:rPr lang="en-US" sz="1150" dirty="0">
                <a:solidFill>
                  <a:srgbClr val="596273"/>
                </a:solidFill>
                <a:latin typeface="Calibri" pitchFamily="34" charset="0"/>
                <a:ea typeface="Calibri" pitchFamily="34" charset="-122"/>
                <a:cs typeface="Calibri" pitchFamily="34" charset="-120"/>
              </a:rPr>
              <a:t>Repair Agent success</a:t>
            </a:r>
            <a:endParaRPr lang="en-US" sz="1900" dirty="0"/>
          </a:p>
        </p:txBody>
      </p:sp>
      <p:sp>
        <p:nvSpPr>
          <p:cNvPr id="13" name="Text 11"/>
          <p:cNvSpPr txBox="1"/>
          <p:nvPr/>
        </p:nvSpPr>
        <p:spPr>
          <a:xfrm>
            <a:off x="8860307" y="1298448"/>
            <a:ext cx="2581580" cy="420624"/>
          </a:xfrm>
          <a:prstGeom prst="rect">
            <a:avLst/>
          </a:prstGeom>
          <a:noFill/>
          <a:ln/>
        </p:spPr>
        <p:txBody>
          <a:bodyPr wrap="square" lIns="0" tIns="0" rIns="0" bIns="0" rtlCol="0" anchor="ctr"/>
          <a:lstStyle/>
          <a:p>
            <a:pPr indent="0" marL="0">
              <a:buNone/>
            </a:pPr>
            <a:r>
              <a:rPr lang="en-US" sz="1900" b="1" dirty="0">
                <a:solidFill>
                  <a:srgbClr val="8E6A1F"/>
                </a:solidFill>
                <a:latin typeface="Georgia" pitchFamily="34" charset="0"/>
                <a:ea typeface="Georgia" pitchFamily="34" charset="-122"/>
                <a:cs typeface="Georgia" pitchFamily="34" charset="-120"/>
              </a:rPr>
              <a:t>8 / 8  </a:t>
            </a:r>
            <a:pPr indent="0" marL="0">
              <a:buNone/>
            </a:pPr>
            <a:r>
              <a:rPr lang="en-US" sz="1150" dirty="0">
                <a:solidFill>
                  <a:srgbClr val="596273"/>
                </a:solidFill>
                <a:latin typeface="Calibri" pitchFamily="34" charset="0"/>
                <a:ea typeface="Calibri" pitchFamily="34" charset="-122"/>
                <a:cs typeface="Calibri" pitchFamily="34" charset="-120"/>
              </a:rPr>
              <a:t>spikes with real evidence</a:t>
            </a:r>
            <a:endParaRPr lang="en-US" sz="1900" dirty="0"/>
          </a:p>
        </p:txBody>
      </p:sp>
      <p:sp>
        <p:nvSpPr>
          <p:cNvPr id="14" name="Shape 12"/>
          <p:cNvSpPr/>
          <p:nvPr/>
        </p:nvSpPr>
        <p:spPr>
          <a:xfrm>
            <a:off x="566928" y="1755648"/>
            <a:ext cx="11057839" cy="0"/>
          </a:xfrm>
          <a:prstGeom prst="line">
            <a:avLst/>
          </a:prstGeom>
          <a:noFill/>
          <a:ln w="9525">
            <a:solidFill>
              <a:srgbClr val="D9DCE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883664"/>
          <a:ext cx="11057839" cy="2651760"/>
        </p:xfrm>
        <a:graphic>
          <a:graphicData uri="http://schemas.openxmlformats.org/drawingml/2006/table">
            <a:tbl>
              <a:tblPr/>
              <a:tblGrid>
                <a:gridCol w="566928"/>
                <a:gridCol w="2148840"/>
                <a:gridCol w="1645920"/>
                <a:gridCol w="6720840"/>
              </a:tblGrid>
              <a:tr h="294640">
                <a:tc>
                  <a:txBody>
                    <a:bodyPr/>
                    <a:lstStyle/>
                    <a:p>
                      <a:pPr algn="ctr" indent="0" marL="0">
                        <a:buNone/>
                      </a:pPr>
                      <a:r>
                        <a:rPr lang="en-US" sz="1150" b="1" dirty="0">
                          <a:solidFill>
                            <a:srgbClr val="F5F6F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l" indent="0" marL="0">
                        <a:buNone/>
                      </a:pPr>
                      <a:r>
                        <a:rPr lang="en-US" sz="1150" b="1" dirty="0">
                          <a:solidFill>
                            <a:srgbClr val="F5F6F8"/>
                          </a:solidFill>
                          <a:latin typeface="Calibri" pitchFamily="34" charset="0"/>
                          <a:ea typeface="Calibri" pitchFamily="34" charset="-122"/>
                          <a:cs typeface="Calibri" pitchFamily="34" charset="-120"/>
                        </a:rPr>
                        <a:t>Spike</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l" indent="0" marL="0">
                        <a:buNone/>
                      </a:pPr>
                      <a:r>
                        <a:rPr lang="en-US" sz="1150" b="1" dirty="0">
                          <a:solidFill>
                            <a:srgbClr val="F5F6F8"/>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algn="l" indent="0" marL="0">
                        <a:buNone/>
                      </a:pPr>
                      <a:r>
                        <a:rPr lang="en-US" sz="1150" b="1" dirty="0">
                          <a:solidFill>
                            <a:srgbClr val="F5F6F8"/>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ErrorProbe reproduction (simplified)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agent 62.5–85.7%, step 0–25% — 5 real runs, a range</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CrewAI instrumentation</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3 nodes, 2 clean edges</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3/3b</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Fault injection</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1 case self-corrected — kept as a finding</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Semantic Error Diagnostic</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Catches a near-miss ($20.00 vs $19.75), zero false positives</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Controlled counterfactual replay</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97.2 corrupted → 108.0 recovered, recovery_success = true</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Cyclic graph handling</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Disabled → hits the 10,000-step safety cap</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Preventive classifier</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c>
                  <a:txBody>
                    <a:bodyPr/>
                    <a:lstStyle/>
                    <a:p>
                      <a:pPr algn="l" indent="0" marL="0">
                        <a:buNone/>
                      </a:pPr>
                      <a:r>
                        <a:rPr lang="en-US" sz="1150" b="1" dirty="0">
                          <a:solidFill>
                            <a:srgbClr val="A8760F"/>
                          </a:solidFill>
                          <a:latin typeface="Calibri" pitchFamily="34" charset="0"/>
                          <a:ea typeface="Calibri" pitchFamily="34" charset="-122"/>
                          <a:cs typeface="Calibri" pitchFamily="34" charset="-120"/>
                        </a:rPr>
                        <a:t>HONEST NEGATIVE</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precision / recall / F1 = 0.25, near-random — reported, not hidden</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r>
              <a:tr h="294640">
                <a:tc>
                  <a:txBody>
                    <a:bodyPr/>
                    <a:lstStyle/>
                    <a:p>
                      <a:pPr algn="ctr" indent="0" marL="0">
                        <a:buNone/>
                      </a:pPr>
                      <a:r>
                        <a:rPr lang="en-US" sz="1150" dirty="0">
                          <a:solidFill>
                            <a:srgbClr val="1B202A"/>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Repair Agent</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b="1" dirty="0">
                          <a:solidFill>
                            <a:srgbClr val="1E7A52"/>
                          </a:solidFill>
                          <a:latin typeface="Calibri" pitchFamily="34" charset="0"/>
                          <a:ea typeface="Calibri" pitchFamily="34" charset="-122"/>
                          <a:cs typeface="Calibri" pitchFamily="34" charset="-120"/>
                        </a:rPr>
                        <a:t>DEMONSTRATED</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algn="l" indent="0" marL="0">
                        <a:buNone/>
                      </a:pPr>
                      <a:r>
                        <a:rPr lang="en-US" sz="1150" dirty="0">
                          <a:solidFill>
                            <a:srgbClr val="1B202A"/>
                          </a:solidFill>
                          <a:latin typeface="Calibri" pitchFamily="34" charset="0"/>
                          <a:ea typeface="Calibri" pitchFamily="34" charset="-122"/>
                          <a:cs typeface="Calibri" pitchFamily="34" charset="-120"/>
                        </a:rPr>
                        <a:t>4/6 success; both failures share one fixable cause</a:t>
                      </a:r>
                      <a:endParaRPr lang="en-US" sz="1150" dirty="0">
                        <a:latin typeface="Calibri" charset="0"/>
                        <a:ea typeface="Calibri" charset="0"/>
                        <a:cs typeface="Calibri" charset="0"/>
                      </a:endParaRPr>
                    </a:p>
                  </a:txBody>
                  <a:tcPr marL="91440" marR="91440" marT="45720" marB="4572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r>
            </a:tbl>
          </a:graphicData>
        </a:graphic>
      </p:graphicFrame>
      <p:sp>
        <p:nvSpPr>
          <p:cNvPr id="16" name="Text 13"/>
          <p:cNvSpPr txBox="1"/>
          <p:nvPr/>
        </p:nvSpPr>
        <p:spPr>
          <a:xfrm>
            <a:off x="566928" y="4700016"/>
            <a:ext cx="4754880" cy="182880"/>
          </a:xfrm>
          <a:prstGeom prst="rect">
            <a:avLst/>
          </a:prstGeom>
          <a:noFill/>
          <a:ln/>
        </p:spPr>
        <p:txBody>
          <a:bodyPr wrap="square" lIns="0" tIns="0" rIns="0" bIns="0" rtlCol="0" anchor="ctr"/>
          <a:lstStyle/>
          <a:p>
            <a:pPr indent="0" marL="0">
              <a:buNone/>
            </a:pPr>
            <a:r>
              <a:rPr lang="en-US" sz="1050" b="1" spc="40" kern="0" dirty="0">
                <a:solidFill>
                  <a:srgbClr val="8E6A1F"/>
                </a:solidFill>
                <a:latin typeface="Consolas" pitchFamily="34" charset="0"/>
                <a:ea typeface="Consolas" pitchFamily="34" charset="-122"/>
                <a:cs typeface="Consolas" pitchFamily="34" charset="-120"/>
              </a:rPr>
              <a:t>LIVE, CLICKABLE PROTOTYPE</a:t>
            </a:r>
            <a:endParaRPr lang="en-US" sz="1050" dirty="0"/>
          </a:p>
        </p:txBody>
      </p:sp>
      <p:pic>
        <p:nvPicPr>
          <p:cNvPr id="17" name="Image 0" descr="assets_console_thumb.png">    </p:cNvPr>
          <p:cNvPicPr>
            <a:picLocks noChangeAspect="1"/>
          </p:cNvPicPr>
          <p:nvPr/>
        </p:nvPicPr>
        <p:blipFill>
          <a:blip r:embed="rId1"/>
          <a:stretch>
            <a:fillRect/>
          </a:stretch>
        </p:blipFill>
        <p:spPr>
          <a:xfrm>
            <a:off x="566928" y="4919472"/>
            <a:ext cx="4754880" cy="1290610"/>
          </a:xfrm>
          <a:prstGeom prst="rect">
            <a:avLst/>
          </a:prstGeom>
        </p:spPr>
      </p:pic>
      <p:sp>
        <p:nvSpPr>
          <p:cNvPr id="18" name="Text 14"/>
          <p:cNvSpPr txBox="1"/>
          <p:nvPr/>
        </p:nvSpPr>
        <p:spPr>
          <a:xfrm>
            <a:off x="5733288" y="4700016"/>
            <a:ext cx="3520440" cy="182880"/>
          </a:xfrm>
          <a:prstGeom prst="rect">
            <a:avLst/>
          </a:prstGeom>
          <a:noFill/>
          <a:ln/>
        </p:spPr>
        <p:txBody>
          <a:bodyPr wrap="square" lIns="0" tIns="0" rIns="0" bIns="0" rtlCol="0" anchor="ctr"/>
          <a:lstStyle/>
          <a:p>
            <a:pPr indent="0" marL="0">
              <a:buNone/>
            </a:pPr>
            <a:r>
              <a:rPr lang="en-US" sz="1050" b="1" spc="40" kern="0" dirty="0">
                <a:solidFill>
                  <a:srgbClr val="8E6A1F"/>
                </a:solidFill>
                <a:latin typeface="Consolas" pitchFamily="34" charset="0"/>
                <a:ea typeface="Consolas" pitchFamily="34" charset="-122"/>
                <a:cs typeface="Consolas" pitchFamily="34" charset="-120"/>
              </a:rPr>
              <a:t>OPERATOR WORKFLOW</a:t>
            </a:r>
            <a:endParaRPr lang="en-US" sz="1050" dirty="0"/>
          </a:p>
        </p:txBody>
      </p:sp>
      <p:pic>
        <p:nvPicPr>
          <p:cNvPr id="19" name="Image 1" descr="diagram7_cropped.png">    </p:cNvPr>
          <p:cNvPicPr>
            <a:picLocks noChangeAspect="1"/>
          </p:cNvPicPr>
          <p:nvPr/>
        </p:nvPicPr>
        <p:blipFill>
          <a:blip r:embed="rId2"/>
          <a:stretch>
            <a:fillRect/>
          </a:stretch>
        </p:blipFill>
        <p:spPr>
          <a:xfrm>
            <a:off x="5733288" y="4901184"/>
            <a:ext cx="3520440" cy="1437513"/>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Evaluation Plan &amp; Risks</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8 / 10</a:t>
            </a:r>
            <a:endParaRPr lang="en-US" sz="1050" dirty="0"/>
          </a:p>
        </p:txBody>
      </p:sp>
      <p:sp>
        <p:nvSpPr>
          <p:cNvPr id="10" name="Shape 8"/>
          <p:cNvSpPr/>
          <p:nvPr/>
        </p:nvSpPr>
        <p:spPr>
          <a:xfrm>
            <a:off x="587045" y="1342339"/>
            <a:ext cx="11057839" cy="621792"/>
          </a:xfrm>
          <a:prstGeom prst="roundRect">
            <a:avLst>
              <a:gd name="adj" fmla="val 8824"/>
            </a:avLst>
          </a:prstGeom>
          <a:solidFill>
            <a:srgbClr val="E4E6EB"/>
          </a:solidFill>
          <a:ln/>
        </p:spPr>
      </p:sp>
      <p:sp>
        <p:nvSpPr>
          <p:cNvPr id="11" name="Shape 9"/>
          <p:cNvSpPr/>
          <p:nvPr/>
        </p:nvSpPr>
        <p:spPr>
          <a:xfrm>
            <a:off x="566928" y="1316736"/>
            <a:ext cx="11057839" cy="621792"/>
          </a:xfrm>
          <a:prstGeom prst="roundRect">
            <a:avLst>
              <a:gd name="adj" fmla="val 8824"/>
            </a:avLst>
          </a:prstGeom>
          <a:solidFill>
            <a:srgbClr val="F1F2F5"/>
          </a:solidFill>
          <a:ln w="9525">
            <a:solidFill>
              <a:srgbClr val="D9DCE3"/>
            </a:solidFill>
            <a:prstDash val="solid"/>
          </a:ln>
        </p:spPr>
      </p:sp>
      <p:sp>
        <p:nvSpPr>
          <p:cNvPr id="12" name="Shape 10"/>
          <p:cNvSpPr/>
          <p:nvPr/>
        </p:nvSpPr>
        <p:spPr>
          <a:xfrm>
            <a:off x="566928" y="1371600"/>
            <a:ext cx="41148" cy="512064"/>
          </a:xfrm>
          <a:prstGeom prst="rect">
            <a:avLst/>
          </a:prstGeom>
          <a:solidFill>
            <a:srgbClr val="C89B3C"/>
          </a:solidFill>
          <a:ln/>
        </p:spPr>
      </p:sp>
      <p:sp>
        <p:nvSpPr>
          <p:cNvPr id="13" name="Text 11"/>
          <p:cNvSpPr txBox="1"/>
          <p:nvPr/>
        </p:nvSpPr>
        <p:spPr>
          <a:xfrm>
            <a:off x="804672" y="1316736"/>
            <a:ext cx="10582351" cy="621792"/>
          </a:xfrm>
          <a:prstGeom prst="rect">
            <a:avLst/>
          </a:prstGeom>
          <a:noFill/>
          <a:ln/>
        </p:spPr>
        <p:txBody>
          <a:bodyPr wrap="square" lIns="0" tIns="0" rIns="0" bIns="0" rtlCol="0" anchor="ctr"/>
          <a:lstStyle/>
          <a:p>
            <a:pPr indent="0" marL="0">
              <a:buNone/>
            </a:pPr>
            <a:r>
              <a:rPr lang="en-US" sz="1500" b="1" dirty="0">
                <a:solidFill>
                  <a:srgbClr val="8E6A1F"/>
                </a:solidFill>
                <a:latin typeface="Calibri" pitchFamily="34" charset="0"/>
                <a:ea typeface="Calibri" pitchFamily="34" charset="-122"/>
                <a:cs typeface="Calibri" pitchFamily="34" charset="-120"/>
              </a:rPr>
              <a:t>Pre-registered acceptance band.  </a:t>
            </a:r>
            <a:pPr indent="0" marL="0">
              <a:buNone/>
            </a:pPr>
            <a:r>
              <a:rPr lang="en-US" sz="1500" dirty="0">
                <a:solidFill>
                  <a:srgbClr val="1B202A"/>
                </a:solidFill>
                <a:latin typeface="Calibri" pitchFamily="34" charset="0"/>
                <a:ea typeface="Calibri" pitchFamily="34" charset="-122"/>
                <a:cs typeface="Calibri" pitchFamily="34" charset="-120"/>
              </a:rPr>
              <a:t>Reproduction accepted within ±10 points of ErrorProbe's published 59.5% on a comparable-class backbone.</a:t>
            </a:r>
            <a:endParaRPr lang="en-US" sz="1500" dirty="0"/>
          </a:p>
        </p:txBody>
      </p:sp>
      <p:sp>
        <p:nvSpPr>
          <p:cNvPr id="14" name="Text 12"/>
          <p:cNvSpPr txBox="1"/>
          <p:nvPr/>
        </p:nvSpPr>
        <p:spPr>
          <a:xfrm>
            <a:off x="566928" y="2084832"/>
            <a:ext cx="4892040"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METRICS</a:t>
            </a:r>
            <a:endParaRPr lang="en-US" sz="1400" dirty="0"/>
          </a:p>
        </p:txBody>
      </p:sp>
      <p:sp>
        <p:nvSpPr>
          <p:cNvPr id="15" name="Text 13"/>
          <p:cNvSpPr txBox="1"/>
          <p:nvPr/>
        </p:nvSpPr>
        <p:spPr>
          <a:xfrm>
            <a:off x="566928" y="2377440"/>
            <a:ext cx="4892040" cy="1755648"/>
          </a:xfrm>
          <a:prstGeom prst="rect">
            <a:avLst/>
          </a:prstGeom>
          <a:noFill/>
          <a:ln/>
        </p:spPr>
        <p:txBody>
          <a:bodyPr wrap="square" lIns="0" tIns="0" rIns="0" bIns="0" rtlCol="0" anchor="t"/>
          <a:lstStyle/>
          <a:p>
            <a:pPr marL="190500" indent="-190500">
              <a:spcAft>
                <a:spcPts val="900"/>
              </a:spcAft>
              <a:buSzPct val="100000"/>
              <a:buChar char="▪"/>
            </a:pPr>
            <a:r>
              <a:rPr lang="en-US" sz="1470" dirty="0">
                <a:solidFill>
                  <a:srgbClr val="1B202A"/>
                </a:solidFill>
                <a:latin typeface="Calibri" pitchFamily="34" charset="0"/>
                <a:ea typeface="Calibri" pitchFamily="34" charset="-122"/>
                <a:cs typeface="Calibri" pitchFamily="34" charset="-120"/>
              </a:rPr>
              <a:t>Agent / step accuracy · propagation-path F1</a:t>
            </a:r>
            <a:endParaRPr lang="en-US" sz="1470" dirty="0"/>
          </a:p>
          <a:p>
            <a:pPr marL="190500" indent="-190500">
              <a:spcAft>
                <a:spcPts val="900"/>
              </a:spcAft>
              <a:buSzPct val="100000"/>
              <a:buChar char="▪"/>
            </a:pPr>
            <a:r>
              <a:rPr lang="en-US" sz="1470" dirty="0">
                <a:solidFill>
                  <a:srgbClr val="1B202A"/>
                </a:solidFill>
                <a:latin typeface="Calibri" pitchFamily="34" charset="0"/>
                <a:ea typeface="Calibri" pitchFamily="34" charset="-122"/>
                <a:cs typeface="Calibri" pitchFamily="34" charset="-120"/>
              </a:rPr>
              <a:t>SF precision/recall + abstention rate</a:t>
            </a:r>
            <a:endParaRPr lang="en-US" sz="1470" dirty="0"/>
          </a:p>
          <a:p>
            <a:pPr marL="190500" indent="-190500">
              <a:spcAft>
                <a:spcPts val="900"/>
              </a:spcAft>
              <a:buSzPct val="100000"/>
              <a:buChar char="▪"/>
            </a:pPr>
            <a:r>
              <a:rPr lang="en-US" sz="1470" dirty="0">
                <a:solidFill>
                  <a:srgbClr val="1B202A"/>
                </a:solidFill>
                <a:latin typeface="Calibri" pitchFamily="34" charset="0"/>
                <a:ea typeface="Calibri" pitchFamily="34" charset="-122"/>
                <a:cs typeface="Calibri" pitchFamily="34" charset="-120"/>
              </a:rPr>
              <a:t>False-positive rate on clean controls</a:t>
            </a:r>
            <a:endParaRPr lang="en-US" sz="1470" dirty="0"/>
          </a:p>
          <a:p>
            <a:pPr marL="190500" indent="-190500">
              <a:spcAft>
                <a:spcPts val="900"/>
              </a:spcAft>
              <a:buSzPct val="100000"/>
              <a:buChar char="▪"/>
            </a:pPr>
            <a:r>
              <a:rPr lang="en-US" sz="1470" dirty="0">
                <a:solidFill>
                  <a:srgbClr val="1B202A"/>
                </a:solidFill>
                <a:latin typeface="Calibri" pitchFamily="34" charset="0"/>
                <a:ea typeface="Calibri" pitchFamily="34" charset="-122"/>
                <a:cs typeface="Calibri" pitchFamily="34" charset="-120"/>
              </a:rPr>
              <a:t>Completion, recovery, repair success rates</a:t>
            </a:r>
            <a:endParaRPr lang="en-US" sz="1470" dirty="0"/>
          </a:p>
          <a:p>
            <a:pPr marL="190500" indent="-190500">
              <a:spcAft>
                <a:spcPts val="900"/>
              </a:spcAft>
              <a:buSzPct val="100000"/>
              <a:buChar char="▪"/>
            </a:pPr>
            <a:r>
              <a:rPr lang="en-US" sz="1470" dirty="0">
                <a:solidFill>
                  <a:srgbClr val="1B202A"/>
                </a:solidFill>
                <a:latin typeface="Calibri" pitchFamily="34" charset="0"/>
                <a:ea typeface="Calibri" pitchFamily="34" charset="-122"/>
                <a:cs typeface="Calibri" pitchFamily="34" charset="-120"/>
              </a:rPr>
              <a:t>Latency overhead — the NFR, target &lt; 50%</a:t>
            </a:r>
            <a:endParaRPr lang="en-US" sz="1470" dirty="0"/>
          </a:p>
        </p:txBody>
      </p:sp>
      <p:sp>
        <p:nvSpPr>
          <p:cNvPr id="16" name="Shape 14"/>
          <p:cNvSpPr/>
          <p:nvPr/>
        </p:nvSpPr>
        <p:spPr>
          <a:xfrm>
            <a:off x="587045" y="4213555"/>
            <a:ext cx="4892040" cy="1481328"/>
          </a:xfrm>
          <a:prstGeom prst="roundRect">
            <a:avLst>
              <a:gd name="adj" fmla="val 3704"/>
            </a:avLst>
          </a:prstGeom>
          <a:solidFill>
            <a:srgbClr val="E4E6EB"/>
          </a:solidFill>
          <a:ln/>
        </p:spPr>
      </p:sp>
      <p:sp>
        <p:nvSpPr>
          <p:cNvPr id="17" name="Shape 15"/>
          <p:cNvSpPr/>
          <p:nvPr/>
        </p:nvSpPr>
        <p:spPr>
          <a:xfrm>
            <a:off x="566928" y="4187952"/>
            <a:ext cx="4892040" cy="1481328"/>
          </a:xfrm>
          <a:prstGeom prst="roundRect">
            <a:avLst>
              <a:gd name="adj" fmla="val 3704"/>
            </a:avLst>
          </a:prstGeom>
          <a:solidFill>
            <a:srgbClr val="F1F2F5"/>
          </a:solidFill>
          <a:ln w="9525">
            <a:solidFill>
              <a:srgbClr val="D9DCE3"/>
            </a:solidFill>
            <a:prstDash val="solid"/>
          </a:ln>
        </p:spPr>
      </p:sp>
      <p:sp>
        <p:nvSpPr>
          <p:cNvPr id="18" name="Text 16"/>
          <p:cNvSpPr txBox="1"/>
          <p:nvPr/>
        </p:nvSpPr>
        <p:spPr>
          <a:xfrm>
            <a:off x="749808" y="4315968"/>
            <a:ext cx="4526280" cy="256032"/>
          </a:xfrm>
          <a:prstGeom prst="rect">
            <a:avLst/>
          </a:prstGeom>
          <a:noFill/>
          <a:ln/>
        </p:spPr>
        <p:txBody>
          <a:bodyPr wrap="square" lIns="0" tIns="0" rIns="0" bIns="0" rtlCol="0" anchor="ctr"/>
          <a:lstStyle/>
          <a:p>
            <a:pPr indent="0" marL="0">
              <a:buNone/>
            </a:pPr>
            <a:r>
              <a:rPr lang="en-US" sz="1400" b="1" spc="100" kern="0" dirty="0">
                <a:solidFill>
                  <a:srgbClr val="596273"/>
                </a:solidFill>
                <a:latin typeface="Consolas" pitchFamily="34" charset="0"/>
                <a:ea typeface="Consolas" pitchFamily="34" charset="-122"/>
                <a:cs typeface="Consolas" pitchFamily="34" charset="-120"/>
              </a:rPr>
              <a:t>DATA / DEPENDENCIES  ·  PROTOCOL</a:t>
            </a:r>
            <a:endParaRPr lang="en-US" sz="1400" dirty="0"/>
          </a:p>
        </p:txBody>
      </p:sp>
      <p:sp>
        <p:nvSpPr>
          <p:cNvPr id="19" name="Text 17"/>
          <p:cNvSpPr txBox="1"/>
          <p:nvPr/>
        </p:nvSpPr>
        <p:spPr>
          <a:xfrm>
            <a:off x="749808" y="4590288"/>
            <a:ext cx="4526280" cy="969264"/>
          </a:xfrm>
          <a:prstGeom prst="rect">
            <a:avLst/>
          </a:prstGeom>
          <a:noFill/>
          <a:ln/>
        </p:spPr>
        <p:txBody>
          <a:bodyPr wrap="square" lIns="0" tIns="0" rIns="0" bIns="0" rtlCol="0" anchor="t"/>
          <a:lstStyle/>
          <a:p>
            <a:pPr indent="0" marL="0">
              <a:buNone/>
            </a:pPr>
            <a:r>
              <a:rPr lang="en-US" sz="1350" b="1" dirty="0">
                <a:solidFill>
                  <a:srgbClr val="1B202A"/>
                </a:solidFill>
                <a:latin typeface="Calibri" pitchFamily="34" charset="0"/>
                <a:ea typeface="Calibri" pitchFamily="34" charset="-122"/>
                <a:cs typeface="Calibri" pitchFamily="34" charset="-120"/>
              </a:rPr>
              <a:t>Data: </a:t>
            </a:r>
            <a:pPr indent="0" marL="0">
              <a:buNone/>
            </a:pPr>
            <a:r>
              <a:rPr lang="en-US" sz="1350" dirty="0">
                <a:solidFill>
                  <a:srgbClr val="1B202A"/>
                </a:solidFill>
                <a:latin typeface="Calibri" pitchFamily="34" charset="0"/>
                <a:ea typeface="Calibri" pitchFamily="34" charset="-122"/>
                <a:cs typeface="Calibri" pitchFamily="34" charset="-120"/>
              </a:rPr>
              <a:t>Who&amp;When (184 cases); our own benchmark, GSM8K + tau-bench, clean controls.  </a:t>
            </a:r>
            <a:pPr indent="0" marL="0">
              <a:buNone/>
            </a:pPr>
            <a:r>
              <a:rPr lang="en-US" sz="1350" b="1" dirty="0">
                <a:solidFill>
                  <a:srgbClr val="1B202A"/>
                </a:solidFill>
                <a:latin typeface="Calibri" pitchFamily="34" charset="0"/>
                <a:ea typeface="Calibri" pitchFamily="34" charset="-122"/>
                <a:cs typeface="Calibri" pitchFamily="34" charset="-120"/>
              </a:rPr>
              <a:t>Protocol: </a:t>
            </a:r>
            <a:pPr indent="0" marL="0">
              <a:buNone/>
            </a:pPr>
            <a:r>
              <a:rPr lang="en-US" sz="1350" dirty="0">
                <a:solidFill>
                  <a:srgbClr val="1B202A"/>
                </a:solidFill>
                <a:latin typeface="Calibri" pitchFamily="34" charset="0"/>
                <a:ea typeface="Calibri" pitchFamily="34" charset="-122"/>
                <a:cs typeface="Calibri" pitchFamily="34" charset="-120"/>
              </a:rPr>
              <a:t>bootstrap CIs, fixed seeds, N=5 variance, ablation matrix, human baseline.</a:t>
            </a:r>
            <a:endParaRPr lang="en-US" sz="1350" dirty="0"/>
          </a:p>
        </p:txBody>
      </p:sp>
      <p:sp>
        <p:nvSpPr>
          <p:cNvPr id="20" name="Text 18"/>
          <p:cNvSpPr txBox="1"/>
          <p:nvPr/>
        </p:nvSpPr>
        <p:spPr>
          <a:xfrm>
            <a:off x="5696712" y="2084832"/>
            <a:ext cx="2606040"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SUCCESS BANDS</a:t>
            </a:r>
            <a:endParaRPr lang="en-US" sz="1400" dirty="0"/>
          </a:p>
        </p:txBody>
      </p:sp>
      <p:sp>
        <p:nvSpPr>
          <p:cNvPr id="21" name="Shape 19"/>
          <p:cNvSpPr/>
          <p:nvPr/>
        </p:nvSpPr>
        <p:spPr>
          <a:xfrm>
            <a:off x="5716829" y="2403043"/>
            <a:ext cx="2606040" cy="786384"/>
          </a:xfrm>
          <a:prstGeom prst="roundRect">
            <a:avLst>
              <a:gd name="adj" fmla="val 6977"/>
            </a:avLst>
          </a:prstGeom>
          <a:solidFill>
            <a:srgbClr val="E4E6EB"/>
          </a:solidFill>
          <a:ln/>
        </p:spPr>
      </p:sp>
      <p:sp>
        <p:nvSpPr>
          <p:cNvPr id="22" name="Shape 20"/>
          <p:cNvSpPr/>
          <p:nvPr/>
        </p:nvSpPr>
        <p:spPr>
          <a:xfrm>
            <a:off x="5696712" y="2377440"/>
            <a:ext cx="2606040" cy="786384"/>
          </a:xfrm>
          <a:prstGeom prst="roundRect">
            <a:avLst>
              <a:gd name="adj" fmla="val 6977"/>
            </a:avLst>
          </a:prstGeom>
          <a:solidFill>
            <a:srgbClr val="F6E6E3"/>
          </a:solidFill>
          <a:ln w="9525">
            <a:solidFill>
              <a:srgbClr val="D9DCE3"/>
            </a:solidFill>
            <a:prstDash val="solid"/>
          </a:ln>
        </p:spPr>
      </p:sp>
      <p:sp>
        <p:nvSpPr>
          <p:cNvPr id="23" name="Shape 21"/>
          <p:cNvSpPr/>
          <p:nvPr/>
        </p:nvSpPr>
        <p:spPr>
          <a:xfrm>
            <a:off x="5696712" y="2432304"/>
            <a:ext cx="41148" cy="676656"/>
          </a:xfrm>
          <a:prstGeom prst="rect">
            <a:avLst/>
          </a:prstGeom>
          <a:solidFill>
            <a:srgbClr val="A83A30"/>
          </a:solidFill>
          <a:ln/>
        </p:spPr>
      </p:sp>
      <p:sp>
        <p:nvSpPr>
          <p:cNvPr id="24" name="Text 22"/>
          <p:cNvSpPr txBox="1"/>
          <p:nvPr/>
        </p:nvSpPr>
        <p:spPr>
          <a:xfrm>
            <a:off x="5861304" y="2432304"/>
            <a:ext cx="2276856" cy="256032"/>
          </a:xfrm>
          <a:prstGeom prst="rect">
            <a:avLst/>
          </a:prstGeom>
          <a:noFill/>
          <a:ln/>
        </p:spPr>
        <p:txBody>
          <a:bodyPr wrap="square" lIns="0" tIns="0" rIns="0" bIns="0" rtlCol="0" anchor="ctr"/>
          <a:lstStyle/>
          <a:p>
            <a:pPr indent="0" marL="0">
              <a:buNone/>
            </a:pPr>
            <a:r>
              <a:rPr lang="en-US" sz="1450" b="1" dirty="0">
                <a:solidFill>
                  <a:srgbClr val="A83A30"/>
                </a:solidFill>
                <a:latin typeface="Georgia" pitchFamily="34" charset="0"/>
                <a:ea typeface="Georgia" pitchFamily="34" charset="-122"/>
                <a:cs typeface="Georgia" pitchFamily="34" charset="-120"/>
              </a:rPr>
              <a:t>Failure</a:t>
            </a:r>
            <a:endParaRPr lang="en-US" sz="1450" dirty="0"/>
          </a:p>
        </p:txBody>
      </p:sp>
      <p:sp>
        <p:nvSpPr>
          <p:cNvPr id="25" name="Text 23"/>
          <p:cNvSpPr txBox="1"/>
          <p:nvPr/>
        </p:nvSpPr>
        <p:spPr>
          <a:xfrm>
            <a:off x="5861304" y="2724912"/>
            <a:ext cx="2276856" cy="402336"/>
          </a:xfrm>
          <a:prstGeom prst="rect">
            <a:avLst/>
          </a:prstGeom>
          <a:noFill/>
          <a:ln/>
        </p:spPr>
        <p:txBody>
          <a:bodyPr wrap="square" lIns="0" tIns="0" rIns="0" bIns="0" rtlCol="0" anchor="ctr"/>
          <a:lstStyle/>
          <a:p>
            <a:pPr indent="0" marL="0">
              <a:buNone/>
            </a:pPr>
            <a:r>
              <a:rPr lang="en-US" sz="1130" dirty="0">
                <a:solidFill>
                  <a:srgbClr val="1B202A"/>
                </a:solidFill>
                <a:latin typeface="Calibri" pitchFamily="34" charset="0"/>
                <a:ea typeface="Calibri" pitchFamily="34" charset="-122"/>
                <a:cs typeface="Calibri" pitchFamily="34" charset="-120"/>
              </a:rPr>
              <a:t>No measurable improvement anywhere</a:t>
            </a:r>
            <a:endParaRPr lang="en-US" sz="1130" dirty="0"/>
          </a:p>
        </p:txBody>
      </p:sp>
      <p:sp>
        <p:nvSpPr>
          <p:cNvPr id="26" name="Shape 24"/>
          <p:cNvSpPr/>
          <p:nvPr/>
        </p:nvSpPr>
        <p:spPr>
          <a:xfrm>
            <a:off x="5716829" y="3244291"/>
            <a:ext cx="2606040" cy="786384"/>
          </a:xfrm>
          <a:prstGeom prst="roundRect">
            <a:avLst>
              <a:gd name="adj" fmla="val 6977"/>
            </a:avLst>
          </a:prstGeom>
          <a:solidFill>
            <a:srgbClr val="E4E6EB"/>
          </a:solidFill>
          <a:ln/>
        </p:spPr>
      </p:sp>
      <p:sp>
        <p:nvSpPr>
          <p:cNvPr id="27" name="Shape 25"/>
          <p:cNvSpPr/>
          <p:nvPr/>
        </p:nvSpPr>
        <p:spPr>
          <a:xfrm>
            <a:off x="5696712" y="3218688"/>
            <a:ext cx="2606040" cy="786384"/>
          </a:xfrm>
          <a:prstGeom prst="roundRect">
            <a:avLst>
              <a:gd name="adj" fmla="val 6977"/>
            </a:avLst>
          </a:prstGeom>
          <a:solidFill>
            <a:srgbClr val="F7EFDC"/>
          </a:solidFill>
          <a:ln w="9525">
            <a:solidFill>
              <a:srgbClr val="D9DCE3"/>
            </a:solidFill>
            <a:prstDash val="solid"/>
          </a:ln>
        </p:spPr>
      </p:sp>
      <p:sp>
        <p:nvSpPr>
          <p:cNvPr id="28" name="Shape 26"/>
          <p:cNvSpPr/>
          <p:nvPr/>
        </p:nvSpPr>
        <p:spPr>
          <a:xfrm>
            <a:off x="5696712" y="3273552"/>
            <a:ext cx="41148" cy="676656"/>
          </a:xfrm>
          <a:prstGeom prst="rect">
            <a:avLst/>
          </a:prstGeom>
          <a:solidFill>
            <a:srgbClr val="A8760F"/>
          </a:solidFill>
          <a:ln/>
        </p:spPr>
      </p:sp>
      <p:sp>
        <p:nvSpPr>
          <p:cNvPr id="29" name="Text 27"/>
          <p:cNvSpPr txBox="1"/>
          <p:nvPr/>
        </p:nvSpPr>
        <p:spPr>
          <a:xfrm>
            <a:off x="5861304" y="3273552"/>
            <a:ext cx="2276856" cy="256032"/>
          </a:xfrm>
          <a:prstGeom prst="rect">
            <a:avLst/>
          </a:prstGeom>
          <a:noFill/>
          <a:ln/>
        </p:spPr>
        <p:txBody>
          <a:bodyPr wrap="square" lIns="0" tIns="0" rIns="0" bIns="0" rtlCol="0" anchor="ctr"/>
          <a:lstStyle/>
          <a:p>
            <a:pPr indent="0" marL="0">
              <a:buNone/>
            </a:pPr>
            <a:r>
              <a:rPr lang="en-US" sz="1450" b="1" dirty="0">
                <a:solidFill>
                  <a:srgbClr val="A8760F"/>
                </a:solidFill>
                <a:latin typeface="Georgia" pitchFamily="34" charset="0"/>
                <a:ea typeface="Georgia" pitchFamily="34" charset="-122"/>
                <a:cs typeface="Georgia" pitchFamily="34" charset="-120"/>
              </a:rPr>
              <a:t>Acceptable</a:t>
            </a:r>
            <a:endParaRPr lang="en-US" sz="1450" dirty="0"/>
          </a:p>
        </p:txBody>
      </p:sp>
      <p:sp>
        <p:nvSpPr>
          <p:cNvPr id="30" name="Text 28"/>
          <p:cNvSpPr txBox="1"/>
          <p:nvPr/>
        </p:nvSpPr>
        <p:spPr>
          <a:xfrm>
            <a:off x="5861304" y="3566160"/>
            <a:ext cx="2276856" cy="402336"/>
          </a:xfrm>
          <a:prstGeom prst="rect">
            <a:avLst/>
          </a:prstGeom>
          <a:noFill/>
          <a:ln/>
        </p:spPr>
        <p:txBody>
          <a:bodyPr wrap="square" lIns="0" tIns="0" rIns="0" bIns="0" rtlCol="0" anchor="ctr"/>
          <a:lstStyle/>
          <a:p>
            <a:pPr indent="0" marL="0">
              <a:buNone/>
            </a:pPr>
            <a:r>
              <a:rPr lang="en-US" sz="1130" dirty="0">
                <a:solidFill>
                  <a:srgbClr val="1B202A"/>
                </a:solidFill>
                <a:latin typeface="Calibri" pitchFamily="34" charset="0"/>
                <a:ea typeface="Calibri" pitchFamily="34" charset="-122"/>
                <a:cs typeface="Calibri" pitchFamily="34" charset="-120"/>
              </a:rPr>
              <a:t>Parity on Who&amp;When + any cross-arch</a:t>
            </a:r>
            <a:endParaRPr lang="en-US" sz="1130" dirty="0"/>
          </a:p>
        </p:txBody>
      </p:sp>
      <p:sp>
        <p:nvSpPr>
          <p:cNvPr id="31" name="Shape 29"/>
          <p:cNvSpPr/>
          <p:nvPr/>
        </p:nvSpPr>
        <p:spPr>
          <a:xfrm>
            <a:off x="5716829" y="4085539"/>
            <a:ext cx="2606040" cy="786384"/>
          </a:xfrm>
          <a:prstGeom prst="roundRect">
            <a:avLst>
              <a:gd name="adj" fmla="val 6977"/>
            </a:avLst>
          </a:prstGeom>
          <a:solidFill>
            <a:srgbClr val="E4E6EB"/>
          </a:solidFill>
          <a:ln/>
        </p:spPr>
      </p:sp>
      <p:sp>
        <p:nvSpPr>
          <p:cNvPr id="32" name="Shape 30"/>
          <p:cNvSpPr/>
          <p:nvPr/>
        </p:nvSpPr>
        <p:spPr>
          <a:xfrm>
            <a:off x="5696712" y="4059936"/>
            <a:ext cx="2606040" cy="786384"/>
          </a:xfrm>
          <a:prstGeom prst="roundRect">
            <a:avLst>
              <a:gd name="adj" fmla="val 6977"/>
            </a:avLst>
          </a:prstGeom>
          <a:solidFill>
            <a:srgbClr val="E3EFF1"/>
          </a:solidFill>
          <a:ln w="9525">
            <a:solidFill>
              <a:srgbClr val="D9DCE3"/>
            </a:solidFill>
            <a:prstDash val="solid"/>
          </a:ln>
        </p:spPr>
      </p:sp>
      <p:sp>
        <p:nvSpPr>
          <p:cNvPr id="33" name="Shape 31"/>
          <p:cNvSpPr/>
          <p:nvPr/>
        </p:nvSpPr>
        <p:spPr>
          <a:xfrm>
            <a:off x="5696712" y="4114800"/>
            <a:ext cx="41148" cy="676656"/>
          </a:xfrm>
          <a:prstGeom prst="rect">
            <a:avLst/>
          </a:prstGeom>
          <a:solidFill>
            <a:srgbClr val="15707A"/>
          </a:solidFill>
          <a:ln/>
        </p:spPr>
      </p:sp>
      <p:sp>
        <p:nvSpPr>
          <p:cNvPr id="34" name="Text 32"/>
          <p:cNvSpPr txBox="1"/>
          <p:nvPr/>
        </p:nvSpPr>
        <p:spPr>
          <a:xfrm>
            <a:off x="5861304" y="4114800"/>
            <a:ext cx="2276856" cy="256032"/>
          </a:xfrm>
          <a:prstGeom prst="rect">
            <a:avLst/>
          </a:prstGeom>
          <a:noFill/>
          <a:ln/>
        </p:spPr>
        <p:txBody>
          <a:bodyPr wrap="square" lIns="0" tIns="0" rIns="0" bIns="0" rtlCol="0" anchor="ctr"/>
          <a:lstStyle/>
          <a:p>
            <a:pPr indent="0" marL="0">
              <a:buNone/>
            </a:pPr>
            <a:r>
              <a:rPr lang="en-US" sz="1450" b="1" dirty="0">
                <a:solidFill>
                  <a:srgbClr val="15707A"/>
                </a:solidFill>
                <a:latin typeface="Georgia" pitchFamily="34" charset="0"/>
                <a:ea typeface="Georgia" pitchFamily="34" charset="-122"/>
                <a:cs typeface="Georgia" pitchFamily="34" charset="-120"/>
              </a:rPr>
              <a:t>Strong</a:t>
            </a:r>
            <a:endParaRPr lang="en-US" sz="1450" dirty="0"/>
          </a:p>
        </p:txBody>
      </p:sp>
      <p:sp>
        <p:nvSpPr>
          <p:cNvPr id="35" name="Text 33"/>
          <p:cNvSpPr txBox="1"/>
          <p:nvPr/>
        </p:nvSpPr>
        <p:spPr>
          <a:xfrm>
            <a:off x="5861304" y="4407408"/>
            <a:ext cx="2276856" cy="402336"/>
          </a:xfrm>
          <a:prstGeom prst="rect">
            <a:avLst/>
          </a:prstGeom>
          <a:noFill/>
          <a:ln/>
        </p:spPr>
        <p:txBody>
          <a:bodyPr wrap="square" lIns="0" tIns="0" rIns="0" bIns="0" rtlCol="0" anchor="ctr"/>
          <a:lstStyle/>
          <a:p>
            <a:pPr indent="0" marL="0">
              <a:buNone/>
            </a:pPr>
            <a:r>
              <a:rPr lang="en-US" sz="1130" dirty="0">
                <a:solidFill>
                  <a:srgbClr val="1B202A"/>
                </a:solidFill>
                <a:latin typeface="Calibri" pitchFamily="34" charset="0"/>
                <a:ea typeface="Calibri" pitchFamily="34" charset="-122"/>
                <a:cs typeface="Calibri" pitchFamily="34" charset="-120"/>
              </a:rPr>
              <a:t>Beats baseline, unseen archs, &gt;70% SF</a:t>
            </a:r>
            <a:endParaRPr lang="en-US" sz="1130" dirty="0"/>
          </a:p>
        </p:txBody>
      </p:sp>
      <p:sp>
        <p:nvSpPr>
          <p:cNvPr id="36" name="Shape 34"/>
          <p:cNvSpPr/>
          <p:nvPr/>
        </p:nvSpPr>
        <p:spPr>
          <a:xfrm>
            <a:off x="5716829" y="4926787"/>
            <a:ext cx="2606040" cy="786384"/>
          </a:xfrm>
          <a:prstGeom prst="roundRect">
            <a:avLst>
              <a:gd name="adj" fmla="val 6977"/>
            </a:avLst>
          </a:prstGeom>
          <a:solidFill>
            <a:srgbClr val="E4E6EB"/>
          </a:solidFill>
          <a:ln/>
        </p:spPr>
      </p:sp>
      <p:sp>
        <p:nvSpPr>
          <p:cNvPr id="37" name="Shape 35"/>
          <p:cNvSpPr/>
          <p:nvPr/>
        </p:nvSpPr>
        <p:spPr>
          <a:xfrm>
            <a:off x="5696712" y="4901184"/>
            <a:ext cx="2606040" cy="786384"/>
          </a:xfrm>
          <a:prstGeom prst="roundRect">
            <a:avLst>
              <a:gd name="adj" fmla="val 6977"/>
            </a:avLst>
          </a:prstGeom>
          <a:solidFill>
            <a:srgbClr val="E6F1EB"/>
          </a:solidFill>
          <a:ln w="9525">
            <a:solidFill>
              <a:srgbClr val="D9DCE3"/>
            </a:solidFill>
            <a:prstDash val="solid"/>
          </a:ln>
        </p:spPr>
      </p:sp>
      <p:sp>
        <p:nvSpPr>
          <p:cNvPr id="38" name="Shape 36"/>
          <p:cNvSpPr/>
          <p:nvPr/>
        </p:nvSpPr>
        <p:spPr>
          <a:xfrm>
            <a:off x="5696712" y="4956048"/>
            <a:ext cx="41148" cy="676656"/>
          </a:xfrm>
          <a:prstGeom prst="rect">
            <a:avLst/>
          </a:prstGeom>
          <a:solidFill>
            <a:srgbClr val="1E7A52"/>
          </a:solidFill>
          <a:ln/>
        </p:spPr>
      </p:sp>
      <p:sp>
        <p:nvSpPr>
          <p:cNvPr id="39" name="Text 37"/>
          <p:cNvSpPr txBox="1"/>
          <p:nvPr/>
        </p:nvSpPr>
        <p:spPr>
          <a:xfrm>
            <a:off x="5861304" y="4956048"/>
            <a:ext cx="2276856" cy="256032"/>
          </a:xfrm>
          <a:prstGeom prst="rect">
            <a:avLst/>
          </a:prstGeom>
          <a:noFill/>
          <a:ln/>
        </p:spPr>
        <p:txBody>
          <a:bodyPr wrap="square" lIns="0" tIns="0" rIns="0" bIns="0" rtlCol="0" anchor="ctr"/>
          <a:lstStyle/>
          <a:p>
            <a:pPr indent="0" marL="0">
              <a:buNone/>
            </a:pPr>
            <a:r>
              <a:rPr lang="en-US" sz="1450" b="1" dirty="0">
                <a:solidFill>
                  <a:srgbClr val="1E7A52"/>
                </a:solidFill>
                <a:latin typeface="Georgia" pitchFamily="34" charset="0"/>
                <a:ea typeface="Georgia" pitchFamily="34" charset="-122"/>
                <a:cs typeface="Georgia" pitchFamily="34" charset="-120"/>
              </a:rPr>
              <a:t>Exceptional</a:t>
            </a:r>
            <a:endParaRPr lang="en-US" sz="1450" dirty="0"/>
          </a:p>
        </p:txBody>
      </p:sp>
      <p:sp>
        <p:nvSpPr>
          <p:cNvPr id="40" name="Text 38"/>
          <p:cNvSpPr txBox="1"/>
          <p:nvPr/>
        </p:nvSpPr>
        <p:spPr>
          <a:xfrm>
            <a:off x="5861304" y="5248656"/>
            <a:ext cx="2276856" cy="402336"/>
          </a:xfrm>
          <a:prstGeom prst="rect">
            <a:avLst/>
          </a:prstGeom>
          <a:noFill/>
          <a:ln/>
        </p:spPr>
        <p:txBody>
          <a:bodyPr wrap="square" lIns="0" tIns="0" rIns="0" bIns="0" rtlCol="0" anchor="ctr"/>
          <a:lstStyle/>
          <a:p>
            <a:pPr indent="0" marL="0">
              <a:buNone/>
            </a:pPr>
            <a:r>
              <a:rPr lang="en-US" sz="1130" dirty="0">
                <a:solidFill>
                  <a:srgbClr val="1B202A"/>
                </a:solidFill>
                <a:latin typeface="Calibri" pitchFamily="34" charset="0"/>
                <a:ea typeface="Calibri" pitchFamily="34" charset="-122"/>
                <a:cs typeface="Calibri" pitchFamily="34" charset="-120"/>
              </a:rPr>
              <a:t>Strong + &gt;50% verified-repair recovery</a:t>
            </a:r>
            <a:endParaRPr lang="en-US" sz="1130" dirty="0"/>
          </a:p>
        </p:txBody>
      </p:sp>
      <p:sp>
        <p:nvSpPr>
          <p:cNvPr id="41" name="Text 39"/>
          <p:cNvSpPr txBox="1"/>
          <p:nvPr/>
        </p:nvSpPr>
        <p:spPr>
          <a:xfrm>
            <a:off x="8540496" y="2084832"/>
            <a:ext cx="3084271"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TOP RISKS → STATED FALLBACK</a:t>
            </a:r>
            <a:endParaRPr lang="en-US" sz="1400" dirty="0"/>
          </a:p>
        </p:txBody>
      </p:sp>
      <p:sp>
        <p:nvSpPr>
          <p:cNvPr id="42" name="Shape 40"/>
          <p:cNvSpPr/>
          <p:nvPr/>
        </p:nvSpPr>
        <p:spPr>
          <a:xfrm>
            <a:off x="8560613" y="2403043"/>
            <a:ext cx="3084271" cy="786384"/>
          </a:xfrm>
          <a:prstGeom prst="roundRect">
            <a:avLst>
              <a:gd name="adj" fmla="val 6977"/>
            </a:avLst>
          </a:prstGeom>
          <a:solidFill>
            <a:srgbClr val="E4E6EB"/>
          </a:solidFill>
          <a:ln/>
        </p:spPr>
      </p:sp>
      <p:sp>
        <p:nvSpPr>
          <p:cNvPr id="43" name="Shape 41"/>
          <p:cNvSpPr/>
          <p:nvPr/>
        </p:nvSpPr>
        <p:spPr>
          <a:xfrm>
            <a:off x="8540496" y="2377440"/>
            <a:ext cx="3084271" cy="786384"/>
          </a:xfrm>
          <a:prstGeom prst="roundRect">
            <a:avLst>
              <a:gd name="adj" fmla="val 6977"/>
            </a:avLst>
          </a:prstGeom>
          <a:solidFill>
            <a:srgbClr val="F1F2F5"/>
          </a:solidFill>
          <a:ln w="9525">
            <a:solidFill>
              <a:srgbClr val="D9DCE3"/>
            </a:solidFill>
            <a:prstDash val="solid"/>
          </a:ln>
        </p:spPr>
      </p:sp>
      <p:sp>
        <p:nvSpPr>
          <p:cNvPr id="44" name="Text 42"/>
          <p:cNvSpPr txBox="1"/>
          <p:nvPr/>
        </p:nvSpPr>
        <p:spPr>
          <a:xfrm>
            <a:off x="8705088" y="2432304"/>
            <a:ext cx="2755087" cy="329184"/>
          </a:xfrm>
          <a:prstGeom prst="rect">
            <a:avLst/>
          </a:prstGeom>
          <a:noFill/>
          <a:ln/>
        </p:spPr>
        <p:txBody>
          <a:bodyPr wrap="square" lIns="0" tIns="0" rIns="0" bIns="0" rtlCol="0" anchor="ctr"/>
          <a:lstStyle/>
          <a:p>
            <a:pPr indent="0" marL="0">
              <a:buNone/>
            </a:pPr>
            <a:r>
              <a:rPr lang="en-US" sz="1230" b="1" dirty="0">
                <a:solidFill>
                  <a:srgbClr val="1B202A"/>
                </a:solidFill>
                <a:latin typeface="Calibri" pitchFamily="34" charset="0"/>
                <a:ea typeface="Calibri" pitchFamily="34" charset="-122"/>
                <a:cs typeface="Calibri" pitchFamily="34" charset="-120"/>
              </a:rPr>
              <a:t>Reproduction misses the ±10pt band</a:t>
            </a:r>
            <a:endParaRPr lang="en-US" sz="1230" dirty="0"/>
          </a:p>
        </p:txBody>
      </p:sp>
      <p:sp>
        <p:nvSpPr>
          <p:cNvPr id="45" name="Text 43"/>
          <p:cNvSpPr txBox="1"/>
          <p:nvPr/>
        </p:nvSpPr>
        <p:spPr>
          <a:xfrm>
            <a:off x="8705088" y="2798064"/>
            <a:ext cx="2755087" cy="329184"/>
          </a:xfrm>
          <a:prstGeom prst="rect">
            <a:avLst/>
          </a:prstGeom>
          <a:noFill/>
          <a:ln/>
        </p:spPr>
        <p:txBody>
          <a:bodyPr wrap="square" lIns="0" tIns="0" rIns="0" bIns="0" rtlCol="0" anchor="ctr"/>
          <a:lstStyle/>
          <a:p>
            <a:pPr indent="0" marL="0">
              <a:buNone/>
            </a:pPr>
            <a:r>
              <a:rPr lang="en-US" sz="1130" dirty="0">
                <a:solidFill>
                  <a:srgbClr val="1E7A52"/>
                </a:solidFill>
                <a:latin typeface="Calibri" pitchFamily="34" charset="0"/>
                <a:ea typeface="Calibri" pitchFamily="34" charset="-122"/>
                <a:cs typeface="Calibri" pitchFamily="34" charset="-120"/>
              </a:rPr>
              <a:t>Report both numbers, declared in advance — expected, not a failure</a:t>
            </a:r>
            <a:endParaRPr lang="en-US" sz="1130" dirty="0"/>
          </a:p>
        </p:txBody>
      </p:sp>
      <p:sp>
        <p:nvSpPr>
          <p:cNvPr id="46" name="Shape 44"/>
          <p:cNvSpPr/>
          <p:nvPr/>
        </p:nvSpPr>
        <p:spPr>
          <a:xfrm>
            <a:off x="8560613" y="3244291"/>
            <a:ext cx="3084271" cy="786384"/>
          </a:xfrm>
          <a:prstGeom prst="roundRect">
            <a:avLst>
              <a:gd name="adj" fmla="val 6977"/>
            </a:avLst>
          </a:prstGeom>
          <a:solidFill>
            <a:srgbClr val="E4E6EB"/>
          </a:solidFill>
          <a:ln/>
        </p:spPr>
      </p:sp>
      <p:sp>
        <p:nvSpPr>
          <p:cNvPr id="47" name="Shape 45"/>
          <p:cNvSpPr/>
          <p:nvPr/>
        </p:nvSpPr>
        <p:spPr>
          <a:xfrm>
            <a:off x="8540496" y="3218688"/>
            <a:ext cx="3084271" cy="786384"/>
          </a:xfrm>
          <a:prstGeom prst="roundRect">
            <a:avLst>
              <a:gd name="adj" fmla="val 6977"/>
            </a:avLst>
          </a:prstGeom>
          <a:solidFill>
            <a:srgbClr val="F1F2F5"/>
          </a:solidFill>
          <a:ln w="9525">
            <a:solidFill>
              <a:srgbClr val="D9DCE3"/>
            </a:solidFill>
            <a:prstDash val="solid"/>
          </a:ln>
        </p:spPr>
      </p:sp>
      <p:sp>
        <p:nvSpPr>
          <p:cNvPr id="48" name="Text 46"/>
          <p:cNvSpPr txBox="1"/>
          <p:nvPr/>
        </p:nvSpPr>
        <p:spPr>
          <a:xfrm>
            <a:off x="8705088" y="3273552"/>
            <a:ext cx="2755087" cy="329184"/>
          </a:xfrm>
          <a:prstGeom prst="rect">
            <a:avLst/>
          </a:prstGeom>
          <a:noFill/>
          <a:ln/>
        </p:spPr>
        <p:txBody>
          <a:bodyPr wrap="square" lIns="0" tIns="0" rIns="0" bIns="0" rtlCol="0" anchor="ctr"/>
          <a:lstStyle/>
          <a:p>
            <a:pPr indent="0" marL="0">
              <a:buNone/>
            </a:pPr>
            <a:r>
              <a:rPr lang="en-US" sz="1230" b="1" dirty="0">
                <a:solidFill>
                  <a:srgbClr val="1B202A"/>
                </a:solidFill>
                <a:latin typeface="Calibri" pitchFamily="34" charset="0"/>
                <a:ea typeface="Calibri" pitchFamily="34" charset="-122"/>
                <a:cs typeface="Calibri" pitchFamily="34" charset="-120"/>
              </a:rPr>
              <a:t>Recovery Controller fails at Mid-1</a:t>
            </a:r>
            <a:endParaRPr lang="en-US" sz="1230" dirty="0"/>
          </a:p>
        </p:txBody>
      </p:sp>
      <p:sp>
        <p:nvSpPr>
          <p:cNvPr id="49" name="Text 47"/>
          <p:cNvSpPr txBox="1"/>
          <p:nvPr/>
        </p:nvSpPr>
        <p:spPr>
          <a:xfrm>
            <a:off x="8705088" y="3639312"/>
            <a:ext cx="2755087" cy="329184"/>
          </a:xfrm>
          <a:prstGeom prst="rect">
            <a:avLst/>
          </a:prstGeom>
          <a:noFill/>
          <a:ln/>
        </p:spPr>
        <p:txBody>
          <a:bodyPr wrap="square" lIns="0" tIns="0" rIns="0" bIns="0" rtlCol="0" anchor="ctr"/>
          <a:lstStyle/>
          <a:p>
            <a:pPr indent="0" marL="0">
              <a:buNone/>
            </a:pPr>
            <a:r>
              <a:rPr lang="en-US" sz="1130" dirty="0">
                <a:solidFill>
                  <a:srgbClr val="1E7A52"/>
                </a:solidFill>
                <a:latin typeface="Calibri" pitchFamily="34" charset="0"/>
                <a:ea typeface="Calibri" pitchFamily="34" charset="-122"/>
                <a:cs typeface="Calibri" pitchFamily="34" charset="-120"/>
              </a:rPr>
              <a:t>Resume via controlled replay — Tier 1 delivers it</a:t>
            </a:r>
            <a:endParaRPr lang="en-US" sz="1130" dirty="0"/>
          </a:p>
        </p:txBody>
      </p:sp>
      <p:sp>
        <p:nvSpPr>
          <p:cNvPr id="50" name="Shape 48"/>
          <p:cNvSpPr/>
          <p:nvPr/>
        </p:nvSpPr>
        <p:spPr>
          <a:xfrm>
            <a:off x="8560613" y="4085539"/>
            <a:ext cx="3084271" cy="786384"/>
          </a:xfrm>
          <a:prstGeom prst="roundRect">
            <a:avLst>
              <a:gd name="adj" fmla="val 6977"/>
            </a:avLst>
          </a:prstGeom>
          <a:solidFill>
            <a:srgbClr val="E4E6EB"/>
          </a:solidFill>
          <a:ln/>
        </p:spPr>
      </p:sp>
      <p:sp>
        <p:nvSpPr>
          <p:cNvPr id="51" name="Shape 49"/>
          <p:cNvSpPr/>
          <p:nvPr/>
        </p:nvSpPr>
        <p:spPr>
          <a:xfrm>
            <a:off x="8540496" y="4059936"/>
            <a:ext cx="3084271" cy="786384"/>
          </a:xfrm>
          <a:prstGeom prst="roundRect">
            <a:avLst>
              <a:gd name="adj" fmla="val 6977"/>
            </a:avLst>
          </a:prstGeom>
          <a:solidFill>
            <a:srgbClr val="F1F2F5"/>
          </a:solidFill>
          <a:ln w="9525">
            <a:solidFill>
              <a:srgbClr val="D9DCE3"/>
            </a:solidFill>
            <a:prstDash val="solid"/>
          </a:ln>
        </p:spPr>
      </p:sp>
      <p:sp>
        <p:nvSpPr>
          <p:cNvPr id="52" name="Text 50"/>
          <p:cNvSpPr txBox="1"/>
          <p:nvPr/>
        </p:nvSpPr>
        <p:spPr>
          <a:xfrm>
            <a:off x="8705088" y="4114800"/>
            <a:ext cx="2755087" cy="329184"/>
          </a:xfrm>
          <a:prstGeom prst="rect">
            <a:avLst/>
          </a:prstGeom>
          <a:noFill/>
          <a:ln/>
        </p:spPr>
        <p:txBody>
          <a:bodyPr wrap="square" lIns="0" tIns="0" rIns="0" bIns="0" rtlCol="0" anchor="ctr"/>
          <a:lstStyle/>
          <a:p>
            <a:pPr indent="0" marL="0">
              <a:buNone/>
            </a:pPr>
            <a:r>
              <a:rPr lang="en-US" sz="1230" b="1" dirty="0">
                <a:solidFill>
                  <a:srgbClr val="1B202A"/>
                </a:solidFill>
                <a:latin typeface="Calibri" pitchFamily="34" charset="0"/>
                <a:ea typeface="Calibri" pitchFamily="34" charset="-122"/>
                <a:cs typeface="Calibri" pitchFamily="34" charset="-120"/>
              </a:rPr>
              <a:t>Verified Repair Memory fails again</a:t>
            </a:r>
            <a:endParaRPr lang="en-US" sz="1230" dirty="0"/>
          </a:p>
        </p:txBody>
      </p:sp>
      <p:sp>
        <p:nvSpPr>
          <p:cNvPr id="53" name="Text 51"/>
          <p:cNvSpPr txBox="1"/>
          <p:nvPr/>
        </p:nvSpPr>
        <p:spPr>
          <a:xfrm>
            <a:off x="8705088" y="4480560"/>
            <a:ext cx="2755087" cy="329184"/>
          </a:xfrm>
          <a:prstGeom prst="rect">
            <a:avLst/>
          </a:prstGeom>
          <a:noFill/>
          <a:ln/>
        </p:spPr>
        <p:txBody>
          <a:bodyPr wrap="square" lIns="0" tIns="0" rIns="0" bIns="0" rtlCol="0" anchor="ctr"/>
          <a:lstStyle/>
          <a:p>
            <a:pPr indent="0" marL="0">
              <a:buNone/>
            </a:pPr>
            <a:r>
              <a:rPr lang="en-US" sz="1130" dirty="0">
                <a:solidFill>
                  <a:srgbClr val="1E7A52"/>
                </a:solidFill>
                <a:latin typeface="Calibri" pitchFamily="34" charset="0"/>
                <a:ea typeface="Calibri" pitchFamily="34" charset="-122"/>
                <a:cs typeface="Calibri" pitchFamily="34" charset="-120"/>
              </a:rPr>
              <a:t>Ships as a memory-on/off ablation</a:t>
            </a:r>
            <a:endParaRPr lang="en-US" sz="1130" dirty="0"/>
          </a:p>
        </p:txBody>
      </p:sp>
      <p:sp>
        <p:nvSpPr>
          <p:cNvPr id="54" name="Shape 52"/>
          <p:cNvSpPr/>
          <p:nvPr/>
        </p:nvSpPr>
        <p:spPr>
          <a:xfrm>
            <a:off x="8560613" y="4926787"/>
            <a:ext cx="3084271" cy="786384"/>
          </a:xfrm>
          <a:prstGeom prst="roundRect">
            <a:avLst>
              <a:gd name="adj" fmla="val 6977"/>
            </a:avLst>
          </a:prstGeom>
          <a:solidFill>
            <a:srgbClr val="E4E6EB"/>
          </a:solidFill>
          <a:ln/>
        </p:spPr>
      </p:sp>
      <p:sp>
        <p:nvSpPr>
          <p:cNvPr id="55" name="Shape 53"/>
          <p:cNvSpPr/>
          <p:nvPr/>
        </p:nvSpPr>
        <p:spPr>
          <a:xfrm>
            <a:off x="8540496" y="4901184"/>
            <a:ext cx="3084271" cy="786384"/>
          </a:xfrm>
          <a:prstGeom prst="roundRect">
            <a:avLst>
              <a:gd name="adj" fmla="val 6977"/>
            </a:avLst>
          </a:prstGeom>
          <a:solidFill>
            <a:srgbClr val="F1F2F5"/>
          </a:solidFill>
          <a:ln w="9525">
            <a:solidFill>
              <a:srgbClr val="D9DCE3"/>
            </a:solidFill>
            <a:prstDash val="solid"/>
          </a:ln>
        </p:spPr>
      </p:sp>
      <p:sp>
        <p:nvSpPr>
          <p:cNvPr id="56" name="Text 54"/>
          <p:cNvSpPr txBox="1"/>
          <p:nvPr/>
        </p:nvSpPr>
        <p:spPr>
          <a:xfrm>
            <a:off x="8705088" y="4956048"/>
            <a:ext cx="2755087" cy="329184"/>
          </a:xfrm>
          <a:prstGeom prst="rect">
            <a:avLst/>
          </a:prstGeom>
          <a:noFill/>
          <a:ln/>
        </p:spPr>
        <p:txBody>
          <a:bodyPr wrap="square" lIns="0" tIns="0" rIns="0" bIns="0" rtlCol="0" anchor="ctr"/>
          <a:lstStyle/>
          <a:p>
            <a:pPr indent="0" marL="0">
              <a:buNone/>
            </a:pPr>
            <a:r>
              <a:rPr lang="en-US" sz="1230" b="1" dirty="0">
                <a:solidFill>
                  <a:srgbClr val="1B202A"/>
                </a:solidFill>
                <a:latin typeface="Calibri" pitchFamily="34" charset="0"/>
                <a:ea typeface="Calibri" pitchFamily="34" charset="-122"/>
                <a:cs typeface="Calibri" pitchFamily="34" charset="-120"/>
              </a:rPr>
              <a:t>Benchmark scale stalls below 500</a:t>
            </a:r>
            <a:endParaRPr lang="en-US" sz="1230" dirty="0"/>
          </a:p>
        </p:txBody>
      </p:sp>
      <p:sp>
        <p:nvSpPr>
          <p:cNvPr id="57" name="Text 55"/>
          <p:cNvSpPr txBox="1"/>
          <p:nvPr/>
        </p:nvSpPr>
        <p:spPr>
          <a:xfrm>
            <a:off x="8705088" y="5321808"/>
            <a:ext cx="2755087" cy="329184"/>
          </a:xfrm>
          <a:prstGeom prst="rect">
            <a:avLst/>
          </a:prstGeom>
          <a:noFill/>
          <a:ln/>
        </p:spPr>
        <p:txBody>
          <a:bodyPr wrap="square" lIns="0" tIns="0" rIns="0" bIns="0" rtlCol="0" anchor="ctr"/>
          <a:lstStyle/>
          <a:p>
            <a:pPr indent="0" marL="0">
              <a:buNone/>
            </a:pPr>
            <a:r>
              <a:rPr lang="en-US" sz="1130" dirty="0">
                <a:solidFill>
                  <a:srgbClr val="1E7A52"/>
                </a:solidFill>
                <a:latin typeface="Calibri" pitchFamily="34" charset="0"/>
                <a:ea typeface="Calibri" pitchFamily="34" charset="-122"/>
                <a:cs typeface="Calibri" pitchFamily="34" charset="-120"/>
              </a:rPr>
              <a:t>Floor of 500; 300-with-stats beats 1,000-without</a:t>
            </a:r>
            <a:endParaRPr lang="en-US" sz="1130" dirty="0"/>
          </a:p>
        </p:txBody>
      </p:sp>
      <p:sp>
        <p:nvSpPr>
          <p:cNvPr id="58" name="Shape 56"/>
          <p:cNvSpPr/>
          <p:nvPr/>
        </p:nvSpPr>
        <p:spPr>
          <a:xfrm>
            <a:off x="587045" y="5914339"/>
            <a:ext cx="11057839" cy="512064"/>
          </a:xfrm>
          <a:prstGeom prst="roundRect">
            <a:avLst>
              <a:gd name="adj" fmla="val 10714"/>
            </a:avLst>
          </a:prstGeom>
          <a:solidFill>
            <a:srgbClr val="E4E6EB"/>
          </a:solidFill>
          <a:ln/>
        </p:spPr>
      </p:sp>
      <p:sp>
        <p:nvSpPr>
          <p:cNvPr id="59" name="Shape 57"/>
          <p:cNvSpPr/>
          <p:nvPr/>
        </p:nvSpPr>
        <p:spPr>
          <a:xfrm>
            <a:off x="566928" y="5888736"/>
            <a:ext cx="11057839" cy="512064"/>
          </a:xfrm>
          <a:prstGeom prst="roundRect">
            <a:avLst>
              <a:gd name="adj" fmla="val 10714"/>
            </a:avLst>
          </a:prstGeom>
          <a:solidFill>
            <a:srgbClr val="E4E9F2"/>
          </a:solidFill>
          <a:ln w="9525">
            <a:solidFill>
              <a:srgbClr val="D9DCE3"/>
            </a:solidFill>
            <a:prstDash val="solid"/>
          </a:ln>
        </p:spPr>
      </p:sp>
      <p:sp>
        <p:nvSpPr>
          <p:cNvPr id="60" name="Shape 58"/>
          <p:cNvSpPr/>
          <p:nvPr/>
        </p:nvSpPr>
        <p:spPr>
          <a:xfrm>
            <a:off x="566928" y="5943600"/>
            <a:ext cx="41148" cy="402336"/>
          </a:xfrm>
          <a:prstGeom prst="rect">
            <a:avLst/>
          </a:prstGeom>
          <a:solidFill>
            <a:srgbClr val="31558F"/>
          </a:solidFill>
          <a:ln/>
        </p:spPr>
      </p:sp>
      <p:sp>
        <p:nvSpPr>
          <p:cNvPr id="61" name="Text 59"/>
          <p:cNvSpPr txBox="1"/>
          <p:nvPr/>
        </p:nvSpPr>
        <p:spPr>
          <a:xfrm>
            <a:off x="749808" y="5888736"/>
            <a:ext cx="10692079" cy="512064"/>
          </a:xfrm>
          <a:prstGeom prst="rect">
            <a:avLst/>
          </a:prstGeom>
          <a:noFill/>
          <a:ln/>
        </p:spPr>
        <p:txBody>
          <a:bodyPr wrap="square" lIns="0" tIns="0" rIns="0" bIns="0" rtlCol="0" anchor="ctr"/>
          <a:lstStyle/>
          <a:p>
            <a:pPr indent="0" marL="0">
              <a:buNone/>
            </a:pPr>
            <a:r>
              <a:rPr lang="en-US" sz="1230" b="1" dirty="0">
                <a:solidFill>
                  <a:srgbClr val="31558F"/>
                </a:solidFill>
                <a:latin typeface="Calibri" pitchFamily="34" charset="0"/>
                <a:ea typeface="Calibri" pitchFamily="34" charset="-122"/>
                <a:cs typeface="Calibri" pitchFamily="34" charset="-120"/>
              </a:rPr>
              <a:t>GenAI boundary:  </a:t>
            </a:r>
            <a:pPr indent="0" marL="0">
              <a:buNone/>
            </a:pPr>
            <a:r>
              <a:rPr lang="en-US" sz="1230" dirty="0">
                <a:solidFill>
                  <a:srgbClr val="1B202A"/>
                </a:solidFill>
                <a:latin typeface="Calibri" pitchFamily="34" charset="0"/>
                <a:ea typeface="Calibri" pitchFamily="34" charset="-122"/>
                <a:cs typeface="Calibri" pitchFamily="34" charset="-120"/>
              </a:rPr>
              <a:t>nothing we claim sits in core-replacement — the LLM is core-assist.</a:t>
            </a:r>
            <a:endParaRPr lang="en-US" sz="123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Work Division &amp; Iteration Plan</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9 / 10</a:t>
            </a:r>
            <a:endParaRPr lang="en-US" sz="1050" dirty="0"/>
          </a:p>
        </p:txBody>
      </p:sp>
      <p:sp>
        <p:nvSpPr>
          <p:cNvPr id="10" name="Shape 8"/>
          <p:cNvSpPr/>
          <p:nvPr/>
        </p:nvSpPr>
        <p:spPr>
          <a:xfrm>
            <a:off x="587045" y="1269187"/>
            <a:ext cx="3551834" cy="2359152"/>
          </a:xfrm>
          <a:prstGeom prst="roundRect">
            <a:avLst>
              <a:gd name="adj" fmla="val 2326"/>
            </a:avLst>
          </a:prstGeom>
          <a:solidFill>
            <a:srgbClr val="E4E6EB"/>
          </a:solidFill>
          <a:ln/>
        </p:spPr>
      </p:sp>
      <p:sp>
        <p:nvSpPr>
          <p:cNvPr id="11" name="Shape 9"/>
          <p:cNvSpPr/>
          <p:nvPr/>
        </p:nvSpPr>
        <p:spPr>
          <a:xfrm>
            <a:off x="566928" y="1243584"/>
            <a:ext cx="3551834" cy="2359152"/>
          </a:xfrm>
          <a:prstGeom prst="roundRect">
            <a:avLst>
              <a:gd name="adj" fmla="val 2326"/>
            </a:avLst>
          </a:prstGeom>
          <a:solidFill>
            <a:srgbClr val="E3EFF1"/>
          </a:solidFill>
          <a:ln w="9525">
            <a:solidFill>
              <a:srgbClr val="D9DCE3"/>
            </a:solidFill>
            <a:prstDash val="solid"/>
          </a:ln>
        </p:spPr>
      </p:sp>
      <p:sp>
        <p:nvSpPr>
          <p:cNvPr id="12" name="Shape 10"/>
          <p:cNvSpPr/>
          <p:nvPr/>
        </p:nvSpPr>
        <p:spPr>
          <a:xfrm>
            <a:off x="566928" y="1298448"/>
            <a:ext cx="41148" cy="2249424"/>
          </a:xfrm>
          <a:prstGeom prst="rect">
            <a:avLst/>
          </a:prstGeom>
          <a:solidFill>
            <a:srgbClr val="15707A"/>
          </a:solidFill>
          <a:ln/>
        </p:spPr>
      </p:sp>
      <p:sp>
        <p:nvSpPr>
          <p:cNvPr id="13" name="Text 11"/>
          <p:cNvSpPr txBox="1"/>
          <p:nvPr/>
        </p:nvSpPr>
        <p:spPr>
          <a:xfrm>
            <a:off x="749808" y="1353312"/>
            <a:ext cx="3186074" cy="292608"/>
          </a:xfrm>
          <a:prstGeom prst="rect">
            <a:avLst/>
          </a:prstGeom>
          <a:noFill/>
          <a:ln/>
        </p:spPr>
        <p:txBody>
          <a:bodyPr wrap="square" lIns="0" tIns="0" rIns="0" bIns="0" rtlCol="0" anchor="ctr"/>
          <a:lstStyle/>
          <a:p>
            <a:pPr indent="0" marL="0">
              <a:buNone/>
            </a:pPr>
            <a:r>
              <a:rPr lang="en-US" sz="1750" b="1" dirty="0">
                <a:solidFill>
                  <a:srgbClr val="1B202A"/>
                </a:solidFill>
                <a:latin typeface="Georgia" pitchFamily="34" charset="0"/>
                <a:ea typeface="Georgia" pitchFamily="34" charset="-122"/>
                <a:cs typeface="Georgia" pitchFamily="34" charset="-120"/>
              </a:rPr>
              <a:t>Shahoud Shahid</a:t>
            </a:r>
            <a:pPr indent="0" marL="0">
              <a:buNone/>
            </a:pPr>
            <a:r>
              <a:rPr lang="en-US" sz="1250" dirty="0">
                <a:solidFill>
                  <a:srgbClr val="596273"/>
                </a:solidFill>
                <a:latin typeface="Consolas" pitchFamily="34" charset="0"/>
                <a:ea typeface="Consolas" pitchFamily="34" charset="-122"/>
                <a:cs typeface="Consolas" pitchFamily="34" charset="-120"/>
              </a:rPr>
              <a:t>   23i-2515</a:t>
            </a:r>
            <a:endParaRPr lang="en-US" sz="1750" dirty="0"/>
          </a:p>
        </p:txBody>
      </p:sp>
      <p:sp>
        <p:nvSpPr>
          <p:cNvPr id="14" name="Shape 12"/>
          <p:cNvSpPr/>
          <p:nvPr/>
        </p:nvSpPr>
        <p:spPr>
          <a:xfrm>
            <a:off x="749808" y="1700784"/>
            <a:ext cx="2011680" cy="274320"/>
          </a:xfrm>
          <a:prstGeom prst="roundRect">
            <a:avLst>
              <a:gd name="adj" fmla="val 50000"/>
            </a:avLst>
          </a:prstGeom>
          <a:solidFill>
            <a:srgbClr val="15707A"/>
          </a:solidFill>
          <a:ln/>
        </p:spPr>
      </p:sp>
      <p:sp>
        <p:nvSpPr>
          <p:cNvPr id="15" name="Text 13"/>
          <p:cNvSpPr txBox="1"/>
          <p:nvPr/>
        </p:nvSpPr>
        <p:spPr>
          <a:xfrm>
            <a:off x="749808" y="1700784"/>
            <a:ext cx="2011680" cy="274320"/>
          </a:xfrm>
          <a:prstGeom prst="rect">
            <a:avLst/>
          </a:prstGeom>
          <a:noFill/>
          <a:ln/>
        </p:spPr>
        <p:txBody>
          <a:bodyPr wrap="square" lIns="0" tIns="0" rIns="0" bIns="0" rtlCol="0" anchor="ctr"/>
          <a:lstStyle/>
          <a:p>
            <a:pPr algn="ctr" indent="0" marL="0">
              <a:buNone/>
            </a:pPr>
            <a:r>
              <a:rPr lang="en-US" sz="1250" b="1" dirty="0">
                <a:solidFill>
                  <a:srgbClr val="F5F6F8"/>
                </a:solidFill>
                <a:latin typeface="Consolas" pitchFamily="34" charset="0"/>
                <a:ea typeface="Consolas" pitchFamily="34" charset="-122"/>
                <a:cs typeface="Consolas" pitchFamily="34" charset="-120"/>
              </a:rPr>
              <a:t>DATA / BENCHMARK</a:t>
            </a:r>
            <a:endParaRPr lang="en-US" sz="1250" dirty="0"/>
          </a:p>
        </p:txBody>
      </p:sp>
      <p:sp>
        <p:nvSpPr>
          <p:cNvPr id="16" name="Text 14"/>
          <p:cNvSpPr txBox="1"/>
          <p:nvPr/>
        </p:nvSpPr>
        <p:spPr>
          <a:xfrm>
            <a:off x="749808" y="2048256"/>
            <a:ext cx="3186074" cy="1115568"/>
          </a:xfrm>
          <a:prstGeom prst="rect">
            <a:avLst/>
          </a:prstGeom>
          <a:noFill/>
          <a:ln/>
        </p:spPr>
        <p:txBody>
          <a:bodyPr wrap="square" lIns="0" tIns="0" rIns="0" bIns="0" rtlCol="0" anchor="t"/>
          <a:lstStyle/>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Framework instrumentation (CrewAI, LangGraph)</a:t>
            </a:r>
            <a:endParaRPr lang="en-US" sz="1300" dirty="0"/>
          </a:p>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Fault injection + labelling</a:t>
            </a:r>
            <a:endParaRPr lang="en-US" sz="1300" dirty="0"/>
          </a:p>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Benchmark build &amp; release</a:t>
            </a:r>
            <a:endParaRPr lang="en-US" sz="1300" dirty="0"/>
          </a:p>
        </p:txBody>
      </p:sp>
      <p:sp>
        <p:nvSpPr>
          <p:cNvPr id="17" name="Shape 15"/>
          <p:cNvSpPr/>
          <p:nvPr/>
        </p:nvSpPr>
        <p:spPr>
          <a:xfrm>
            <a:off x="749808" y="3218688"/>
            <a:ext cx="3186074" cy="0"/>
          </a:xfrm>
          <a:prstGeom prst="line">
            <a:avLst/>
          </a:prstGeom>
          <a:noFill/>
          <a:ln w="9525">
            <a:solidFill>
              <a:srgbClr val="15707A"/>
            </a:solidFill>
            <a:prstDash val="solid"/>
          </a:ln>
        </p:spPr>
      </p:sp>
      <p:sp>
        <p:nvSpPr>
          <p:cNvPr id="18" name="Text 16"/>
          <p:cNvSpPr txBox="1"/>
          <p:nvPr/>
        </p:nvSpPr>
        <p:spPr>
          <a:xfrm>
            <a:off x="749808" y="3273552"/>
            <a:ext cx="3186074" cy="310896"/>
          </a:xfrm>
          <a:prstGeom prst="rect">
            <a:avLst/>
          </a:prstGeom>
          <a:noFill/>
          <a:ln/>
        </p:spPr>
        <p:txBody>
          <a:bodyPr wrap="square" lIns="0" tIns="0" rIns="0" bIns="0" rtlCol="0" anchor="ctr"/>
          <a:lstStyle/>
          <a:p>
            <a:pPr indent="0" marL="0">
              <a:buNone/>
            </a:pPr>
            <a:r>
              <a:rPr lang="en-US" sz="1150" i="1" dirty="0">
                <a:solidFill>
                  <a:srgbClr val="596273"/>
                </a:solidFill>
                <a:latin typeface="Calibri" pitchFamily="34" charset="0"/>
                <a:ea typeface="Calibri" pitchFamily="34" charset="-122"/>
                <a:cs typeface="Calibri" pitchFamily="34" charset="-120"/>
              </a:rPr>
              <a:t>If removed: no cross-architecture benchmark — the core research claim is untestable</a:t>
            </a:r>
            <a:endParaRPr lang="en-US" sz="1150" dirty="0"/>
          </a:p>
        </p:txBody>
      </p:sp>
      <p:sp>
        <p:nvSpPr>
          <p:cNvPr id="19" name="Shape 17"/>
          <p:cNvSpPr/>
          <p:nvPr/>
        </p:nvSpPr>
        <p:spPr>
          <a:xfrm>
            <a:off x="4340047" y="1269187"/>
            <a:ext cx="3551834" cy="2359152"/>
          </a:xfrm>
          <a:prstGeom prst="roundRect">
            <a:avLst>
              <a:gd name="adj" fmla="val 2326"/>
            </a:avLst>
          </a:prstGeom>
          <a:solidFill>
            <a:srgbClr val="E4E6EB"/>
          </a:solidFill>
          <a:ln/>
        </p:spPr>
      </p:sp>
      <p:sp>
        <p:nvSpPr>
          <p:cNvPr id="20" name="Shape 18"/>
          <p:cNvSpPr/>
          <p:nvPr/>
        </p:nvSpPr>
        <p:spPr>
          <a:xfrm>
            <a:off x="4319930" y="1243584"/>
            <a:ext cx="3551834" cy="2359152"/>
          </a:xfrm>
          <a:prstGeom prst="roundRect">
            <a:avLst>
              <a:gd name="adj" fmla="val 2326"/>
            </a:avLst>
          </a:prstGeom>
          <a:solidFill>
            <a:srgbClr val="F6EADD"/>
          </a:solidFill>
          <a:ln w="9525">
            <a:solidFill>
              <a:srgbClr val="D9DCE3"/>
            </a:solidFill>
            <a:prstDash val="solid"/>
          </a:ln>
        </p:spPr>
      </p:sp>
      <p:sp>
        <p:nvSpPr>
          <p:cNvPr id="21" name="Shape 19"/>
          <p:cNvSpPr/>
          <p:nvPr/>
        </p:nvSpPr>
        <p:spPr>
          <a:xfrm>
            <a:off x="4319930" y="1298448"/>
            <a:ext cx="41148" cy="2249424"/>
          </a:xfrm>
          <a:prstGeom prst="rect">
            <a:avLst/>
          </a:prstGeom>
          <a:solidFill>
            <a:srgbClr val="B05C1C"/>
          </a:solidFill>
          <a:ln/>
        </p:spPr>
      </p:sp>
      <p:sp>
        <p:nvSpPr>
          <p:cNvPr id="22" name="Text 20"/>
          <p:cNvSpPr txBox="1"/>
          <p:nvPr/>
        </p:nvSpPr>
        <p:spPr>
          <a:xfrm>
            <a:off x="4502810" y="1353312"/>
            <a:ext cx="3186074" cy="292608"/>
          </a:xfrm>
          <a:prstGeom prst="rect">
            <a:avLst/>
          </a:prstGeom>
          <a:noFill/>
          <a:ln/>
        </p:spPr>
        <p:txBody>
          <a:bodyPr wrap="square" lIns="0" tIns="0" rIns="0" bIns="0" rtlCol="0" anchor="ctr"/>
          <a:lstStyle/>
          <a:p>
            <a:pPr indent="0" marL="0">
              <a:buNone/>
            </a:pPr>
            <a:r>
              <a:rPr lang="en-US" sz="1750" b="1" dirty="0">
                <a:solidFill>
                  <a:srgbClr val="1B202A"/>
                </a:solidFill>
                <a:latin typeface="Georgia" pitchFamily="34" charset="0"/>
                <a:ea typeface="Georgia" pitchFamily="34" charset="-122"/>
                <a:cs typeface="Georgia" pitchFamily="34" charset="-120"/>
              </a:rPr>
              <a:t>Muhammad Noor</a:t>
            </a:r>
            <a:pPr indent="0" marL="0">
              <a:buNone/>
            </a:pPr>
            <a:r>
              <a:rPr lang="en-US" sz="1250" dirty="0">
                <a:solidFill>
                  <a:srgbClr val="596273"/>
                </a:solidFill>
                <a:latin typeface="Consolas" pitchFamily="34" charset="0"/>
                <a:ea typeface="Consolas" pitchFamily="34" charset="-122"/>
                <a:cs typeface="Consolas" pitchFamily="34" charset="-120"/>
              </a:rPr>
              <a:t>   23i-2520</a:t>
            </a:r>
            <a:endParaRPr lang="en-US" sz="1750" dirty="0"/>
          </a:p>
        </p:txBody>
      </p:sp>
      <p:sp>
        <p:nvSpPr>
          <p:cNvPr id="23" name="Shape 21"/>
          <p:cNvSpPr/>
          <p:nvPr/>
        </p:nvSpPr>
        <p:spPr>
          <a:xfrm>
            <a:off x="4502810" y="1700784"/>
            <a:ext cx="2011680" cy="274320"/>
          </a:xfrm>
          <a:prstGeom prst="roundRect">
            <a:avLst>
              <a:gd name="adj" fmla="val 50000"/>
            </a:avLst>
          </a:prstGeom>
          <a:solidFill>
            <a:srgbClr val="B05C1C"/>
          </a:solidFill>
          <a:ln/>
        </p:spPr>
      </p:sp>
      <p:sp>
        <p:nvSpPr>
          <p:cNvPr id="24" name="Text 22"/>
          <p:cNvSpPr txBox="1"/>
          <p:nvPr/>
        </p:nvSpPr>
        <p:spPr>
          <a:xfrm>
            <a:off x="4502810" y="1700784"/>
            <a:ext cx="2011680" cy="274320"/>
          </a:xfrm>
          <a:prstGeom prst="rect">
            <a:avLst/>
          </a:prstGeom>
          <a:noFill/>
          <a:ln/>
        </p:spPr>
        <p:txBody>
          <a:bodyPr wrap="square" lIns="0" tIns="0" rIns="0" bIns="0" rtlCol="0" anchor="ctr"/>
          <a:lstStyle/>
          <a:p>
            <a:pPr algn="ctr" indent="0" marL="0">
              <a:buNone/>
            </a:pPr>
            <a:r>
              <a:rPr lang="en-US" sz="1250" b="1" dirty="0">
                <a:solidFill>
                  <a:srgbClr val="F5F6F8"/>
                </a:solidFill>
                <a:latin typeface="Consolas" pitchFamily="34" charset="0"/>
                <a:ea typeface="Consolas" pitchFamily="34" charset="-122"/>
                <a:cs typeface="Consolas" pitchFamily="34" charset="-120"/>
              </a:rPr>
              <a:t>DIAGNOSIS ENGINE</a:t>
            </a:r>
            <a:endParaRPr lang="en-US" sz="1250" dirty="0"/>
          </a:p>
        </p:txBody>
      </p:sp>
      <p:sp>
        <p:nvSpPr>
          <p:cNvPr id="25" name="Text 23"/>
          <p:cNvSpPr txBox="1"/>
          <p:nvPr/>
        </p:nvSpPr>
        <p:spPr>
          <a:xfrm>
            <a:off x="4502810" y="2048256"/>
            <a:ext cx="3186074" cy="1115568"/>
          </a:xfrm>
          <a:prstGeom prst="rect">
            <a:avLst/>
          </a:prstGeom>
          <a:noFill/>
          <a:ln/>
        </p:spPr>
        <p:txBody>
          <a:bodyPr wrap="square" lIns="0" tIns="0" rIns="0" bIns="0" rtlCol="0" anchor="t"/>
          <a:lstStyle/>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Graph construction + trace normalization</a:t>
            </a:r>
            <a:endParaRPr lang="en-US" sz="1300" dirty="0"/>
          </a:p>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ErrorProbe reproduction and baseline</a:t>
            </a:r>
            <a:endParaRPr lang="en-US" sz="1300" dirty="0"/>
          </a:p>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Semantic Error Diagnostic + causal tracing</a:t>
            </a:r>
            <a:endParaRPr lang="en-US" sz="1300" dirty="0"/>
          </a:p>
        </p:txBody>
      </p:sp>
      <p:sp>
        <p:nvSpPr>
          <p:cNvPr id="26" name="Shape 24"/>
          <p:cNvSpPr/>
          <p:nvPr/>
        </p:nvSpPr>
        <p:spPr>
          <a:xfrm>
            <a:off x="4502810" y="3218688"/>
            <a:ext cx="3186074" cy="0"/>
          </a:xfrm>
          <a:prstGeom prst="line">
            <a:avLst/>
          </a:prstGeom>
          <a:noFill/>
          <a:ln w="9525">
            <a:solidFill>
              <a:srgbClr val="B05C1C"/>
            </a:solidFill>
            <a:prstDash val="solid"/>
          </a:ln>
        </p:spPr>
      </p:sp>
      <p:sp>
        <p:nvSpPr>
          <p:cNvPr id="27" name="Text 25"/>
          <p:cNvSpPr txBox="1"/>
          <p:nvPr/>
        </p:nvSpPr>
        <p:spPr>
          <a:xfrm>
            <a:off x="4502810" y="3273552"/>
            <a:ext cx="3186074" cy="310896"/>
          </a:xfrm>
          <a:prstGeom prst="rect">
            <a:avLst/>
          </a:prstGeom>
          <a:noFill/>
          <a:ln/>
        </p:spPr>
        <p:txBody>
          <a:bodyPr wrap="square" lIns="0" tIns="0" rIns="0" bIns="0" rtlCol="0" anchor="ctr"/>
          <a:lstStyle/>
          <a:p>
            <a:pPr indent="0" marL="0">
              <a:buNone/>
            </a:pPr>
            <a:r>
              <a:rPr lang="en-US" sz="1150" i="1" dirty="0">
                <a:solidFill>
                  <a:srgbClr val="596273"/>
                </a:solidFill>
                <a:latin typeface="Calibri" pitchFamily="34" charset="0"/>
                <a:ea typeface="Calibri" pitchFamily="34" charset="-122"/>
                <a:cs typeface="Calibri" pitchFamily="34" charset="-120"/>
              </a:rPr>
              <a:t>If removed: no attribution algorithm, no silent-failure detection — the contribution disappears</a:t>
            </a:r>
            <a:endParaRPr lang="en-US" sz="1150" dirty="0"/>
          </a:p>
        </p:txBody>
      </p:sp>
      <p:sp>
        <p:nvSpPr>
          <p:cNvPr id="28" name="Shape 26"/>
          <p:cNvSpPr/>
          <p:nvPr/>
        </p:nvSpPr>
        <p:spPr>
          <a:xfrm>
            <a:off x="8093050" y="1269187"/>
            <a:ext cx="3551834" cy="2359152"/>
          </a:xfrm>
          <a:prstGeom prst="roundRect">
            <a:avLst>
              <a:gd name="adj" fmla="val 2326"/>
            </a:avLst>
          </a:prstGeom>
          <a:solidFill>
            <a:srgbClr val="E4E6EB"/>
          </a:solidFill>
          <a:ln/>
        </p:spPr>
      </p:sp>
      <p:sp>
        <p:nvSpPr>
          <p:cNvPr id="29" name="Shape 27"/>
          <p:cNvSpPr/>
          <p:nvPr/>
        </p:nvSpPr>
        <p:spPr>
          <a:xfrm>
            <a:off x="8072933" y="1243584"/>
            <a:ext cx="3551834" cy="2359152"/>
          </a:xfrm>
          <a:prstGeom prst="roundRect">
            <a:avLst>
              <a:gd name="adj" fmla="val 2326"/>
            </a:avLst>
          </a:prstGeom>
          <a:solidFill>
            <a:srgbClr val="E4E9F2"/>
          </a:solidFill>
          <a:ln w="9525">
            <a:solidFill>
              <a:srgbClr val="D9DCE3"/>
            </a:solidFill>
            <a:prstDash val="solid"/>
          </a:ln>
        </p:spPr>
      </p:sp>
      <p:sp>
        <p:nvSpPr>
          <p:cNvPr id="30" name="Shape 28"/>
          <p:cNvSpPr/>
          <p:nvPr/>
        </p:nvSpPr>
        <p:spPr>
          <a:xfrm>
            <a:off x="8072933" y="1298448"/>
            <a:ext cx="41148" cy="2249424"/>
          </a:xfrm>
          <a:prstGeom prst="rect">
            <a:avLst/>
          </a:prstGeom>
          <a:solidFill>
            <a:srgbClr val="31558F"/>
          </a:solidFill>
          <a:ln/>
        </p:spPr>
      </p:sp>
      <p:sp>
        <p:nvSpPr>
          <p:cNvPr id="31" name="Text 29"/>
          <p:cNvSpPr txBox="1"/>
          <p:nvPr/>
        </p:nvSpPr>
        <p:spPr>
          <a:xfrm>
            <a:off x="8255813" y="1353312"/>
            <a:ext cx="3186074" cy="292608"/>
          </a:xfrm>
          <a:prstGeom prst="rect">
            <a:avLst/>
          </a:prstGeom>
          <a:noFill/>
          <a:ln/>
        </p:spPr>
        <p:txBody>
          <a:bodyPr wrap="square" lIns="0" tIns="0" rIns="0" bIns="0" rtlCol="0" anchor="ctr"/>
          <a:lstStyle/>
          <a:p>
            <a:pPr indent="0" marL="0">
              <a:buNone/>
            </a:pPr>
            <a:r>
              <a:rPr lang="en-US" sz="1750" b="1" dirty="0">
                <a:solidFill>
                  <a:srgbClr val="1B202A"/>
                </a:solidFill>
                <a:latin typeface="Georgia" pitchFamily="34" charset="0"/>
                <a:ea typeface="Georgia" pitchFamily="34" charset="-122"/>
                <a:cs typeface="Georgia" pitchFamily="34" charset="-120"/>
              </a:rPr>
              <a:t>Saif Shahzad</a:t>
            </a:r>
            <a:pPr indent="0" marL="0">
              <a:buNone/>
            </a:pPr>
            <a:r>
              <a:rPr lang="en-US" sz="1250" dirty="0">
                <a:solidFill>
                  <a:srgbClr val="596273"/>
                </a:solidFill>
                <a:latin typeface="Consolas" pitchFamily="34" charset="0"/>
                <a:ea typeface="Consolas" pitchFamily="34" charset="-122"/>
                <a:cs typeface="Consolas" pitchFamily="34" charset="-120"/>
              </a:rPr>
              <a:t>   23i-2634</a:t>
            </a:r>
            <a:endParaRPr lang="en-US" sz="1750" dirty="0"/>
          </a:p>
        </p:txBody>
      </p:sp>
      <p:sp>
        <p:nvSpPr>
          <p:cNvPr id="32" name="Shape 30"/>
          <p:cNvSpPr/>
          <p:nvPr/>
        </p:nvSpPr>
        <p:spPr>
          <a:xfrm>
            <a:off x="8255813" y="1700784"/>
            <a:ext cx="2011680" cy="274320"/>
          </a:xfrm>
          <a:prstGeom prst="roundRect">
            <a:avLst>
              <a:gd name="adj" fmla="val 50000"/>
            </a:avLst>
          </a:prstGeom>
          <a:solidFill>
            <a:srgbClr val="31558F"/>
          </a:solidFill>
          <a:ln/>
        </p:spPr>
      </p:sp>
      <p:sp>
        <p:nvSpPr>
          <p:cNvPr id="33" name="Text 31"/>
          <p:cNvSpPr txBox="1"/>
          <p:nvPr/>
        </p:nvSpPr>
        <p:spPr>
          <a:xfrm>
            <a:off x="8255813" y="1700784"/>
            <a:ext cx="2011680" cy="274320"/>
          </a:xfrm>
          <a:prstGeom prst="rect">
            <a:avLst/>
          </a:prstGeom>
          <a:noFill/>
          <a:ln/>
        </p:spPr>
        <p:txBody>
          <a:bodyPr wrap="square" lIns="0" tIns="0" rIns="0" bIns="0" rtlCol="0" anchor="ctr"/>
          <a:lstStyle/>
          <a:p>
            <a:pPr algn="ctr" indent="0" marL="0">
              <a:buNone/>
            </a:pPr>
            <a:r>
              <a:rPr lang="en-US" sz="1250" b="1" dirty="0">
                <a:solidFill>
                  <a:srgbClr val="F5F6F8"/>
                </a:solidFill>
                <a:latin typeface="Consolas" pitchFamily="34" charset="0"/>
                <a:ea typeface="Consolas" pitchFamily="34" charset="-122"/>
                <a:cs typeface="Consolas" pitchFamily="34" charset="-120"/>
              </a:rPr>
              <a:t>PLATFORM</a:t>
            </a:r>
            <a:endParaRPr lang="en-US" sz="1250" dirty="0"/>
          </a:p>
        </p:txBody>
      </p:sp>
      <p:sp>
        <p:nvSpPr>
          <p:cNvPr id="34" name="Text 32"/>
          <p:cNvSpPr txBox="1"/>
          <p:nvPr/>
        </p:nvSpPr>
        <p:spPr>
          <a:xfrm>
            <a:off x="8255813" y="2048256"/>
            <a:ext cx="3186074" cy="1115568"/>
          </a:xfrm>
          <a:prstGeom prst="rect">
            <a:avLst/>
          </a:prstGeom>
          <a:noFill/>
          <a:ln/>
        </p:spPr>
        <p:txBody>
          <a:bodyPr wrap="square" lIns="0" tIns="0" rIns="0" bIns="0" rtlCol="0" anchor="t"/>
          <a:lstStyle/>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Counterfactual replay + Recovery Controller</a:t>
            </a:r>
            <a:endParaRPr lang="en-US" sz="1300" dirty="0"/>
          </a:p>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Framework-agnostic SDK, FastAPI, Postgres</a:t>
            </a:r>
            <a:endParaRPr lang="en-US" sz="1300" dirty="0"/>
          </a:p>
          <a:p>
            <a:pPr marL="190500" indent="-190500">
              <a:spcAft>
                <a:spcPts val="900"/>
              </a:spcAft>
              <a:buSzPct val="100000"/>
              <a:buChar char="▪"/>
            </a:pPr>
            <a:r>
              <a:rPr lang="en-US" sz="1300" dirty="0">
                <a:solidFill>
                  <a:srgbClr val="1B202A"/>
                </a:solidFill>
                <a:latin typeface="Calibri" pitchFamily="34" charset="0"/>
                <a:ea typeface="Calibri" pitchFamily="34" charset="-122"/>
                <a:cs typeface="Calibri" pitchFamily="34" charset="-120"/>
              </a:rPr>
              <a:t>Dashboard, containerized deployment</a:t>
            </a:r>
            <a:endParaRPr lang="en-US" sz="1300" dirty="0"/>
          </a:p>
        </p:txBody>
      </p:sp>
      <p:sp>
        <p:nvSpPr>
          <p:cNvPr id="35" name="Shape 33"/>
          <p:cNvSpPr/>
          <p:nvPr/>
        </p:nvSpPr>
        <p:spPr>
          <a:xfrm>
            <a:off x="8255813" y="3218688"/>
            <a:ext cx="3186074" cy="0"/>
          </a:xfrm>
          <a:prstGeom prst="line">
            <a:avLst/>
          </a:prstGeom>
          <a:noFill/>
          <a:ln w="9525">
            <a:solidFill>
              <a:srgbClr val="31558F"/>
            </a:solidFill>
            <a:prstDash val="solid"/>
          </a:ln>
        </p:spPr>
      </p:sp>
      <p:sp>
        <p:nvSpPr>
          <p:cNvPr id="36" name="Text 34"/>
          <p:cNvSpPr txBox="1"/>
          <p:nvPr/>
        </p:nvSpPr>
        <p:spPr>
          <a:xfrm>
            <a:off x="8255813" y="3273552"/>
            <a:ext cx="3186074" cy="310896"/>
          </a:xfrm>
          <a:prstGeom prst="rect">
            <a:avLst/>
          </a:prstGeom>
          <a:noFill/>
          <a:ln/>
        </p:spPr>
        <p:txBody>
          <a:bodyPr wrap="square" lIns="0" tIns="0" rIns="0" bIns="0" rtlCol="0" anchor="ctr"/>
          <a:lstStyle/>
          <a:p>
            <a:pPr indent="0" marL="0">
              <a:buNone/>
            </a:pPr>
            <a:r>
              <a:rPr lang="en-US" sz="1150" i="1" dirty="0">
                <a:solidFill>
                  <a:srgbClr val="596273"/>
                </a:solidFill>
                <a:latin typeface="Calibri" pitchFamily="34" charset="0"/>
                <a:ea typeface="Calibri" pitchFamily="34" charset="-122"/>
                <a:cs typeface="Calibri" pitchFamily="34" charset="-120"/>
              </a:rPr>
              <a:t>If removed: nothing is installable or operable outside the dev machine</a:t>
            </a:r>
            <a:endParaRPr lang="en-US" sz="1150" dirty="0"/>
          </a:p>
        </p:txBody>
      </p:sp>
      <p:sp>
        <p:nvSpPr>
          <p:cNvPr id="37" name="Text 35"/>
          <p:cNvSpPr txBox="1"/>
          <p:nvPr/>
        </p:nvSpPr>
        <p:spPr>
          <a:xfrm>
            <a:off x="566928" y="4206240"/>
            <a:ext cx="11057839"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FYP-1 → FYP-2 MILESTONES</a:t>
            </a:r>
            <a:endParaRPr lang="en-US" sz="1400" dirty="0"/>
          </a:p>
        </p:txBody>
      </p:sp>
      <p:sp>
        <p:nvSpPr>
          <p:cNvPr id="38" name="Shape 36"/>
          <p:cNvSpPr/>
          <p:nvPr/>
        </p:nvSpPr>
        <p:spPr>
          <a:xfrm>
            <a:off x="1672712" y="4846320"/>
            <a:ext cx="8846271" cy="0"/>
          </a:xfrm>
          <a:prstGeom prst="line">
            <a:avLst/>
          </a:prstGeom>
          <a:noFill/>
          <a:ln w="25400">
            <a:solidFill>
              <a:srgbClr val="C89B3C"/>
            </a:solidFill>
            <a:prstDash val="solid"/>
          </a:ln>
        </p:spPr>
      </p:sp>
      <p:sp>
        <p:nvSpPr>
          <p:cNvPr id="39" name="Shape 37"/>
          <p:cNvSpPr/>
          <p:nvPr/>
        </p:nvSpPr>
        <p:spPr>
          <a:xfrm>
            <a:off x="1553840" y="4727448"/>
            <a:ext cx="237744" cy="237744"/>
          </a:xfrm>
          <a:prstGeom prst="ellipse">
            <a:avLst/>
          </a:prstGeom>
          <a:solidFill>
            <a:srgbClr val="C89B3C"/>
          </a:solidFill>
          <a:ln w="25400">
            <a:solidFill>
              <a:srgbClr val="C89B3C"/>
            </a:solidFill>
            <a:prstDash val="solid"/>
          </a:ln>
        </p:spPr>
      </p:sp>
      <p:sp>
        <p:nvSpPr>
          <p:cNvPr id="40" name="Text 38"/>
          <p:cNvSpPr txBox="1"/>
          <p:nvPr/>
        </p:nvSpPr>
        <p:spPr>
          <a:xfrm>
            <a:off x="621792" y="5084064"/>
            <a:ext cx="2101840" cy="868680"/>
          </a:xfrm>
          <a:prstGeom prst="rect">
            <a:avLst/>
          </a:prstGeom>
          <a:noFill/>
          <a:ln/>
        </p:spPr>
        <p:txBody>
          <a:bodyPr wrap="square" lIns="0" tIns="0" rIns="0" bIns="0" rtlCol="0" anchor="ctr"/>
          <a:lstStyle/>
          <a:p>
            <a:pPr algn="ctr" indent="0" marL="0">
              <a:buNone/>
            </a:pPr>
            <a:r>
              <a:rPr lang="en-US" sz="1300" b="1" dirty="0">
                <a:solidFill>
                  <a:srgbClr val="8E6A1F"/>
                </a:solidFill>
                <a:latin typeface="Consolas" pitchFamily="34" charset="0"/>
                <a:ea typeface="Consolas" pitchFamily="34" charset="-122"/>
                <a:cs typeface="Consolas" pitchFamily="34" charset="-120"/>
              </a:rPr>
              <a:t>M1</a:t>
            </a:r>
            <a:endParaRPr lang="en-US" sz="1300" dirty="0"/>
          </a:p>
          <a:p>
            <a:pPr algn="ctr" indent="0" marL="0">
              <a:buNone/>
            </a:pPr>
            <a:r>
              <a:rPr lang="en-US" sz="1700" b="1" dirty="0">
                <a:solidFill>
                  <a:srgbClr val="1B202A"/>
                </a:solidFill>
                <a:latin typeface="Calibri" pitchFamily="34" charset="0"/>
                <a:ea typeface="Calibri" pitchFamily="34" charset="-122"/>
                <a:cs typeface="Calibri" pitchFamily="34" charset="-120"/>
              </a:rPr>
              <a:t>Scope locked</a:t>
            </a:r>
            <a:endParaRPr lang="en-US" sz="1300" dirty="0"/>
          </a:p>
          <a:p>
            <a:pPr algn="ctr" indent="0" marL="0">
              <a:buNone/>
            </a:pPr>
            <a:r>
              <a:rPr lang="en-US" sz="1300" dirty="0">
                <a:solidFill>
                  <a:srgbClr val="596273"/>
                </a:solidFill>
                <a:latin typeface="Calibri" pitchFamily="34" charset="0"/>
                <a:ea typeface="Calibri" pitchFamily="34" charset="-122"/>
                <a:cs typeface="Calibri" pitchFamily="34" charset="-120"/>
              </a:rPr>
              <a:t>scope approved</a:t>
            </a:r>
            <a:endParaRPr lang="en-US" sz="1300" dirty="0"/>
          </a:p>
        </p:txBody>
      </p:sp>
      <p:sp>
        <p:nvSpPr>
          <p:cNvPr id="41" name="Shape 39"/>
          <p:cNvSpPr/>
          <p:nvPr/>
        </p:nvSpPr>
        <p:spPr>
          <a:xfrm>
            <a:off x="3765408" y="4727448"/>
            <a:ext cx="237744" cy="237744"/>
          </a:xfrm>
          <a:prstGeom prst="ellipse">
            <a:avLst/>
          </a:prstGeom>
          <a:solidFill>
            <a:srgbClr val="FBFBFC"/>
          </a:solidFill>
          <a:ln w="25400">
            <a:solidFill>
              <a:srgbClr val="C89B3C"/>
            </a:solidFill>
            <a:prstDash val="solid"/>
          </a:ln>
        </p:spPr>
      </p:sp>
      <p:sp>
        <p:nvSpPr>
          <p:cNvPr id="42" name="Text 40"/>
          <p:cNvSpPr txBox="1"/>
          <p:nvPr/>
        </p:nvSpPr>
        <p:spPr>
          <a:xfrm>
            <a:off x="2833360" y="5084064"/>
            <a:ext cx="2101840" cy="868680"/>
          </a:xfrm>
          <a:prstGeom prst="rect">
            <a:avLst/>
          </a:prstGeom>
          <a:noFill/>
          <a:ln/>
        </p:spPr>
        <p:txBody>
          <a:bodyPr wrap="square" lIns="0" tIns="0" rIns="0" bIns="0" rtlCol="0" anchor="ctr"/>
          <a:lstStyle/>
          <a:p>
            <a:pPr algn="ctr" indent="0" marL="0">
              <a:buNone/>
            </a:pPr>
            <a:r>
              <a:rPr lang="en-US" sz="1300" b="1" dirty="0">
                <a:solidFill>
                  <a:srgbClr val="8E6A1F"/>
                </a:solidFill>
                <a:latin typeface="Consolas" pitchFamily="34" charset="0"/>
                <a:ea typeface="Consolas" pitchFamily="34" charset="-122"/>
                <a:cs typeface="Consolas" pitchFamily="34" charset="-120"/>
              </a:rPr>
              <a:t>M2</a:t>
            </a:r>
            <a:endParaRPr lang="en-US" sz="1300" dirty="0"/>
          </a:p>
          <a:p>
            <a:pPr algn="ctr" indent="0" marL="0">
              <a:buNone/>
            </a:pPr>
            <a:r>
              <a:rPr lang="en-US" sz="1700" b="1" dirty="0">
                <a:solidFill>
                  <a:srgbClr val="1B202A"/>
                </a:solidFill>
                <a:latin typeface="Calibri" pitchFamily="34" charset="0"/>
                <a:ea typeface="Calibri" pitchFamily="34" charset="-122"/>
                <a:cs typeface="Calibri" pitchFamily="34" charset="-120"/>
              </a:rPr>
              <a:t>Baseline reproduced</a:t>
            </a:r>
            <a:endParaRPr lang="en-US" sz="1300" dirty="0"/>
          </a:p>
          <a:p>
            <a:pPr algn="ctr" indent="0" marL="0">
              <a:buNone/>
            </a:pPr>
            <a:r>
              <a:rPr lang="en-US" sz="1300" dirty="0">
                <a:solidFill>
                  <a:srgbClr val="596273"/>
                </a:solidFill>
                <a:latin typeface="Calibri" pitchFamily="34" charset="0"/>
                <a:ea typeface="Calibri" pitchFamily="34" charset="-122"/>
                <a:cs typeface="Calibri" pitchFamily="34" charset="-120"/>
              </a:rPr>
              <a:t>reproduction + Tier-2 + baseline</a:t>
            </a:r>
            <a:endParaRPr lang="en-US" sz="1300" dirty="0"/>
          </a:p>
        </p:txBody>
      </p:sp>
      <p:sp>
        <p:nvSpPr>
          <p:cNvPr id="43" name="Shape 41"/>
          <p:cNvSpPr/>
          <p:nvPr/>
        </p:nvSpPr>
        <p:spPr>
          <a:xfrm>
            <a:off x="5976976" y="4727448"/>
            <a:ext cx="237744" cy="237744"/>
          </a:xfrm>
          <a:prstGeom prst="ellipse">
            <a:avLst/>
          </a:prstGeom>
          <a:solidFill>
            <a:srgbClr val="FBFBFC"/>
          </a:solidFill>
          <a:ln w="25400">
            <a:solidFill>
              <a:srgbClr val="C89B3C"/>
            </a:solidFill>
            <a:prstDash val="solid"/>
          </a:ln>
        </p:spPr>
      </p:sp>
      <p:sp>
        <p:nvSpPr>
          <p:cNvPr id="44" name="Text 42"/>
          <p:cNvSpPr txBox="1"/>
          <p:nvPr/>
        </p:nvSpPr>
        <p:spPr>
          <a:xfrm>
            <a:off x="5044928" y="5084064"/>
            <a:ext cx="2101840" cy="868680"/>
          </a:xfrm>
          <a:prstGeom prst="rect">
            <a:avLst/>
          </a:prstGeom>
          <a:noFill/>
          <a:ln/>
        </p:spPr>
        <p:txBody>
          <a:bodyPr wrap="square" lIns="0" tIns="0" rIns="0" bIns="0" rtlCol="0" anchor="ctr"/>
          <a:lstStyle/>
          <a:p>
            <a:pPr algn="ctr" indent="0" marL="0">
              <a:buNone/>
            </a:pPr>
            <a:r>
              <a:rPr lang="en-US" sz="1300" b="1" dirty="0">
                <a:solidFill>
                  <a:srgbClr val="8E6A1F"/>
                </a:solidFill>
                <a:latin typeface="Consolas" pitchFamily="34" charset="0"/>
                <a:ea typeface="Consolas" pitchFamily="34" charset="-122"/>
                <a:cs typeface="Consolas" pitchFamily="34" charset="-120"/>
              </a:rPr>
              <a:t>M3</a:t>
            </a:r>
            <a:endParaRPr lang="en-US" sz="1300" dirty="0"/>
          </a:p>
          <a:p>
            <a:pPr algn="ctr" indent="0" marL="0">
              <a:buNone/>
            </a:pPr>
            <a:r>
              <a:rPr lang="en-US" sz="1700" b="1" dirty="0">
                <a:solidFill>
                  <a:srgbClr val="1B202A"/>
                </a:solidFill>
                <a:latin typeface="Calibri" pitchFamily="34" charset="0"/>
                <a:ea typeface="Calibri" pitchFamily="34" charset="-122"/>
                <a:cs typeface="Calibri" pitchFamily="34" charset="-120"/>
              </a:rPr>
              <a:t>Core integrated</a:t>
            </a:r>
            <a:endParaRPr lang="en-US" sz="1300" dirty="0"/>
          </a:p>
          <a:p>
            <a:pPr algn="ctr" indent="0" marL="0">
              <a:buNone/>
            </a:pPr>
            <a:r>
              <a:rPr lang="en-US" sz="1300" dirty="0">
                <a:solidFill>
                  <a:srgbClr val="596273"/>
                </a:solidFill>
                <a:latin typeface="Calibri" pitchFamily="34" charset="0"/>
                <a:ea typeface="Calibri" pitchFamily="34" charset="-122"/>
                <a:cs typeface="Calibri" pitchFamily="34" charset="-120"/>
              </a:rPr>
              <a:t>integrated core, end to end</a:t>
            </a:r>
            <a:endParaRPr lang="en-US" sz="1300" dirty="0"/>
          </a:p>
        </p:txBody>
      </p:sp>
      <p:sp>
        <p:nvSpPr>
          <p:cNvPr id="45" name="Shape 43"/>
          <p:cNvSpPr/>
          <p:nvPr/>
        </p:nvSpPr>
        <p:spPr>
          <a:xfrm>
            <a:off x="8188543" y="4727448"/>
            <a:ext cx="237744" cy="237744"/>
          </a:xfrm>
          <a:prstGeom prst="ellipse">
            <a:avLst/>
          </a:prstGeom>
          <a:solidFill>
            <a:srgbClr val="FBFBFC"/>
          </a:solidFill>
          <a:ln w="25400">
            <a:solidFill>
              <a:srgbClr val="C89B3C"/>
            </a:solidFill>
            <a:prstDash val="solid"/>
          </a:ln>
        </p:spPr>
      </p:sp>
      <p:sp>
        <p:nvSpPr>
          <p:cNvPr id="46" name="Text 44"/>
          <p:cNvSpPr txBox="1"/>
          <p:nvPr/>
        </p:nvSpPr>
        <p:spPr>
          <a:xfrm>
            <a:off x="7256496" y="5084064"/>
            <a:ext cx="2101840" cy="868680"/>
          </a:xfrm>
          <a:prstGeom prst="rect">
            <a:avLst/>
          </a:prstGeom>
          <a:noFill/>
          <a:ln/>
        </p:spPr>
        <p:txBody>
          <a:bodyPr wrap="square" lIns="0" tIns="0" rIns="0" bIns="0" rtlCol="0" anchor="ctr"/>
          <a:lstStyle/>
          <a:p>
            <a:pPr algn="ctr" indent="0" marL="0">
              <a:buNone/>
            </a:pPr>
            <a:r>
              <a:rPr lang="en-US" sz="1300" b="1" dirty="0">
                <a:solidFill>
                  <a:srgbClr val="8E6A1F"/>
                </a:solidFill>
                <a:latin typeface="Consolas" pitchFamily="34" charset="0"/>
                <a:ea typeface="Consolas" pitchFamily="34" charset="-122"/>
                <a:cs typeface="Consolas" pitchFamily="34" charset="-120"/>
              </a:rPr>
              <a:t>M4</a:t>
            </a:r>
            <a:endParaRPr lang="en-US" sz="1300" dirty="0"/>
          </a:p>
          <a:p>
            <a:pPr algn="ctr" indent="0" marL="0">
              <a:buNone/>
            </a:pPr>
            <a:r>
              <a:rPr lang="en-US" sz="1700" b="1" dirty="0">
                <a:solidFill>
                  <a:srgbClr val="1B202A"/>
                </a:solidFill>
                <a:latin typeface="Calibri" pitchFamily="34" charset="0"/>
                <a:ea typeface="Calibri" pitchFamily="34" charset="-122"/>
                <a:cs typeface="Calibri" pitchFamily="34" charset="-120"/>
              </a:rPr>
              <a:t>Benchmark released</a:t>
            </a:r>
            <a:endParaRPr lang="en-US" sz="1300" dirty="0"/>
          </a:p>
          <a:p>
            <a:pPr algn="ctr" indent="0" marL="0">
              <a:buNone/>
            </a:pPr>
            <a:r>
              <a:rPr lang="en-US" sz="1300" dirty="0">
                <a:solidFill>
                  <a:srgbClr val="596273"/>
                </a:solidFill>
                <a:latin typeface="Calibri" pitchFamily="34" charset="0"/>
                <a:ea typeface="Calibri" pitchFamily="34" charset="-122"/>
                <a:cs typeface="Calibri" pitchFamily="34" charset="-120"/>
              </a:rPr>
              <a:t>benchmark ≥500 · release ready</a:t>
            </a:r>
            <a:endParaRPr lang="en-US" sz="1300" dirty="0"/>
          </a:p>
        </p:txBody>
      </p:sp>
      <p:sp>
        <p:nvSpPr>
          <p:cNvPr id="47" name="Shape 45"/>
          <p:cNvSpPr/>
          <p:nvPr/>
        </p:nvSpPr>
        <p:spPr>
          <a:xfrm>
            <a:off x="10400111" y="4727448"/>
            <a:ext cx="237744" cy="237744"/>
          </a:xfrm>
          <a:prstGeom prst="ellipse">
            <a:avLst/>
          </a:prstGeom>
          <a:solidFill>
            <a:srgbClr val="FBFBFC"/>
          </a:solidFill>
          <a:ln w="25400">
            <a:solidFill>
              <a:srgbClr val="C89B3C"/>
            </a:solidFill>
            <a:prstDash val="solid"/>
          </a:ln>
        </p:spPr>
      </p:sp>
      <p:sp>
        <p:nvSpPr>
          <p:cNvPr id="48" name="Text 46"/>
          <p:cNvSpPr txBox="1"/>
          <p:nvPr/>
        </p:nvSpPr>
        <p:spPr>
          <a:xfrm>
            <a:off x="9468063" y="5084064"/>
            <a:ext cx="2101840" cy="868680"/>
          </a:xfrm>
          <a:prstGeom prst="rect">
            <a:avLst/>
          </a:prstGeom>
          <a:noFill/>
          <a:ln/>
        </p:spPr>
        <p:txBody>
          <a:bodyPr wrap="square" lIns="0" tIns="0" rIns="0" bIns="0" rtlCol="0" anchor="ctr"/>
          <a:lstStyle/>
          <a:p>
            <a:pPr algn="ctr" indent="0" marL="0">
              <a:buNone/>
            </a:pPr>
            <a:r>
              <a:rPr lang="en-US" sz="1300" b="1" dirty="0">
                <a:solidFill>
                  <a:srgbClr val="8E6A1F"/>
                </a:solidFill>
                <a:latin typeface="Consolas" pitchFamily="34" charset="0"/>
                <a:ea typeface="Consolas" pitchFamily="34" charset="-122"/>
                <a:cs typeface="Consolas" pitchFamily="34" charset="-120"/>
              </a:rPr>
              <a:t>M5</a:t>
            </a:r>
            <a:endParaRPr lang="en-US" sz="1300" dirty="0"/>
          </a:p>
          <a:p>
            <a:pPr algn="ctr" indent="0" marL="0">
              <a:buNone/>
            </a:pPr>
            <a:r>
              <a:rPr lang="en-US" sz="1700" b="1" dirty="0">
                <a:solidFill>
                  <a:srgbClr val="1B202A"/>
                </a:solidFill>
                <a:latin typeface="Calibri" pitchFamily="34" charset="0"/>
                <a:ea typeface="Calibri" pitchFamily="34" charset="-122"/>
                <a:cs typeface="Calibri" pitchFamily="34" charset="-120"/>
              </a:rPr>
              <a:t>Full evaluation</a:t>
            </a:r>
            <a:endParaRPr lang="en-US" sz="1300" dirty="0"/>
          </a:p>
          <a:p>
            <a:pPr algn="ctr" indent="0" marL="0">
              <a:buNone/>
            </a:pPr>
            <a:r>
              <a:rPr lang="en-US" sz="1300" dirty="0">
                <a:solidFill>
                  <a:srgbClr val="596273"/>
                </a:solidFill>
                <a:latin typeface="Calibri" pitchFamily="34" charset="0"/>
                <a:ea typeface="Calibri" pitchFamily="34" charset="-122"/>
                <a:cs typeface="Calibri" pitchFamily="34" charset="-120"/>
              </a:rPr>
              <a:t>full evaluation, deployed</a:t>
            </a:r>
            <a:endParaRPr lang="en-US" sz="13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C"/>
        </a:solidFill>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sp>
      <p:sp>
        <p:nvSpPr>
          <p:cNvPr id="3" name="Shape 1"/>
          <p:cNvSpPr/>
          <p:nvPr/>
        </p:nvSpPr>
        <p:spPr>
          <a:xfrm rot="2700000">
            <a:off x="10618927" y="5285232"/>
            <a:ext cx="1005840" cy="1005840"/>
          </a:xfrm>
          <a:prstGeom prst="rect">
            <a:avLst/>
          </a:prstGeom>
          <a:ln w="12700">
            <a:solidFill>
              <a:srgbClr val="F4F5F7"/>
            </a:solidFill>
            <a:prstDash val="solid"/>
          </a:ln>
        </p:spPr>
      </p:sp>
      <p:sp>
        <p:nvSpPr>
          <p:cNvPr id="4" name="Shape 2"/>
          <p:cNvSpPr/>
          <p:nvPr/>
        </p:nvSpPr>
        <p:spPr>
          <a:xfrm rot="2700000">
            <a:off x="10856671" y="5522976"/>
            <a:ext cx="530352" cy="530352"/>
          </a:xfrm>
          <a:prstGeom prst="rect">
            <a:avLst/>
          </a:prstGeom>
          <a:ln w="12700">
            <a:solidFill>
              <a:srgbClr val="F7F4ED"/>
            </a:solidFill>
            <a:prstDash val="solid"/>
          </a:ln>
        </p:spPr>
      </p:sp>
      <p:sp>
        <p:nvSpPr>
          <p:cNvPr id="5" name="Text 3"/>
          <p:cNvSpPr txBox="1"/>
          <p:nvPr/>
        </p:nvSpPr>
        <p:spPr>
          <a:xfrm>
            <a:off x="566928" y="420624"/>
            <a:ext cx="11057839" cy="640080"/>
          </a:xfrm>
          <a:prstGeom prst="rect">
            <a:avLst/>
          </a:prstGeom>
          <a:noFill/>
          <a:ln/>
        </p:spPr>
        <p:txBody>
          <a:bodyPr wrap="square" lIns="0" tIns="0" rIns="0" bIns="0" rtlCol="0" anchor="ctr"/>
          <a:lstStyle/>
          <a:p>
            <a:pPr indent="0" marL="0">
              <a:buNone/>
            </a:pPr>
            <a:r>
              <a:rPr lang="en-US" sz="2950" b="1" dirty="0">
                <a:solidFill>
                  <a:srgbClr val="1B202A"/>
                </a:solidFill>
                <a:latin typeface="Georgia" pitchFamily="34" charset="0"/>
                <a:ea typeface="Georgia" pitchFamily="34" charset="-122"/>
                <a:cs typeface="Georgia" pitchFamily="34" charset="-120"/>
              </a:rPr>
              <a:t>DEI, Ethics &amp; Legal</a:t>
            </a:r>
            <a:endParaRPr lang="en-US" sz="2950" dirty="0"/>
          </a:p>
        </p:txBody>
      </p:sp>
      <p:sp>
        <p:nvSpPr>
          <p:cNvPr id="6" name="Shape 4"/>
          <p:cNvSpPr/>
          <p:nvPr/>
        </p:nvSpPr>
        <p:spPr>
          <a:xfrm>
            <a:off x="566928" y="1188720"/>
            <a:ext cx="566928" cy="36576"/>
          </a:xfrm>
          <a:prstGeom prst="rect">
            <a:avLst/>
          </a:prstGeom>
          <a:solidFill>
            <a:srgbClr val="C89B3C"/>
          </a:solidFill>
          <a:ln/>
        </p:spPr>
      </p:sp>
      <p:sp>
        <p:nvSpPr>
          <p:cNvPr id="7" name="Shape 5"/>
          <p:cNvSpPr/>
          <p:nvPr/>
        </p:nvSpPr>
        <p:spPr>
          <a:xfrm>
            <a:off x="566928" y="6437376"/>
            <a:ext cx="11057839" cy="0"/>
          </a:xfrm>
          <a:prstGeom prst="line">
            <a:avLst/>
          </a:prstGeom>
          <a:noFill/>
          <a:ln w="9525">
            <a:solidFill>
              <a:srgbClr val="D9DCE3"/>
            </a:solidFill>
            <a:prstDash val="solid"/>
          </a:ln>
        </p:spPr>
      </p:sp>
      <p:sp>
        <p:nvSpPr>
          <p:cNvPr id="8" name="Text 6"/>
          <p:cNvSpPr txBox="1"/>
          <p:nvPr/>
        </p:nvSpPr>
        <p:spPr>
          <a:xfrm>
            <a:off x="566928" y="6510528"/>
            <a:ext cx="5943600" cy="237744"/>
          </a:xfrm>
          <a:prstGeom prst="rect">
            <a:avLst/>
          </a:prstGeom>
          <a:noFill/>
          <a:ln/>
        </p:spPr>
        <p:txBody>
          <a:bodyPr wrap="square" lIns="0" tIns="0" rIns="0" bIns="0" rtlCol="0" anchor="ctr"/>
          <a:lstStyle/>
          <a:p>
            <a:pPr indent="0" marL="0">
              <a:buNone/>
            </a:pPr>
            <a:r>
              <a:rPr lang="en-US" sz="1050" spc="70" kern="0" dirty="0">
                <a:solidFill>
                  <a:srgbClr val="8B92A2"/>
                </a:solidFill>
                <a:latin typeface="Consolas" pitchFamily="34" charset="0"/>
                <a:ea typeface="Consolas" pitchFamily="34" charset="-122"/>
                <a:cs typeface="Consolas" pitchFamily="34" charset="-120"/>
              </a:rPr>
              <a:t>F26-060-GRANITE  ·  PROPOSAL DEFENSE  ·  STREAM A</a:t>
            </a:r>
            <a:endParaRPr lang="en-US" sz="105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algn="r" indent="0" marL="0">
              <a:buNone/>
            </a:pPr>
            <a:r>
              <a:rPr lang="en-US" sz="1050" b="1" dirty="0">
                <a:solidFill>
                  <a:srgbClr val="8E6A1F"/>
                </a:solidFill>
                <a:latin typeface="Consolas" pitchFamily="34" charset="0"/>
                <a:ea typeface="Consolas" pitchFamily="34" charset="-122"/>
                <a:cs typeface="Consolas" pitchFamily="34" charset="-120"/>
              </a:rPr>
              <a:t>10 / 10</a:t>
            </a:r>
            <a:endParaRPr lang="en-US" sz="1050" dirty="0"/>
          </a:p>
        </p:txBody>
      </p:sp>
      <p:sp>
        <p:nvSpPr>
          <p:cNvPr id="10" name="Text 8"/>
          <p:cNvSpPr txBox="1"/>
          <p:nvPr/>
        </p:nvSpPr>
        <p:spPr>
          <a:xfrm>
            <a:off x="566928" y="1371600"/>
            <a:ext cx="11057839" cy="256032"/>
          </a:xfrm>
          <a:prstGeom prst="rect">
            <a:avLst/>
          </a:prstGeom>
          <a:noFill/>
          <a:ln/>
        </p:spPr>
        <p:txBody>
          <a:bodyPr wrap="square" lIns="0" tIns="0" rIns="0" bIns="0" rtlCol="0" anchor="ctr"/>
          <a:lstStyle/>
          <a:p>
            <a:pPr indent="0" marL="0">
              <a:buNone/>
            </a:pPr>
            <a:r>
              <a:rPr lang="en-US" sz="1400" b="1" spc="100" kern="0" dirty="0">
                <a:solidFill>
                  <a:srgbClr val="8E6A1F"/>
                </a:solidFill>
                <a:latin typeface="Consolas" pitchFamily="34" charset="0"/>
                <a:ea typeface="Consolas" pitchFamily="34" charset="-122"/>
                <a:cs typeface="Consolas" pitchFamily="34" charset="-120"/>
              </a:rPr>
              <a:t>COMMITMENTS THE PANEL CAN HOLD US TO</a:t>
            </a:r>
            <a:endParaRPr lang="en-US" sz="1400" dirty="0"/>
          </a:p>
        </p:txBody>
      </p:sp>
      <p:sp>
        <p:nvSpPr>
          <p:cNvPr id="11" name="Shape 9"/>
          <p:cNvSpPr/>
          <p:nvPr/>
        </p:nvSpPr>
        <p:spPr>
          <a:xfrm>
            <a:off x="587045" y="1744675"/>
            <a:ext cx="3551834" cy="3749040"/>
          </a:xfrm>
          <a:prstGeom prst="roundRect">
            <a:avLst>
              <a:gd name="adj" fmla="val 1545"/>
            </a:avLst>
          </a:prstGeom>
          <a:solidFill>
            <a:srgbClr val="E4E6EB"/>
          </a:solidFill>
          <a:ln/>
        </p:spPr>
      </p:sp>
      <p:sp>
        <p:nvSpPr>
          <p:cNvPr id="12" name="Shape 10"/>
          <p:cNvSpPr/>
          <p:nvPr/>
        </p:nvSpPr>
        <p:spPr>
          <a:xfrm>
            <a:off x="566928" y="1719072"/>
            <a:ext cx="3551834" cy="3749040"/>
          </a:xfrm>
          <a:prstGeom prst="roundRect">
            <a:avLst>
              <a:gd name="adj" fmla="val 1545"/>
            </a:avLst>
          </a:prstGeom>
          <a:solidFill>
            <a:srgbClr val="E3EFF1"/>
          </a:solidFill>
          <a:ln w="9525">
            <a:solidFill>
              <a:srgbClr val="D9DCE3"/>
            </a:solidFill>
            <a:prstDash val="solid"/>
          </a:ln>
        </p:spPr>
      </p:sp>
      <p:sp>
        <p:nvSpPr>
          <p:cNvPr id="13" name="Shape 11"/>
          <p:cNvSpPr/>
          <p:nvPr/>
        </p:nvSpPr>
        <p:spPr>
          <a:xfrm>
            <a:off x="566928" y="1773936"/>
            <a:ext cx="41148" cy="3639312"/>
          </a:xfrm>
          <a:prstGeom prst="rect">
            <a:avLst/>
          </a:prstGeom>
          <a:solidFill>
            <a:srgbClr val="15707A"/>
          </a:solidFill>
          <a:ln/>
        </p:spPr>
      </p:sp>
      <p:sp>
        <p:nvSpPr>
          <p:cNvPr id="14" name="Text 12"/>
          <p:cNvSpPr txBox="1"/>
          <p:nvPr/>
        </p:nvSpPr>
        <p:spPr>
          <a:xfrm>
            <a:off x="768096" y="1865376"/>
            <a:ext cx="3149498" cy="292608"/>
          </a:xfrm>
          <a:prstGeom prst="rect">
            <a:avLst/>
          </a:prstGeom>
          <a:noFill/>
          <a:ln/>
        </p:spPr>
        <p:txBody>
          <a:bodyPr wrap="square" lIns="0" tIns="0" rIns="0" bIns="0" rtlCol="0" anchor="ctr"/>
          <a:lstStyle/>
          <a:p>
            <a:pPr indent="0" marL="0">
              <a:buNone/>
            </a:pPr>
            <a:r>
              <a:rPr lang="en-US" sz="1500" b="1" spc="80" kern="0" dirty="0">
                <a:solidFill>
                  <a:srgbClr val="15707A"/>
                </a:solidFill>
                <a:latin typeface="Consolas" pitchFamily="34" charset="0"/>
                <a:ea typeface="Consolas" pitchFamily="34" charset="-122"/>
                <a:cs typeface="Consolas" pitchFamily="34" charset="-120"/>
              </a:rPr>
              <a:t>DEI</a:t>
            </a:r>
            <a:endParaRPr lang="en-US" sz="1500" dirty="0"/>
          </a:p>
        </p:txBody>
      </p:sp>
      <p:sp>
        <p:nvSpPr>
          <p:cNvPr id="15" name="Text 13"/>
          <p:cNvSpPr txBox="1"/>
          <p:nvPr/>
        </p:nvSpPr>
        <p:spPr>
          <a:xfrm>
            <a:off x="768096" y="2377440"/>
            <a:ext cx="3149498" cy="2926080"/>
          </a:xfrm>
          <a:prstGeom prst="rect">
            <a:avLst/>
          </a:prstGeom>
          <a:noFill/>
          <a:ln/>
        </p:spPr>
        <p:txBody>
          <a:bodyPr wrap="square" lIns="0" tIns="0" rIns="0" bIns="0" rtlCol="0" anchor="ctr"/>
          <a:lstStyle/>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Open-source release widens access — SDG 9 access-equity</a:t>
            </a:r>
            <a:endParaRPr lang="en-US" sz="1650" dirty="0"/>
          </a:p>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Colour + text + shape, never colour alone — WCAG owed by Final-1</a:t>
            </a:r>
            <a:endParaRPr lang="en-US" sz="1650" dirty="0"/>
          </a:p>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Accuracy claims stated as English-only</a:t>
            </a:r>
            <a:endParaRPr lang="en-US" sz="1650" dirty="0"/>
          </a:p>
        </p:txBody>
      </p:sp>
      <p:sp>
        <p:nvSpPr>
          <p:cNvPr id="16" name="Shape 14"/>
          <p:cNvSpPr/>
          <p:nvPr/>
        </p:nvSpPr>
        <p:spPr>
          <a:xfrm>
            <a:off x="4340047" y="1744675"/>
            <a:ext cx="3551834" cy="3749040"/>
          </a:xfrm>
          <a:prstGeom prst="roundRect">
            <a:avLst>
              <a:gd name="adj" fmla="val 1545"/>
            </a:avLst>
          </a:prstGeom>
          <a:solidFill>
            <a:srgbClr val="E4E6EB"/>
          </a:solidFill>
          <a:ln/>
        </p:spPr>
      </p:sp>
      <p:sp>
        <p:nvSpPr>
          <p:cNvPr id="17" name="Shape 15"/>
          <p:cNvSpPr/>
          <p:nvPr/>
        </p:nvSpPr>
        <p:spPr>
          <a:xfrm>
            <a:off x="4319930" y="1719072"/>
            <a:ext cx="3551834" cy="3749040"/>
          </a:xfrm>
          <a:prstGeom prst="roundRect">
            <a:avLst>
              <a:gd name="adj" fmla="val 1545"/>
            </a:avLst>
          </a:prstGeom>
          <a:solidFill>
            <a:srgbClr val="F6E6E3"/>
          </a:solidFill>
          <a:ln w="9525">
            <a:solidFill>
              <a:srgbClr val="D9DCE3"/>
            </a:solidFill>
            <a:prstDash val="solid"/>
          </a:ln>
        </p:spPr>
      </p:sp>
      <p:sp>
        <p:nvSpPr>
          <p:cNvPr id="18" name="Shape 16"/>
          <p:cNvSpPr/>
          <p:nvPr/>
        </p:nvSpPr>
        <p:spPr>
          <a:xfrm>
            <a:off x="4319930" y="1773936"/>
            <a:ext cx="41148" cy="3639312"/>
          </a:xfrm>
          <a:prstGeom prst="rect">
            <a:avLst/>
          </a:prstGeom>
          <a:solidFill>
            <a:srgbClr val="A83A30"/>
          </a:solidFill>
          <a:ln/>
        </p:spPr>
      </p:sp>
      <p:sp>
        <p:nvSpPr>
          <p:cNvPr id="19" name="Text 17"/>
          <p:cNvSpPr txBox="1"/>
          <p:nvPr/>
        </p:nvSpPr>
        <p:spPr>
          <a:xfrm>
            <a:off x="4521098" y="1865376"/>
            <a:ext cx="3149498" cy="292608"/>
          </a:xfrm>
          <a:prstGeom prst="rect">
            <a:avLst/>
          </a:prstGeom>
          <a:noFill/>
          <a:ln/>
        </p:spPr>
        <p:txBody>
          <a:bodyPr wrap="square" lIns="0" tIns="0" rIns="0" bIns="0" rtlCol="0" anchor="ctr"/>
          <a:lstStyle/>
          <a:p>
            <a:pPr indent="0" marL="0">
              <a:buNone/>
            </a:pPr>
            <a:r>
              <a:rPr lang="en-US" sz="1500" b="1" spc="80" kern="0" dirty="0">
                <a:solidFill>
                  <a:srgbClr val="A83A30"/>
                </a:solidFill>
                <a:latin typeface="Consolas" pitchFamily="34" charset="0"/>
                <a:ea typeface="Consolas" pitchFamily="34" charset="-122"/>
                <a:cs typeface="Consolas" pitchFamily="34" charset="-120"/>
              </a:rPr>
              <a:t>ETHICAL</a:t>
            </a:r>
            <a:endParaRPr lang="en-US" sz="1500" dirty="0"/>
          </a:p>
        </p:txBody>
      </p:sp>
      <p:sp>
        <p:nvSpPr>
          <p:cNvPr id="20" name="Text 18"/>
          <p:cNvSpPr txBox="1"/>
          <p:nvPr/>
        </p:nvSpPr>
        <p:spPr>
          <a:xfrm>
            <a:off x="4521098" y="2377440"/>
            <a:ext cx="3149498" cy="2926080"/>
          </a:xfrm>
          <a:prstGeom prst="rect">
            <a:avLst/>
          </a:prstGeom>
          <a:noFill/>
          <a:ln/>
        </p:spPr>
        <p:txBody>
          <a:bodyPr wrap="square" lIns="0" tIns="0" rIns="0" bIns="0" rtlCol="0" anchor="ctr"/>
          <a:lstStyle/>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Advisory only — every repair is human-gated</a:t>
            </a:r>
            <a:endParaRPr lang="en-US" sz="1650" dirty="0"/>
          </a:p>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Consent for real trace data; injection only on consenting systems</a:t>
            </a:r>
            <a:endParaRPr lang="en-US" sz="1650" dirty="0"/>
          </a:p>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Negative results published as found — Spike 7 not buried</a:t>
            </a:r>
            <a:endParaRPr lang="en-US" sz="1650" dirty="0"/>
          </a:p>
        </p:txBody>
      </p:sp>
      <p:sp>
        <p:nvSpPr>
          <p:cNvPr id="21" name="Shape 19"/>
          <p:cNvSpPr/>
          <p:nvPr/>
        </p:nvSpPr>
        <p:spPr>
          <a:xfrm>
            <a:off x="8093050" y="1744675"/>
            <a:ext cx="3551834" cy="3749040"/>
          </a:xfrm>
          <a:prstGeom prst="roundRect">
            <a:avLst>
              <a:gd name="adj" fmla="val 1545"/>
            </a:avLst>
          </a:prstGeom>
          <a:solidFill>
            <a:srgbClr val="E4E6EB"/>
          </a:solidFill>
          <a:ln/>
        </p:spPr>
      </p:sp>
      <p:sp>
        <p:nvSpPr>
          <p:cNvPr id="22" name="Shape 20"/>
          <p:cNvSpPr/>
          <p:nvPr/>
        </p:nvSpPr>
        <p:spPr>
          <a:xfrm>
            <a:off x="8072933" y="1719072"/>
            <a:ext cx="3551834" cy="3749040"/>
          </a:xfrm>
          <a:prstGeom prst="roundRect">
            <a:avLst>
              <a:gd name="adj" fmla="val 1545"/>
            </a:avLst>
          </a:prstGeom>
          <a:solidFill>
            <a:srgbClr val="E4E9F2"/>
          </a:solidFill>
          <a:ln w="9525">
            <a:solidFill>
              <a:srgbClr val="D9DCE3"/>
            </a:solidFill>
            <a:prstDash val="solid"/>
          </a:ln>
        </p:spPr>
      </p:sp>
      <p:sp>
        <p:nvSpPr>
          <p:cNvPr id="23" name="Shape 21"/>
          <p:cNvSpPr/>
          <p:nvPr/>
        </p:nvSpPr>
        <p:spPr>
          <a:xfrm>
            <a:off x="8072933" y="1773936"/>
            <a:ext cx="41148" cy="3639312"/>
          </a:xfrm>
          <a:prstGeom prst="rect">
            <a:avLst/>
          </a:prstGeom>
          <a:solidFill>
            <a:srgbClr val="31558F"/>
          </a:solidFill>
          <a:ln/>
        </p:spPr>
      </p:sp>
      <p:sp>
        <p:nvSpPr>
          <p:cNvPr id="24" name="Text 22"/>
          <p:cNvSpPr txBox="1"/>
          <p:nvPr/>
        </p:nvSpPr>
        <p:spPr>
          <a:xfrm>
            <a:off x="8274101" y="1865376"/>
            <a:ext cx="3149498" cy="292608"/>
          </a:xfrm>
          <a:prstGeom prst="rect">
            <a:avLst/>
          </a:prstGeom>
          <a:noFill/>
          <a:ln/>
        </p:spPr>
        <p:txBody>
          <a:bodyPr wrap="square" lIns="0" tIns="0" rIns="0" bIns="0" rtlCol="0" anchor="ctr"/>
          <a:lstStyle/>
          <a:p>
            <a:pPr indent="0" marL="0">
              <a:buNone/>
            </a:pPr>
            <a:r>
              <a:rPr lang="en-US" sz="1500" b="1" spc="80" kern="0" dirty="0">
                <a:solidFill>
                  <a:srgbClr val="31558F"/>
                </a:solidFill>
                <a:latin typeface="Consolas" pitchFamily="34" charset="0"/>
                <a:ea typeface="Consolas" pitchFamily="34" charset="-122"/>
                <a:cs typeface="Consolas" pitchFamily="34" charset="-120"/>
              </a:rPr>
              <a:t>LEGAL / PROFESSIONAL</a:t>
            </a:r>
            <a:endParaRPr lang="en-US" sz="1500" dirty="0"/>
          </a:p>
        </p:txBody>
      </p:sp>
      <p:sp>
        <p:nvSpPr>
          <p:cNvPr id="25" name="Text 23"/>
          <p:cNvSpPr txBox="1"/>
          <p:nvPr/>
        </p:nvSpPr>
        <p:spPr>
          <a:xfrm>
            <a:off x="8274101" y="2377440"/>
            <a:ext cx="3149498" cy="2926080"/>
          </a:xfrm>
          <a:prstGeom prst="rect">
            <a:avLst/>
          </a:prstGeom>
          <a:noFill/>
          <a:ln/>
        </p:spPr>
        <p:txBody>
          <a:bodyPr wrap="square" lIns="0" tIns="0" rIns="0" bIns="0" rtlCol="0" anchor="ctr"/>
          <a:lstStyle/>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Who&amp;When · GSM8K · tau-bench — all MIT, confirmed against the LICENSE file</a:t>
            </a:r>
            <a:endParaRPr lang="en-US" sz="1650" dirty="0"/>
          </a:p>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Released artefacts carry MIT / CC BY 4.0</a:t>
            </a:r>
            <a:endParaRPr lang="en-US" sz="1650" dirty="0"/>
          </a:p>
          <a:p>
            <a:pPr marL="190500" indent="-190500">
              <a:spcAft>
                <a:spcPts val="2600"/>
              </a:spcAft>
              <a:buSzPct val="100000"/>
              <a:buChar char="▪"/>
            </a:pPr>
            <a:r>
              <a:rPr lang="en-US" sz="1650" dirty="0">
                <a:solidFill>
                  <a:srgbClr val="1B202A"/>
                </a:solidFill>
                <a:latin typeface="Calibri" pitchFamily="34" charset="0"/>
                <a:ea typeface="Calibri" pitchFamily="34" charset="-122"/>
                <a:cs typeface="Calibri" pitchFamily="34" charset="-120"/>
              </a:rPr>
              <a:t>AI usage logged per session and disclosed to the team throughout</a:t>
            </a:r>
            <a:endParaRPr lang="en-US" sz="16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FAST School of Computing, NUCES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Granite — Proposal Defense (v2)</dc:title>
  <dc:subject>Stage 1 Proposal Defense — F26-060-Granite</dc:subject>
  <dc:creator>Granite — F26-060</dc:creator>
  <cp:lastModifiedBy>Granite — F26-060</cp:lastModifiedBy>
  <cp:revision>1</cp:revision>
  <dcterms:created xsi:type="dcterms:W3CDTF">2026-09-09T22:31:56Z</dcterms:created>
  <dcterms:modified xsi:type="dcterms:W3CDTF">2026-09-09T22:31:56Z</dcterms:modified>
</cp:coreProperties>
</file>