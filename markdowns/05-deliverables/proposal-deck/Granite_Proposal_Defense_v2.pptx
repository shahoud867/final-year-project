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Step accuracy</c:v>
                </c:pt>
              </c:strCache>
            </c:strRef>
          </c:tx>
          <c:spPr>
            <a:solidFill>
              <a:srgbClr val="C89B3C"/>
            </a:solidFill>
            <a:effectLst/>
          </c:spPr>
          <c:invertIfNegative val="0"/>
          <c:dLbls>
            <c:numFmt formatCode="0.0" sourceLinked="0"/>
            <c:txPr>
              <a:bodyPr/>
              <a:lstStyle/>
              <a:p>
                <a:pPr>
                  <a:defRPr b="1" i="0" strike="noStrike" sz="1100" u="none">
                    <a:solidFill>
                      <a:srgbClr val="1B202A"/>
                    </a:solidFill>
                    <a:latin typeface="Arial"/>
                  </a:defRPr>
                </a:pPr>
              </a:p>
            </c:txPr>
            <c:showLegendKey val="0"/>
            <c:showVal val="1"/>
            <c:showCatName val="0"/>
            <c:showSerName val="0"/>
            <c:showPercent val="0"/>
            <c:showBubbleSize val="0"/>
            <c:showLeaderLines val="0"/>
          </c:dLbls>
          <c:cat>
            <c:multiLvlStrRef>
              <c:f>Sheet1!$A$2:$A$4</c:f>
              <c:multiLvlStrCache>
                <c:ptCount val="3"/>
                <c:lvl>
                  <c:pt idx="0">
                    <c:v>Who&amp;When
(single-LLM)</c:v>
                  </c:pt>
                  <c:pt idx="1">
                    <c:v>AgenTracer
(midpoint of range)</c:v>
                  </c:pt>
                  <c:pt idx="2">
                    <c:v>ErrorProbe
(baseline)</c:v>
                  </c:pt>
                </c:lvl>
              </c:multiLvlStrCache>
            </c:multiLvlStrRef>
          </c:cat>
          <c:val>
            <c:numRef>
              <c:f>Sheet1!$B$2:$B$4</c:f>
              <c:numCache>
                <c:formatCode>General</c:formatCode>
                <c:ptCount val="3"/>
                <c:pt idx="0">
                  <c:v>14.2</c:v>
                </c:pt>
                <c:pt idx="1">
                  <c:v>40</c:v>
                </c:pt>
                <c:pt idx="2">
                  <c:v>59.5</c:v>
                </c:pt>
              </c:numCache>
            </c:numRef>
          </c:val>
        </c:ser>
        <c:dLbls>
          <c:numFmt formatCode="0.0" sourceLinked="0"/>
          <c:txPr>
            <a:bodyPr/>
            <a:lstStyle/>
            <a:p>
              <a:pPr>
                <a:defRPr b="1" i="0" strike="noStrike" sz="1100" u="none">
                  <a:solidFill>
                    <a:srgbClr val="1B20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96273"/>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D9DC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6273"/>
                </a:solidFill>
                <a:latin typeface="Arial"/>
              </a:defRPr>
            </a:pPr>
            <a:endParaRPr lang="en-US"/>
          </a:p>
        </c:txPr>
        <c:crossAx val="2094734554"/>
        <c:crosses val="autoZero"/>
        <c:crossBetween val="between"/>
      </c:valAx>
      <c:spPr>
        <a:solidFill>
          <a:srgbClr val="FBFBFC"/>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one-line problem exactly as written — WHO (teams running multi-agent systems), WHAT fails (attribution + silent failures), WHY it matters (nobody can verify a fix), in one breath. Do not explain the title word-by-word — slide 6 does that. Three names, three distinct subsystems, said aloud here sets the ownership tone before the panel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 is the field's own measured baseline for 'a human reads the trace' — the number the whole project is trying to beat. On stakeholders: state plainly that this is Stream A, that the problem's reality rests on published evidence and a commercial market, and that live practitioner contact is scheduled in the Mid-2 acceptance study (C.13.1). Do not overclaim contact that has not happened — risk-register R33.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correction story: an early draft said 'nobody automates this' — direct vendor checks proved that stale, corrected on the record (R9). On prior FYPs, give the number unprompted: 660 titles across every published cohort back to 2019, checked structurally, not by title — and name AutoVulRepair yourself as the nearest analog before a panelist finds it. The gap is the combination, not any single missing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backbone-confound caveat before being asked. Name that credible unpublished preprints exist in adjacent territory and the team made a recorded decision not to chase every one — the strategy is beating a peer-reviewed baseline, not pre-empting unpublished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panel uses to decide whether the project deserves capstone status. Do not read the nine boxes — point at them and speak the bottom band instead: concede immediately that the wrapper is a weekend's work, then name precisely what such a version would get wrong. Characteristic 6 is amber on purpose; say so before they spot it. Read characteristic 9's resolution aloud if pressed on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unprompted: 'controlled, not deterministic' — the replay protocol is deterministic, LLM-step variance is measured over N replays, never assumed away (R25). Say unprompted: the Semantic Error Diagnostic abstains where no checkable constraint exists, and the abstention rate is reported as a metric, not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Spike 7's negative result and Spike 8's failure analysis — quote the guide's own words on this directly: a POC that disproved an assumption is more valuable than one that confirmed it. Every number on this slide is real and recomputable from files in the repository; offer to open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false-positive-rate-on-clean-controls metric is absent from every paper in the reviewed corpus and every platform checked — say this is the field's gap, not just ours. Deliver the risk column as confidence, not confession: each decision rule was pre-registered before results exist, which is exactly what the guide's change-control section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member states their own subsystem in one sentence, aloud — the panel is applying the guide's four ownership questions (explain / justify against an alternative / predict what breaks / modify under questioning), and hearing three distinct voices here sets that tone early. The 'if removed' line under each card is the guide's own scope test, answered honestly rather than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DEI line is a real, checkable commitment, not a decorative label — say the access-equity sentence in your own words. Name Level 2 out loud and say why it is not Level 3: accreditation requires the graduate to have done the design and evaluation, and delegating that would forfeit the attribute. If asked about AI use at all, the answer is that it is logged per session, disclosed on Form 13, and that every CCP-relevant component has a member who can defend it live — offer to demonstrate that on any component they pick.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19"/>
        </a:solidFill>
      </p:bgPr>
    </p:bg>
    <p:spTree>
      <p:nvGrpSpPr>
        <p:cNvPr id="1" name=""/>
        <p:cNvGrpSpPr/>
        <p:nvPr/>
      </p:nvGrpSpPr>
      <p:grpSpPr>
        <a:xfrm>
          <a:off x="0" y="0"/>
          <a:ext cx="0" cy="0"/>
          <a:chOff x="0" y="0"/>
          <a:chExt cx="0" cy="0"/>
        </a:xfrm>
      </p:grpSpPr>
      <p:sp>
        <p:nvSpPr>
          <p:cNvPr id="2" name="Shape 0"/>
          <p:cNvSpPr/>
          <p:nvPr/>
        </p:nvSpPr>
        <p:spPr>
          <a:xfrm rot="2700000">
            <a:off x="9448495" y="1051560"/>
            <a:ext cx="1371600" cy="1371600"/>
          </a:xfrm>
          <a:prstGeom prst="rect">
            <a:avLst/>
          </a:prstGeom>
          <a:solidFill>
            <a:srgbClr val="171C26"/>
          </a:solidFill>
          <a:ln w="12700">
            <a:solidFill>
              <a:srgbClr val="8E6A1F"/>
            </a:solidFill>
            <a:prstDash val="solid"/>
          </a:ln>
        </p:spPr>
      </p:sp>
      <p:sp>
        <p:nvSpPr>
          <p:cNvPr id="3" name="Shape 1"/>
          <p:cNvSpPr/>
          <p:nvPr/>
        </p:nvSpPr>
        <p:spPr>
          <a:xfrm rot="2700000">
            <a:off x="9686239" y="1289304"/>
            <a:ext cx="896112" cy="896112"/>
          </a:xfrm>
          <a:prstGeom prst="rect">
            <a:avLst/>
          </a:prstGeom>
          <a:solidFill>
            <a:srgbClr val="C89B3C"/>
          </a:solidFill>
          <a:ln/>
        </p:spPr>
      </p:sp>
      <p:sp>
        <p:nvSpPr>
          <p:cNvPr id="4" name="Shape 2"/>
          <p:cNvSpPr/>
          <p:nvPr/>
        </p:nvSpPr>
        <p:spPr>
          <a:xfrm rot="2700000">
            <a:off x="9905695" y="1508760"/>
            <a:ext cx="457200" cy="457200"/>
          </a:xfrm>
          <a:prstGeom prst="rect">
            <a:avLst/>
          </a:prstGeom>
          <a:solidFill>
            <a:srgbClr val="0F1219"/>
          </a:solidFill>
          <a:ln w="12700">
            <a:solidFill>
              <a:srgbClr val="E3BC6E"/>
            </a:solidFill>
            <a:prstDash val="solid"/>
          </a:ln>
        </p:spPr>
      </p:sp>
      <p:sp>
        <p:nvSpPr>
          <p:cNvPr id="5" name="Shape 3"/>
          <p:cNvSpPr/>
          <p:nvPr/>
        </p:nvSpPr>
        <p:spPr>
          <a:xfrm>
            <a:off x="0" y="0"/>
            <a:ext cx="80467" cy="6858000"/>
          </a:xfrm>
          <a:prstGeom prst="rect">
            <a:avLst/>
          </a:prstGeom>
          <a:solidFill>
            <a:srgbClr val="C89B3C"/>
          </a:solidFill>
          <a:ln/>
        </p:spPr>
      </p:sp>
      <p:sp>
        <p:nvSpPr>
          <p:cNvPr id="6" name="Text 4"/>
          <p:cNvSpPr txBox="1"/>
          <p:nvPr/>
        </p:nvSpPr>
        <p:spPr>
          <a:xfrm>
            <a:off x="566928" y="1325880"/>
            <a:ext cx="8412480" cy="274320"/>
          </a:xfrm>
          <a:prstGeom prst="rect">
            <a:avLst/>
          </a:prstGeom>
          <a:noFill/>
          <a:ln/>
        </p:spPr>
        <p:txBody>
          <a:bodyPr wrap="square" lIns="0" tIns="0" rIns="0" bIns="0" rtlCol="0" anchor="ctr"/>
          <a:lstStyle/>
          <a:p>
            <a:pPr indent="0" marL="0">
              <a:buNone/>
            </a:pPr>
            <a:r>
              <a:rPr lang="en-US" sz="1150" b="1" spc="180" kern="0" dirty="0">
                <a:solidFill>
                  <a:srgbClr val="E3BC6E"/>
                </a:solidFill>
                <a:latin typeface="Consolas" pitchFamily="34" charset="0"/>
                <a:ea typeface="Consolas" pitchFamily="34" charset="-122"/>
                <a:cs typeface="Consolas" pitchFamily="34" charset="-120"/>
              </a:rPr>
              <a:t>F26-060  ·  PROPOSAL DEFENSE  ·  STREAM A — RESEARCH-DERIVED</a:t>
            </a:r>
            <a:endParaRPr lang="en-US" sz="1150" dirty="0"/>
          </a:p>
        </p:txBody>
      </p:sp>
      <p:sp>
        <p:nvSpPr>
          <p:cNvPr id="7" name="Text 5"/>
          <p:cNvSpPr txBox="1"/>
          <p:nvPr/>
        </p:nvSpPr>
        <p:spPr>
          <a:xfrm>
            <a:off x="566928" y="1645920"/>
            <a:ext cx="8412480" cy="1051560"/>
          </a:xfrm>
          <a:prstGeom prst="rect">
            <a:avLst/>
          </a:prstGeom>
          <a:noFill/>
          <a:ln/>
        </p:spPr>
        <p:txBody>
          <a:bodyPr wrap="square" lIns="0" tIns="0" rIns="0" bIns="0" rtlCol="0" anchor="ctr"/>
          <a:lstStyle/>
          <a:p>
            <a:pPr indent="0" marL="0">
              <a:buNone/>
            </a:pPr>
            <a:r>
              <a:rPr lang="en-US" sz="6800" b="1" dirty="0">
                <a:solidFill>
                  <a:srgbClr val="F5F6F8"/>
                </a:solidFill>
                <a:latin typeface="Georgia" pitchFamily="34" charset="0"/>
                <a:ea typeface="Georgia" pitchFamily="34" charset="-122"/>
                <a:cs typeface="Georgia" pitchFamily="34" charset="-120"/>
              </a:rPr>
              <a:t>Granite</a:t>
            </a:r>
            <a:endParaRPr lang="en-US" sz="6800" dirty="0"/>
          </a:p>
        </p:txBody>
      </p:sp>
      <p:sp>
        <p:nvSpPr>
          <p:cNvPr id="8" name="Text 6"/>
          <p:cNvSpPr txBox="1"/>
          <p:nvPr/>
        </p:nvSpPr>
        <p:spPr>
          <a:xfrm>
            <a:off x="566928" y="2724912"/>
            <a:ext cx="7680960" cy="566928"/>
          </a:xfrm>
          <a:prstGeom prst="rect">
            <a:avLst/>
          </a:prstGeom>
          <a:noFill/>
          <a:ln/>
        </p:spPr>
        <p:txBody>
          <a:bodyPr wrap="square" lIns="0" tIns="0" rIns="0" bIns="0" rtlCol="0" anchor="ctr"/>
          <a:lstStyle/>
          <a:p>
            <a:pPr indent="0" marL="0">
              <a:buNone/>
            </a:pPr>
            <a:r>
              <a:rPr lang="en-US" sz="1550" i="1" dirty="0">
                <a:solidFill>
                  <a:srgbClr val="A9B0BE"/>
                </a:solidFill>
                <a:latin typeface="Calibri" pitchFamily="34" charset="0"/>
                <a:ea typeface="Calibri" pitchFamily="34" charset="-122"/>
                <a:cs typeface="Calibri" pitchFamily="34" charset="-120"/>
              </a:rPr>
              <a:t>A Self-Healing Multi-Agent System for Semantic Error Diagnosis, Verified Repair and Recovery</a:t>
            </a:r>
            <a:endParaRPr lang="en-US" sz="1550" dirty="0"/>
          </a:p>
        </p:txBody>
      </p:sp>
      <p:sp>
        <p:nvSpPr>
          <p:cNvPr id="9" name="Shape 7"/>
          <p:cNvSpPr/>
          <p:nvPr/>
        </p:nvSpPr>
        <p:spPr>
          <a:xfrm>
            <a:off x="566928" y="3456432"/>
            <a:ext cx="1005840" cy="32004"/>
          </a:xfrm>
          <a:prstGeom prst="rect">
            <a:avLst/>
          </a:prstGeom>
          <a:solidFill>
            <a:srgbClr val="C89B3C"/>
          </a:solidFill>
          <a:ln/>
        </p:spPr>
      </p:sp>
      <p:sp>
        <p:nvSpPr>
          <p:cNvPr id="10" name="Text 8"/>
          <p:cNvSpPr txBox="1"/>
          <p:nvPr/>
        </p:nvSpPr>
        <p:spPr>
          <a:xfrm>
            <a:off x="566928" y="3657600"/>
            <a:ext cx="7680960" cy="960120"/>
          </a:xfrm>
          <a:prstGeom prst="rect">
            <a:avLst/>
          </a:prstGeom>
          <a:noFill/>
          <a:ln/>
        </p:spPr>
        <p:txBody>
          <a:bodyPr wrap="square" lIns="0" tIns="0" rIns="0" bIns="0" rtlCol="0" anchor="ctr"/>
          <a:lstStyle/>
          <a:p>
            <a:pPr indent="0" marL="0">
              <a:buNone/>
            </a:pPr>
            <a:r>
              <a:rPr lang="en-US" sz="1850" i="1" dirty="0">
                <a:solidFill>
                  <a:srgbClr val="F5F6F8"/>
                </a:solidFill>
                <a:latin typeface="Georgia" pitchFamily="34" charset="0"/>
                <a:ea typeface="Georgia" pitchFamily="34" charset="-122"/>
                <a:cs typeface="Georgia" pitchFamily="34" charset="-120"/>
              </a:rPr>
              <a:t>When a multi-agent AI system fails — including when the wrong answer looks completely right — no published method can reliably say which agent caused it, and none can verify a fix before trusting it.</a:t>
            </a:r>
            <a:endParaRPr lang="en-US" sz="1850" dirty="0"/>
          </a:p>
        </p:txBody>
      </p:sp>
      <p:sp>
        <p:nvSpPr>
          <p:cNvPr id="11" name="Shape 9"/>
          <p:cNvSpPr/>
          <p:nvPr/>
        </p:nvSpPr>
        <p:spPr>
          <a:xfrm>
            <a:off x="566928" y="5029200"/>
            <a:ext cx="7680960" cy="0"/>
          </a:xfrm>
          <a:prstGeom prst="line">
            <a:avLst/>
          </a:prstGeom>
          <a:noFill/>
          <a:ln w="12700">
            <a:solidFill>
              <a:srgbClr val="2C3340"/>
            </a:solidFill>
            <a:prstDash val="solid"/>
          </a:ln>
        </p:spPr>
      </p:sp>
      <p:sp>
        <p:nvSpPr>
          <p:cNvPr id="12" name="Text 10"/>
          <p:cNvSpPr txBox="1"/>
          <p:nvPr/>
        </p:nvSpPr>
        <p:spPr>
          <a:xfrm>
            <a:off x="566928" y="5138928"/>
            <a:ext cx="2560320" cy="566928"/>
          </a:xfrm>
          <a:prstGeom prst="rect">
            <a:avLst/>
          </a:prstGeom>
          <a:noFill/>
          <a:ln/>
        </p:spPr>
        <p:txBody>
          <a:bodyPr wrap="square" lIns="0" tIns="0" rIns="0" bIns="0" rtlCol="0" anchor="ctr"/>
          <a:lstStyle/>
          <a:p>
            <a:pPr indent="0" marL="0">
              <a:buNone/>
            </a:pPr>
            <a:r>
              <a:rPr lang="en-US" sz="1250" b="1" dirty="0">
                <a:solidFill>
                  <a:srgbClr val="F5F6F8"/>
                </a:solidFill>
                <a:latin typeface="Calibri" pitchFamily="34" charset="0"/>
                <a:ea typeface="Calibri" pitchFamily="34" charset="-122"/>
                <a:cs typeface="Calibri" pitchFamily="34" charset="-120"/>
              </a:rPr>
              <a:t>Shahoud Shahid</a:t>
            </a:r>
            <a:endParaRPr lang="en-US" sz="1250" dirty="0"/>
          </a:p>
          <a:p>
            <a:pPr indent="0" marL="0">
              <a:buNone/>
            </a:pPr>
            <a:r>
              <a:rPr lang="en-US" sz="1000" dirty="0">
                <a:solidFill>
                  <a:srgbClr val="A9B0BE"/>
                </a:solidFill>
                <a:latin typeface="Calibri" pitchFamily="34" charset="0"/>
                <a:ea typeface="Calibri" pitchFamily="34" charset="-122"/>
                <a:cs typeface="Calibri" pitchFamily="34" charset="-120"/>
              </a:rPr>
              <a:t>23i-2515  ·  </a:t>
            </a:r>
            <a:pPr indent="0" marL="0">
              <a:buNone/>
            </a:pPr>
            <a:r>
              <a:rPr lang="en-US" sz="1000" dirty="0">
                <a:solidFill>
                  <a:srgbClr val="E3BC6E"/>
                </a:solidFill>
                <a:latin typeface="Calibri" pitchFamily="34" charset="0"/>
                <a:ea typeface="Calibri" pitchFamily="34" charset="-122"/>
                <a:cs typeface="Calibri" pitchFamily="34" charset="-120"/>
              </a:rPr>
              <a:t>Data / Benchmark</a:t>
            </a:r>
            <a:endParaRPr lang="en-US" sz="1250" dirty="0"/>
          </a:p>
        </p:txBody>
      </p:sp>
      <p:sp>
        <p:nvSpPr>
          <p:cNvPr id="13" name="Text 11"/>
          <p:cNvSpPr txBox="1"/>
          <p:nvPr/>
        </p:nvSpPr>
        <p:spPr>
          <a:xfrm>
            <a:off x="3172968" y="5138928"/>
            <a:ext cx="2560320" cy="566928"/>
          </a:xfrm>
          <a:prstGeom prst="rect">
            <a:avLst/>
          </a:prstGeom>
          <a:noFill/>
          <a:ln/>
        </p:spPr>
        <p:txBody>
          <a:bodyPr wrap="square" lIns="0" tIns="0" rIns="0" bIns="0" rtlCol="0" anchor="ctr"/>
          <a:lstStyle/>
          <a:p>
            <a:pPr indent="0" marL="0">
              <a:buNone/>
            </a:pPr>
            <a:r>
              <a:rPr lang="en-US" sz="1250" b="1" dirty="0">
                <a:solidFill>
                  <a:srgbClr val="F5F6F8"/>
                </a:solidFill>
                <a:latin typeface="Calibri" pitchFamily="34" charset="0"/>
                <a:ea typeface="Calibri" pitchFamily="34" charset="-122"/>
                <a:cs typeface="Calibri" pitchFamily="34" charset="-120"/>
              </a:rPr>
              <a:t>Muhammad Noor</a:t>
            </a:r>
            <a:endParaRPr lang="en-US" sz="1250" dirty="0"/>
          </a:p>
          <a:p>
            <a:pPr indent="0" marL="0">
              <a:buNone/>
            </a:pPr>
            <a:r>
              <a:rPr lang="en-US" sz="1000" dirty="0">
                <a:solidFill>
                  <a:srgbClr val="A9B0BE"/>
                </a:solidFill>
                <a:latin typeface="Calibri" pitchFamily="34" charset="0"/>
                <a:ea typeface="Calibri" pitchFamily="34" charset="-122"/>
                <a:cs typeface="Calibri" pitchFamily="34" charset="-120"/>
              </a:rPr>
              <a:t>23i-2520  ·  </a:t>
            </a:r>
            <a:pPr indent="0" marL="0">
              <a:buNone/>
            </a:pPr>
            <a:r>
              <a:rPr lang="en-US" sz="1000" dirty="0">
                <a:solidFill>
                  <a:srgbClr val="E3BC6E"/>
                </a:solidFill>
                <a:latin typeface="Calibri" pitchFamily="34" charset="0"/>
                <a:ea typeface="Calibri" pitchFamily="34" charset="-122"/>
                <a:cs typeface="Calibri" pitchFamily="34" charset="-120"/>
              </a:rPr>
              <a:t>Diagnosis Engine</a:t>
            </a:r>
            <a:endParaRPr lang="en-US" sz="1250" dirty="0"/>
          </a:p>
        </p:txBody>
      </p:sp>
      <p:sp>
        <p:nvSpPr>
          <p:cNvPr id="14" name="Text 12"/>
          <p:cNvSpPr txBox="1"/>
          <p:nvPr/>
        </p:nvSpPr>
        <p:spPr>
          <a:xfrm>
            <a:off x="5779008" y="5138928"/>
            <a:ext cx="2560320" cy="566928"/>
          </a:xfrm>
          <a:prstGeom prst="rect">
            <a:avLst/>
          </a:prstGeom>
          <a:noFill/>
          <a:ln/>
        </p:spPr>
        <p:txBody>
          <a:bodyPr wrap="square" lIns="0" tIns="0" rIns="0" bIns="0" rtlCol="0" anchor="ctr"/>
          <a:lstStyle/>
          <a:p>
            <a:pPr indent="0" marL="0">
              <a:buNone/>
            </a:pPr>
            <a:r>
              <a:rPr lang="en-US" sz="1250" b="1" dirty="0">
                <a:solidFill>
                  <a:srgbClr val="F5F6F8"/>
                </a:solidFill>
                <a:latin typeface="Calibri" pitchFamily="34" charset="0"/>
                <a:ea typeface="Calibri" pitchFamily="34" charset="-122"/>
                <a:cs typeface="Calibri" pitchFamily="34" charset="-120"/>
              </a:rPr>
              <a:t>Saif Shahzad</a:t>
            </a:r>
            <a:endParaRPr lang="en-US" sz="1250" dirty="0"/>
          </a:p>
          <a:p>
            <a:pPr indent="0" marL="0">
              <a:buNone/>
            </a:pPr>
            <a:r>
              <a:rPr lang="en-US" sz="1000" dirty="0">
                <a:solidFill>
                  <a:srgbClr val="A9B0BE"/>
                </a:solidFill>
                <a:latin typeface="Calibri" pitchFamily="34" charset="0"/>
                <a:ea typeface="Calibri" pitchFamily="34" charset="-122"/>
                <a:cs typeface="Calibri" pitchFamily="34" charset="-120"/>
              </a:rPr>
              <a:t>23i-2634  ·  </a:t>
            </a:r>
            <a:pPr indent="0" marL="0">
              <a:buNone/>
            </a:pPr>
            <a:r>
              <a:rPr lang="en-US" sz="1000" dirty="0">
                <a:solidFill>
                  <a:srgbClr val="E3BC6E"/>
                </a:solidFill>
                <a:latin typeface="Calibri" pitchFamily="34" charset="0"/>
                <a:ea typeface="Calibri" pitchFamily="34" charset="-122"/>
                <a:cs typeface="Calibri" pitchFamily="34" charset="-120"/>
              </a:rPr>
              <a:t>Platform</a:t>
            </a:r>
            <a:endParaRPr lang="en-US" sz="1250" dirty="0"/>
          </a:p>
        </p:txBody>
      </p:sp>
      <p:sp>
        <p:nvSpPr>
          <p:cNvPr id="15" name="Text 13"/>
          <p:cNvSpPr txBox="1"/>
          <p:nvPr/>
        </p:nvSpPr>
        <p:spPr>
          <a:xfrm>
            <a:off x="566928" y="5961888"/>
            <a:ext cx="5486400" cy="548640"/>
          </a:xfrm>
          <a:prstGeom prst="rect">
            <a:avLst/>
          </a:prstGeom>
          <a:noFill/>
          <a:ln/>
        </p:spPr>
        <p:txBody>
          <a:bodyPr wrap="square" lIns="0" tIns="0" rIns="0" bIns="0" rtlCol="0" anchor="ctr"/>
          <a:lstStyle/>
          <a:p>
            <a:pPr indent="0" marL="0">
              <a:buNone/>
            </a:pPr>
            <a:r>
              <a:rPr lang="en-US" sz="1050" dirty="0">
                <a:solidFill>
                  <a:srgbClr val="A9B0BE"/>
                </a:solidFill>
                <a:latin typeface="Calibri" pitchFamily="34" charset="0"/>
                <a:ea typeface="Calibri" pitchFamily="34" charset="-122"/>
                <a:cs typeface="Calibri" pitchFamily="34" charset="-120"/>
              </a:rPr>
              <a:t>Supervisor   </a:t>
            </a:r>
            <a:pPr indent="0" marL="0">
              <a:buNone/>
            </a:pPr>
            <a:r>
              <a:rPr lang="en-US" sz="1250" b="1" dirty="0">
                <a:solidFill>
                  <a:srgbClr val="F5F6F8"/>
                </a:solidFill>
                <a:latin typeface="Calibri" pitchFamily="34" charset="0"/>
                <a:ea typeface="Calibri" pitchFamily="34" charset="-122"/>
                <a:cs typeface="Calibri" pitchFamily="34" charset="-120"/>
              </a:rPr>
              <a:t>Dr. Adil Majeed</a:t>
            </a:r>
            <a:endParaRPr lang="en-US" sz="1050" dirty="0"/>
          </a:p>
          <a:p>
            <a:pPr indent="0" marL="0">
              <a:buNone/>
            </a:pPr>
            <a:r>
              <a:rPr lang="en-US" sz="1000" dirty="0">
                <a:solidFill>
                  <a:srgbClr val="A9B0BE"/>
                </a:solidFill>
                <a:latin typeface="Calibri" pitchFamily="34" charset="0"/>
                <a:ea typeface="Calibri" pitchFamily="34" charset="-122"/>
                <a:cs typeface="Calibri" pitchFamily="34" charset="-120"/>
              </a:rPr>
              <a:t>FAST School of Computing, NUCES Islamabad</a:t>
            </a:r>
            <a:endParaRPr lang="en-US" sz="105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10896"/>
            <a:ext cx="11057839" cy="237744"/>
          </a:xfrm>
          <a:prstGeom prst="rect">
            <a:avLst/>
          </a:prstGeom>
          <a:noFill/>
          <a:ln/>
        </p:spPr>
        <p:txBody>
          <a:bodyPr wrap="square" lIns="0" tIns="0" rIns="0" bIns="0" rtlCol="0" anchor="ctr"/>
          <a:lstStyle/>
          <a:p>
            <a:pPr indent="0" marL="0">
              <a:buNone/>
            </a:pPr>
            <a:r>
              <a:rPr lang="en-US" sz="1050" b="1" spc="180" kern="0" dirty="0">
                <a:solidFill>
                  <a:srgbClr val="8E6A1F"/>
                </a:solidFill>
                <a:latin typeface="Consolas" pitchFamily="34" charset="0"/>
                <a:ea typeface="Consolas" pitchFamily="34" charset="-122"/>
                <a:cs typeface="Consolas" pitchFamily="34" charset="-120"/>
              </a:rPr>
              <a:t>WHO HAS THIS, HOW IT IS HANDLED TODAY, WHY IT MATTERS</a:t>
            </a:r>
            <a:endParaRPr lang="en-US" sz="10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indent="0" marL="0">
              <a:buNone/>
            </a:pPr>
            <a:r>
              <a:rPr lang="en-US" sz="2700" b="1" dirty="0">
                <a:solidFill>
                  <a:srgbClr val="1B202A"/>
                </a:solidFill>
                <a:latin typeface="Georgia" pitchFamily="34" charset="0"/>
                <a:ea typeface="Georgia" pitchFamily="34" charset="-122"/>
                <a:cs typeface="Georgia" pitchFamily="34" charset="-120"/>
              </a:rPr>
              <a:t>Problem &amp; Users</a:t>
            </a:r>
            <a:endParaRPr lang="en-US" sz="2700" dirty="0"/>
          </a:p>
        </p:txBody>
      </p:sp>
      <p:sp>
        <p:nvSpPr>
          <p:cNvPr id="7" name="Shape 5"/>
          <p:cNvSpPr/>
          <p:nvPr/>
        </p:nvSpPr>
        <p:spPr>
          <a:xfrm>
            <a:off x="566928" y="1188720"/>
            <a:ext cx="566928" cy="36576"/>
          </a:xfrm>
          <a:prstGeom prst="rect">
            <a:avLst/>
          </a:prstGeom>
          <a:solidFill>
            <a:srgbClr val="C89B3C"/>
          </a:solidFill>
          <a:ln/>
        </p:spPr>
      </p:sp>
      <p:sp>
        <p:nvSpPr>
          <p:cNvPr id="8" name="Shape 6"/>
          <p:cNvSpPr/>
          <p:nvPr/>
        </p:nvSpPr>
        <p:spPr>
          <a:xfrm>
            <a:off x="566928" y="6437376"/>
            <a:ext cx="11057839" cy="0"/>
          </a:xfrm>
          <a:prstGeom prst="line">
            <a:avLst/>
          </a:prstGeom>
          <a:noFill/>
          <a:ln w="9525">
            <a:solidFill>
              <a:srgbClr val="D9DCE3"/>
            </a:solidFill>
            <a:prstDash val="solid"/>
          </a:ln>
        </p:spPr>
      </p:sp>
      <p:sp>
        <p:nvSpPr>
          <p:cNvPr id="9" name="Text 7"/>
          <p:cNvSpPr txBox="1"/>
          <p:nvPr/>
        </p:nvSpPr>
        <p:spPr>
          <a:xfrm>
            <a:off x="566928" y="6492240"/>
            <a:ext cx="5943600" cy="237744"/>
          </a:xfrm>
          <a:prstGeom prst="rect">
            <a:avLst/>
          </a:prstGeom>
          <a:noFill/>
          <a:ln/>
        </p:spPr>
        <p:txBody>
          <a:bodyPr wrap="square" lIns="0" tIns="0" rIns="0" bIns="0" rtlCol="0" anchor="ctr"/>
          <a:lstStyle/>
          <a:p>
            <a:pPr indent="0" marL="0">
              <a:buNone/>
            </a:pPr>
            <a:r>
              <a:rPr lang="en-US" sz="850" spc="80" kern="0" dirty="0">
                <a:solidFill>
                  <a:srgbClr val="8B92A2"/>
                </a:solidFill>
                <a:latin typeface="Consolas" pitchFamily="34" charset="0"/>
                <a:ea typeface="Consolas" pitchFamily="34" charset="-122"/>
                <a:cs typeface="Consolas" pitchFamily="34" charset="-120"/>
              </a:rPr>
              <a:t>F26-060-GRANITE  ·  PROPOSAL DEFENSE  ·  STREAM A</a:t>
            </a:r>
            <a:endParaRPr lang="en-US" sz="850" dirty="0"/>
          </a:p>
        </p:txBody>
      </p:sp>
      <p:sp>
        <p:nvSpPr>
          <p:cNvPr id="10" name="Text 8"/>
          <p:cNvSpPr txBox="1"/>
          <p:nvPr/>
        </p:nvSpPr>
        <p:spPr>
          <a:xfrm>
            <a:off x="10527487" y="6492240"/>
            <a:ext cx="1097280" cy="237744"/>
          </a:xfrm>
          <a:prstGeom prst="rect">
            <a:avLst/>
          </a:prstGeom>
          <a:noFill/>
          <a:ln/>
        </p:spPr>
        <p:txBody>
          <a:bodyPr wrap="square" lIns="0" tIns="0" rIns="0" bIns="0" rtlCol="0" anchor="ctr"/>
          <a:lstStyle/>
          <a:p>
            <a:pPr algn="r" indent="0" marL="0">
              <a:buNone/>
            </a:pPr>
            <a:r>
              <a:rPr lang="en-US" sz="850" b="1" dirty="0">
                <a:solidFill>
                  <a:srgbClr val="8E6A1F"/>
                </a:solidFill>
                <a:latin typeface="Consolas" pitchFamily="34" charset="0"/>
                <a:ea typeface="Consolas" pitchFamily="34" charset="-122"/>
                <a:cs typeface="Consolas" pitchFamily="34" charset="-120"/>
              </a:rPr>
              <a:t>2 / 10</a:t>
            </a:r>
            <a:endParaRPr lang="en-US" sz="850" dirty="0"/>
          </a:p>
        </p:txBody>
      </p:sp>
      <p:sp>
        <p:nvSpPr>
          <p:cNvPr id="11" name="Shape 9"/>
          <p:cNvSpPr/>
          <p:nvPr/>
        </p:nvSpPr>
        <p:spPr>
          <a:xfrm>
            <a:off x="587045" y="1415491"/>
            <a:ext cx="4983480" cy="2240280"/>
          </a:xfrm>
          <a:prstGeom prst="roundRect">
            <a:avLst>
              <a:gd name="adj" fmla="val 2449"/>
            </a:avLst>
          </a:prstGeom>
          <a:solidFill>
            <a:srgbClr val="E4E6EB"/>
          </a:solidFill>
          <a:ln/>
        </p:spPr>
      </p:sp>
      <p:sp>
        <p:nvSpPr>
          <p:cNvPr id="12" name="Shape 10"/>
          <p:cNvSpPr/>
          <p:nvPr/>
        </p:nvSpPr>
        <p:spPr>
          <a:xfrm>
            <a:off x="566928" y="1389888"/>
            <a:ext cx="4983480" cy="2240280"/>
          </a:xfrm>
          <a:prstGeom prst="roundRect">
            <a:avLst>
              <a:gd name="adj" fmla="val 2449"/>
            </a:avLst>
          </a:prstGeom>
          <a:solidFill>
            <a:srgbClr val="F1F2F5"/>
          </a:solidFill>
          <a:ln w="9525">
            <a:solidFill>
              <a:srgbClr val="D9DCE3"/>
            </a:solidFill>
            <a:prstDash val="solid"/>
          </a:ln>
        </p:spPr>
      </p:sp>
      <p:sp>
        <p:nvSpPr>
          <p:cNvPr id="13" name="Shape 11"/>
          <p:cNvSpPr/>
          <p:nvPr/>
        </p:nvSpPr>
        <p:spPr>
          <a:xfrm>
            <a:off x="566928" y="1444752"/>
            <a:ext cx="41148" cy="2130552"/>
          </a:xfrm>
          <a:prstGeom prst="rect">
            <a:avLst/>
          </a:prstGeom>
          <a:solidFill>
            <a:srgbClr val="15707A"/>
          </a:solidFill>
          <a:ln/>
        </p:spPr>
      </p:sp>
      <p:sp>
        <p:nvSpPr>
          <p:cNvPr id="14" name="Text 12"/>
          <p:cNvSpPr txBox="1"/>
          <p:nvPr/>
        </p:nvSpPr>
        <p:spPr>
          <a:xfrm>
            <a:off x="822960" y="1536192"/>
            <a:ext cx="4572000" cy="219456"/>
          </a:xfrm>
          <a:prstGeom prst="rect">
            <a:avLst/>
          </a:prstGeom>
          <a:noFill/>
          <a:ln/>
        </p:spPr>
        <p:txBody>
          <a:bodyPr wrap="square" lIns="0" tIns="0" rIns="0" bIns="0" rtlCol="0" anchor="ctr"/>
          <a:lstStyle/>
          <a:p>
            <a:pPr indent="0" marL="0">
              <a:buNone/>
            </a:pPr>
            <a:r>
              <a:rPr lang="en-US" sz="950" b="1" spc="120" kern="0" dirty="0">
                <a:solidFill>
                  <a:srgbClr val="8E6A1F"/>
                </a:solidFill>
                <a:latin typeface="Consolas" pitchFamily="34" charset="0"/>
                <a:ea typeface="Consolas" pitchFamily="34" charset="-122"/>
                <a:cs typeface="Consolas" pitchFamily="34" charset="-120"/>
              </a:rPr>
              <a:t>STAKEHOLDERS</a:t>
            </a:r>
            <a:endParaRPr lang="en-US" sz="950" dirty="0"/>
          </a:p>
        </p:txBody>
      </p:sp>
      <p:sp>
        <p:nvSpPr>
          <p:cNvPr id="15" name="Text 13"/>
          <p:cNvSpPr txBox="1"/>
          <p:nvPr/>
        </p:nvSpPr>
        <p:spPr>
          <a:xfrm>
            <a:off x="822960" y="1810512"/>
            <a:ext cx="4526280" cy="173736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1B202A"/>
                </a:solidFill>
                <a:latin typeface="Calibri" pitchFamily="34" charset="0"/>
                <a:ea typeface="Calibri" pitchFamily="34" charset="-122"/>
                <a:cs typeface="Calibri" pitchFamily="34" charset="-120"/>
              </a:rPr>
              <a:t>Primary — an engineering team operating a multi-agent AI system in or near production (grounded in a customer-support / retail workflow, our active benchmark substrate)</a:t>
            </a:r>
            <a:endParaRPr lang="en-US" sz="1100" dirty="0"/>
          </a:p>
          <a:p>
            <a:pPr marL="165100" indent="-165100">
              <a:spcAft>
                <a:spcPts val="700"/>
              </a:spcAft>
              <a:buSzPct val="100000"/>
              <a:buChar char="▪"/>
            </a:pPr>
            <a:r>
              <a:rPr lang="en-US" sz="1100" dirty="0">
                <a:solidFill>
                  <a:srgbClr val="1B202A"/>
                </a:solidFill>
                <a:latin typeface="Calibri" pitchFamily="34" charset="0"/>
                <a:ea typeface="Calibri" pitchFamily="34" charset="-122"/>
                <a:cs typeface="Calibri" pitchFamily="34" charset="-120"/>
              </a:rPr>
              <a:t>Secondary — downstream product teams consuming the diagnosis output</a:t>
            </a:r>
            <a:endParaRPr lang="en-US" sz="1100" dirty="0"/>
          </a:p>
          <a:p>
            <a:pPr marL="165100" indent="-165100">
              <a:spcAft>
                <a:spcPts val="700"/>
              </a:spcAft>
              <a:buSzPct val="100000"/>
              <a:buChar char="▪"/>
            </a:pPr>
            <a:r>
              <a:rPr lang="en-US" sz="1100" dirty="0">
                <a:solidFill>
                  <a:srgbClr val="1B202A"/>
                </a:solidFill>
                <a:latin typeface="Calibri" pitchFamily="34" charset="0"/>
                <a:ea typeface="Calibri" pitchFamily="34" charset="-122"/>
                <a:cs typeface="Calibri" pitchFamily="34" charset="-120"/>
              </a:rPr>
              <a:t>Secondary — auditors / compliance reviewers needing traceable evidence of what went wrong</a:t>
            </a:r>
            <a:endParaRPr lang="en-US" sz="1100" dirty="0"/>
          </a:p>
        </p:txBody>
      </p:sp>
      <p:sp>
        <p:nvSpPr>
          <p:cNvPr id="16" name="Shape 14"/>
          <p:cNvSpPr/>
          <p:nvPr/>
        </p:nvSpPr>
        <p:spPr>
          <a:xfrm>
            <a:off x="587045" y="3774643"/>
            <a:ext cx="4983480" cy="841248"/>
          </a:xfrm>
          <a:prstGeom prst="roundRect">
            <a:avLst>
              <a:gd name="adj" fmla="val 6522"/>
            </a:avLst>
          </a:prstGeom>
          <a:solidFill>
            <a:srgbClr val="E4E6EB"/>
          </a:solidFill>
          <a:ln/>
        </p:spPr>
      </p:sp>
      <p:sp>
        <p:nvSpPr>
          <p:cNvPr id="17" name="Shape 15"/>
          <p:cNvSpPr/>
          <p:nvPr/>
        </p:nvSpPr>
        <p:spPr>
          <a:xfrm>
            <a:off x="566928" y="3749040"/>
            <a:ext cx="4983480" cy="841248"/>
          </a:xfrm>
          <a:prstGeom prst="roundRect">
            <a:avLst>
              <a:gd name="adj" fmla="val 6522"/>
            </a:avLst>
          </a:prstGeom>
          <a:solidFill>
            <a:srgbClr val="E3EFF1"/>
          </a:solidFill>
          <a:ln w="9525">
            <a:solidFill>
              <a:srgbClr val="D9DCE3"/>
            </a:solidFill>
            <a:prstDash val="solid"/>
          </a:ln>
        </p:spPr>
      </p:sp>
      <p:sp>
        <p:nvSpPr>
          <p:cNvPr id="18" name="Text 16"/>
          <p:cNvSpPr txBox="1"/>
          <p:nvPr/>
        </p:nvSpPr>
        <p:spPr>
          <a:xfrm>
            <a:off x="822960" y="3877056"/>
            <a:ext cx="4526280" cy="603504"/>
          </a:xfrm>
          <a:prstGeom prst="rect">
            <a:avLst/>
          </a:prstGeom>
          <a:noFill/>
          <a:ln/>
        </p:spPr>
        <p:txBody>
          <a:bodyPr wrap="square" lIns="0" tIns="0" rIns="0" bIns="0" rtlCol="0" anchor="ctr"/>
          <a:lstStyle/>
          <a:p>
            <a:pPr indent="0" marL="0">
              <a:buNone/>
            </a:pPr>
            <a:r>
              <a:rPr lang="en-US" sz="1150" b="1" dirty="0">
                <a:solidFill>
                  <a:srgbClr val="15707A"/>
                </a:solidFill>
                <a:latin typeface="Calibri" pitchFamily="34" charset="0"/>
                <a:ea typeface="Calibri" pitchFamily="34" charset="-122"/>
                <a:cs typeface="Calibri" pitchFamily="34" charset="-120"/>
              </a:rPr>
              <a:t>SDG 9  </a:t>
            </a:r>
            <a:pPr indent="0" marL="0">
              <a:buNone/>
            </a:pPr>
            <a:r>
              <a:rPr lang="en-US" sz="1100" dirty="0">
                <a:solidFill>
                  <a:srgbClr val="1B202A"/>
                </a:solidFill>
                <a:latin typeface="Calibri" pitchFamily="34" charset="0"/>
                <a:ea typeface="Calibri" pitchFamily="34" charset="-122"/>
                <a:cs typeface="Calibri" pitchFamily="34" charset="-120"/>
              </a:rPr>
              <a:t>Industry, Innovation &amp; Infrastructure (target 9.5) — reliability tooling for a genuinely new industrial category</a:t>
            </a:r>
            <a:endParaRPr lang="en-US" sz="1150" dirty="0"/>
          </a:p>
        </p:txBody>
      </p:sp>
      <p:sp>
        <p:nvSpPr>
          <p:cNvPr id="19" name="Shape 17"/>
          <p:cNvSpPr/>
          <p:nvPr/>
        </p:nvSpPr>
        <p:spPr>
          <a:xfrm>
            <a:off x="587045" y="4734763"/>
            <a:ext cx="4983480" cy="1188720"/>
          </a:xfrm>
          <a:prstGeom prst="roundRect">
            <a:avLst>
              <a:gd name="adj" fmla="val 4615"/>
            </a:avLst>
          </a:prstGeom>
          <a:solidFill>
            <a:srgbClr val="E4E6EB"/>
          </a:solidFill>
          <a:ln/>
        </p:spPr>
      </p:sp>
      <p:sp>
        <p:nvSpPr>
          <p:cNvPr id="20" name="Shape 18"/>
          <p:cNvSpPr/>
          <p:nvPr/>
        </p:nvSpPr>
        <p:spPr>
          <a:xfrm>
            <a:off x="566928" y="4709160"/>
            <a:ext cx="4983480" cy="1188720"/>
          </a:xfrm>
          <a:prstGeom prst="roundRect">
            <a:avLst>
              <a:gd name="adj" fmla="val 4615"/>
            </a:avLst>
          </a:prstGeom>
          <a:solidFill>
            <a:srgbClr val="F6E6E3"/>
          </a:solidFill>
          <a:ln w="9525">
            <a:solidFill>
              <a:srgbClr val="D9DCE3"/>
            </a:solidFill>
            <a:prstDash val="solid"/>
          </a:ln>
        </p:spPr>
      </p:sp>
      <p:sp>
        <p:nvSpPr>
          <p:cNvPr id="21" name="Shape 19"/>
          <p:cNvSpPr/>
          <p:nvPr/>
        </p:nvSpPr>
        <p:spPr>
          <a:xfrm>
            <a:off x="566928" y="4764024"/>
            <a:ext cx="41148" cy="1078992"/>
          </a:xfrm>
          <a:prstGeom prst="rect">
            <a:avLst/>
          </a:prstGeom>
          <a:solidFill>
            <a:srgbClr val="A83A30"/>
          </a:solidFill>
          <a:ln/>
        </p:spPr>
      </p:sp>
      <p:sp>
        <p:nvSpPr>
          <p:cNvPr id="22" name="Text 20"/>
          <p:cNvSpPr txBox="1"/>
          <p:nvPr/>
        </p:nvSpPr>
        <p:spPr>
          <a:xfrm>
            <a:off x="822960" y="4846320"/>
            <a:ext cx="4572000" cy="219456"/>
          </a:xfrm>
          <a:prstGeom prst="rect">
            <a:avLst/>
          </a:prstGeom>
          <a:noFill/>
          <a:ln/>
        </p:spPr>
        <p:txBody>
          <a:bodyPr wrap="square" lIns="0" tIns="0" rIns="0" bIns="0" rtlCol="0" anchor="ctr"/>
          <a:lstStyle/>
          <a:p>
            <a:pPr indent="0" marL="0">
              <a:buNone/>
            </a:pPr>
            <a:r>
              <a:rPr lang="en-US" sz="950" b="1" spc="120" kern="0" dirty="0">
                <a:solidFill>
                  <a:srgbClr val="A83A30"/>
                </a:solidFill>
                <a:latin typeface="Consolas" pitchFamily="34" charset="0"/>
                <a:ea typeface="Consolas" pitchFamily="34" charset="-122"/>
                <a:cs typeface="Consolas" pitchFamily="34" charset="-120"/>
              </a:rPr>
              <a:t>CONSEQUENCE OF FAILURE</a:t>
            </a:r>
            <a:endParaRPr lang="en-US" sz="950" dirty="0"/>
          </a:p>
        </p:txBody>
      </p:sp>
      <p:sp>
        <p:nvSpPr>
          <p:cNvPr id="23" name="Text 21"/>
          <p:cNvSpPr txBox="1"/>
          <p:nvPr/>
        </p:nvSpPr>
        <p:spPr>
          <a:xfrm>
            <a:off x="822960" y="5102352"/>
            <a:ext cx="4526280" cy="731520"/>
          </a:xfrm>
          <a:prstGeom prst="rect">
            <a:avLst/>
          </a:prstGeom>
          <a:noFill/>
          <a:ln/>
        </p:spPr>
        <p:txBody>
          <a:bodyPr wrap="square" lIns="0" tIns="0" rIns="0" bIns="0" rtlCol="0" anchor="ctr"/>
          <a:lstStyle/>
          <a:p>
            <a:pPr indent="0" marL="0">
              <a:buNone/>
            </a:pPr>
            <a:r>
              <a:rPr lang="en-US" sz="1150" i="1" dirty="0">
                <a:solidFill>
                  <a:srgbClr val="1B202A"/>
                </a:solidFill>
                <a:latin typeface="Calibri" pitchFamily="34" charset="0"/>
                <a:ea typeface="Calibri" pitchFamily="34" charset="-122"/>
                <a:cs typeface="Calibri" pitchFamily="34" charset="-120"/>
              </a:rPr>
              <a:t>A missed silent failure ships a confident, wrong answer to an end user — with no crash, no error, and no signal that anything went wrong.</a:t>
            </a:r>
            <a:endParaRPr lang="en-US" sz="1150" dirty="0"/>
          </a:p>
        </p:txBody>
      </p:sp>
      <p:sp>
        <p:nvSpPr>
          <p:cNvPr id="24" name="Text 22"/>
          <p:cNvSpPr txBox="1"/>
          <p:nvPr/>
        </p:nvSpPr>
        <p:spPr>
          <a:xfrm>
            <a:off x="566928" y="5989320"/>
            <a:ext cx="4983480" cy="201168"/>
          </a:xfrm>
          <a:prstGeom prst="rect">
            <a:avLst/>
          </a:prstGeom>
          <a:noFill/>
          <a:ln/>
        </p:spPr>
        <p:txBody>
          <a:bodyPr wrap="square" lIns="0" tIns="0" rIns="0" bIns="0" rtlCol="0" anchor="ctr"/>
          <a:lstStyle/>
          <a:p>
            <a:pPr indent="0" marL="0">
              <a:buNone/>
            </a:pPr>
            <a:r>
              <a:rPr lang="en-US" sz="800" dirty="0">
                <a:solidFill>
                  <a:srgbClr val="8B92A2"/>
                </a:solidFill>
                <a:latin typeface="Consolas" pitchFamily="34" charset="0"/>
                <a:ea typeface="Consolas" pitchFamily="34" charset="-122"/>
                <a:cs typeface="Consolas" pitchFamily="34" charset="-120"/>
              </a:rPr>
              <a:t>▸ plan §0.1 · §0.05 (SDG) · Full_Literature_Landscape_Analysis.md</a:t>
            </a:r>
            <a:endParaRPr lang="en-US" sz="800" dirty="0"/>
          </a:p>
        </p:txBody>
      </p:sp>
      <p:sp>
        <p:nvSpPr>
          <p:cNvPr id="25" name="Text 23"/>
          <p:cNvSpPr txBox="1"/>
          <p:nvPr/>
        </p:nvSpPr>
        <p:spPr>
          <a:xfrm>
            <a:off x="5870448" y="1389888"/>
            <a:ext cx="5754319" cy="219456"/>
          </a:xfrm>
          <a:prstGeom prst="rect">
            <a:avLst/>
          </a:prstGeom>
          <a:noFill/>
          <a:ln/>
        </p:spPr>
        <p:txBody>
          <a:bodyPr wrap="square" lIns="0" tIns="0" rIns="0" bIns="0" rtlCol="0" anchor="ctr"/>
          <a:lstStyle/>
          <a:p>
            <a:pPr indent="0" marL="0">
              <a:buNone/>
            </a:pPr>
            <a:r>
              <a:rPr lang="en-US" sz="950" b="1" spc="120" kern="0" dirty="0">
                <a:solidFill>
                  <a:srgbClr val="596273"/>
                </a:solidFill>
                <a:latin typeface="Consolas" pitchFamily="34" charset="0"/>
                <a:ea typeface="Consolas" pitchFamily="34" charset="-122"/>
                <a:cs typeface="Consolas" pitchFamily="34" charset="-120"/>
              </a:rPr>
              <a:t>CURRENT WORKFLOW — WITHOUT GRANITE</a:t>
            </a:r>
            <a:endParaRPr lang="en-US" sz="950" dirty="0"/>
          </a:p>
        </p:txBody>
      </p:sp>
      <p:sp>
        <p:nvSpPr>
          <p:cNvPr id="26" name="Shape 24"/>
          <p:cNvSpPr/>
          <p:nvPr/>
        </p:nvSpPr>
        <p:spPr>
          <a:xfrm>
            <a:off x="5870448" y="1755648"/>
            <a:ext cx="365760" cy="365760"/>
          </a:xfrm>
          <a:prstGeom prst="ellipse">
            <a:avLst/>
          </a:prstGeom>
          <a:solidFill>
            <a:srgbClr val="E4E9F2"/>
          </a:solidFill>
          <a:ln/>
        </p:spPr>
      </p:sp>
      <p:sp>
        <p:nvSpPr>
          <p:cNvPr id="27" name="Text 25"/>
          <p:cNvSpPr txBox="1"/>
          <p:nvPr/>
        </p:nvSpPr>
        <p:spPr>
          <a:xfrm>
            <a:off x="5870448" y="1755648"/>
            <a:ext cx="365760" cy="365760"/>
          </a:xfrm>
          <a:prstGeom prst="rect">
            <a:avLst/>
          </a:prstGeom>
          <a:noFill/>
          <a:ln/>
        </p:spPr>
        <p:txBody>
          <a:bodyPr wrap="square" lIns="0" tIns="0" rIns="0" bIns="0" rtlCol="0" anchor="ctr"/>
          <a:lstStyle/>
          <a:p>
            <a:pPr algn="ctr" indent="0" marL="0">
              <a:buNone/>
            </a:pPr>
            <a:r>
              <a:rPr lang="en-US" sz="1200" b="1" dirty="0">
                <a:solidFill>
                  <a:srgbClr val="31558F"/>
                </a:solidFill>
                <a:latin typeface="Georgia" pitchFamily="34" charset="0"/>
                <a:ea typeface="Georgia" pitchFamily="34" charset="-122"/>
                <a:cs typeface="Georgia" pitchFamily="34" charset="-120"/>
              </a:rPr>
              <a:t>1</a:t>
            </a:r>
            <a:endParaRPr lang="en-US" sz="1200" dirty="0"/>
          </a:p>
        </p:txBody>
      </p:sp>
      <p:sp>
        <p:nvSpPr>
          <p:cNvPr id="28" name="Text 26"/>
          <p:cNvSpPr txBox="1"/>
          <p:nvPr/>
        </p:nvSpPr>
        <p:spPr>
          <a:xfrm>
            <a:off x="6382512" y="1719072"/>
            <a:ext cx="5223967" cy="749808"/>
          </a:xfrm>
          <a:prstGeom prst="rect">
            <a:avLst/>
          </a:prstGeom>
          <a:noFill/>
          <a:ln/>
        </p:spPr>
        <p:txBody>
          <a:bodyPr wrap="square" lIns="0" tIns="0" rIns="0" bIns="0" rtlCol="0" anchor="ctr"/>
          <a:lstStyle/>
          <a:p>
            <a:pPr indent="0" marL="0">
              <a:buNone/>
            </a:pPr>
            <a:r>
              <a:rPr lang="en-US" sz="1200" b="1" dirty="0">
                <a:solidFill>
                  <a:srgbClr val="1B202A"/>
                </a:solidFill>
                <a:latin typeface="Calibri" pitchFamily="34" charset="0"/>
                <a:ea typeface="Calibri" pitchFamily="34" charset="-122"/>
                <a:cs typeface="Calibri" pitchFamily="34" charset="-120"/>
              </a:rPr>
              <a:t>Observability platform captures the trace</a:t>
            </a:r>
            <a:endParaRPr lang="en-US" sz="1200" dirty="0"/>
          </a:p>
          <a:p>
            <a:pPr indent="0" marL="0">
              <a:buNone/>
            </a:pPr>
            <a:r>
              <a:rPr lang="en-US" sz="1000" dirty="0">
                <a:solidFill>
                  <a:srgbClr val="596273"/>
                </a:solidFill>
                <a:latin typeface="Calibri" pitchFamily="34" charset="0"/>
                <a:ea typeface="Calibri" pitchFamily="34" charset="-122"/>
                <a:cs typeface="Calibri" pitchFamily="34" charset="-120"/>
              </a:rPr>
              <a:t>LangSmith / Langfuse / Braintrust / Arize</a:t>
            </a:r>
            <a:endParaRPr lang="en-US" sz="1200" dirty="0"/>
          </a:p>
        </p:txBody>
      </p:sp>
      <p:sp>
        <p:nvSpPr>
          <p:cNvPr id="29" name="Shape 27"/>
          <p:cNvSpPr/>
          <p:nvPr/>
        </p:nvSpPr>
        <p:spPr>
          <a:xfrm>
            <a:off x="6053328" y="2121408"/>
            <a:ext cx="0" cy="384048"/>
          </a:xfrm>
          <a:prstGeom prst="line">
            <a:avLst/>
          </a:prstGeom>
          <a:noFill/>
          <a:ln w="19050">
            <a:solidFill>
              <a:srgbClr val="D9DCE3"/>
            </a:solidFill>
            <a:prstDash val="dash"/>
          </a:ln>
        </p:spPr>
      </p:sp>
      <p:sp>
        <p:nvSpPr>
          <p:cNvPr id="30" name="Shape 28"/>
          <p:cNvSpPr/>
          <p:nvPr/>
        </p:nvSpPr>
        <p:spPr>
          <a:xfrm>
            <a:off x="5870448" y="2816352"/>
            <a:ext cx="365760" cy="365760"/>
          </a:xfrm>
          <a:prstGeom prst="ellipse">
            <a:avLst/>
          </a:prstGeom>
          <a:solidFill>
            <a:srgbClr val="F6EADD"/>
          </a:solidFill>
          <a:ln/>
        </p:spPr>
      </p:sp>
      <p:sp>
        <p:nvSpPr>
          <p:cNvPr id="31" name="Text 29"/>
          <p:cNvSpPr txBox="1"/>
          <p:nvPr/>
        </p:nvSpPr>
        <p:spPr>
          <a:xfrm>
            <a:off x="5870448" y="2816352"/>
            <a:ext cx="365760" cy="365760"/>
          </a:xfrm>
          <a:prstGeom prst="rect">
            <a:avLst/>
          </a:prstGeom>
          <a:noFill/>
          <a:ln/>
        </p:spPr>
        <p:txBody>
          <a:bodyPr wrap="square" lIns="0" tIns="0" rIns="0" bIns="0" rtlCol="0" anchor="ctr"/>
          <a:lstStyle/>
          <a:p>
            <a:pPr algn="ctr" indent="0" marL="0">
              <a:buNone/>
            </a:pPr>
            <a:r>
              <a:rPr lang="en-US" sz="1200" b="1" dirty="0">
                <a:solidFill>
                  <a:srgbClr val="B05C1C"/>
                </a:solidFill>
                <a:latin typeface="Georgia" pitchFamily="34" charset="0"/>
                <a:ea typeface="Georgia" pitchFamily="34" charset="-122"/>
                <a:cs typeface="Georgia" pitchFamily="34" charset="-120"/>
              </a:rPr>
              <a:t>2</a:t>
            </a:r>
            <a:endParaRPr lang="en-US" sz="1200" dirty="0"/>
          </a:p>
        </p:txBody>
      </p:sp>
      <p:sp>
        <p:nvSpPr>
          <p:cNvPr id="32" name="Text 30"/>
          <p:cNvSpPr txBox="1"/>
          <p:nvPr/>
        </p:nvSpPr>
        <p:spPr>
          <a:xfrm>
            <a:off x="6382512" y="2779776"/>
            <a:ext cx="5223967" cy="749808"/>
          </a:xfrm>
          <a:prstGeom prst="rect">
            <a:avLst/>
          </a:prstGeom>
          <a:noFill/>
          <a:ln/>
        </p:spPr>
        <p:txBody>
          <a:bodyPr wrap="square" lIns="0" tIns="0" rIns="0" bIns="0" rtlCol="0" anchor="ctr"/>
          <a:lstStyle/>
          <a:p>
            <a:pPr indent="0" marL="0">
              <a:buNone/>
            </a:pPr>
            <a:r>
              <a:rPr lang="en-US" sz="1200" b="1" dirty="0">
                <a:solidFill>
                  <a:srgbClr val="1B202A"/>
                </a:solidFill>
                <a:latin typeface="Calibri" pitchFamily="34" charset="0"/>
                <a:ea typeface="Calibri" pitchFamily="34" charset="-122"/>
                <a:cs typeface="Calibri" pitchFamily="34" charset="-120"/>
              </a:rPr>
              <a:t>A human reads the trace and guesses the root cause</a:t>
            </a:r>
            <a:endParaRPr lang="en-US" sz="1200" dirty="0"/>
          </a:p>
          <a:p>
            <a:pPr indent="0" marL="0">
              <a:buNone/>
            </a:pPr>
            <a:r>
              <a:rPr lang="en-US" sz="1000" dirty="0">
                <a:solidFill>
                  <a:srgbClr val="596273"/>
                </a:solidFill>
                <a:latin typeface="Calibri" pitchFamily="34" charset="0"/>
                <a:ea typeface="Calibri" pitchFamily="34" charset="-122"/>
                <a:cs typeface="Calibri" pitchFamily="34" charset="-120"/>
              </a:rPr>
              <a:t>no automated attribution with published accuracy</a:t>
            </a:r>
            <a:endParaRPr lang="en-US" sz="1200" dirty="0"/>
          </a:p>
        </p:txBody>
      </p:sp>
      <p:sp>
        <p:nvSpPr>
          <p:cNvPr id="33" name="Shape 31"/>
          <p:cNvSpPr/>
          <p:nvPr/>
        </p:nvSpPr>
        <p:spPr>
          <a:xfrm>
            <a:off x="6053328" y="3182112"/>
            <a:ext cx="0" cy="384048"/>
          </a:xfrm>
          <a:prstGeom prst="line">
            <a:avLst/>
          </a:prstGeom>
          <a:noFill/>
          <a:ln w="19050">
            <a:solidFill>
              <a:srgbClr val="D9DCE3"/>
            </a:solidFill>
            <a:prstDash val="dash"/>
          </a:ln>
        </p:spPr>
      </p:sp>
      <p:sp>
        <p:nvSpPr>
          <p:cNvPr id="34" name="Shape 32"/>
          <p:cNvSpPr/>
          <p:nvPr/>
        </p:nvSpPr>
        <p:spPr>
          <a:xfrm>
            <a:off x="5870448" y="3877056"/>
            <a:ext cx="365760" cy="365760"/>
          </a:xfrm>
          <a:prstGeom prst="ellipse">
            <a:avLst/>
          </a:prstGeom>
          <a:solidFill>
            <a:srgbClr val="F6E6E3"/>
          </a:solidFill>
          <a:ln/>
        </p:spPr>
      </p:sp>
      <p:sp>
        <p:nvSpPr>
          <p:cNvPr id="35" name="Text 33"/>
          <p:cNvSpPr txBox="1"/>
          <p:nvPr/>
        </p:nvSpPr>
        <p:spPr>
          <a:xfrm>
            <a:off x="5870448" y="3877056"/>
            <a:ext cx="365760" cy="365760"/>
          </a:xfrm>
          <a:prstGeom prst="rect">
            <a:avLst/>
          </a:prstGeom>
          <a:noFill/>
          <a:ln/>
        </p:spPr>
        <p:txBody>
          <a:bodyPr wrap="square" lIns="0" tIns="0" rIns="0" bIns="0" rtlCol="0" anchor="ctr"/>
          <a:lstStyle/>
          <a:p>
            <a:pPr algn="ctr" indent="0" marL="0">
              <a:buNone/>
            </a:pPr>
            <a:r>
              <a:rPr lang="en-US" sz="1200" b="1" dirty="0">
                <a:solidFill>
                  <a:srgbClr val="A83A30"/>
                </a:solidFill>
                <a:latin typeface="Georgia" pitchFamily="34" charset="0"/>
                <a:ea typeface="Georgia" pitchFamily="34" charset="-122"/>
                <a:cs typeface="Georgia" pitchFamily="34" charset="-120"/>
              </a:rPr>
              <a:t>3</a:t>
            </a:r>
            <a:endParaRPr lang="en-US" sz="1200" dirty="0"/>
          </a:p>
        </p:txBody>
      </p:sp>
      <p:sp>
        <p:nvSpPr>
          <p:cNvPr id="36" name="Text 34"/>
          <p:cNvSpPr txBox="1"/>
          <p:nvPr/>
        </p:nvSpPr>
        <p:spPr>
          <a:xfrm>
            <a:off x="6382512" y="3840480"/>
            <a:ext cx="5223967" cy="749808"/>
          </a:xfrm>
          <a:prstGeom prst="rect">
            <a:avLst/>
          </a:prstGeom>
          <a:noFill/>
          <a:ln/>
        </p:spPr>
        <p:txBody>
          <a:bodyPr wrap="square" lIns="0" tIns="0" rIns="0" bIns="0" rtlCol="0" anchor="ctr"/>
          <a:lstStyle/>
          <a:p>
            <a:pPr indent="0" marL="0">
              <a:buNone/>
            </a:pPr>
            <a:r>
              <a:rPr lang="en-US" sz="1200" b="1" dirty="0">
                <a:solidFill>
                  <a:srgbClr val="1B202A"/>
                </a:solidFill>
                <a:latin typeface="Calibri" pitchFamily="34" charset="0"/>
                <a:ea typeface="Calibri" pitchFamily="34" charset="-122"/>
                <a:cs typeface="Calibri" pitchFamily="34" charset="-120"/>
              </a:rPr>
              <a:t>No systematic silent-failure check</a:t>
            </a:r>
            <a:endParaRPr lang="en-US" sz="1200" dirty="0"/>
          </a:p>
          <a:p>
            <a:pPr indent="0" marL="0">
              <a:buNone/>
            </a:pPr>
            <a:r>
              <a:rPr lang="en-US" sz="1000" dirty="0">
                <a:solidFill>
                  <a:srgbClr val="596273"/>
                </a:solidFill>
                <a:latin typeface="Calibri" pitchFamily="34" charset="0"/>
                <a:ea typeface="Calibri" pitchFamily="34" charset="-122"/>
                <a:cs typeface="Calibri" pitchFamily="34" charset="-120"/>
              </a:rPr>
              <a:t>a confident, well-formed, wrong answer passes unnoticed</a:t>
            </a:r>
            <a:endParaRPr lang="en-US" sz="1200" dirty="0"/>
          </a:p>
        </p:txBody>
      </p:sp>
      <p:sp>
        <p:nvSpPr>
          <p:cNvPr id="37" name="Shape 35"/>
          <p:cNvSpPr/>
          <p:nvPr/>
        </p:nvSpPr>
        <p:spPr>
          <a:xfrm>
            <a:off x="6053328" y="4242816"/>
            <a:ext cx="0" cy="384048"/>
          </a:xfrm>
          <a:prstGeom prst="line">
            <a:avLst/>
          </a:prstGeom>
          <a:noFill/>
          <a:ln w="19050">
            <a:solidFill>
              <a:srgbClr val="D9DCE3"/>
            </a:solidFill>
            <a:prstDash val="dash"/>
          </a:ln>
        </p:spPr>
      </p:sp>
      <p:sp>
        <p:nvSpPr>
          <p:cNvPr id="38" name="Shape 36"/>
          <p:cNvSpPr/>
          <p:nvPr/>
        </p:nvSpPr>
        <p:spPr>
          <a:xfrm>
            <a:off x="5870448" y="4937760"/>
            <a:ext cx="365760" cy="365760"/>
          </a:xfrm>
          <a:prstGeom prst="ellipse">
            <a:avLst/>
          </a:prstGeom>
          <a:solidFill>
            <a:srgbClr val="F6E6E3"/>
          </a:solidFill>
          <a:ln/>
        </p:spPr>
      </p:sp>
      <p:sp>
        <p:nvSpPr>
          <p:cNvPr id="39" name="Text 37"/>
          <p:cNvSpPr txBox="1"/>
          <p:nvPr/>
        </p:nvSpPr>
        <p:spPr>
          <a:xfrm>
            <a:off x="5870448" y="4937760"/>
            <a:ext cx="365760" cy="365760"/>
          </a:xfrm>
          <a:prstGeom prst="rect">
            <a:avLst/>
          </a:prstGeom>
          <a:noFill/>
          <a:ln/>
        </p:spPr>
        <p:txBody>
          <a:bodyPr wrap="square" lIns="0" tIns="0" rIns="0" bIns="0" rtlCol="0" anchor="ctr"/>
          <a:lstStyle/>
          <a:p>
            <a:pPr algn="ctr" indent="0" marL="0">
              <a:buNone/>
            </a:pPr>
            <a:r>
              <a:rPr lang="en-US" sz="1200" b="1" dirty="0">
                <a:solidFill>
                  <a:srgbClr val="A83A30"/>
                </a:solidFill>
                <a:latin typeface="Georgia" pitchFamily="34" charset="0"/>
                <a:ea typeface="Georgia" pitchFamily="34" charset="-122"/>
                <a:cs typeface="Georgia" pitchFamily="34" charset="-120"/>
              </a:rPr>
              <a:t>4</a:t>
            </a:r>
            <a:endParaRPr lang="en-US" sz="1200" dirty="0"/>
          </a:p>
        </p:txBody>
      </p:sp>
      <p:sp>
        <p:nvSpPr>
          <p:cNvPr id="40" name="Text 38"/>
          <p:cNvSpPr txBox="1"/>
          <p:nvPr/>
        </p:nvSpPr>
        <p:spPr>
          <a:xfrm>
            <a:off x="6382512" y="4901184"/>
            <a:ext cx="5223967" cy="749808"/>
          </a:xfrm>
          <a:prstGeom prst="rect">
            <a:avLst/>
          </a:prstGeom>
          <a:noFill/>
          <a:ln/>
        </p:spPr>
        <p:txBody>
          <a:bodyPr wrap="square" lIns="0" tIns="0" rIns="0" bIns="0" rtlCol="0" anchor="ctr"/>
          <a:lstStyle/>
          <a:p>
            <a:pPr indent="0" marL="0">
              <a:buNone/>
            </a:pPr>
            <a:r>
              <a:rPr lang="en-US" sz="1200" b="1" dirty="0">
                <a:solidFill>
                  <a:srgbClr val="1B202A"/>
                </a:solidFill>
                <a:latin typeface="Calibri" pitchFamily="34" charset="0"/>
                <a:ea typeface="Calibri" pitchFamily="34" charset="-122"/>
                <a:cs typeface="Calibri" pitchFamily="34" charset="-120"/>
              </a:rPr>
              <a:t>No way to test a fix before redeploying</a:t>
            </a:r>
            <a:endParaRPr lang="en-US" sz="1200" dirty="0"/>
          </a:p>
          <a:p>
            <a:pPr indent="0" marL="0">
              <a:buNone/>
            </a:pPr>
            <a:r>
              <a:rPr lang="en-US" sz="1000" dirty="0">
                <a:solidFill>
                  <a:srgbClr val="596273"/>
                </a:solidFill>
                <a:latin typeface="Calibri" pitchFamily="34" charset="0"/>
                <a:ea typeface="Calibri" pitchFamily="34" charset="-122"/>
                <a:cs typeface="Calibri" pitchFamily="34" charset="-120"/>
              </a:rPr>
              <a:t>field baseline: single-model guess = 14.2% step accuracy (Who&amp;When)</a:t>
            </a:r>
            <a:endParaRPr lang="en-US" sz="1200" dirty="0"/>
          </a:p>
        </p:txBody>
      </p:sp>
      <p:sp>
        <p:nvSpPr>
          <p:cNvPr id="41" name="Shape 39"/>
          <p:cNvSpPr/>
          <p:nvPr/>
        </p:nvSpPr>
        <p:spPr>
          <a:xfrm>
            <a:off x="5890565" y="5603443"/>
            <a:ext cx="5754319" cy="658368"/>
          </a:xfrm>
          <a:prstGeom prst="roundRect">
            <a:avLst>
              <a:gd name="adj" fmla="val 8333"/>
            </a:avLst>
          </a:prstGeom>
          <a:solidFill>
            <a:srgbClr val="E4E6EB"/>
          </a:solidFill>
          <a:ln/>
        </p:spPr>
      </p:sp>
      <p:sp>
        <p:nvSpPr>
          <p:cNvPr id="42" name="Shape 40"/>
          <p:cNvSpPr/>
          <p:nvPr/>
        </p:nvSpPr>
        <p:spPr>
          <a:xfrm>
            <a:off x="5870448" y="5577840"/>
            <a:ext cx="5754319" cy="658368"/>
          </a:xfrm>
          <a:prstGeom prst="roundRect">
            <a:avLst>
              <a:gd name="adj" fmla="val 8333"/>
            </a:avLst>
          </a:prstGeom>
          <a:solidFill>
            <a:srgbClr val="F7EFDC"/>
          </a:solidFill>
          <a:ln w="9525">
            <a:solidFill>
              <a:srgbClr val="D9DCE3"/>
            </a:solidFill>
            <a:prstDash val="solid"/>
          </a:ln>
        </p:spPr>
      </p:sp>
      <p:sp>
        <p:nvSpPr>
          <p:cNvPr id="43" name="Text 41"/>
          <p:cNvSpPr txBox="1"/>
          <p:nvPr/>
        </p:nvSpPr>
        <p:spPr>
          <a:xfrm>
            <a:off x="6053328" y="5687568"/>
            <a:ext cx="5388559" cy="475488"/>
          </a:xfrm>
          <a:prstGeom prst="rect">
            <a:avLst/>
          </a:prstGeom>
          <a:noFill/>
          <a:ln/>
        </p:spPr>
        <p:txBody>
          <a:bodyPr wrap="square" lIns="0" tIns="0" rIns="0" bIns="0" rtlCol="0" anchor="ctr"/>
          <a:lstStyle/>
          <a:p>
            <a:pPr indent="0" marL="0">
              <a:buNone/>
            </a:pPr>
            <a:r>
              <a:rPr lang="en-US" sz="980" b="1" dirty="0">
                <a:solidFill>
                  <a:srgbClr val="A8760F"/>
                </a:solidFill>
                <a:latin typeface="Calibri" pitchFamily="34" charset="0"/>
                <a:ea typeface="Calibri" pitchFamily="34" charset="-122"/>
                <a:cs typeface="Calibri" pitchFamily="34" charset="-120"/>
              </a:rPr>
              <a:t>Stakeholder evidence today:  </a:t>
            </a:r>
            <a:pPr indent="0" marL="0">
              <a:buNone/>
            </a:pPr>
            <a:r>
              <a:rPr lang="en-US" sz="980" dirty="0">
                <a:solidFill>
                  <a:srgbClr val="1B202A"/>
                </a:solidFill>
                <a:latin typeface="Calibri" pitchFamily="34" charset="0"/>
                <a:ea typeface="Calibri" pitchFamily="34" charset="-122"/>
                <a:cs typeface="Calibri" pitchFamily="34" charset="-120"/>
              </a:rPr>
              <a:t>published literature + the commercial landscape (7 vendors shipping for this pain). Direct practitioner contact is scheduled inside the Mid-2 acceptance study, declared open rather than claimed.</a:t>
            </a:r>
            <a:endParaRPr lang="en-US" sz="98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10896"/>
            <a:ext cx="11057839" cy="237744"/>
          </a:xfrm>
          <a:prstGeom prst="rect">
            <a:avLst/>
          </a:prstGeom>
          <a:noFill/>
          <a:ln/>
        </p:spPr>
        <p:txBody>
          <a:bodyPr wrap="square" lIns="0" tIns="0" rIns="0" bIns="0" rtlCol="0" anchor="ctr"/>
          <a:lstStyle/>
          <a:p>
            <a:pPr indent="0" marL="0">
              <a:buNone/>
            </a:pPr>
            <a:r>
              <a:rPr lang="en-US" sz="1050" b="1" spc="180" kern="0" dirty="0">
                <a:solidFill>
                  <a:srgbClr val="8E6A1F"/>
                </a:solidFill>
                <a:latin typeface="Consolas" pitchFamily="34" charset="0"/>
                <a:ea typeface="Consolas" pitchFamily="34" charset="-122"/>
                <a:cs typeface="Consolas" pitchFamily="34" charset="-120"/>
              </a:rPr>
              <a:t>PROVING THE GAP IS STRUCTURAL, NOT A MISSING FEATURE</a:t>
            </a:r>
            <a:endParaRPr lang="en-US" sz="10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indent="0" marL="0">
              <a:buNone/>
            </a:pPr>
            <a:r>
              <a:rPr lang="en-US" sz="2700" b="1" dirty="0">
                <a:solidFill>
                  <a:srgbClr val="1B202A"/>
                </a:solidFill>
                <a:latin typeface="Georgia" pitchFamily="34" charset="0"/>
                <a:ea typeface="Georgia" pitchFamily="34" charset="-122"/>
                <a:cs typeface="Georgia" pitchFamily="34" charset="-120"/>
              </a:rPr>
              <a:t>Existing Solutions &amp; Prior FYP Comparison</a:t>
            </a:r>
            <a:endParaRPr lang="en-US" sz="2700" dirty="0"/>
          </a:p>
        </p:txBody>
      </p:sp>
      <p:sp>
        <p:nvSpPr>
          <p:cNvPr id="7" name="Shape 5"/>
          <p:cNvSpPr/>
          <p:nvPr/>
        </p:nvSpPr>
        <p:spPr>
          <a:xfrm>
            <a:off x="566928" y="1188720"/>
            <a:ext cx="566928" cy="36576"/>
          </a:xfrm>
          <a:prstGeom prst="rect">
            <a:avLst/>
          </a:prstGeom>
          <a:solidFill>
            <a:srgbClr val="C89B3C"/>
          </a:solidFill>
          <a:ln/>
        </p:spPr>
      </p:sp>
      <p:sp>
        <p:nvSpPr>
          <p:cNvPr id="8" name="Shape 6"/>
          <p:cNvSpPr/>
          <p:nvPr/>
        </p:nvSpPr>
        <p:spPr>
          <a:xfrm>
            <a:off x="566928" y="6437376"/>
            <a:ext cx="11057839" cy="0"/>
          </a:xfrm>
          <a:prstGeom prst="line">
            <a:avLst/>
          </a:prstGeom>
          <a:noFill/>
          <a:ln w="9525">
            <a:solidFill>
              <a:srgbClr val="D9DCE3"/>
            </a:solidFill>
            <a:prstDash val="solid"/>
          </a:ln>
        </p:spPr>
      </p:sp>
      <p:sp>
        <p:nvSpPr>
          <p:cNvPr id="9" name="Text 7"/>
          <p:cNvSpPr txBox="1"/>
          <p:nvPr/>
        </p:nvSpPr>
        <p:spPr>
          <a:xfrm>
            <a:off x="566928" y="6492240"/>
            <a:ext cx="5943600" cy="237744"/>
          </a:xfrm>
          <a:prstGeom prst="rect">
            <a:avLst/>
          </a:prstGeom>
          <a:noFill/>
          <a:ln/>
        </p:spPr>
        <p:txBody>
          <a:bodyPr wrap="square" lIns="0" tIns="0" rIns="0" bIns="0" rtlCol="0" anchor="ctr"/>
          <a:lstStyle/>
          <a:p>
            <a:pPr indent="0" marL="0">
              <a:buNone/>
            </a:pPr>
            <a:r>
              <a:rPr lang="en-US" sz="850" spc="80" kern="0" dirty="0">
                <a:solidFill>
                  <a:srgbClr val="8B92A2"/>
                </a:solidFill>
                <a:latin typeface="Consolas" pitchFamily="34" charset="0"/>
                <a:ea typeface="Consolas" pitchFamily="34" charset="-122"/>
                <a:cs typeface="Consolas" pitchFamily="34" charset="-120"/>
              </a:rPr>
              <a:t>F26-060-GRANITE  ·  PROPOSAL DEFENSE  ·  STREAM A</a:t>
            </a:r>
            <a:endParaRPr lang="en-US" sz="850" dirty="0"/>
          </a:p>
        </p:txBody>
      </p:sp>
      <p:sp>
        <p:nvSpPr>
          <p:cNvPr id="10" name="Text 8"/>
          <p:cNvSpPr txBox="1"/>
          <p:nvPr/>
        </p:nvSpPr>
        <p:spPr>
          <a:xfrm>
            <a:off x="10527487" y="6492240"/>
            <a:ext cx="1097280" cy="237744"/>
          </a:xfrm>
          <a:prstGeom prst="rect">
            <a:avLst/>
          </a:prstGeom>
          <a:noFill/>
          <a:ln/>
        </p:spPr>
        <p:txBody>
          <a:bodyPr wrap="square" lIns="0" tIns="0" rIns="0" bIns="0" rtlCol="0" anchor="ctr"/>
          <a:lstStyle/>
          <a:p>
            <a:pPr algn="r" indent="0" marL="0">
              <a:buNone/>
            </a:pPr>
            <a:r>
              <a:rPr lang="en-US" sz="850" b="1" dirty="0">
                <a:solidFill>
                  <a:srgbClr val="8E6A1F"/>
                </a:solidFill>
                <a:latin typeface="Consolas" pitchFamily="34" charset="0"/>
                <a:ea typeface="Consolas" pitchFamily="34" charset="-122"/>
                <a:cs typeface="Consolas" pitchFamily="34" charset="-120"/>
              </a:rPr>
              <a:t>3 / 10</a:t>
            </a:r>
            <a:endParaRPr lang="en-US" sz="8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57839" cy="3639312"/>
        </p:xfrm>
        <a:graphic>
          <a:graphicData uri="http://schemas.openxmlformats.org/drawingml/2006/table">
            <a:tbl>
              <a:tblPr/>
              <a:tblGrid>
                <a:gridCol w="1572768"/>
                <a:gridCol w="1920240"/>
                <a:gridCol w="1828800"/>
                <a:gridCol w="1645920"/>
                <a:gridCol w="1920240"/>
                <a:gridCol w="1709928"/>
              </a:tblGrid>
              <a:tr h="519902">
                <a:tc>
                  <a:txBody>
                    <a:bodyPr/>
                    <a:lstStyle/>
                    <a:p>
                      <a:pPr algn="ctr" indent="0" marL="0">
                        <a:buNone/>
                      </a:pP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950" b="1" dirty="0">
                          <a:solidFill>
                            <a:srgbClr val="F5F6F8"/>
                          </a:solidFill>
                          <a:latin typeface="Calibri" pitchFamily="34" charset="0"/>
                          <a:ea typeface="Calibri" pitchFamily="34" charset="-122"/>
                          <a:cs typeface="Calibri" pitchFamily="34" charset="-120"/>
                        </a:rPr>
                        <a:t>Core approach</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950" b="1" dirty="0">
                          <a:solidFill>
                            <a:srgbClr val="F5F6F8"/>
                          </a:solidFill>
                          <a:latin typeface="Calibri" pitchFamily="34" charset="0"/>
                          <a:ea typeface="Calibri" pitchFamily="34" charset="-122"/>
                          <a:cs typeface="Calibri" pitchFamily="34" charset="-120"/>
                        </a:rPr>
                        <a:t>Step-level attribution</a:t>
                      </a:r>
                      <a:endParaRPr lang="en-US" sz="950" dirty="0">
                        <a:latin typeface="Calibri" charset="0"/>
                        <a:ea typeface="Calibri" charset="0"/>
                        <a:cs typeface="Calibri" charset="0"/>
                      </a:endParaRPr>
                    </a:p>
                    <a:p>
                      <a:pPr algn="ctr" indent="0" marL="0">
                        <a:buNone/>
                      </a:pPr>
                      <a:r>
                        <a:rPr lang="en-US" sz="950" b="1" dirty="0">
                          <a:solidFill>
                            <a:srgbClr val="F5F6F8"/>
                          </a:solidFill>
                          <a:latin typeface="Calibri" pitchFamily="34" charset="0"/>
                          <a:ea typeface="Calibri" pitchFamily="34" charset="-122"/>
                          <a:cs typeface="Calibri" pitchFamily="34" charset="-120"/>
                        </a:rPr>
                        <a:t>(published accuracy)</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950" b="1" dirty="0">
                          <a:solidFill>
                            <a:srgbClr val="F5F6F8"/>
                          </a:solidFill>
                          <a:latin typeface="Calibri" pitchFamily="34" charset="0"/>
                          <a:ea typeface="Calibri" pitchFamily="34" charset="-122"/>
                          <a:cs typeface="Calibri" pitchFamily="34" charset="-120"/>
                        </a:rPr>
                        <a:t>Silent-failure</a:t>
                      </a:r>
                      <a:endParaRPr lang="en-US" sz="950" dirty="0">
                        <a:latin typeface="Calibri" charset="0"/>
                        <a:ea typeface="Calibri" charset="0"/>
                        <a:cs typeface="Calibri" charset="0"/>
                      </a:endParaRPr>
                    </a:p>
                    <a:p>
                      <a:pPr algn="ctr" indent="0" marL="0">
                        <a:buNone/>
                      </a:pPr>
                      <a:r>
                        <a:rPr lang="en-US" sz="950" b="1" dirty="0">
                          <a:solidFill>
                            <a:srgbClr val="F5F6F8"/>
                          </a:solidFill>
                          <a:latin typeface="Calibri" pitchFamily="34" charset="0"/>
                          <a:ea typeface="Calibri" pitchFamily="34" charset="-122"/>
                          <a:cs typeface="Calibri" pitchFamily="34" charset="-120"/>
                        </a:rPr>
                        <a:t>detection</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950" b="1" dirty="0">
                          <a:solidFill>
                            <a:srgbClr val="F5F6F8"/>
                          </a:solidFill>
                          <a:latin typeface="Calibri" pitchFamily="34" charset="0"/>
                          <a:ea typeface="Calibri" pitchFamily="34" charset="-122"/>
                          <a:cs typeface="Calibri" pitchFamily="34" charset="-120"/>
                        </a:rPr>
                        <a:t>Counterfactual fix-</a:t>
                      </a:r>
                      <a:endParaRPr lang="en-US" sz="950" dirty="0">
                        <a:latin typeface="Calibri" charset="0"/>
                        <a:ea typeface="Calibri" charset="0"/>
                        <a:cs typeface="Calibri" charset="0"/>
                      </a:endParaRPr>
                    </a:p>
                    <a:p>
                      <a:pPr algn="ctr" indent="0" marL="0">
                        <a:buNone/>
                      </a:pPr>
                      <a:r>
                        <a:rPr lang="en-US" sz="950" b="1" dirty="0">
                          <a:solidFill>
                            <a:srgbClr val="F5F6F8"/>
                          </a:solidFill>
                          <a:latin typeface="Calibri" pitchFamily="34" charset="0"/>
                          <a:ea typeface="Calibri" pitchFamily="34" charset="-122"/>
                          <a:cs typeface="Calibri" pitchFamily="34" charset="-120"/>
                        </a:rPr>
                        <a:t>testing, measured</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950" b="1" dirty="0">
                          <a:solidFill>
                            <a:srgbClr val="F5F6F8"/>
                          </a:solidFill>
                          <a:latin typeface="Calibri" pitchFamily="34" charset="0"/>
                          <a:ea typeface="Calibri" pitchFamily="34" charset="-122"/>
                          <a:cs typeface="Calibri" pitchFamily="34" charset="-120"/>
                        </a:rPr>
                        <a:t>Framework-</a:t>
                      </a:r>
                      <a:endParaRPr lang="en-US" sz="950" dirty="0">
                        <a:latin typeface="Calibri" charset="0"/>
                        <a:ea typeface="Calibri" charset="0"/>
                        <a:cs typeface="Calibri" charset="0"/>
                      </a:endParaRPr>
                    </a:p>
                    <a:p>
                      <a:pPr algn="ctr" indent="0" marL="0">
                        <a:buNone/>
                      </a:pPr>
                      <a:r>
                        <a:rPr lang="en-US" sz="950" b="1" dirty="0">
                          <a:solidFill>
                            <a:srgbClr val="F5F6F8"/>
                          </a:solidFill>
                          <a:latin typeface="Calibri" pitchFamily="34" charset="0"/>
                          <a:ea typeface="Calibri" pitchFamily="34" charset="-122"/>
                          <a:cs typeface="Calibri" pitchFamily="34" charset="-120"/>
                        </a:rPr>
                        <a:t>agnostic</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519902">
                <a:tc>
                  <a:txBody>
                    <a:bodyPr/>
                    <a:lstStyle/>
                    <a:p>
                      <a:pPr algn="l" indent="0" marL="0">
                        <a:buNone/>
                      </a:pPr>
                      <a:r>
                        <a:rPr lang="en-US" sz="950" b="1" dirty="0">
                          <a:solidFill>
                            <a:srgbClr val="1B202A"/>
                          </a:solidFill>
                          <a:latin typeface="Calibri" pitchFamily="34" charset="0"/>
                          <a:ea typeface="Calibri" pitchFamily="34" charset="-122"/>
                          <a:cs typeface="Calibri" pitchFamily="34" charset="-120"/>
                        </a:rPr>
                        <a:t>ErrorProbe</a:t>
                      </a:r>
                      <a:endParaRPr lang="en-US" sz="950" dirty="0">
                        <a:latin typeface="Calibri" charset="0"/>
                        <a:ea typeface="Calibri" charset="0"/>
                        <a:cs typeface="Calibri" charset="0"/>
                      </a:endParaRPr>
                    </a:p>
                    <a:p>
                      <a:pPr algn="l" indent="0" marL="0">
                        <a:buNone/>
                      </a:pPr>
                      <a:r>
                        <a:rPr lang="en-US" sz="950" b="1" dirty="0">
                          <a:solidFill>
                            <a:srgbClr val="1B202A"/>
                          </a:solidFill>
                          <a:latin typeface="Calibri" pitchFamily="34" charset="0"/>
                          <a:ea typeface="Calibri" pitchFamily="34" charset="-122"/>
                          <a:cs typeface="Calibri" pitchFamily="34" charset="-120"/>
                        </a:rPr>
                        <a:t>(ACL 2026)</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3-stage LLM diagnosis</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 memory</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59.5%</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 admits</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it cannot</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 2 archs only</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950" b="1" dirty="0">
                          <a:solidFill>
                            <a:srgbClr val="1B202A"/>
                          </a:solidFill>
                          <a:latin typeface="Calibri" pitchFamily="34" charset="0"/>
                          <a:ea typeface="Calibri" pitchFamily="34" charset="-122"/>
                          <a:cs typeface="Calibri" pitchFamily="34" charset="-120"/>
                        </a:rPr>
                        <a:t>LangSmith Engine /</a:t>
                      </a:r>
                      <a:endParaRPr lang="en-US" sz="950" dirty="0">
                        <a:latin typeface="Calibri" charset="0"/>
                        <a:ea typeface="Calibri" charset="0"/>
                        <a:cs typeface="Calibri" charset="0"/>
                      </a:endParaRPr>
                    </a:p>
                    <a:p>
                      <a:pPr algn="l" indent="0" marL="0">
                        <a:buNone/>
                      </a:pPr>
                      <a:r>
                        <a:rPr lang="en-US" sz="950" b="1" dirty="0">
                          <a:solidFill>
                            <a:srgbClr val="1B202A"/>
                          </a:solidFill>
                          <a:latin typeface="Calibri" pitchFamily="34" charset="0"/>
                          <a:ea typeface="Calibri" pitchFamily="34" charset="-122"/>
                          <a:cs typeface="Calibri" pitchFamily="34" charset="-120"/>
                        </a:rPr>
                        <a:t>Arize Alyx (2026)</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Automated RCA</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 fix drafting</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not published</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not confirmed</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not confirmed</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 stack-locked</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519902">
                <a:tc>
                  <a:txBody>
                    <a:bodyPr/>
                    <a:lstStyle/>
                    <a:p>
                      <a:pPr algn="l" indent="0" marL="0">
                        <a:buNone/>
                      </a:pPr>
                      <a:r>
                        <a:rPr lang="en-US" sz="950" b="1" dirty="0">
                          <a:solidFill>
                            <a:srgbClr val="1B202A"/>
                          </a:solidFill>
                          <a:latin typeface="Calibri" pitchFamily="34" charset="0"/>
                          <a:ea typeface="Calibri" pitchFamily="34" charset="-122"/>
                          <a:cs typeface="Calibri" pitchFamily="34" charset="-120"/>
                        </a:rPr>
                        <a:t>Langfuse / Braintrust /</a:t>
                      </a:r>
                      <a:endParaRPr lang="en-US" sz="950" dirty="0">
                        <a:latin typeface="Calibri" charset="0"/>
                        <a:ea typeface="Calibri" charset="0"/>
                        <a:cs typeface="Calibri" charset="0"/>
                      </a:endParaRPr>
                    </a:p>
                    <a:p>
                      <a:pPr algn="l" indent="0" marL="0">
                        <a:buNone/>
                      </a:pPr>
                      <a:r>
                        <a:rPr lang="en-US" sz="950" b="1" dirty="0">
                          <a:solidFill>
                            <a:srgbClr val="1B202A"/>
                          </a:solidFill>
                          <a:latin typeface="Calibri" pitchFamily="34" charset="0"/>
                          <a:ea typeface="Calibri" pitchFamily="34" charset="-122"/>
                          <a:cs typeface="Calibri" pitchFamily="34" charset="-120"/>
                        </a:rPr>
                        <a:t>Phoenix / Maxim / Opik</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Trace capture</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 eval</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human-driven</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RAG-groundedness</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only</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950" b="1" dirty="0">
                          <a:solidFill>
                            <a:srgbClr val="1B202A"/>
                          </a:solidFill>
                          <a:latin typeface="Calibri" pitchFamily="34" charset="0"/>
                          <a:ea typeface="Calibri" pitchFamily="34" charset="-122"/>
                          <a:cs typeface="Calibri" pitchFamily="34" charset="-120"/>
                        </a:rPr>
                        <a:t>Closest prior FYP</a:t>
                      </a:r>
                      <a:endParaRPr lang="en-US" sz="950" dirty="0">
                        <a:latin typeface="Calibri" charset="0"/>
                        <a:ea typeface="Calibri" charset="0"/>
                        <a:cs typeface="Calibri" charset="0"/>
                      </a:endParaRPr>
                    </a:p>
                    <a:p>
                      <a:pPr algn="l" indent="0" marL="0">
                        <a:buNone/>
                      </a:pPr>
                      <a:r>
                        <a:rPr lang="en-US" sz="950" b="1" dirty="0">
                          <a:solidFill>
                            <a:srgbClr val="1B202A"/>
                          </a:solidFill>
                          <a:latin typeface="Calibri" pitchFamily="34" charset="0"/>
                          <a:ea typeface="Calibri" pitchFamily="34" charset="-122"/>
                          <a:cs typeface="Calibri" pitchFamily="34" charset="-120"/>
                        </a:rPr>
                        <a:t>(S24-011-D-HDLM,</a:t>
                      </a:r>
                      <a:endParaRPr lang="en-US" sz="950" dirty="0">
                        <a:latin typeface="Calibri" charset="0"/>
                        <a:ea typeface="Calibri" charset="0"/>
                        <a:cs typeface="Calibri" charset="0"/>
                      </a:endParaRPr>
                    </a:p>
                    <a:p>
                      <a:pPr algn="l" indent="0" marL="0">
                        <a:buNone/>
                      </a:pPr>
                      <a:r>
                        <a:rPr lang="en-US" sz="950" b="1" dirty="0">
                          <a:solidFill>
                            <a:srgbClr val="1B202A"/>
                          </a:solidFill>
                          <a:latin typeface="Calibri" pitchFamily="34" charset="0"/>
                          <a:ea typeface="Calibri" pitchFamily="34" charset="-122"/>
                          <a:cs typeface="Calibri" pitchFamily="34" charset="-120"/>
                        </a:rPr>
                        <a:t>Spring 2024)</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hallucination detection</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in single-LLM text</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no attribution at all</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partial — single-LLM</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text only, not agent traces</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 no repair /</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replay step</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N/A — not a</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multi-agent system</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r>
              <a:tr h="519902">
                <a:tc>
                  <a:txBody>
                    <a:bodyPr/>
                    <a:lstStyle/>
                    <a:p>
                      <a:pPr algn="l" indent="0" marL="0">
                        <a:buNone/>
                      </a:pPr>
                      <a:r>
                        <a:rPr lang="en-US" sz="950" b="1" dirty="0">
                          <a:solidFill>
                            <a:srgbClr val="1B202A"/>
                          </a:solidFill>
                          <a:latin typeface="Calibri" pitchFamily="34" charset="0"/>
                          <a:ea typeface="Calibri" pitchFamily="34" charset="-122"/>
                          <a:cs typeface="Calibri" pitchFamily="34" charset="-120"/>
                        </a:rPr>
                        <a:t>Current manual</a:t>
                      </a:r>
                      <a:endParaRPr lang="en-US" sz="950" dirty="0">
                        <a:latin typeface="Calibri" charset="0"/>
                        <a:ea typeface="Calibri" charset="0"/>
                        <a:cs typeface="Calibri" charset="0"/>
                      </a:endParaRPr>
                    </a:p>
                    <a:p>
                      <a:pPr algn="l" indent="0" marL="0">
                        <a:buNone/>
                      </a:pPr>
                      <a:r>
                        <a:rPr lang="en-US" sz="950" b="1" dirty="0">
                          <a:solidFill>
                            <a:srgbClr val="1B202A"/>
                          </a:solidFill>
                          <a:latin typeface="Calibri" pitchFamily="34" charset="0"/>
                          <a:ea typeface="Calibri" pitchFamily="34" charset="-122"/>
                          <a:cs typeface="Calibri" pitchFamily="34" charset="-120"/>
                        </a:rPr>
                        <a:t>workflow</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human reads,</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guesses</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14.2%</a:t>
                      </a:r>
                      <a:endParaRPr lang="en-US" sz="950" dirty="0">
                        <a:latin typeface="Calibri" charset="0"/>
                        <a:ea typeface="Calibri" charset="0"/>
                        <a:cs typeface="Calibri" charset="0"/>
                      </a:endParaRPr>
                    </a:p>
                    <a:p>
                      <a:pPr algn="ctr" indent="0" marL="0">
                        <a:buNone/>
                      </a:pPr>
                      <a:r>
                        <a:rPr lang="en-US" sz="950" dirty="0">
                          <a:solidFill>
                            <a:srgbClr val="1B202A"/>
                          </a:solidFill>
                          <a:latin typeface="Calibri" pitchFamily="34" charset="0"/>
                          <a:ea typeface="Calibri" pitchFamily="34" charset="-122"/>
                          <a:cs typeface="Calibri" pitchFamily="34" charset="-120"/>
                        </a:rPr>
                        <a:t>(Who&amp;When)</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950" dirty="0">
                          <a:solidFill>
                            <a:srgbClr val="1B202A"/>
                          </a:solidFill>
                          <a:latin typeface="Calibri" pitchFamily="34" charset="0"/>
                          <a:ea typeface="Calibri" pitchFamily="34" charset="-122"/>
                          <a:cs typeface="Calibri" pitchFamily="34" charset="-120"/>
                        </a:rPr>
                        <a:t>N/A</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950" b="1" dirty="0">
                          <a:solidFill>
                            <a:srgbClr val="1B202A"/>
                          </a:solidFill>
                          <a:latin typeface="Calibri" pitchFamily="34" charset="0"/>
                          <a:ea typeface="Calibri" pitchFamily="34" charset="-122"/>
                          <a:cs typeface="Calibri" pitchFamily="34" charset="-120"/>
                        </a:rPr>
                        <a:t>Granite</a:t>
                      </a:r>
                      <a:endParaRPr lang="en-US" sz="950" dirty="0">
                        <a:latin typeface="Calibri" charset="0"/>
                        <a:ea typeface="Calibri" charset="0"/>
                        <a:cs typeface="Calibri" charset="0"/>
                      </a:endParaRPr>
                    </a:p>
                    <a:p>
                      <a:pPr algn="l" indent="0" marL="0">
                        <a:buNone/>
                      </a:pPr>
                      <a:r>
                        <a:rPr lang="en-US" sz="950" b="1" dirty="0">
                          <a:solidFill>
                            <a:srgbClr val="1B202A"/>
                          </a:solidFill>
                          <a:latin typeface="Calibri" pitchFamily="34" charset="0"/>
                          <a:ea typeface="Calibri" pitchFamily="34" charset="-122"/>
                          <a:cs typeface="Calibri" pitchFamily="34" charset="-120"/>
                        </a:rPr>
                        <a:t>(proposed)</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950" b="1" dirty="0">
                          <a:solidFill>
                            <a:srgbClr val="1B202A"/>
                          </a:solidFill>
                          <a:latin typeface="Calibri" pitchFamily="34" charset="0"/>
                          <a:ea typeface="Calibri" pitchFamily="34" charset="-122"/>
                          <a:cs typeface="Calibri" pitchFamily="34" charset="-120"/>
                        </a:rPr>
                        <a:t>Constraint-based SED</a:t>
                      </a:r>
                      <a:endParaRPr lang="en-US" sz="950" dirty="0">
                        <a:latin typeface="Calibri" charset="0"/>
                        <a:ea typeface="Calibri" charset="0"/>
                        <a:cs typeface="Calibri" charset="0"/>
                      </a:endParaRPr>
                    </a:p>
                    <a:p>
                      <a:pPr algn="ctr" indent="0" marL="0">
                        <a:buNone/>
                      </a:pPr>
                      <a:r>
                        <a:rPr lang="en-US" sz="950" b="1" dirty="0">
                          <a:solidFill>
                            <a:srgbClr val="1B202A"/>
                          </a:solidFill>
                          <a:latin typeface="Calibri" pitchFamily="34" charset="0"/>
                          <a:ea typeface="Calibri" pitchFamily="34" charset="-122"/>
                          <a:cs typeface="Calibri" pitchFamily="34" charset="-120"/>
                        </a:rPr>
                        <a:t>+ verified repair loop</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950" b="1" dirty="0">
                          <a:solidFill>
                            <a:srgbClr val="1B202A"/>
                          </a:solidFill>
                          <a:latin typeface="Calibri" pitchFamily="34" charset="0"/>
                          <a:ea typeface="Calibri" pitchFamily="34" charset="-122"/>
                          <a:cs typeface="Calibri" pitchFamily="34" charset="-120"/>
                        </a:rPr>
                        <a:t>building on</a:t>
                      </a:r>
                      <a:endParaRPr lang="en-US" sz="950" dirty="0">
                        <a:latin typeface="Calibri" charset="0"/>
                        <a:ea typeface="Calibri" charset="0"/>
                        <a:cs typeface="Calibri" charset="0"/>
                      </a:endParaRPr>
                    </a:p>
                    <a:p>
                      <a:pPr algn="ctr" indent="0" marL="0">
                        <a:buNone/>
                      </a:pPr>
                      <a:r>
                        <a:rPr lang="en-US" sz="950" b="1" dirty="0">
                          <a:solidFill>
                            <a:srgbClr val="1B202A"/>
                          </a:solidFill>
                          <a:latin typeface="Calibri" pitchFamily="34" charset="0"/>
                          <a:ea typeface="Calibri" pitchFamily="34" charset="-122"/>
                          <a:cs typeface="Calibri" pitchFamily="34" charset="-120"/>
                        </a:rPr>
                        <a:t>ErrorProbe</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950" b="1" dirty="0">
                          <a:solidFill>
                            <a:srgbClr val="1B202A"/>
                          </a:solidFill>
                          <a:latin typeface="Calibri" pitchFamily="34" charset="0"/>
                          <a:ea typeface="Calibri" pitchFamily="34" charset="-122"/>
                          <a:cs typeface="Calibri" pitchFamily="34" charset="-120"/>
                        </a:rPr>
                        <a:t>✓ scoped &amp;</a:t>
                      </a:r>
                      <a:endParaRPr lang="en-US" sz="950" dirty="0">
                        <a:latin typeface="Calibri" charset="0"/>
                        <a:ea typeface="Calibri" charset="0"/>
                        <a:cs typeface="Calibri" charset="0"/>
                      </a:endParaRPr>
                    </a:p>
                    <a:p>
                      <a:pPr algn="ctr" indent="0" marL="0">
                        <a:buNone/>
                      </a:pPr>
                      <a:r>
                        <a:rPr lang="en-US" sz="950" b="1" dirty="0">
                          <a:solidFill>
                            <a:srgbClr val="1B202A"/>
                          </a:solidFill>
                          <a:latin typeface="Calibri" pitchFamily="34" charset="0"/>
                          <a:ea typeface="Calibri" pitchFamily="34" charset="-122"/>
                          <a:cs typeface="Calibri" pitchFamily="34" charset="-120"/>
                        </a:rPr>
                        <a:t>measured</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950" b="1" dirty="0">
                          <a:solidFill>
                            <a:srgbClr val="1B202A"/>
                          </a:solidFill>
                          <a:latin typeface="Calibri" pitchFamily="34" charset="0"/>
                          <a:ea typeface="Calibri" pitchFamily="34" charset="-122"/>
                          <a:cs typeface="Calibri" pitchFamily="34" charset="-120"/>
                        </a:rPr>
                        <a:t>✓ recovery rate</a:t>
                      </a:r>
                      <a:endParaRPr lang="en-US" sz="950" dirty="0">
                        <a:latin typeface="Calibri" charset="0"/>
                        <a:ea typeface="Calibri" charset="0"/>
                        <a:cs typeface="Calibri" charset="0"/>
                      </a:endParaRPr>
                    </a:p>
                    <a:p>
                      <a:pPr algn="ctr" indent="0" marL="0">
                        <a:buNone/>
                      </a:pPr>
                      <a:r>
                        <a:rPr lang="en-US" sz="950" b="1" dirty="0">
                          <a:solidFill>
                            <a:srgbClr val="1B202A"/>
                          </a:solidFill>
                          <a:latin typeface="Calibri" pitchFamily="34" charset="0"/>
                          <a:ea typeface="Calibri" pitchFamily="34" charset="-122"/>
                          <a:cs typeface="Calibri" pitchFamily="34" charset="-120"/>
                        </a:rPr>
                        <a:t>over N replays</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950" b="1" dirty="0">
                          <a:solidFill>
                            <a:srgbClr val="1B202A"/>
                          </a:solidFill>
                          <a:latin typeface="Calibri" pitchFamily="34" charset="0"/>
                          <a:ea typeface="Calibri" pitchFamily="34" charset="-122"/>
                          <a:cs typeface="Calibri" pitchFamily="34" charset="-120"/>
                        </a:rPr>
                        <a:t>✓ CrewAI +</a:t>
                      </a:r>
                      <a:endParaRPr lang="en-US" sz="950" dirty="0">
                        <a:latin typeface="Calibri" charset="0"/>
                        <a:ea typeface="Calibri" charset="0"/>
                        <a:cs typeface="Calibri" charset="0"/>
                      </a:endParaRPr>
                    </a:p>
                    <a:p>
                      <a:pPr algn="ctr" indent="0" marL="0">
                        <a:buNone/>
                      </a:pPr>
                      <a:r>
                        <a:rPr lang="en-US" sz="950" b="1" dirty="0">
                          <a:solidFill>
                            <a:srgbClr val="1B202A"/>
                          </a:solidFill>
                          <a:latin typeface="Calibri" pitchFamily="34" charset="0"/>
                          <a:ea typeface="Calibri" pitchFamily="34" charset="-122"/>
                          <a:cs typeface="Calibri" pitchFamily="34" charset="-120"/>
                        </a:rPr>
                        <a:t>LangGraph, unseen</a:t>
                      </a:r>
                      <a:endParaRPr lang="en-US" sz="9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r>
            </a:tbl>
          </a:graphicData>
        </a:graphic>
      </p:graphicFrame>
      <p:sp>
        <p:nvSpPr>
          <p:cNvPr id="12" name="Shape 9"/>
          <p:cNvSpPr/>
          <p:nvPr/>
        </p:nvSpPr>
        <p:spPr>
          <a:xfrm>
            <a:off x="587045" y="5109667"/>
            <a:ext cx="5532120" cy="1078992"/>
          </a:xfrm>
          <a:prstGeom prst="roundRect">
            <a:avLst>
              <a:gd name="adj" fmla="val 5085"/>
            </a:avLst>
          </a:prstGeom>
          <a:solidFill>
            <a:srgbClr val="E4E6EB"/>
          </a:solidFill>
          <a:ln/>
        </p:spPr>
      </p:sp>
      <p:sp>
        <p:nvSpPr>
          <p:cNvPr id="13" name="Shape 10"/>
          <p:cNvSpPr/>
          <p:nvPr/>
        </p:nvSpPr>
        <p:spPr>
          <a:xfrm>
            <a:off x="566928" y="5084064"/>
            <a:ext cx="5532120" cy="1078992"/>
          </a:xfrm>
          <a:prstGeom prst="roundRect">
            <a:avLst>
              <a:gd name="adj" fmla="val 5085"/>
            </a:avLst>
          </a:prstGeom>
          <a:solidFill>
            <a:srgbClr val="E6F1EB"/>
          </a:solidFill>
          <a:ln w="9525">
            <a:solidFill>
              <a:srgbClr val="D9DCE3"/>
            </a:solidFill>
            <a:prstDash val="solid"/>
          </a:ln>
        </p:spPr>
      </p:sp>
      <p:sp>
        <p:nvSpPr>
          <p:cNvPr id="14" name="Shape 11"/>
          <p:cNvSpPr/>
          <p:nvPr/>
        </p:nvSpPr>
        <p:spPr>
          <a:xfrm>
            <a:off x="566928" y="5138928"/>
            <a:ext cx="41148" cy="969264"/>
          </a:xfrm>
          <a:prstGeom prst="rect">
            <a:avLst/>
          </a:prstGeom>
          <a:solidFill>
            <a:srgbClr val="1E7A52"/>
          </a:solidFill>
          <a:ln/>
        </p:spPr>
      </p:sp>
      <p:sp>
        <p:nvSpPr>
          <p:cNvPr id="15" name="Text 12"/>
          <p:cNvSpPr txBox="1"/>
          <p:nvPr/>
        </p:nvSpPr>
        <p:spPr>
          <a:xfrm>
            <a:off x="768096" y="5184648"/>
            <a:ext cx="5120640" cy="219456"/>
          </a:xfrm>
          <a:prstGeom prst="rect">
            <a:avLst/>
          </a:prstGeom>
          <a:noFill/>
          <a:ln/>
        </p:spPr>
        <p:txBody>
          <a:bodyPr wrap="square" lIns="0" tIns="0" rIns="0" bIns="0" rtlCol="0" anchor="ctr"/>
          <a:lstStyle/>
          <a:p>
            <a:pPr indent="0" marL="0">
              <a:buNone/>
            </a:pPr>
            <a:r>
              <a:rPr lang="en-US" sz="950" b="1" spc="120" kern="0" dirty="0">
                <a:solidFill>
                  <a:srgbClr val="1E7A52"/>
                </a:solidFill>
                <a:latin typeface="Consolas" pitchFamily="34" charset="0"/>
                <a:ea typeface="Consolas" pitchFamily="34" charset="-122"/>
                <a:cs typeface="Consolas" pitchFamily="34" charset="-120"/>
              </a:rPr>
              <a:t>PRIOR-FYP CHECK — CLOSED</a:t>
            </a:r>
            <a:endParaRPr lang="en-US" sz="950" dirty="0"/>
          </a:p>
        </p:txBody>
      </p:sp>
      <p:sp>
        <p:nvSpPr>
          <p:cNvPr id="16" name="Text 13"/>
          <p:cNvSpPr txBox="1"/>
          <p:nvPr/>
        </p:nvSpPr>
        <p:spPr>
          <a:xfrm>
            <a:off x="768096" y="5422392"/>
            <a:ext cx="5166360" cy="694944"/>
          </a:xfrm>
          <a:prstGeom prst="rect">
            <a:avLst/>
          </a:prstGeom>
          <a:noFill/>
          <a:ln/>
        </p:spPr>
        <p:txBody>
          <a:bodyPr wrap="square" lIns="0" tIns="0" rIns="0" bIns="0" rtlCol="0" anchor="ctr"/>
          <a:lstStyle/>
          <a:p>
            <a:pPr indent="0" marL="0">
              <a:buNone/>
            </a:pPr>
            <a:r>
              <a:rPr lang="en-US" sz="880" dirty="0">
                <a:solidFill>
                  <a:srgbClr val="1B202A"/>
                </a:solidFill>
                <a:latin typeface="Calibri" pitchFamily="34" charset="0"/>
                <a:ea typeface="Calibri" pitchFamily="34" charset="-122"/>
                <a:cs typeface="Calibri" pitchFamily="34" charset="-120"/>
              </a:rPr>
              <a:t>All 12 published cohorts, Spring-2019 → Fall-2025, 660 registered titles, compared structurally. Closest match: </a:t>
            </a:r>
            <a:pPr indent="0" marL="0">
              <a:buNone/>
            </a:pPr>
            <a:r>
              <a:rPr lang="en-US" sz="880" b="1" dirty="0">
                <a:solidFill>
                  <a:srgbClr val="1E7A52"/>
                </a:solidFill>
                <a:latin typeface="Calibri" pitchFamily="34" charset="0"/>
                <a:ea typeface="Calibri" pitchFamily="34" charset="-122"/>
                <a:cs typeface="Calibri" pitchFamily="34" charset="-120"/>
              </a:rPr>
              <a:t>S24-011-D-HDLM</a:t>
            </a:r>
            <a:pPr indent="0" marL="0">
              <a:buNone/>
            </a:pPr>
            <a:r>
              <a:rPr lang="en-US" sz="880" dirty="0">
                <a:solidFill>
                  <a:srgbClr val="1B202A"/>
                </a:solidFill>
                <a:latin typeface="Calibri" pitchFamily="34" charset="0"/>
                <a:ea typeface="Calibri" pitchFamily="34" charset="-122"/>
                <a:cs typeface="Calibri" pitchFamily="34" charset="-120"/>
              </a:rPr>
              <a:t> — hallucination detection in a single LLM's text (Spring 2024): same underlying problem (untrustworthy output, no error signal), roughly one of our four pipeline stages. Other analogs use “multi-agent” only as an application pattern (PropPal, LawSphere, CampusHive); nearest detect-then-repair is AutoVulRepair (fuzzing/C++).</a:t>
            </a:r>
            <a:endParaRPr lang="en-US" sz="880" dirty="0"/>
          </a:p>
        </p:txBody>
      </p:sp>
      <p:sp>
        <p:nvSpPr>
          <p:cNvPr id="17" name="Shape 14"/>
          <p:cNvSpPr/>
          <p:nvPr/>
        </p:nvSpPr>
        <p:spPr>
          <a:xfrm>
            <a:off x="6302045" y="5109667"/>
            <a:ext cx="5342839" cy="1078992"/>
          </a:xfrm>
          <a:prstGeom prst="roundRect">
            <a:avLst>
              <a:gd name="adj" fmla="val 5085"/>
            </a:avLst>
          </a:prstGeom>
          <a:solidFill>
            <a:srgbClr val="E4E6EB"/>
          </a:solidFill>
          <a:ln/>
        </p:spPr>
      </p:sp>
      <p:sp>
        <p:nvSpPr>
          <p:cNvPr id="18" name="Shape 15"/>
          <p:cNvSpPr/>
          <p:nvPr/>
        </p:nvSpPr>
        <p:spPr>
          <a:xfrm>
            <a:off x="6281928" y="5084064"/>
            <a:ext cx="5342839" cy="1078992"/>
          </a:xfrm>
          <a:prstGeom prst="roundRect">
            <a:avLst>
              <a:gd name="adj" fmla="val 5085"/>
            </a:avLst>
          </a:prstGeom>
          <a:solidFill>
            <a:srgbClr val="F7EFDC"/>
          </a:solidFill>
          <a:ln w="9525">
            <a:solidFill>
              <a:srgbClr val="D9DCE3"/>
            </a:solidFill>
            <a:prstDash val="solid"/>
          </a:ln>
        </p:spPr>
      </p:sp>
      <p:sp>
        <p:nvSpPr>
          <p:cNvPr id="19" name="Shape 16"/>
          <p:cNvSpPr/>
          <p:nvPr/>
        </p:nvSpPr>
        <p:spPr>
          <a:xfrm>
            <a:off x="6281928" y="5138928"/>
            <a:ext cx="41148" cy="969264"/>
          </a:xfrm>
          <a:prstGeom prst="rect">
            <a:avLst/>
          </a:prstGeom>
          <a:solidFill>
            <a:srgbClr val="A8760F"/>
          </a:solidFill>
          <a:ln/>
        </p:spPr>
      </p:sp>
      <p:sp>
        <p:nvSpPr>
          <p:cNvPr id="20" name="Text 17"/>
          <p:cNvSpPr txBox="1"/>
          <p:nvPr/>
        </p:nvSpPr>
        <p:spPr>
          <a:xfrm>
            <a:off x="6483096" y="5184648"/>
            <a:ext cx="4937760" cy="219456"/>
          </a:xfrm>
          <a:prstGeom prst="rect">
            <a:avLst/>
          </a:prstGeom>
          <a:noFill/>
          <a:ln/>
        </p:spPr>
        <p:txBody>
          <a:bodyPr wrap="square" lIns="0" tIns="0" rIns="0" bIns="0" rtlCol="0" anchor="ctr"/>
          <a:lstStyle/>
          <a:p>
            <a:pPr indent="0" marL="0">
              <a:buNone/>
            </a:pPr>
            <a:r>
              <a:rPr lang="en-US" sz="950" b="1" spc="120" kern="0" dirty="0">
                <a:solidFill>
                  <a:srgbClr val="A8760F"/>
                </a:solidFill>
                <a:latin typeface="Consolas" pitchFamily="34" charset="0"/>
                <a:ea typeface="Consolas" pitchFamily="34" charset="-122"/>
                <a:cs typeface="Consolas" pitchFamily="34" charset="-120"/>
              </a:rPr>
              <a:t>THE REAL GAP</a:t>
            </a:r>
            <a:endParaRPr lang="en-US" sz="950" dirty="0"/>
          </a:p>
        </p:txBody>
      </p:sp>
      <p:sp>
        <p:nvSpPr>
          <p:cNvPr id="21" name="Text 18"/>
          <p:cNvSpPr txBox="1"/>
          <p:nvPr/>
        </p:nvSpPr>
        <p:spPr>
          <a:xfrm>
            <a:off x="6483096" y="5422392"/>
            <a:ext cx="4931359" cy="694944"/>
          </a:xfrm>
          <a:prstGeom prst="rect">
            <a:avLst/>
          </a:prstGeom>
          <a:noFill/>
          <a:ln/>
        </p:spPr>
        <p:txBody>
          <a:bodyPr wrap="square" lIns="0" tIns="0" rIns="0" bIns="0" rtlCol="0" anchor="ctr"/>
          <a:lstStyle/>
          <a:p>
            <a:pPr indent="0" marL="0">
              <a:buNone/>
            </a:pPr>
            <a:r>
              <a:rPr lang="en-US" sz="930" dirty="0">
                <a:solidFill>
                  <a:srgbClr val="1B202A"/>
                </a:solidFill>
                <a:latin typeface="Calibri" pitchFamily="34" charset="0"/>
                <a:ea typeface="Calibri" pitchFamily="34" charset="-122"/>
                <a:cs typeface="Calibri" pitchFamily="34" charset="-120"/>
              </a:rPr>
              <a:t>No system checked — academic or commercial — confirms step-level attribution accuracy together with general silent-failure detection, counterfactual fix verification and cross-architecture generalization, evaluated as one pipeline.</a:t>
            </a:r>
            <a:endParaRPr lang="en-US" sz="930" dirty="0"/>
          </a:p>
        </p:txBody>
      </p:sp>
      <p:sp>
        <p:nvSpPr>
          <p:cNvPr id="22" name="Text 19"/>
          <p:cNvSpPr txBox="1"/>
          <p:nvPr/>
        </p:nvSpPr>
        <p:spPr>
          <a:xfrm>
            <a:off x="566928" y="6217920"/>
            <a:ext cx="11057839" cy="201168"/>
          </a:xfrm>
          <a:prstGeom prst="rect">
            <a:avLst/>
          </a:prstGeom>
          <a:noFill/>
          <a:ln/>
        </p:spPr>
        <p:txBody>
          <a:bodyPr wrap="square" lIns="0" tIns="0" rIns="0" bIns="0" rtlCol="0" anchor="ctr"/>
          <a:lstStyle/>
          <a:p>
            <a:pPr indent="0" marL="0">
              <a:buNone/>
            </a:pPr>
            <a:r>
              <a:rPr lang="en-US" sz="800" dirty="0">
                <a:solidFill>
                  <a:srgbClr val="8B92A2"/>
                </a:solidFill>
                <a:latin typeface="Consolas" pitchFamily="34" charset="0"/>
                <a:ea typeface="Consolas" pitchFamily="34" charset="-122"/>
                <a:cs typeface="Consolas" pitchFamily="34" charset="-120"/>
              </a:rPr>
              <a:t>▸ plan §0.095 (full 660-title comparison)  ·  Commercial_Product_Comparison.md  ·  risk-register R9/R33</a:t>
            </a:r>
            <a:endParaRPr lang="en-US" sz="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10896"/>
            <a:ext cx="11057839" cy="237744"/>
          </a:xfrm>
          <a:prstGeom prst="rect">
            <a:avLst/>
          </a:prstGeom>
          <a:noFill/>
          <a:ln/>
        </p:spPr>
        <p:txBody>
          <a:bodyPr wrap="square" lIns="0" tIns="0" rIns="0" bIns="0" rtlCol="0" anchor="ctr"/>
          <a:lstStyle/>
          <a:p>
            <a:pPr indent="0" marL="0">
              <a:buNone/>
            </a:pPr>
            <a:r>
              <a:rPr lang="en-US" sz="1050" b="1" spc="180" kern="0" dirty="0">
                <a:solidFill>
                  <a:srgbClr val="8E6A1F"/>
                </a:solidFill>
                <a:latin typeface="Consolas" pitchFamily="34" charset="0"/>
                <a:ea typeface="Consolas" pitchFamily="34" charset="-122"/>
                <a:cs typeface="Consolas" pitchFamily="34" charset="-120"/>
              </a:rPr>
              <a:t>9+ PAPERS READ IN FULL — DECISIONS, NOT DECORATION</a:t>
            </a:r>
            <a:endParaRPr lang="en-US" sz="10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indent="0" marL="0">
              <a:buNone/>
            </a:pPr>
            <a:r>
              <a:rPr lang="en-US" sz="2700" b="1" dirty="0">
                <a:solidFill>
                  <a:srgbClr val="1B202A"/>
                </a:solidFill>
                <a:latin typeface="Georgia" pitchFamily="34" charset="0"/>
                <a:ea typeface="Georgia" pitchFamily="34" charset="-122"/>
                <a:cs typeface="Georgia" pitchFamily="34" charset="-120"/>
              </a:rPr>
              <a:t>Research &amp; Technical Basis</a:t>
            </a:r>
            <a:endParaRPr lang="en-US" sz="2700" dirty="0"/>
          </a:p>
        </p:txBody>
      </p:sp>
      <p:sp>
        <p:nvSpPr>
          <p:cNvPr id="7" name="Shape 5"/>
          <p:cNvSpPr/>
          <p:nvPr/>
        </p:nvSpPr>
        <p:spPr>
          <a:xfrm>
            <a:off x="566928" y="1188720"/>
            <a:ext cx="566928" cy="36576"/>
          </a:xfrm>
          <a:prstGeom prst="rect">
            <a:avLst/>
          </a:prstGeom>
          <a:solidFill>
            <a:srgbClr val="C89B3C"/>
          </a:solidFill>
          <a:ln/>
        </p:spPr>
      </p:sp>
      <p:sp>
        <p:nvSpPr>
          <p:cNvPr id="8" name="Shape 6"/>
          <p:cNvSpPr/>
          <p:nvPr/>
        </p:nvSpPr>
        <p:spPr>
          <a:xfrm>
            <a:off x="566928" y="6437376"/>
            <a:ext cx="11057839" cy="0"/>
          </a:xfrm>
          <a:prstGeom prst="line">
            <a:avLst/>
          </a:prstGeom>
          <a:noFill/>
          <a:ln w="9525">
            <a:solidFill>
              <a:srgbClr val="D9DCE3"/>
            </a:solidFill>
            <a:prstDash val="solid"/>
          </a:ln>
        </p:spPr>
      </p:sp>
      <p:sp>
        <p:nvSpPr>
          <p:cNvPr id="9" name="Text 7"/>
          <p:cNvSpPr txBox="1"/>
          <p:nvPr/>
        </p:nvSpPr>
        <p:spPr>
          <a:xfrm>
            <a:off x="566928" y="6492240"/>
            <a:ext cx="5943600" cy="237744"/>
          </a:xfrm>
          <a:prstGeom prst="rect">
            <a:avLst/>
          </a:prstGeom>
          <a:noFill/>
          <a:ln/>
        </p:spPr>
        <p:txBody>
          <a:bodyPr wrap="square" lIns="0" tIns="0" rIns="0" bIns="0" rtlCol="0" anchor="ctr"/>
          <a:lstStyle/>
          <a:p>
            <a:pPr indent="0" marL="0">
              <a:buNone/>
            </a:pPr>
            <a:r>
              <a:rPr lang="en-US" sz="850" spc="80" kern="0" dirty="0">
                <a:solidFill>
                  <a:srgbClr val="8B92A2"/>
                </a:solidFill>
                <a:latin typeface="Consolas" pitchFamily="34" charset="0"/>
                <a:ea typeface="Consolas" pitchFamily="34" charset="-122"/>
                <a:cs typeface="Consolas" pitchFamily="34" charset="-120"/>
              </a:rPr>
              <a:t>F26-060-GRANITE  ·  PROPOSAL DEFENSE  ·  STREAM A</a:t>
            </a:r>
            <a:endParaRPr lang="en-US" sz="850" dirty="0"/>
          </a:p>
        </p:txBody>
      </p:sp>
      <p:sp>
        <p:nvSpPr>
          <p:cNvPr id="10" name="Text 8"/>
          <p:cNvSpPr txBox="1"/>
          <p:nvPr/>
        </p:nvSpPr>
        <p:spPr>
          <a:xfrm>
            <a:off x="10527487" y="6492240"/>
            <a:ext cx="1097280" cy="237744"/>
          </a:xfrm>
          <a:prstGeom prst="rect">
            <a:avLst/>
          </a:prstGeom>
          <a:noFill/>
          <a:ln/>
        </p:spPr>
        <p:txBody>
          <a:bodyPr wrap="square" lIns="0" tIns="0" rIns="0" bIns="0" rtlCol="0" anchor="ctr"/>
          <a:lstStyle/>
          <a:p>
            <a:pPr algn="r" indent="0" marL="0">
              <a:buNone/>
            </a:pPr>
            <a:r>
              <a:rPr lang="en-US" sz="850" b="1" dirty="0">
                <a:solidFill>
                  <a:srgbClr val="8E6A1F"/>
                </a:solidFill>
                <a:latin typeface="Consolas" pitchFamily="34" charset="0"/>
                <a:ea typeface="Consolas" pitchFamily="34" charset="-122"/>
                <a:cs typeface="Consolas" pitchFamily="34" charset="-120"/>
              </a:rPr>
              <a:t>4 / 10</a:t>
            </a:r>
            <a:endParaRPr lang="en-US" sz="850" dirty="0"/>
          </a:p>
        </p:txBody>
      </p:sp>
      <p:sp>
        <p:nvSpPr>
          <p:cNvPr id="11" name="Text 9"/>
          <p:cNvSpPr txBox="1"/>
          <p:nvPr/>
        </p:nvSpPr>
        <p:spPr>
          <a:xfrm>
            <a:off x="566928" y="1389888"/>
            <a:ext cx="5943600" cy="219456"/>
          </a:xfrm>
          <a:prstGeom prst="rect">
            <a:avLst/>
          </a:prstGeom>
          <a:noFill/>
          <a:ln/>
        </p:spPr>
        <p:txBody>
          <a:bodyPr wrap="square" lIns="0" tIns="0" rIns="0" bIns="0" rtlCol="0" anchor="ctr"/>
          <a:lstStyle/>
          <a:p>
            <a:pPr indent="0" marL="0">
              <a:buNone/>
            </a:pPr>
            <a:r>
              <a:rPr lang="en-US" sz="950" b="1" spc="120" kern="0" dirty="0">
                <a:solidFill>
                  <a:srgbClr val="8E6A1F"/>
                </a:solidFill>
                <a:latin typeface="Consolas" pitchFamily="34" charset="0"/>
                <a:ea typeface="Consolas" pitchFamily="34" charset="-122"/>
                <a:cs typeface="Consolas" pitchFamily="34" charset="-120"/>
              </a:rPr>
              <a:t>DECISIONS THE LITERATURE ACTUALLY CHANGED</a:t>
            </a:r>
            <a:endParaRPr lang="en-US" sz="950" dirty="0"/>
          </a:p>
        </p:txBody>
      </p:sp>
      <p:sp>
        <p:nvSpPr>
          <p:cNvPr id="12" name="Shape 10"/>
          <p:cNvSpPr/>
          <p:nvPr/>
        </p:nvSpPr>
        <p:spPr>
          <a:xfrm>
            <a:off x="566928" y="1700784"/>
            <a:ext cx="274320" cy="274320"/>
          </a:xfrm>
          <a:prstGeom prst="ellipse">
            <a:avLst/>
          </a:prstGeom>
          <a:solidFill>
            <a:srgbClr val="E3BC6E"/>
          </a:solidFill>
          <a:ln/>
        </p:spPr>
      </p:sp>
      <p:sp>
        <p:nvSpPr>
          <p:cNvPr id="13" name="Text 11"/>
          <p:cNvSpPr txBox="1"/>
          <p:nvPr/>
        </p:nvSpPr>
        <p:spPr>
          <a:xfrm>
            <a:off x="566928" y="1700784"/>
            <a:ext cx="274320" cy="274320"/>
          </a:xfrm>
          <a:prstGeom prst="rect">
            <a:avLst/>
          </a:prstGeom>
          <a:noFill/>
          <a:ln/>
        </p:spPr>
        <p:txBody>
          <a:bodyPr wrap="square" lIns="0" tIns="0" rIns="0" bIns="0" rtlCol="0" anchor="ctr"/>
          <a:lstStyle/>
          <a:p>
            <a:pPr algn="ctr" indent="0" marL="0">
              <a:buNone/>
            </a:pPr>
            <a:r>
              <a:rPr lang="en-US" sz="1200" b="1" dirty="0">
                <a:solidFill>
                  <a:srgbClr val="0F1219"/>
                </a:solidFill>
                <a:latin typeface="Georgia" pitchFamily="34" charset="0"/>
                <a:ea typeface="Georgia" pitchFamily="34" charset="-122"/>
                <a:cs typeface="Georgia" pitchFamily="34" charset="-120"/>
              </a:rPr>
              <a:t>✓</a:t>
            </a:r>
            <a:endParaRPr lang="en-US" sz="1200" dirty="0"/>
          </a:p>
        </p:txBody>
      </p:sp>
      <p:sp>
        <p:nvSpPr>
          <p:cNvPr id="14" name="Text 12"/>
          <p:cNvSpPr txBox="1"/>
          <p:nvPr/>
        </p:nvSpPr>
        <p:spPr>
          <a:xfrm>
            <a:off x="969264" y="1645920"/>
            <a:ext cx="5504688" cy="841248"/>
          </a:xfrm>
          <a:prstGeom prst="rect">
            <a:avLst/>
          </a:prstGeom>
          <a:noFill/>
          <a:ln/>
        </p:spPr>
        <p:txBody>
          <a:bodyPr wrap="square" lIns="0" tIns="0" rIns="0" bIns="0" rtlCol="0" anchor="ctr"/>
          <a:lstStyle/>
          <a:p>
            <a:pPr indent="0" marL="0">
              <a:buNone/>
            </a:pPr>
            <a:r>
              <a:rPr lang="en-US" sz="1150" b="1" dirty="0">
                <a:solidFill>
                  <a:srgbClr val="1B202A"/>
                </a:solidFill>
                <a:latin typeface="Calibri" pitchFamily="34" charset="0"/>
                <a:ea typeface="Calibri" pitchFamily="34" charset="-122"/>
                <a:cs typeface="Calibri" pitchFamily="34" charset="-120"/>
              </a:rPr>
              <a:t>ErrorProbe chosen as baseline</a:t>
            </a:r>
            <a:endParaRPr lang="en-US" sz="1150" dirty="0"/>
          </a:p>
          <a:p>
            <a:pPr indent="0" marL="0">
              <a:buNone/>
            </a:pPr>
            <a:r>
              <a:rPr lang="en-US" sz="1000" dirty="0">
                <a:solidFill>
                  <a:srgbClr val="596273"/>
                </a:solidFill>
                <a:latin typeface="Calibri" pitchFamily="34" charset="0"/>
                <a:ea typeface="Calibri" pitchFamily="34" charset="-122"/>
                <a:cs typeface="Calibri" pitchFamily="34" charset="-120"/>
              </a:rPr>
              <a:t>on performance (59.5%, beats its ancestors on their own benchmarks), not on recency</a:t>
            </a:r>
            <a:endParaRPr lang="en-US" sz="1150" dirty="0"/>
          </a:p>
        </p:txBody>
      </p:sp>
      <p:sp>
        <p:nvSpPr>
          <p:cNvPr id="15" name="Shape 13"/>
          <p:cNvSpPr/>
          <p:nvPr/>
        </p:nvSpPr>
        <p:spPr>
          <a:xfrm>
            <a:off x="566928" y="2670048"/>
            <a:ext cx="274320" cy="274320"/>
          </a:xfrm>
          <a:prstGeom prst="ellipse">
            <a:avLst/>
          </a:prstGeom>
          <a:solidFill>
            <a:srgbClr val="E3BC6E"/>
          </a:solidFill>
          <a:ln/>
        </p:spPr>
      </p:sp>
      <p:sp>
        <p:nvSpPr>
          <p:cNvPr id="16" name="Text 14"/>
          <p:cNvSpPr txBox="1"/>
          <p:nvPr/>
        </p:nvSpPr>
        <p:spPr>
          <a:xfrm>
            <a:off x="566928" y="2670048"/>
            <a:ext cx="274320" cy="274320"/>
          </a:xfrm>
          <a:prstGeom prst="rect">
            <a:avLst/>
          </a:prstGeom>
          <a:noFill/>
          <a:ln/>
        </p:spPr>
        <p:txBody>
          <a:bodyPr wrap="square" lIns="0" tIns="0" rIns="0" bIns="0" rtlCol="0" anchor="ctr"/>
          <a:lstStyle/>
          <a:p>
            <a:pPr algn="ctr" indent="0" marL="0">
              <a:buNone/>
            </a:pPr>
            <a:r>
              <a:rPr lang="en-US" sz="1200" b="1" dirty="0">
                <a:solidFill>
                  <a:srgbClr val="0F1219"/>
                </a:solidFill>
                <a:latin typeface="Georgia" pitchFamily="34" charset="0"/>
                <a:ea typeface="Georgia" pitchFamily="34" charset="-122"/>
                <a:cs typeface="Georgia" pitchFamily="34" charset="-120"/>
              </a:rPr>
              <a:t>✓</a:t>
            </a:r>
            <a:endParaRPr lang="en-US" sz="1200" dirty="0"/>
          </a:p>
        </p:txBody>
      </p:sp>
      <p:sp>
        <p:nvSpPr>
          <p:cNvPr id="17" name="Text 15"/>
          <p:cNvSpPr txBox="1"/>
          <p:nvPr/>
        </p:nvSpPr>
        <p:spPr>
          <a:xfrm>
            <a:off x="969264" y="2615184"/>
            <a:ext cx="5504688" cy="841248"/>
          </a:xfrm>
          <a:prstGeom prst="rect">
            <a:avLst/>
          </a:prstGeom>
          <a:noFill/>
          <a:ln/>
        </p:spPr>
        <p:txBody>
          <a:bodyPr wrap="square" lIns="0" tIns="0" rIns="0" bIns="0" rtlCol="0" anchor="ctr"/>
          <a:lstStyle/>
          <a:p>
            <a:pPr indent="0" marL="0">
              <a:buNone/>
            </a:pPr>
            <a:r>
              <a:rPr lang="en-US" sz="1150" b="1" dirty="0">
                <a:solidFill>
                  <a:srgbClr val="1B202A"/>
                </a:solidFill>
                <a:latin typeface="Calibri" pitchFamily="34" charset="0"/>
                <a:ea typeface="Calibri" pitchFamily="34" charset="-122"/>
                <a:cs typeface="Calibri" pitchFamily="34" charset="-120"/>
              </a:rPr>
              <a:t>CrewAI + LangGraph committed</a:t>
            </a:r>
            <a:endParaRPr lang="en-US" sz="1150" dirty="0"/>
          </a:p>
          <a:p>
            <a:pPr indent="0" marL="0">
              <a:buNone/>
            </a:pPr>
            <a:r>
              <a:rPr lang="en-US" sz="1000" dirty="0">
                <a:solidFill>
                  <a:srgbClr val="596273"/>
                </a:solidFill>
                <a:latin typeface="Calibri" pitchFamily="34" charset="0"/>
                <a:ea typeface="Calibri" pitchFamily="34" charset="-122"/>
                <a:cs typeface="Calibri" pitchFamily="34" charset="-120"/>
              </a:rPr>
              <a:t>neither used by any of the 9 papers reviewed — the actual test of generalization</a:t>
            </a:r>
            <a:endParaRPr lang="en-US" sz="1150" dirty="0"/>
          </a:p>
        </p:txBody>
      </p:sp>
      <p:sp>
        <p:nvSpPr>
          <p:cNvPr id="18" name="Shape 16"/>
          <p:cNvSpPr/>
          <p:nvPr/>
        </p:nvSpPr>
        <p:spPr>
          <a:xfrm>
            <a:off x="566928" y="3639312"/>
            <a:ext cx="274320" cy="274320"/>
          </a:xfrm>
          <a:prstGeom prst="ellipse">
            <a:avLst/>
          </a:prstGeom>
          <a:solidFill>
            <a:srgbClr val="E3BC6E"/>
          </a:solidFill>
          <a:ln/>
        </p:spPr>
      </p:sp>
      <p:sp>
        <p:nvSpPr>
          <p:cNvPr id="19" name="Text 17"/>
          <p:cNvSpPr txBox="1"/>
          <p:nvPr/>
        </p:nvSpPr>
        <p:spPr>
          <a:xfrm>
            <a:off x="566928" y="3639312"/>
            <a:ext cx="274320" cy="274320"/>
          </a:xfrm>
          <a:prstGeom prst="rect">
            <a:avLst/>
          </a:prstGeom>
          <a:noFill/>
          <a:ln/>
        </p:spPr>
        <p:txBody>
          <a:bodyPr wrap="square" lIns="0" tIns="0" rIns="0" bIns="0" rtlCol="0" anchor="ctr"/>
          <a:lstStyle/>
          <a:p>
            <a:pPr algn="ctr" indent="0" marL="0">
              <a:buNone/>
            </a:pPr>
            <a:r>
              <a:rPr lang="en-US" sz="1200" b="1" dirty="0">
                <a:solidFill>
                  <a:srgbClr val="0F1219"/>
                </a:solidFill>
                <a:latin typeface="Georgia" pitchFamily="34" charset="0"/>
                <a:ea typeface="Georgia" pitchFamily="34" charset="-122"/>
                <a:cs typeface="Georgia" pitchFamily="34" charset="-120"/>
              </a:rPr>
              <a:t>✓</a:t>
            </a:r>
            <a:endParaRPr lang="en-US" sz="1200" dirty="0"/>
          </a:p>
        </p:txBody>
      </p:sp>
      <p:sp>
        <p:nvSpPr>
          <p:cNvPr id="20" name="Text 18"/>
          <p:cNvSpPr txBox="1"/>
          <p:nvPr/>
        </p:nvSpPr>
        <p:spPr>
          <a:xfrm>
            <a:off x="969264" y="3584448"/>
            <a:ext cx="5504688" cy="841248"/>
          </a:xfrm>
          <a:prstGeom prst="rect">
            <a:avLst/>
          </a:prstGeom>
          <a:noFill/>
          <a:ln/>
        </p:spPr>
        <p:txBody>
          <a:bodyPr wrap="square" lIns="0" tIns="0" rIns="0" bIns="0" rtlCol="0" anchor="ctr"/>
          <a:lstStyle/>
          <a:p>
            <a:pPr indent="0" marL="0">
              <a:buNone/>
            </a:pPr>
            <a:r>
              <a:rPr lang="en-US" sz="1150" b="1" dirty="0">
                <a:solidFill>
                  <a:srgbClr val="1B202A"/>
                </a:solidFill>
                <a:latin typeface="Calibri" pitchFamily="34" charset="0"/>
                <a:ea typeface="Calibri" pitchFamily="34" charset="-122"/>
                <a:cs typeface="Calibri" pitchFamily="34" charset="-120"/>
              </a:rPr>
              <a:t>Constraint-based SED, not LLM-judge</a:t>
            </a:r>
            <a:endParaRPr lang="en-US" sz="1150" dirty="0"/>
          </a:p>
          <a:p>
            <a:pPr indent="0" marL="0">
              <a:buNone/>
            </a:pPr>
            <a:r>
              <a:rPr lang="en-US" sz="1000" dirty="0">
                <a:solidFill>
                  <a:srgbClr val="596273"/>
                </a:solidFill>
                <a:latin typeface="Calibri" pitchFamily="34" charset="0"/>
                <a:ea typeface="Calibri" pitchFamily="34" charset="-122"/>
                <a:cs typeface="Calibri" pitchFamily="34" charset="-120"/>
              </a:rPr>
              <a:t>“From Confident Closing to Silent Failure” (arXiv:2606.09863): LLM-judge AUROC ≤ 0.65</a:t>
            </a:r>
            <a:endParaRPr lang="en-US" sz="1150" dirty="0"/>
          </a:p>
        </p:txBody>
      </p:sp>
      <p:sp>
        <p:nvSpPr>
          <p:cNvPr id="21" name="Shape 19"/>
          <p:cNvSpPr/>
          <p:nvPr/>
        </p:nvSpPr>
        <p:spPr>
          <a:xfrm>
            <a:off x="566928" y="4608576"/>
            <a:ext cx="274320" cy="274320"/>
          </a:xfrm>
          <a:prstGeom prst="ellipse">
            <a:avLst/>
          </a:prstGeom>
          <a:solidFill>
            <a:srgbClr val="E3BC6E"/>
          </a:solidFill>
          <a:ln/>
        </p:spPr>
      </p:sp>
      <p:sp>
        <p:nvSpPr>
          <p:cNvPr id="22" name="Text 20"/>
          <p:cNvSpPr txBox="1"/>
          <p:nvPr/>
        </p:nvSpPr>
        <p:spPr>
          <a:xfrm>
            <a:off x="566928" y="4608576"/>
            <a:ext cx="274320" cy="274320"/>
          </a:xfrm>
          <a:prstGeom prst="rect">
            <a:avLst/>
          </a:prstGeom>
          <a:noFill/>
          <a:ln/>
        </p:spPr>
        <p:txBody>
          <a:bodyPr wrap="square" lIns="0" tIns="0" rIns="0" bIns="0" rtlCol="0" anchor="ctr"/>
          <a:lstStyle/>
          <a:p>
            <a:pPr algn="ctr" indent="0" marL="0">
              <a:buNone/>
            </a:pPr>
            <a:r>
              <a:rPr lang="en-US" sz="1200" b="1" dirty="0">
                <a:solidFill>
                  <a:srgbClr val="0F1219"/>
                </a:solidFill>
                <a:latin typeface="Georgia" pitchFamily="34" charset="0"/>
                <a:ea typeface="Georgia" pitchFamily="34" charset="-122"/>
                <a:cs typeface="Georgia" pitchFamily="34" charset="-120"/>
              </a:rPr>
              <a:t>✓</a:t>
            </a:r>
            <a:endParaRPr lang="en-US" sz="1200" dirty="0"/>
          </a:p>
        </p:txBody>
      </p:sp>
      <p:sp>
        <p:nvSpPr>
          <p:cNvPr id="23" name="Text 21"/>
          <p:cNvSpPr txBox="1"/>
          <p:nvPr/>
        </p:nvSpPr>
        <p:spPr>
          <a:xfrm>
            <a:off x="969264" y="4553712"/>
            <a:ext cx="5504688" cy="841248"/>
          </a:xfrm>
          <a:prstGeom prst="rect">
            <a:avLst/>
          </a:prstGeom>
          <a:noFill/>
          <a:ln/>
        </p:spPr>
        <p:txBody>
          <a:bodyPr wrap="square" lIns="0" tIns="0" rIns="0" bIns="0" rtlCol="0" anchor="ctr"/>
          <a:lstStyle/>
          <a:p>
            <a:pPr indent="0" marL="0">
              <a:buNone/>
            </a:pPr>
            <a:r>
              <a:rPr lang="en-US" sz="1150" b="1" dirty="0">
                <a:solidFill>
                  <a:srgbClr val="1B202A"/>
                </a:solidFill>
                <a:latin typeface="Calibri" pitchFamily="34" charset="0"/>
                <a:ea typeface="Calibri" pitchFamily="34" charset="-122"/>
                <a:cs typeface="Calibri" pitchFamily="34" charset="-120"/>
              </a:rPr>
              <a:t>Single-framework narrowing rejected</a:t>
            </a:r>
            <a:endParaRPr lang="en-US" sz="1150" dirty="0"/>
          </a:p>
          <a:p>
            <a:pPr indent="0" marL="0">
              <a:buNone/>
            </a:pPr>
            <a:r>
              <a:rPr lang="en-US" sz="1000" dirty="0">
                <a:solidFill>
                  <a:srgbClr val="596273"/>
                </a:solidFill>
                <a:latin typeface="Calibri" pitchFamily="34" charset="0"/>
                <a:ea typeface="Calibri" pitchFamily="34" charset="-122"/>
                <a:cs typeface="Calibri" pitchFamily="34" charset="-120"/>
              </a:rPr>
              <a:t>the market survey's own advice, declined — it would delete the research question (R19)</a:t>
            </a:r>
            <a:endParaRPr lang="en-US" sz="1150" dirty="0"/>
          </a:p>
        </p:txBody>
      </p:sp>
      <p:sp>
        <p:nvSpPr>
          <p:cNvPr id="24" name="Text 22"/>
          <p:cNvSpPr txBox="1"/>
          <p:nvPr/>
        </p:nvSpPr>
        <p:spPr>
          <a:xfrm>
            <a:off x="566928" y="5623560"/>
            <a:ext cx="5943600" cy="201168"/>
          </a:xfrm>
          <a:prstGeom prst="rect">
            <a:avLst/>
          </a:prstGeom>
          <a:noFill/>
          <a:ln/>
        </p:spPr>
        <p:txBody>
          <a:bodyPr wrap="square" lIns="0" tIns="0" rIns="0" bIns="0" rtlCol="0" anchor="ctr"/>
          <a:lstStyle/>
          <a:p>
            <a:pPr indent="0" marL="0">
              <a:buNone/>
            </a:pPr>
            <a:r>
              <a:rPr lang="en-US" sz="800" dirty="0">
                <a:solidFill>
                  <a:srgbClr val="8B92A2"/>
                </a:solidFill>
                <a:latin typeface="Consolas" pitchFamily="34" charset="0"/>
                <a:ea typeface="Consolas" pitchFamily="34" charset="-122"/>
                <a:cs typeface="Consolas" pitchFamily="34" charset="-120"/>
              </a:rPr>
              <a:t>▸ Full_Literature_Landscape_Analysis.md · ErrorProbe_Baseline_Selection.md · plan §0.08</a:t>
            </a:r>
            <a:endParaRPr lang="en-US" sz="800" dirty="0"/>
          </a:p>
        </p:txBody>
      </p:sp>
      <p:sp>
        <p:nvSpPr>
          <p:cNvPr id="25" name="Text 23"/>
          <p:cNvSpPr txBox="1"/>
          <p:nvPr/>
        </p:nvSpPr>
        <p:spPr>
          <a:xfrm>
            <a:off x="6784848" y="1389888"/>
            <a:ext cx="4839919" cy="219456"/>
          </a:xfrm>
          <a:prstGeom prst="rect">
            <a:avLst/>
          </a:prstGeom>
          <a:noFill/>
          <a:ln/>
        </p:spPr>
        <p:txBody>
          <a:bodyPr wrap="square" lIns="0" tIns="0" rIns="0" bIns="0" rtlCol="0" anchor="ctr"/>
          <a:lstStyle/>
          <a:p>
            <a:pPr indent="0" marL="0">
              <a:buNone/>
            </a:pPr>
            <a:r>
              <a:rPr lang="en-US" sz="950" b="1" spc="120" kern="0" dirty="0">
                <a:solidFill>
                  <a:srgbClr val="8E6A1F"/>
                </a:solidFill>
                <a:latin typeface="Consolas" pitchFamily="34" charset="0"/>
                <a:ea typeface="Consolas" pitchFamily="34" charset="-122"/>
                <a:cs typeface="Consolas" pitchFamily="34" charset="-120"/>
              </a:rPr>
              <a:t>PUBLISHED STEP-ACCURACY LINEAGE</a:t>
            </a:r>
            <a:endParaRPr lang="en-US" sz="950" dirty="0"/>
          </a:p>
        </p:txBody>
      </p:sp>
      <p:graphicFrame>
        <p:nvGraphicFramePr>
          <p:cNvPr id="26" name="Chart 0" descr=""/>
          <p:cNvGraphicFramePr/>
          <p:nvPr/>
        </p:nvGraphicFramePr>
        <p:xfrm>
          <a:off x="6784848" y="1682496"/>
          <a:ext cx="4839919" cy="1956816"/>
        </p:xfrm>
        <a:graphic xmlns:a="http://schemas.openxmlformats.org/drawingml/2006/main">
          <a:graphicData uri="http://schemas.openxmlformats.org/drawingml/2006/chart">
            <c:chart xmlns:c="http://schemas.openxmlformats.org/drawingml/2006/chart" r:id="rId1"/>
          </a:graphicData>
        </a:graphic>
      </p:graphicFrame>
      <p:sp>
        <p:nvSpPr>
          <p:cNvPr id="27" name="Text 24"/>
          <p:cNvSpPr txBox="1"/>
          <p:nvPr/>
        </p:nvSpPr>
        <p:spPr>
          <a:xfrm>
            <a:off x="6784848" y="3657600"/>
            <a:ext cx="4839919" cy="219456"/>
          </a:xfrm>
          <a:prstGeom prst="rect">
            <a:avLst/>
          </a:prstGeom>
          <a:noFill/>
          <a:ln/>
        </p:spPr>
        <p:txBody>
          <a:bodyPr wrap="square" lIns="0" tIns="0" rIns="0" bIns="0" rtlCol="0" anchor="ctr"/>
          <a:lstStyle/>
          <a:p>
            <a:pPr indent="0" marL="0">
              <a:buNone/>
            </a:pPr>
            <a:r>
              <a:rPr lang="en-US" sz="800" i="1" dirty="0">
                <a:solidFill>
                  <a:srgbClr val="596273"/>
                </a:solidFill>
                <a:latin typeface="Calibri" pitchFamily="34" charset="0"/>
                <a:ea typeface="Calibri" pitchFamily="34" charset="-122"/>
                <a:cs typeface="Calibri" pitchFamily="34" charset="-120"/>
              </a:rPr>
              <a:t>Step-level accuracy on Who&amp;When, % · AgenTracer-8B is published as a 37–43% range, not a point estimate — midpoint plotted, range stated.</a:t>
            </a:r>
            <a:endParaRPr lang="en-US" sz="800" dirty="0"/>
          </a:p>
        </p:txBody>
      </p:sp>
      <p:sp>
        <p:nvSpPr>
          <p:cNvPr id="28" name="Shape 25"/>
          <p:cNvSpPr/>
          <p:nvPr/>
        </p:nvSpPr>
        <p:spPr>
          <a:xfrm>
            <a:off x="6804965" y="3939235"/>
            <a:ext cx="4839919" cy="868680"/>
          </a:xfrm>
          <a:prstGeom prst="roundRect">
            <a:avLst>
              <a:gd name="adj" fmla="val 6316"/>
            </a:avLst>
          </a:prstGeom>
          <a:solidFill>
            <a:srgbClr val="E4E6EB"/>
          </a:solidFill>
          <a:ln/>
        </p:spPr>
      </p:sp>
      <p:sp>
        <p:nvSpPr>
          <p:cNvPr id="29" name="Shape 26"/>
          <p:cNvSpPr/>
          <p:nvPr/>
        </p:nvSpPr>
        <p:spPr>
          <a:xfrm>
            <a:off x="6784848" y="3913632"/>
            <a:ext cx="4839919" cy="868680"/>
          </a:xfrm>
          <a:prstGeom prst="roundRect">
            <a:avLst>
              <a:gd name="adj" fmla="val 6316"/>
            </a:avLst>
          </a:prstGeom>
          <a:solidFill>
            <a:srgbClr val="F6E6E3"/>
          </a:solidFill>
          <a:ln w="9525">
            <a:solidFill>
              <a:srgbClr val="D9DCE3"/>
            </a:solidFill>
            <a:prstDash val="solid"/>
          </a:ln>
        </p:spPr>
      </p:sp>
      <p:sp>
        <p:nvSpPr>
          <p:cNvPr id="30" name="Shape 27"/>
          <p:cNvSpPr/>
          <p:nvPr/>
        </p:nvSpPr>
        <p:spPr>
          <a:xfrm>
            <a:off x="6784848" y="3968496"/>
            <a:ext cx="41148" cy="758952"/>
          </a:xfrm>
          <a:prstGeom prst="rect">
            <a:avLst/>
          </a:prstGeom>
          <a:solidFill>
            <a:srgbClr val="A83A30"/>
          </a:solidFill>
          <a:ln/>
        </p:spPr>
      </p:sp>
      <p:sp>
        <p:nvSpPr>
          <p:cNvPr id="31" name="Text 28"/>
          <p:cNvSpPr txBox="1"/>
          <p:nvPr/>
        </p:nvSpPr>
        <p:spPr>
          <a:xfrm>
            <a:off x="6986016" y="4023360"/>
            <a:ext cx="4437583" cy="658368"/>
          </a:xfrm>
          <a:prstGeom prst="rect">
            <a:avLst/>
          </a:prstGeom>
          <a:noFill/>
          <a:ln/>
        </p:spPr>
        <p:txBody>
          <a:bodyPr wrap="square" lIns="0" tIns="0" rIns="0" bIns="0" rtlCol="0" anchor="ctr"/>
          <a:lstStyle/>
          <a:p>
            <a:pPr indent="0" marL="0">
              <a:buNone/>
            </a:pPr>
            <a:r>
              <a:rPr lang="en-US" sz="1050" b="1" dirty="0">
                <a:solidFill>
                  <a:srgbClr val="A83A30"/>
                </a:solidFill>
                <a:latin typeface="Calibri" pitchFamily="34" charset="0"/>
                <a:ea typeface="Calibri" pitchFamily="34" charset="-122"/>
                <a:cs typeface="Calibri" pitchFamily="34" charset="-120"/>
              </a:rPr>
              <a:t>40.5 points still wrong  </a:t>
            </a:r>
            <a:pPr indent="0" marL="0">
              <a:buNone/>
            </a:pPr>
            <a:r>
              <a:rPr lang="en-US" sz="1050" dirty="0">
                <a:solidFill>
                  <a:srgbClr val="1B202A"/>
                </a:solidFill>
                <a:latin typeface="Calibri" pitchFamily="34" charset="0"/>
                <a:ea typeface="Calibri" pitchFamily="34" charset="-122"/>
                <a:cs typeface="Calibri" pitchFamily="34" charset="-120"/>
              </a:rPr>
              <a:t>— the best published method misattributes the origin step 4 times in 10, and confesses it cannot see silent failures at all.</a:t>
            </a:r>
            <a:endParaRPr lang="en-US" sz="1050" dirty="0"/>
          </a:p>
        </p:txBody>
      </p:sp>
      <p:sp>
        <p:nvSpPr>
          <p:cNvPr id="32" name="Shape 29"/>
          <p:cNvSpPr/>
          <p:nvPr/>
        </p:nvSpPr>
        <p:spPr>
          <a:xfrm>
            <a:off x="6804965" y="4926787"/>
            <a:ext cx="4839919" cy="1005840"/>
          </a:xfrm>
          <a:prstGeom prst="roundRect">
            <a:avLst>
              <a:gd name="adj" fmla="val 5455"/>
            </a:avLst>
          </a:prstGeom>
          <a:solidFill>
            <a:srgbClr val="E4E6EB"/>
          </a:solidFill>
          <a:ln/>
        </p:spPr>
      </p:sp>
      <p:sp>
        <p:nvSpPr>
          <p:cNvPr id="33" name="Shape 30"/>
          <p:cNvSpPr/>
          <p:nvPr/>
        </p:nvSpPr>
        <p:spPr>
          <a:xfrm>
            <a:off x="6784848" y="4901184"/>
            <a:ext cx="4839919" cy="1005840"/>
          </a:xfrm>
          <a:prstGeom prst="roundRect">
            <a:avLst>
              <a:gd name="adj" fmla="val 5455"/>
            </a:avLst>
          </a:prstGeom>
          <a:solidFill>
            <a:srgbClr val="F1F2F5"/>
          </a:solidFill>
          <a:ln w="9525">
            <a:solidFill>
              <a:srgbClr val="D9DCE3"/>
            </a:solidFill>
            <a:prstDash val="solid"/>
          </a:ln>
        </p:spPr>
      </p:sp>
      <p:sp>
        <p:nvSpPr>
          <p:cNvPr id="34" name="Text 31"/>
          <p:cNvSpPr txBox="1"/>
          <p:nvPr/>
        </p:nvSpPr>
        <p:spPr>
          <a:xfrm>
            <a:off x="6986016" y="5010912"/>
            <a:ext cx="4437583" cy="219456"/>
          </a:xfrm>
          <a:prstGeom prst="rect">
            <a:avLst/>
          </a:prstGeom>
          <a:noFill/>
          <a:ln/>
        </p:spPr>
        <p:txBody>
          <a:bodyPr wrap="square" lIns="0" tIns="0" rIns="0" bIns="0" rtlCol="0" anchor="ctr"/>
          <a:lstStyle/>
          <a:p>
            <a:pPr indent="0" marL="0">
              <a:buNone/>
            </a:pPr>
            <a:r>
              <a:rPr lang="en-US" sz="950" b="1" spc="120" kern="0" dirty="0">
                <a:solidFill>
                  <a:srgbClr val="596273"/>
                </a:solidFill>
                <a:latin typeface="Consolas" pitchFamily="34" charset="0"/>
                <a:ea typeface="Consolas" pitchFamily="34" charset="-122"/>
                <a:cs typeface="Consolas" pitchFamily="34" charset="-120"/>
              </a:rPr>
              <a:t>BACKBONE-CONFOUND CAVEAT — STATED UP FRONT</a:t>
            </a:r>
            <a:endParaRPr lang="en-US" sz="950" dirty="0"/>
          </a:p>
        </p:txBody>
      </p:sp>
      <p:sp>
        <p:nvSpPr>
          <p:cNvPr id="35" name="Text 32"/>
          <p:cNvSpPr txBox="1"/>
          <p:nvPr/>
        </p:nvSpPr>
        <p:spPr>
          <a:xfrm>
            <a:off x="6986016" y="5248656"/>
            <a:ext cx="4437583" cy="566928"/>
          </a:xfrm>
          <a:prstGeom prst="rect">
            <a:avLst/>
          </a:prstGeom>
          <a:noFill/>
          <a:ln/>
        </p:spPr>
        <p:txBody>
          <a:bodyPr wrap="square" lIns="0" tIns="0" rIns="0" bIns="0" rtlCol="0" anchor="ctr"/>
          <a:lstStyle/>
          <a:p>
            <a:pPr indent="0" marL="0">
              <a:buNone/>
            </a:pPr>
            <a:r>
              <a:rPr lang="en-US" sz="1000" dirty="0">
                <a:solidFill>
                  <a:srgbClr val="1B202A"/>
                </a:solidFill>
                <a:latin typeface="Calibri" pitchFamily="34" charset="0"/>
                <a:ea typeface="Calibri" pitchFamily="34" charset="-122"/>
                <a:cs typeface="Calibri" pitchFamily="34" charset="-120"/>
              </a:rPr>
              <a:t>Cross-paper comparisons use different LLM backbones — a win partly reflects backbone strength. Controlled within Granite's own experiments (R4); dual-reported per Annex A.2.</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10896"/>
            <a:ext cx="11057839" cy="237744"/>
          </a:xfrm>
          <a:prstGeom prst="rect">
            <a:avLst/>
          </a:prstGeom>
          <a:noFill/>
          <a:ln/>
        </p:spPr>
        <p:txBody>
          <a:bodyPr wrap="square" lIns="0" tIns="0" rIns="0" bIns="0" rtlCol="0" anchor="ctr"/>
          <a:lstStyle/>
          <a:p>
            <a:pPr indent="0" marL="0">
              <a:buNone/>
            </a:pPr>
            <a:r>
              <a:rPr lang="en-US" sz="1050" b="1" spc="180" kern="0" dirty="0">
                <a:solidFill>
                  <a:srgbClr val="8E6A1F"/>
                </a:solidFill>
                <a:latin typeface="Consolas" pitchFamily="34" charset="0"/>
                <a:ea typeface="Consolas" pitchFamily="34" charset="-122"/>
                <a:cs typeface="Consolas" pitchFamily="34" charset="-120"/>
              </a:rPr>
              <a:t>WHAT IS TECHNICALLY HARD — AND WHY THIS IS NOT A COURSE PROJECT</a:t>
            </a:r>
            <a:endParaRPr lang="en-US" sz="10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indent="0" marL="0">
              <a:buNone/>
            </a:pPr>
            <a:r>
              <a:rPr lang="en-US" sz="2700" b="1" dirty="0">
                <a:solidFill>
                  <a:srgbClr val="1B202A"/>
                </a:solidFill>
                <a:latin typeface="Georgia" pitchFamily="34" charset="0"/>
                <a:ea typeface="Georgia" pitchFamily="34" charset="-122"/>
                <a:cs typeface="Georgia" pitchFamily="34" charset="-120"/>
              </a:rPr>
              <a:t>Complex Computing Challenge</a:t>
            </a:r>
            <a:endParaRPr lang="en-US" sz="2700" dirty="0"/>
          </a:p>
        </p:txBody>
      </p:sp>
      <p:sp>
        <p:nvSpPr>
          <p:cNvPr id="7" name="Shape 5"/>
          <p:cNvSpPr/>
          <p:nvPr/>
        </p:nvSpPr>
        <p:spPr>
          <a:xfrm>
            <a:off x="566928" y="1188720"/>
            <a:ext cx="566928" cy="36576"/>
          </a:xfrm>
          <a:prstGeom prst="rect">
            <a:avLst/>
          </a:prstGeom>
          <a:solidFill>
            <a:srgbClr val="C89B3C"/>
          </a:solidFill>
          <a:ln/>
        </p:spPr>
      </p:sp>
      <p:sp>
        <p:nvSpPr>
          <p:cNvPr id="8" name="Shape 6"/>
          <p:cNvSpPr/>
          <p:nvPr/>
        </p:nvSpPr>
        <p:spPr>
          <a:xfrm>
            <a:off x="566928" y="6437376"/>
            <a:ext cx="11057839" cy="0"/>
          </a:xfrm>
          <a:prstGeom prst="line">
            <a:avLst/>
          </a:prstGeom>
          <a:noFill/>
          <a:ln w="9525">
            <a:solidFill>
              <a:srgbClr val="D9DCE3"/>
            </a:solidFill>
            <a:prstDash val="solid"/>
          </a:ln>
        </p:spPr>
      </p:sp>
      <p:sp>
        <p:nvSpPr>
          <p:cNvPr id="9" name="Text 7"/>
          <p:cNvSpPr txBox="1"/>
          <p:nvPr/>
        </p:nvSpPr>
        <p:spPr>
          <a:xfrm>
            <a:off x="566928" y="6492240"/>
            <a:ext cx="5943600" cy="237744"/>
          </a:xfrm>
          <a:prstGeom prst="rect">
            <a:avLst/>
          </a:prstGeom>
          <a:noFill/>
          <a:ln/>
        </p:spPr>
        <p:txBody>
          <a:bodyPr wrap="square" lIns="0" tIns="0" rIns="0" bIns="0" rtlCol="0" anchor="ctr"/>
          <a:lstStyle/>
          <a:p>
            <a:pPr indent="0" marL="0">
              <a:buNone/>
            </a:pPr>
            <a:r>
              <a:rPr lang="en-US" sz="850" spc="80" kern="0" dirty="0">
                <a:solidFill>
                  <a:srgbClr val="8B92A2"/>
                </a:solidFill>
                <a:latin typeface="Consolas" pitchFamily="34" charset="0"/>
                <a:ea typeface="Consolas" pitchFamily="34" charset="-122"/>
                <a:cs typeface="Consolas" pitchFamily="34" charset="-120"/>
              </a:rPr>
              <a:t>F26-060-GRANITE  ·  PROPOSAL DEFENSE  ·  STREAM A</a:t>
            </a:r>
            <a:endParaRPr lang="en-US" sz="850" dirty="0"/>
          </a:p>
        </p:txBody>
      </p:sp>
      <p:sp>
        <p:nvSpPr>
          <p:cNvPr id="10" name="Text 8"/>
          <p:cNvSpPr txBox="1"/>
          <p:nvPr/>
        </p:nvSpPr>
        <p:spPr>
          <a:xfrm>
            <a:off x="10527487" y="6492240"/>
            <a:ext cx="1097280" cy="237744"/>
          </a:xfrm>
          <a:prstGeom prst="rect">
            <a:avLst/>
          </a:prstGeom>
          <a:noFill/>
          <a:ln/>
        </p:spPr>
        <p:txBody>
          <a:bodyPr wrap="square" lIns="0" tIns="0" rIns="0" bIns="0" rtlCol="0" anchor="ctr"/>
          <a:lstStyle/>
          <a:p>
            <a:pPr algn="r" indent="0" marL="0">
              <a:buNone/>
            </a:pPr>
            <a:r>
              <a:rPr lang="en-US" sz="850" b="1" dirty="0">
                <a:solidFill>
                  <a:srgbClr val="8E6A1F"/>
                </a:solidFill>
                <a:latin typeface="Consolas" pitchFamily="34" charset="0"/>
                <a:ea typeface="Consolas" pitchFamily="34" charset="-122"/>
                <a:cs typeface="Consolas" pitchFamily="34" charset="-120"/>
              </a:rPr>
              <a:t>5 / 10</a:t>
            </a:r>
            <a:endParaRPr lang="en-US" sz="850" dirty="0"/>
          </a:p>
        </p:txBody>
      </p:sp>
      <p:sp>
        <p:nvSpPr>
          <p:cNvPr id="11" name="Shape 9"/>
          <p:cNvSpPr/>
          <p:nvPr/>
        </p:nvSpPr>
        <p:spPr>
          <a:xfrm>
            <a:off x="587045" y="1397203"/>
            <a:ext cx="3521354" cy="914400"/>
          </a:xfrm>
          <a:prstGeom prst="roundRect">
            <a:avLst>
              <a:gd name="adj" fmla="val 6000"/>
            </a:avLst>
          </a:prstGeom>
          <a:solidFill>
            <a:srgbClr val="E4E6EB"/>
          </a:solidFill>
          <a:ln/>
        </p:spPr>
      </p:sp>
      <p:sp>
        <p:nvSpPr>
          <p:cNvPr id="12" name="Shape 10"/>
          <p:cNvSpPr/>
          <p:nvPr/>
        </p:nvSpPr>
        <p:spPr>
          <a:xfrm>
            <a:off x="566928" y="1371600"/>
            <a:ext cx="3521354" cy="914400"/>
          </a:xfrm>
          <a:prstGeom prst="roundRect">
            <a:avLst>
              <a:gd name="adj" fmla="val 6000"/>
            </a:avLst>
          </a:prstGeom>
          <a:solidFill>
            <a:srgbClr val="E6F1EB"/>
          </a:solidFill>
          <a:ln w="9525">
            <a:solidFill>
              <a:srgbClr val="D9DCE3"/>
            </a:solidFill>
            <a:prstDash val="solid"/>
          </a:ln>
        </p:spPr>
      </p:sp>
      <p:sp>
        <p:nvSpPr>
          <p:cNvPr id="13" name="Shape 11"/>
          <p:cNvSpPr/>
          <p:nvPr/>
        </p:nvSpPr>
        <p:spPr>
          <a:xfrm>
            <a:off x="566928" y="1426464"/>
            <a:ext cx="41148" cy="804672"/>
          </a:xfrm>
          <a:prstGeom prst="rect">
            <a:avLst/>
          </a:prstGeom>
          <a:solidFill>
            <a:srgbClr val="1E7A52"/>
          </a:solidFill>
          <a:ln/>
        </p:spPr>
      </p:sp>
      <p:sp>
        <p:nvSpPr>
          <p:cNvPr id="14" name="Shape 12"/>
          <p:cNvSpPr/>
          <p:nvPr/>
        </p:nvSpPr>
        <p:spPr>
          <a:xfrm>
            <a:off x="713232" y="1490472"/>
            <a:ext cx="274320" cy="274320"/>
          </a:xfrm>
          <a:prstGeom prst="ellipse">
            <a:avLst/>
          </a:prstGeom>
          <a:solidFill>
            <a:srgbClr val="1E7A52"/>
          </a:solidFill>
          <a:ln/>
        </p:spPr>
      </p:sp>
      <p:sp>
        <p:nvSpPr>
          <p:cNvPr id="15" name="Text 13"/>
          <p:cNvSpPr txBox="1"/>
          <p:nvPr/>
        </p:nvSpPr>
        <p:spPr>
          <a:xfrm>
            <a:off x="713232" y="1490472"/>
            <a:ext cx="274320" cy="274320"/>
          </a:xfrm>
          <a:prstGeom prst="rect">
            <a:avLst/>
          </a:prstGeom>
          <a:noFill/>
          <a:ln/>
        </p:spPr>
        <p:txBody>
          <a:bodyPr wrap="square" lIns="0" tIns="0" rIns="0" bIns="0" rtlCol="0" anchor="ctr"/>
          <a:lstStyle/>
          <a:p>
            <a:pPr algn="ctr" indent="0" marL="0">
              <a:buNone/>
            </a:pPr>
            <a:r>
              <a:rPr lang="en-US" sz="1200" b="1" dirty="0">
                <a:solidFill>
                  <a:srgbClr val="F5F6F8"/>
                </a:solidFill>
                <a:latin typeface="Georgia" pitchFamily="34" charset="0"/>
                <a:ea typeface="Georgia" pitchFamily="34" charset="-122"/>
                <a:cs typeface="Georgia" pitchFamily="34" charset="-120"/>
              </a:rPr>
              <a:t>1</a:t>
            </a:r>
            <a:endParaRPr lang="en-US" sz="1200" dirty="0"/>
          </a:p>
        </p:txBody>
      </p:sp>
      <p:sp>
        <p:nvSpPr>
          <p:cNvPr id="16" name="Text 14"/>
          <p:cNvSpPr txBox="1"/>
          <p:nvPr/>
        </p:nvSpPr>
        <p:spPr>
          <a:xfrm>
            <a:off x="1078992" y="1481328"/>
            <a:ext cx="2899562" cy="274320"/>
          </a:xfrm>
          <a:prstGeom prst="rect">
            <a:avLst/>
          </a:prstGeom>
          <a:noFill/>
          <a:ln/>
        </p:spPr>
        <p:txBody>
          <a:bodyPr wrap="square" lIns="0" tIns="0" rIns="0" bIns="0" rtlCol="0" anchor="ctr"/>
          <a:lstStyle/>
          <a:p>
            <a:pPr indent="0" marL="0">
              <a:buNone/>
            </a:pPr>
            <a:r>
              <a:rPr lang="en-US" sz="1150" b="1" dirty="0">
                <a:solidFill>
                  <a:srgbClr val="1B202A"/>
                </a:solidFill>
                <a:latin typeface="Georgia" pitchFamily="34" charset="0"/>
                <a:ea typeface="Georgia" pitchFamily="34" charset="-122"/>
                <a:cs typeface="Georgia" pitchFamily="34" charset="-120"/>
              </a:rPr>
              <a:t>Conflicting requirements</a:t>
            </a:r>
            <a:endParaRPr lang="en-US" sz="1150" dirty="0"/>
          </a:p>
        </p:txBody>
      </p:sp>
      <p:sp>
        <p:nvSpPr>
          <p:cNvPr id="17" name="Text 15"/>
          <p:cNvSpPr txBox="1"/>
          <p:nvPr/>
        </p:nvSpPr>
        <p:spPr>
          <a:xfrm>
            <a:off x="713232" y="1792224"/>
            <a:ext cx="3247034" cy="475488"/>
          </a:xfrm>
          <a:prstGeom prst="rect">
            <a:avLst/>
          </a:prstGeom>
          <a:noFill/>
          <a:ln/>
        </p:spPr>
        <p:txBody>
          <a:bodyPr wrap="square" lIns="0" tIns="0" rIns="0" bIns="0" rtlCol="0" anchor="ctr"/>
          <a:lstStyle/>
          <a:p>
            <a:pPr indent="0" marL="0">
              <a:buNone/>
            </a:pPr>
            <a:r>
              <a:rPr lang="en-US" sz="900" dirty="0">
                <a:solidFill>
                  <a:srgbClr val="596273"/>
                </a:solidFill>
                <a:latin typeface="Calibri" pitchFamily="34" charset="0"/>
                <a:ea typeface="Calibri" pitchFamily="34" charset="-122"/>
                <a:cs typeface="Calibri" pitchFamily="34" charset="-120"/>
              </a:rPr>
              <a:t>Depth vs. latency; completeness vs. privacy; generalization vs. specialization</a:t>
            </a:r>
            <a:endParaRPr lang="en-US" sz="900" dirty="0"/>
          </a:p>
        </p:txBody>
      </p:sp>
      <p:sp>
        <p:nvSpPr>
          <p:cNvPr id="18" name="Shape 16"/>
          <p:cNvSpPr/>
          <p:nvPr/>
        </p:nvSpPr>
        <p:spPr>
          <a:xfrm>
            <a:off x="4272991" y="1397203"/>
            <a:ext cx="3521354" cy="914400"/>
          </a:xfrm>
          <a:prstGeom prst="roundRect">
            <a:avLst>
              <a:gd name="adj" fmla="val 6000"/>
            </a:avLst>
          </a:prstGeom>
          <a:solidFill>
            <a:srgbClr val="E4E6EB"/>
          </a:solidFill>
          <a:ln/>
        </p:spPr>
      </p:sp>
      <p:sp>
        <p:nvSpPr>
          <p:cNvPr id="19" name="Shape 17"/>
          <p:cNvSpPr/>
          <p:nvPr/>
        </p:nvSpPr>
        <p:spPr>
          <a:xfrm>
            <a:off x="4252874" y="1371600"/>
            <a:ext cx="3521354" cy="914400"/>
          </a:xfrm>
          <a:prstGeom prst="roundRect">
            <a:avLst>
              <a:gd name="adj" fmla="val 6000"/>
            </a:avLst>
          </a:prstGeom>
          <a:solidFill>
            <a:srgbClr val="E6F1EB"/>
          </a:solidFill>
          <a:ln w="9525">
            <a:solidFill>
              <a:srgbClr val="D9DCE3"/>
            </a:solidFill>
            <a:prstDash val="solid"/>
          </a:ln>
        </p:spPr>
      </p:sp>
      <p:sp>
        <p:nvSpPr>
          <p:cNvPr id="20" name="Shape 18"/>
          <p:cNvSpPr/>
          <p:nvPr/>
        </p:nvSpPr>
        <p:spPr>
          <a:xfrm>
            <a:off x="4252874" y="1426464"/>
            <a:ext cx="41148" cy="804672"/>
          </a:xfrm>
          <a:prstGeom prst="rect">
            <a:avLst/>
          </a:prstGeom>
          <a:solidFill>
            <a:srgbClr val="1E7A52"/>
          </a:solidFill>
          <a:ln/>
        </p:spPr>
      </p:sp>
      <p:sp>
        <p:nvSpPr>
          <p:cNvPr id="21" name="Shape 19"/>
          <p:cNvSpPr/>
          <p:nvPr/>
        </p:nvSpPr>
        <p:spPr>
          <a:xfrm>
            <a:off x="4399178" y="1490472"/>
            <a:ext cx="274320" cy="274320"/>
          </a:xfrm>
          <a:prstGeom prst="ellipse">
            <a:avLst/>
          </a:prstGeom>
          <a:solidFill>
            <a:srgbClr val="1E7A52"/>
          </a:solidFill>
          <a:ln/>
        </p:spPr>
      </p:sp>
      <p:sp>
        <p:nvSpPr>
          <p:cNvPr id="22" name="Text 20"/>
          <p:cNvSpPr txBox="1"/>
          <p:nvPr/>
        </p:nvSpPr>
        <p:spPr>
          <a:xfrm>
            <a:off x="4399178" y="1490472"/>
            <a:ext cx="274320" cy="274320"/>
          </a:xfrm>
          <a:prstGeom prst="rect">
            <a:avLst/>
          </a:prstGeom>
          <a:noFill/>
          <a:ln/>
        </p:spPr>
        <p:txBody>
          <a:bodyPr wrap="square" lIns="0" tIns="0" rIns="0" bIns="0" rtlCol="0" anchor="ctr"/>
          <a:lstStyle/>
          <a:p>
            <a:pPr algn="ctr" indent="0" marL="0">
              <a:buNone/>
            </a:pPr>
            <a:r>
              <a:rPr lang="en-US" sz="1200" b="1" dirty="0">
                <a:solidFill>
                  <a:srgbClr val="F5F6F8"/>
                </a:solidFill>
                <a:latin typeface="Georgia" pitchFamily="34" charset="0"/>
                <a:ea typeface="Georgia" pitchFamily="34" charset="-122"/>
                <a:cs typeface="Georgia" pitchFamily="34" charset="-120"/>
              </a:rPr>
              <a:t>2</a:t>
            </a:r>
            <a:endParaRPr lang="en-US" sz="1200" dirty="0"/>
          </a:p>
        </p:txBody>
      </p:sp>
      <p:sp>
        <p:nvSpPr>
          <p:cNvPr id="23" name="Text 21"/>
          <p:cNvSpPr txBox="1"/>
          <p:nvPr/>
        </p:nvSpPr>
        <p:spPr>
          <a:xfrm>
            <a:off x="4764938" y="1481328"/>
            <a:ext cx="2899562" cy="274320"/>
          </a:xfrm>
          <a:prstGeom prst="rect">
            <a:avLst/>
          </a:prstGeom>
          <a:noFill/>
          <a:ln/>
        </p:spPr>
        <p:txBody>
          <a:bodyPr wrap="square" lIns="0" tIns="0" rIns="0" bIns="0" rtlCol="0" anchor="ctr"/>
          <a:lstStyle/>
          <a:p>
            <a:pPr indent="0" marL="0">
              <a:buNone/>
            </a:pPr>
            <a:r>
              <a:rPr lang="en-US" sz="1150" b="1" dirty="0">
                <a:solidFill>
                  <a:srgbClr val="1B202A"/>
                </a:solidFill>
                <a:latin typeface="Georgia" pitchFamily="34" charset="0"/>
                <a:ea typeface="Georgia" pitchFamily="34" charset="-122"/>
                <a:cs typeface="Georgia" pitchFamily="34" charset="-120"/>
              </a:rPr>
              <a:t>No obvious solution</a:t>
            </a:r>
            <a:endParaRPr lang="en-US" sz="1150" dirty="0"/>
          </a:p>
        </p:txBody>
      </p:sp>
      <p:sp>
        <p:nvSpPr>
          <p:cNvPr id="24" name="Text 22"/>
          <p:cNvSpPr txBox="1"/>
          <p:nvPr/>
        </p:nvSpPr>
        <p:spPr>
          <a:xfrm>
            <a:off x="4399178" y="1792224"/>
            <a:ext cx="3247034" cy="475488"/>
          </a:xfrm>
          <a:prstGeom prst="rect">
            <a:avLst/>
          </a:prstGeom>
          <a:noFill/>
          <a:ln/>
        </p:spPr>
        <p:txBody>
          <a:bodyPr wrap="square" lIns="0" tIns="0" rIns="0" bIns="0" rtlCol="0" anchor="ctr"/>
          <a:lstStyle/>
          <a:p>
            <a:pPr indent="0" marL="0">
              <a:buNone/>
            </a:pPr>
            <a:r>
              <a:rPr lang="en-US" sz="900" dirty="0">
                <a:solidFill>
                  <a:srgbClr val="596273"/>
                </a:solidFill>
                <a:latin typeface="Calibri" pitchFamily="34" charset="0"/>
                <a:ea typeface="Calibri" pitchFamily="34" charset="-122"/>
                <a:cs typeface="Calibri" pitchFamily="34" charset="-120"/>
              </a:rPr>
              <a:t>Best published step accuracy still 59.5% after 15 months, 7 papers</a:t>
            </a:r>
            <a:endParaRPr lang="en-US" sz="900" dirty="0"/>
          </a:p>
        </p:txBody>
      </p:sp>
      <p:sp>
        <p:nvSpPr>
          <p:cNvPr id="25" name="Shape 23"/>
          <p:cNvSpPr/>
          <p:nvPr/>
        </p:nvSpPr>
        <p:spPr>
          <a:xfrm>
            <a:off x="7958938" y="1397203"/>
            <a:ext cx="3521354" cy="914400"/>
          </a:xfrm>
          <a:prstGeom prst="roundRect">
            <a:avLst>
              <a:gd name="adj" fmla="val 6000"/>
            </a:avLst>
          </a:prstGeom>
          <a:solidFill>
            <a:srgbClr val="E4E6EB"/>
          </a:solidFill>
          <a:ln/>
        </p:spPr>
      </p:sp>
      <p:sp>
        <p:nvSpPr>
          <p:cNvPr id="26" name="Shape 24"/>
          <p:cNvSpPr/>
          <p:nvPr/>
        </p:nvSpPr>
        <p:spPr>
          <a:xfrm>
            <a:off x="7938821" y="1371600"/>
            <a:ext cx="3521354" cy="914400"/>
          </a:xfrm>
          <a:prstGeom prst="roundRect">
            <a:avLst>
              <a:gd name="adj" fmla="val 6000"/>
            </a:avLst>
          </a:prstGeom>
          <a:solidFill>
            <a:srgbClr val="E6F1EB"/>
          </a:solidFill>
          <a:ln w="9525">
            <a:solidFill>
              <a:srgbClr val="D9DCE3"/>
            </a:solidFill>
            <a:prstDash val="solid"/>
          </a:ln>
        </p:spPr>
      </p:sp>
      <p:sp>
        <p:nvSpPr>
          <p:cNvPr id="27" name="Shape 25"/>
          <p:cNvSpPr/>
          <p:nvPr/>
        </p:nvSpPr>
        <p:spPr>
          <a:xfrm>
            <a:off x="7938821" y="1426464"/>
            <a:ext cx="41148" cy="804672"/>
          </a:xfrm>
          <a:prstGeom prst="rect">
            <a:avLst/>
          </a:prstGeom>
          <a:solidFill>
            <a:srgbClr val="1E7A52"/>
          </a:solidFill>
          <a:ln/>
        </p:spPr>
      </p:sp>
      <p:sp>
        <p:nvSpPr>
          <p:cNvPr id="28" name="Shape 26"/>
          <p:cNvSpPr/>
          <p:nvPr/>
        </p:nvSpPr>
        <p:spPr>
          <a:xfrm>
            <a:off x="8085125" y="1490472"/>
            <a:ext cx="274320" cy="274320"/>
          </a:xfrm>
          <a:prstGeom prst="ellipse">
            <a:avLst/>
          </a:prstGeom>
          <a:solidFill>
            <a:srgbClr val="1E7A52"/>
          </a:solidFill>
          <a:ln/>
        </p:spPr>
      </p:sp>
      <p:sp>
        <p:nvSpPr>
          <p:cNvPr id="29" name="Text 27"/>
          <p:cNvSpPr txBox="1"/>
          <p:nvPr/>
        </p:nvSpPr>
        <p:spPr>
          <a:xfrm>
            <a:off x="8085125" y="1490472"/>
            <a:ext cx="274320" cy="274320"/>
          </a:xfrm>
          <a:prstGeom prst="rect">
            <a:avLst/>
          </a:prstGeom>
          <a:noFill/>
          <a:ln/>
        </p:spPr>
        <p:txBody>
          <a:bodyPr wrap="square" lIns="0" tIns="0" rIns="0" bIns="0" rtlCol="0" anchor="ctr"/>
          <a:lstStyle/>
          <a:p>
            <a:pPr algn="ctr" indent="0" marL="0">
              <a:buNone/>
            </a:pPr>
            <a:r>
              <a:rPr lang="en-US" sz="1200" b="1" dirty="0">
                <a:solidFill>
                  <a:srgbClr val="F5F6F8"/>
                </a:solidFill>
                <a:latin typeface="Georgia" pitchFamily="34" charset="0"/>
                <a:ea typeface="Georgia" pitchFamily="34" charset="-122"/>
                <a:cs typeface="Georgia" pitchFamily="34" charset="-120"/>
              </a:rPr>
              <a:t>3</a:t>
            </a:r>
            <a:endParaRPr lang="en-US" sz="1200" dirty="0"/>
          </a:p>
        </p:txBody>
      </p:sp>
      <p:sp>
        <p:nvSpPr>
          <p:cNvPr id="30" name="Text 28"/>
          <p:cNvSpPr txBox="1"/>
          <p:nvPr/>
        </p:nvSpPr>
        <p:spPr>
          <a:xfrm>
            <a:off x="8450885" y="1481328"/>
            <a:ext cx="2899562" cy="274320"/>
          </a:xfrm>
          <a:prstGeom prst="rect">
            <a:avLst/>
          </a:prstGeom>
          <a:noFill/>
          <a:ln/>
        </p:spPr>
        <p:txBody>
          <a:bodyPr wrap="square" lIns="0" tIns="0" rIns="0" bIns="0" rtlCol="0" anchor="ctr"/>
          <a:lstStyle/>
          <a:p>
            <a:pPr indent="0" marL="0">
              <a:buNone/>
            </a:pPr>
            <a:r>
              <a:rPr lang="en-US" sz="1150" b="1" dirty="0">
                <a:solidFill>
                  <a:srgbClr val="1B202A"/>
                </a:solidFill>
                <a:latin typeface="Georgia" pitchFamily="34" charset="0"/>
                <a:ea typeface="Georgia" pitchFamily="34" charset="-122"/>
                <a:cs typeface="Georgia" pitchFamily="34" charset="-120"/>
              </a:rPr>
              <a:t>Depth of knowledge</a:t>
            </a:r>
            <a:endParaRPr lang="en-US" sz="1150" dirty="0"/>
          </a:p>
        </p:txBody>
      </p:sp>
      <p:sp>
        <p:nvSpPr>
          <p:cNvPr id="31" name="Text 29"/>
          <p:cNvSpPr txBox="1"/>
          <p:nvPr/>
        </p:nvSpPr>
        <p:spPr>
          <a:xfrm>
            <a:off x="8085125" y="1792224"/>
            <a:ext cx="3247034" cy="475488"/>
          </a:xfrm>
          <a:prstGeom prst="rect">
            <a:avLst/>
          </a:prstGeom>
          <a:noFill/>
          <a:ln/>
        </p:spPr>
        <p:txBody>
          <a:bodyPr wrap="square" lIns="0" tIns="0" rIns="0" bIns="0" rtlCol="0" anchor="ctr"/>
          <a:lstStyle/>
          <a:p>
            <a:pPr indent="0" marL="0">
              <a:buNone/>
            </a:pPr>
            <a:r>
              <a:rPr lang="en-US" sz="900" dirty="0">
                <a:solidFill>
                  <a:srgbClr val="596273"/>
                </a:solidFill>
                <a:latin typeface="Calibri" pitchFamily="34" charset="0"/>
                <a:ea typeface="Calibri" pitchFamily="34" charset="-122"/>
                <a:cs typeface="Calibri" pitchFamily="34" charset="-120"/>
              </a:rPr>
              <a:t>Execution-graph modeling, causal reasoning, distributed tracing, eval methodology</a:t>
            </a:r>
            <a:endParaRPr lang="en-US" sz="900" dirty="0"/>
          </a:p>
        </p:txBody>
      </p:sp>
      <p:sp>
        <p:nvSpPr>
          <p:cNvPr id="32" name="Shape 30"/>
          <p:cNvSpPr/>
          <p:nvPr/>
        </p:nvSpPr>
        <p:spPr>
          <a:xfrm>
            <a:off x="587045" y="2439619"/>
            <a:ext cx="3521354" cy="914400"/>
          </a:xfrm>
          <a:prstGeom prst="roundRect">
            <a:avLst>
              <a:gd name="adj" fmla="val 6000"/>
            </a:avLst>
          </a:prstGeom>
          <a:solidFill>
            <a:srgbClr val="E4E6EB"/>
          </a:solidFill>
          <a:ln/>
        </p:spPr>
      </p:sp>
      <p:sp>
        <p:nvSpPr>
          <p:cNvPr id="33" name="Shape 31"/>
          <p:cNvSpPr/>
          <p:nvPr/>
        </p:nvSpPr>
        <p:spPr>
          <a:xfrm>
            <a:off x="566928" y="2414016"/>
            <a:ext cx="3521354" cy="914400"/>
          </a:xfrm>
          <a:prstGeom prst="roundRect">
            <a:avLst>
              <a:gd name="adj" fmla="val 6000"/>
            </a:avLst>
          </a:prstGeom>
          <a:solidFill>
            <a:srgbClr val="E6F1EB"/>
          </a:solidFill>
          <a:ln w="9525">
            <a:solidFill>
              <a:srgbClr val="D9DCE3"/>
            </a:solidFill>
            <a:prstDash val="solid"/>
          </a:ln>
        </p:spPr>
      </p:sp>
      <p:sp>
        <p:nvSpPr>
          <p:cNvPr id="34" name="Shape 32"/>
          <p:cNvSpPr/>
          <p:nvPr/>
        </p:nvSpPr>
        <p:spPr>
          <a:xfrm>
            <a:off x="566928" y="2468880"/>
            <a:ext cx="41148" cy="804672"/>
          </a:xfrm>
          <a:prstGeom prst="rect">
            <a:avLst/>
          </a:prstGeom>
          <a:solidFill>
            <a:srgbClr val="1E7A52"/>
          </a:solidFill>
          <a:ln/>
        </p:spPr>
      </p:sp>
      <p:sp>
        <p:nvSpPr>
          <p:cNvPr id="35" name="Shape 33"/>
          <p:cNvSpPr/>
          <p:nvPr/>
        </p:nvSpPr>
        <p:spPr>
          <a:xfrm>
            <a:off x="713232" y="2532888"/>
            <a:ext cx="274320" cy="274320"/>
          </a:xfrm>
          <a:prstGeom prst="ellipse">
            <a:avLst/>
          </a:prstGeom>
          <a:solidFill>
            <a:srgbClr val="1E7A52"/>
          </a:solidFill>
          <a:ln/>
        </p:spPr>
      </p:sp>
      <p:sp>
        <p:nvSpPr>
          <p:cNvPr id="36" name="Text 34"/>
          <p:cNvSpPr txBox="1"/>
          <p:nvPr/>
        </p:nvSpPr>
        <p:spPr>
          <a:xfrm>
            <a:off x="713232" y="2532888"/>
            <a:ext cx="274320" cy="274320"/>
          </a:xfrm>
          <a:prstGeom prst="rect">
            <a:avLst/>
          </a:prstGeom>
          <a:noFill/>
          <a:ln/>
        </p:spPr>
        <p:txBody>
          <a:bodyPr wrap="square" lIns="0" tIns="0" rIns="0" bIns="0" rtlCol="0" anchor="ctr"/>
          <a:lstStyle/>
          <a:p>
            <a:pPr algn="ctr" indent="0" marL="0">
              <a:buNone/>
            </a:pPr>
            <a:r>
              <a:rPr lang="en-US" sz="1200" b="1" dirty="0">
                <a:solidFill>
                  <a:srgbClr val="F5F6F8"/>
                </a:solidFill>
                <a:latin typeface="Georgia" pitchFamily="34" charset="0"/>
                <a:ea typeface="Georgia" pitchFamily="34" charset="-122"/>
                <a:cs typeface="Georgia" pitchFamily="34" charset="-120"/>
              </a:rPr>
              <a:t>4</a:t>
            </a:r>
            <a:endParaRPr lang="en-US" sz="1200" dirty="0"/>
          </a:p>
        </p:txBody>
      </p:sp>
      <p:sp>
        <p:nvSpPr>
          <p:cNvPr id="37" name="Text 35"/>
          <p:cNvSpPr txBox="1"/>
          <p:nvPr/>
        </p:nvSpPr>
        <p:spPr>
          <a:xfrm>
            <a:off x="1078992" y="2523744"/>
            <a:ext cx="2899562" cy="274320"/>
          </a:xfrm>
          <a:prstGeom prst="rect">
            <a:avLst/>
          </a:prstGeom>
          <a:noFill/>
          <a:ln/>
        </p:spPr>
        <p:txBody>
          <a:bodyPr wrap="square" lIns="0" tIns="0" rIns="0" bIns="0" rtlCol="0" anchor="ctr"/>
          <a:lstStyle/>
          <a:p>
            <a:pPr indent="0" marL="0">
              <a:buNone/>
            </a:pPr>
            <a:r>
              <a:rPr lang="en-US" sz="1150" b="1" dirty="0">
                <a:solidFill>
                  <a:srgbClr val="1B202A"/>
                </a:solidFill>
                <a:latin typeface="Georgia" pitchFamily="34" charset="0"/>
                <a:ea typeface="Georgia" pitchFamily="34" charset="-122"/>
                <a:cs typeface="Georgia" pitchFamily="34" charset="-120"/>
              </a:rPr>
              <a:t>Unfamiliar issues</a:t>
            </a:r>
            <a:endParaRPr lang="en-US" sz="1150" dirty="0"/>
          </a:p>
        </p:txBody>
      </p:sp>
      <p:sp>
        <p:nvSpPr>
          <p:cNvPr id="38" name="Text 36"/>
          <p:cNvSpPr txBox="1"/>
          <p:nvPr/>
        </p:nvSpPr>
        <p:spPr>
          <a:xfrm>
            <a:off x="713232" y="2834640"/>
            <a:ext cx="3247034" cy="475488"/>
          </a:xfrm>
          <a:prstGeom prst="rect">
            <a:avLst/>
          </a:prstGeom>
          <a:noFill/>
          <a:ln/>
        </p:spPr>
        <p:txBody>
          <a:bodyPr wrap="square" lIns="0" tIns="0" rIns="0" bIns="0" rtlCol="0" anchor="ctr"/>
          <a:lstStyle/>
          <a:p>
            <a:pPr indent="0" marL="0">
              <a:buNone/>
            </a:pPr>
            <a:r>
              <a:rPr lang="en-US" sz="900" dirty="0">
                <a:solidFill>
                  <a:srgbClr val="596273"/>
                </a:solidFill>
                <a:latin typeface="Calibri" pitchFamily="34" charset="0"/>
                <a:ea typeface="Calibri" pitchFamily="34" charset="-122"/>
                <a:cs typeface="Calibri" pitchFamily="34" charset="-120"/>
              </a:rPr>
              <a:t>Delayed error manifestation, LLM non-determinism, cross-arch generalization</a:t>
            </a:r>
            <a:endParaRPr lang="en-US" sz="900" dirty="0"/>
          </a:p>
        </p:txBody>
      </p:sp>
      <p:sp>
        <p:nvSpPr>
          <p:cNvPr id="39" name="Shape 37"/>
          <p:cNvSpPr/>
          <p:nvPr/>
        </p:nvSpPr>
        <p:spPr>
          <a:xfrm>
            <a:off x="4272991" y="2439619"/>
            <a:ext cx="3521354" cy="914400"/>
          </a:xfrm>
          <a:prstGeom prst="roundRect">
            <a:avLst>
              <a:gd name="adj" fmla="val 6000"/>
            </a:avLst>
          </a:prstGeom>
          <a:solidFill>
            <a:srgbClr val="E4E6EB"/>
          </a:solidFill>
          <a:ln/>
        </p:spPr>
      </p:sp>
      <p:sp>
        <p:nvSpPr>
          <p:cNvPr id="40" name="Shape 38"/>
          <p:cNvSpPr/>
          <p:nvPr/>
        </p:nvSpPr>
        <p:spPr>
          <a:xfrm>
            <a:off x="4252874" y="2414016"/>
            <a:ext cx="3521354" cy="914400"/>
          </a:xfrm>
          <a:prstGeom prst="roundRect">
            <a:avLst>
              <a:gd name="adj" fmla="val 6000"/>
            </a:avLst>
          </a:prstGeom>
          <a:solidFill>
            <a:srgbClr val="E6F1EB"/>
          </a:solidFill>
          <a:ln w="9525">
            <a:solidFill>
              <a:srgbClr val="D9DCE3"/>
            </a:solidFill>
            <a:prstDash val="solid"/>
          </a:ln>
        </p:spPr>
      </p:sp>
      <p:sp>
        <p:nvSpPr>
          <p:cNvPr id="41" name="Shape 39"/>
          <p:cNvSpPr/>
          <p:nvPr/>
        </p:nvSpPr>
        <p:spPr>
          <a:xfrm>
            <a:off x="4252874" y="2468880"/>
            <a:ext cx="41148" cy="804672"/>
          </a:xfrm>
          <a:prstGeom prst="rect">
            <a:avLst/>
          </a:prstGeom>
          <a:solidFill>
            <a:srgbClr val="1E7A52"/>
          </a:solidFill>
          <a:ln/>
        </p:spPr>
      </p:sp>
      <p:sp>
        <p:nvSpPr>
          <p:cNvPr id="42" name="Shape 40"/>
          <p:cNvSpPr/>
          <p:nvPr/>
        </p:nvSpPr>
        <p:spPr>
          <a:xfrm>
            <a:off x="4399178" y="2532888"/>
            <a:ext cx="274320" cy="274320"/>
          </a:xfrm>
          <a:prstGeom prst="ellipse">
            <a:avLst/>
          </a:prstGeom>
          <a:solidFill>
            <a:srgbClr val="1E7A52"/>
          </a:solidFill>
          <a:ln/>
        </p:spPr>
      </p:sp>
      <p:sp>
        <p:nvSpPr>
          <p:cNvPr id="43" name="Text 41"/>
          <p:cNvSpPr txBox="1"/>
          <p:nvPr/>
        </p:nvSpPr>
        <p:spPr>
          <a:xfrm>
            <a:off x="4399178" y="2532888"/>
            <a:ext cx="274320" cy="274320"/>
          </a:xfrm>
          <a:prstGeom prst="rect">
            <a:avLst/>
          </a:prstGeom>
          <a:noFill/>
          <a:ln/>
        </p:spPr>
        <p:txBody>
          <a:bodyPr wrap="square" lIns="0" tIns="0" rIns="0" bIns="0" rtlCol="0" anchor="ctr"/>
          <a:lstStyle/>
          <a:p>
            <a:pPr algn="ctr" indent="0" marL="0">
              <a:buNone/>
            </a:pPr>
            <a:r>
              <a:rPr lang="en-US" sz="1200" b="1" dirty="0">
                <a:solidFill>
                  <a:srgbClr val="F5F6F8"/>
                </a:solidFill>
                <a:latin typeface="Georgia" pitchFamily="34" charset="0"/>
                <a:ea typeface="Georgia" pitchFamily="34" charset="-122"/>
                <a:cs typeface="Georgia" pitchFamily="34" charset="-120"/>
              </a:rPr>
              <a:t>5</a:t>
            </a:r>
            <a:endParaRPr lang="en-US" sz="1200" dirty="0"/>
          </a:p>
        </p:txBody>
      </p:sp>
      <p:sp>
        <p:nvSpPr>
          <p:cNvPr id="44" name="Text 42"/>
          <p:cNvSpPr txBox="1"/>
          <p:nvPr/>
        </p:nvSpPr>
        <p:spPr>
          <a:xfrm>
            <a:off x="4764938" y="2523744"/>
            <a:ext cx="2899562" cy="274320"/>
          </a:xfrm>
          <a:prstGeom prst="rect">
            <a:avLst/>
          </a:prstGeom>
          <a:noFill/>
          <a:ln/>
        </p:spPr>
        <p:txBody>
          <a:bodyPr wrap="square" lIns="0" tIns="0" rIns="0" bIns="0" rtlCol="0" anchor="ctr"/>
          <a:lstStyle/>
          <a:p>
            <a:pPr indent="0" marL="0">
              <a:buNone/>
            </a:pPr>
            <a:r>
              <a:rPr lang="en-US" sz="1150" b="1" dirty="0">
                <a:solidFill>
                  <a:srgbClr val="1B202A"/>
                </a:solidFill>
                <a:latin typeface="Georgia" pitchFamily="34" charset="0"/>
                <a:ea typeface="Georgia" pitchFamily="34" charset="-122"/>
                <a:cs typeface="Georgia" pitchFamily="34" charset="-120"/>
              </a:rPr>
              <a:t>Beyond standard practice</a:t>
            </a:r>
            <a:endParaRPr lang="en-US" sz="1150" dirty="0"/>
          </a:p>
        </p:txBody>
      </p:sp>
      <p:sp>
        <p:nvSpPr>
          <p:cNvPr id="45" name="Text 43"/>
          <p:cNvSpPr txBox="1"/>
          <p:nvPr/>
        </p:nvSpPr>
        <p:spPr>
          <a:xfrm>
            <a:off x="4399178" y="2834640"/>
            <a:ext cx="3247034" cy="475488"/>
          </a:xfrm>
          <a:prstGeom prst="rect">
            <a:avLst/>
          </a:prstGeom>
          <a:noFill/>
          <a:ln/>
        </p:spPr>
        <p:txBody>
          <a:bodyPr wrap="square" lIns="0" tIns="0" rIns="0" bIns="0" rtlCol="0" anchor="ctr"/>
          <a:lstStyle/>
          <a:p>
            <a:pPr indent="0" marL="0">
              <a:buNone/>
            </a:pPr>
            <a:r>
              <a:rPr lang="en-US" sz="900" dirty="0">
                <a:solidFill>
                  <a:srgbClr val="596273"/>
                </a:solidFill>
                <a:latin typeface="Calibri" pitchFamily="34" charset="0"/>
                <a:ea typeface="Calibri" pitchFamily="34" charset="-122"/>
                <a:cs typeface="Calibri" pitchFamily="34" charset="-120"/>
              </a:rPr>
              <a:t>No off-the-shelf framework solves attribution + silent-failure detection + recovery</a:t>
            </a:r>
            <a:endParaRPr lang="en-US" sz="900" dirty="0"/>
          </a:p>
        </p:txBody>
      </p:sp>
      <p:sp>
        <p:nvSpPr>
          <p:cNvPr id="46" name="Shape 44"/>
          <p:cNvSpPr/>
          <p:nvPr/>
        </p:nvSpPr>
        <p:spPr>
          <a:xfrm>
            <a:off x="7958938" y="2439619"/>
            <a:ext cx="3521354" cy="914400"/>
          </a:xfrm>
          <a:prstGeom prst="roundRect">
            <a:avLst>
              <a:gd name="adj" fmla="val 6000"/>
            </a:avLst>
          </a:prstGeom>
          <a:solidFill>
            <a:srgbClr val="E4E6EB"/>
          </a:solidFill>
          <a:ln/>
        </p:spPr>
      </p:sp>
      <p:sp>
        <p:nvSpPr>
          <p:cNvPr id="47" name="Shape 45"/>
          <p:cNvSpPr/>
          <p:nvPr/>
        </p:nvSpPr>
        <p:spPr>
          <a:xfrm>
            <a:off x="7938821" y="2414016"/>
            <a:ext cx="3521354" cy="914400"/>
          </a:xfrm>
          <a:prstGeom prst="roundRect">
            <a:avLst>
              <a:gd name="adj" fmla="val 6000"/>
            </a:avLst>
          </a:prstGeom>
          <a:solidFill>
            <a:srgbClr val="F7EFDC"/>
          </a:solidFill>
          <a:ln w="9525">
            <a:solidFill>
              <a:srgbClr val="D9DCE3"/>
            </a:solidFill>
            <a:prstDash val="solid"/>
          </a:ln>
        </p:spPr>
      </p:sp>
      <p:sp>
        <p:nvSpPr>
          <p:cNvPr id="48" name="Shape 46"/>
          <p:cNvSpPr/>
          <p:nvPr/>
        </p:nvSpPr>
        <p:spPr>
          <a:xfrm>
            <a:off x="7938821" y="2468880"/>
            <a:ext cx="41148" cy="804672"/>
          </a:xfrm>
          <a:prstGeom prst="rect">
            <a:avLst/>
          </a:prstGeom>
          <a:solidFill>
            <a:srgbClr val="A8760F"/>
          </a:solidFill>
          <a:ln/>
        </p:spPr>
      </p:sp>
      <p:sp>
        <p:nvSpPr>
          <p:cNvPr id="49" name="Shape 47"/>
          <p:cNvSpPr/>
          <p:nvPr/>
        </p:nvSpPr>
        <p:spPr>
          <a:xfrm>
            <a:off x="8085125" y="2532888"/>
            <a:ext cx="274320" cy="274320"/>
          </a:xfrm>
          <a:prstGeom prst="ellipse">
            <a:avLst/>
          </a:prstGeom>
          <a:solidFill>
            <a:srgbClr val="A8760F"/>
          </a:solidFill>
          <a:ln/>
        </p:spPr>
      </p:sp>
      <p:sp>
        <p:nvSpPr>
          <p:cNvPr id="50" name="Text 48"/>
          <p:cNvSpPr txBox="1"/>
          <p:nvPr/>
        </p:nvSpPr>
        <p:spPr>
          <a:xfrm>
            <a:off x="8085125" y="2532888"/>
            <a:ext cx="274320" cy="274320"/>
          </a:xfrm>
          <a:prstGeom prst="rect">
            <a:avLst/>
          </a:prstGeom>
          <a:noFill/>
          <a:ln/>
        </p:spPr>
        <p:txBody>
          <a:bodyPr wrap="square" lIns="0" tIns="0" rIns="0" bIns="0" rtlCol="0" anchor="ctr"/>
          <a:lstStyle/>
          <a:p>
            <a:pPr algn="ctr" indent="0" marL="0">
              <a:buNone/>
            </a:pPr>
            <a:r>
              <a:rPr lang="en-US" sz="1200" b="1" dirty="0">
                <a:solidFill>
                  <a:srgbClr val="F5F6F8"/>
                </a:solidFill>
                <a:latin typeface="Georgia" pitchFamily="34" charset="0"/>
                <a:ea typeface="Georgia" pitchFamily="34" charset="-122"/>
                <a:cs typeface="Georgia" pitchFamily="34" charset="-120"/>
              </a:rPr>
              <a:t>6</a:t>
            </a:r>
            <a:endParaRPr lang="en-US" sz="1200" dirty="0"/>
          </a:p>
        </p:txBody>
      </p:sp>
      <p:sp>
        <p:nvSpPr>
          <p:cNvPr id="51" name="Text 49"/>
          <p:cNvSpPr txBox="1"/>
          <p:nvPr/>
        </p:nvSpPr>
        <p:spPr>
          <a:xfrm>
            <a:off x="8450885" y="2523744"/>
            <a:ext cx="2899562" cy="274320"/>
          </a:xfrm>
          <a:prstGeom prst="rect">
            <a:avLst/>
          </a:prstGeom>
          <a:noFill/>
          <a:ln/>
        </p:spPr>
        <p:txBody>
          <a:bodyPr wrap="square" lIns="0" tIns="0" rIns="0" bIns="0" rtlCol="0" anchor="ctr"/>
          <a:lstStyle/>
          <a:p>
            <a:pPr indent="0" marL="0">
              <a:buNone/>
            </a:pPr>
            <a:r>
              <a:rPr lang="en-US" sz="1150" b="1" dirty="0">
                <a:solidFill>
                  <a:srgbClr val="1B202A"/>
                </a:solidFill>
                <a:latin typeface="Georgia" pitchFamily="34" charset="0"/>
                <a:ea typeface="Georgia" pitchFamily="34" charset="-122"/>
                <a:cs typeface="Georgia" pitchFamily="34" charset="-120"/>
              </a:rPr>
              <a:t>Diverse stakeholders</a:t>
            </a:r>
            <a:endParaRPr lang="en-US" sz="1150" dirty="0"/>
          </a:p>
        </p:txBody>
      </p:sp>
      <p:sp>
        <p:nvSpPr>
          <p:cNvPr id="52" name="Text 50"/>
          <p:cNvSpPr txBox="1"/>
          <p:nvPr/>
        </p:nvSpPr>
        <p:spPr>
          <a:xfrm>
            <a:off x="8085125" y="2834640"/>
            <a:ext cx="3247034" cy="475488"/>
          </a:xfrm>
          <a:prstGeom prst="rect">
            <a:avLst/>
          </a:prstGeom>
          <a:noFill/>
          <a:ln/>
        </p:spPr>
        <p:txBody>
          <a:bodyPr wrap="square" lIns="0" tIns="0" rIns="0" bIns="0" rtlCol="0" anchor="ctr"/>
          <a:lstStyle/>
          <a:p>
            <a:pPr indent="0" marL="0">
              <a:buNone/>
            </a:pPr>
            <a:r>
              <a:rPr lang="en-US" sz="900" dirty="0">
                <a:solidFill>
                  <a:srgbClr val="596273"/>
                </a:solidFill>
                <a:latin typeface="Calibri" pitchFamily="34" charset="0"/>
                <a:ea typeface="Calibri" pitchFamily="34" charset="-122"/>
                <a:cs typeface="Calibri" pitchFamily="34" charset="-120"/>
              </a:rPr>
              <a:t>Operators, product teams, auditors named; live contact scheduled at Mid-2</a:t>
            </a:r>
            <a:endParaRPr lang="en-US" sz="900" dirty="0"/>
          </a:p>
        </p:txBody>
      </p:sp>
      <p:sp>
        <p:nvSpPr>
          <p:cNvPr id="53" name="Shape 51"/>
          <p:cNvSpPr/>
          <p:nvPr/>
        </p:nvSpPr>
        <p:spPr>
          <a:xfrm>
            <a:off x="587045" y="3482035"/>
            <a:ext cx="3521354" cy="914400"/>
          </a:xfrm>
          <a:prstGeom prst="roundRect">
            <a:avLst>
              <a:gd name="adj" fmla="val 6000"/>
            </a:avLst>
          </a:prstGeom>
          <a:solidFill>
            <a:srgbClr val="E4E6EB"/>
          </a:solidFill>
          <a:ln/>
        </p:spPr>
      </p:sp>
      <p:sp>
        <p:nvSpPr>
          <p:cNvPr id="54" name="Shape 52"/>
          <p:cNvSpPr/>
          <p:nvPr/>
        </p:nvSpPr>
        <p:spPr>
          <a:xfrm>
            <a:off x="566928" y="3456432"/>
            <a:ext cx="3521354" cy="914400"/>
          </a:xfrm>
          <a:prstGeom prst="roundRect">
            <a:avLst>
              <a:gd name="adj" fmla="val 6000"/>
            </a:avLst>
          </a:prstGeom>
          <a:solidFill>
            <a:srgbClr val="E6F1EB"/>
          </a:solidFill>
          <a:ln w="9525">
            <a:solidFill>
              <a:srgbClr val="D9DCE3"/>
            </a:solidFill>
            <a:prstDash val="solid"/>
          </a:ln>
        </p:spPr>
      </p:sp>
      <p:sp>
        <p:nvSpPr>
          <p:cNvPr id="55" name="Shape 53"/>
          <p:cNvSpPr/>
          <p:nvPr/>
        </p:nvSpPr>
        <p:spPr>
          <a:xfrm>
            <a:off x="566928" y="3511296"/>
            <a:ext cx="41148" cy="804672"/>
          </a:xfrm>
          <a:prstGeom prst="rect">
            <a:avLst/>
          </a:prstGeom>
          <a:solidFill>
            <a:srgbClr val="1E7A52"/>
          </a:solidFill>
          <a:ln/>
        </p:spPr>
      </p:sp>
      <p:sp>
        <p:nvSpPr>
          <p:cNvPr id="56" name="Shape 54"/>
          <p:cNvSpPr/>
          <p:nvPr/>
        </p:nvSpPr>
        <p:spPr>
          <a:xfrm>
            <a:off x="713232" y="3575304"/>
            <a:ext cx="274320" cy="274320"/>
          </a:xfrm>
          <a:prstGeom prst="ellipse">
            <a:avLst/>
          </a:prstGeom>
          <a:solidFill>
            <a:srgbClr val="1E7A52"/>
          </a:solidFill>
          <a:ln/>
        </p:spPr>
      </p:sp>
      <p:sp>
        <p:nvSpPr>
          <p:cNvPr id="57" name="Text 55"/>
          <p:cNvSpPr txBox="1"/>
          <p:nvPr/>
        </p:nvSpPr>
        <p:spPr>
          <a:xfrm>
            <a:off x="713232" y="3575304"/>
            <a:ext cx="274320" cy="274320"/>
          </a:xfrm>
          <a:prstGeom prst="rect">
            <a:avLst/>
          </a:prstGeom>
          <a:noFill/>
          <a:ln/>
        </p:spPr>
        <p:txBody>
          <a:bodyPr wrap="square" lIns="0" tIns="0" rIns="0" bIns="0" rtlCol="0" anchor="ctr"/>
          <a:lstStyle/>
          <a:p>
            <a:pPr algn="ctr" indent="0" marL="0">
              <a:buNone/>
            </a:pPr>
            <a:r>
              <a:rPr lang="en-US" sz="1200" b="1" dirty="0">
                <a:solidFill>
                  <a:srgbClr val="F5F6F8"/>
                </a:solidFill>
                <a:latin typeface="Georgia" pitchFamily="34" charset="0"/>
                <a:ea typeface="Georgia" pitchFamily="34" charset="-122"/>
                <a:cs typeface="Georgia" pitchFamily="34" charset="-120"/>
              </a:rPr>
              <a:t>7</a:t>
            </a:r>
            <a:endParaRPr lang="en-US" sz="1200" dirty="0"/>
          </a:p>
        </p:txBody>
      </p:sp>
      <p:sp>
        <p:nvSpPr>
          <p:cNvPr id="58" name="Text 56"/>
          <p:cNvSpPr txBox="1"/>
          <p:nvPr/>
        </p:nvSpPr>
        <p:spPr>
          <a:xfrm>
            <a:off x="1078992" y="3566160"/>
            <a:ext cx="2899562" cy="274320"/>
          </a:xfrm>
          <a:prstGeom prst="rect">
            <a:avLst/>
          </a:prstGeom>
          <a:noFill/>
          <a:ln/>
        </p:spPr>
        <p:txBody>
          <a:bodyPr wrap="square" lIns="0" tIns="0" rIns="0" bIns="0" rtlCol="0" anchor="ctr"/>
          <a:lstStyle/>
          <a:p>
            <a:pPr indent="0" marL="0">
              <a:buNone/>
            </a:pPr>
            <a:r>
              <a:rPr lang="en-US" sz="1150" b="1" dirty="0">
                <a:solidFill>
                  <a:srgbClr val="1B202A"/>
                </a:solidFill>
                <a:latin typeface="Georgia" pitchFamily="34" charset="0"/>
                <a:ea typeface="Georgia" pitchFamily="34" charset="-122"/>
                <a:cs typeface="Georgia" pitchFamily="34" charset="-120"/>
              </a:rPr>
              <a:t>Significant consequences</a:t>
            </a:r>
            <a:endParaRPr lang="en-US" sz="1150" dirty="0"/>
          </a:p>
        </p:txBody>
      </p:sp>
      <p:sp>
        <p:nvSpPr>
          <p:cNvPr id="59" name="Text 57"/>
          <p:cNvSpPr txBox="1"/>
          <p:nvPr/>
        </p:nvSpPr>
        <p:spPr>
          <a:xfrm>
            <a:off x="713232" y="3877056"/>
            <a:ext cx="3247034" cy="475488"/>
          </a:xfrm>
          <a:prstGeom prst="rect">
            <a:avLst/>
          </a:prstGeom>
          <a:noFill/>
          <a:ln/>
        </p:spPr>
        <p:txBody>
          <a:bodyPr wrap="square" lIns="0" tIns="0" rIns="0" bIns="0" rtlCol="0" anchor="ctr"/>
          <a:lstStyle/>
          <a:p>
            <a:pPr indent="0" marL="0">
              <a:buNone/>
            </a:pPr>
            <a:r>
              <a:rPr lang="en-US" sz="900" dirty="0">
                <a:solidFill>
                  <a:srgbClr val="596273"/>
                </a:solidFill>
                <a:latin typeface="Calibri" pitchFamily="34" charset="0"/>
                <a:ea typeface="Calibri" pitchFamily="34" charset="-122"/>
                <a:cs typeface="Calibri" pitchFamily="34" charset="-120"/>
              </a:rPr>
              <a:t>A missed silent failure ships a wrong answer, undetected</a:t>
            </a:r>
            <a:endParaRPr lang="en-US" sz="900" dirty="0"/>
          </a:p>
        </p:txBody>
      </p:sp>
      <p:sp>
        <p:nvSpPr>
          <p:cNvPr id="60" name="Shape 58"/>
          <p:cNvSpPr/>
          <p:nvPr/>
        </p:nvSpPr>
        <p:spPr>
          <a:xfrm>
            <a:off x="4272991" y="3482035"/>
            <a:ext cx="3521354" cy="914400"/>
          </a:xfrm>
          <a:prstGeom prst="roundRect">
            <a:avLst>
              <a:gd name="adj" fmla="val 6000"/>
            </a:avLst>
          </a:prstGeom>
          <a:solidFill>
            <a:srgbClr val="E4E6EB"/>
          </a:solidFill>
          <a:ln/>
        </p:spPr>
      </p:sp>
      <p:sp>
        <p:nvSpPr>
          <p:cNvPr id="61" name="Shape 59"/>
          <p:cNvSpPr/>
          <p:nvPr/>
        </p:nvSpPr>
        <p:spPr>
          <a:xfrm>
            <a:off x="4252874" y="3456432"/>
            <a:ext cx="3521354" cy="914400"/>
          </a:xfrm>
          <a:prstGeom prst="roundRect">
            <a:avLst>
              <a:gd name="adj" fmla="val 6000"/>
            </a:avLst>
          </a:prstGeom>
          <a:solidFill>
            <a:srgbClr val="E6F1EB"/>
          </a:solidFill>
          <a:ln w="9525">
            <a:solidFill>
              <a:srgbClr val="D9DCE3"/>
            </a:solidFill>
            <a:prstDash val="solid"/>
          </a:ln>
        </p:spPr>
      </p:sp>
      <p:sp>
        <p:nvSpPr>
          <p:cNvPr id="62" name="Shape 60"/>
          <p:cNvSpPr/>
          <p:nvPr/>
        </p:nvSpPr>
        <p:spPr>
          <a:xfrm>
            <a:off x="4252874" y="3511296"/>
            <a:ext cx="41148" cy="804672"/>
          </a:xfrm>
          <a:prstGeom prst="rect">
            <a:avLst/>
          </a:prstGeom>
          <a:solidFill>
            <a:srgbClr val="1E7A52"/>
          </a:solidFill>
          <a:ln/>
        </p:spPr>
      </p:sp>
      <p:sp>
        <p:nvSpPr>
          <p:cNvPr id="63" name="Shape 61"/>
          <p:cNvSpPr/>
          <p:nvPr/>
        </p:nvSpPr>
        <p:spPr>
          <a:xfrm>
            <a:off x="4399178" y="3575304"/>
            <a:ext cx="274320" cy="274320"/>
          </a:xfrm>
          <a:prstGeom prst="ellipse">
            <a:avLst/>
          </a:prstGeom>
          <a:solidFill>
            <a:srgbClr val="1E7A52"/>
          </a:solidFill>
          <a:ln/>
        </p:spPr>
      </p:sp>
      <p:sp>
        <p:nvSpPr>
          <p:cNvPr id="64" name="Text 62"/>
          <p:cNvSpPr txBox="1"/>
          <p:nvPr/>
        </p:nvSpPr>
        <p:spPr>
          <a:xfrm>
            <a:off x="4399178" y="3575304"/>
            <a:ext cx="274320" cy="274320"/>
          </a:xfrm>
          <a:prstGeom prst="rect">
            <a:avLst/>
          </a:prstGeom>
          <a:noFill/>
          <a:ln/>
        </p:spPr>
        <p:txBody>
          <a:bodyPr wrap="square" lIns="0" tIns="0" rIns="0" bIns="0" rtlCol="0" anchor="ctr"/>
          <a:lstStyle/>
          <a:p>
            <a:pPr algn="ctr" indent="0" marL="0">
              <a:buNone/>
            </a:pPr>
            <a:r>
              <a:rPr lang="en-US" sz="1200" b="1" dirty="0">
                <a:solidFill>
                  <a:srgbClr val="F5F6F8"/>
                </a:solidFill>
                <a:latin typeface="Georgia" pitchFamily="34" charset="0"/>
                <a:ea typeface="Georgia" pitchFamily="34" charset="-122"/>
                <a:cs typeface="Georgia" pitchFamily="34" charset="-120"/>
              </a:rPr>
              <a:t>8</a:t>
            </a:r>
            <a:endParaRPr lang="en-US" sz="1200" dirty="0"/>
          </a:p>
        </p:txBody>
      </p:sp>
      <p:sp>
        <p:nvSpPr>
          <p:cNvPr id="65" name="Text 63"/>
          <p:cNvSpPr txBox="1"/>
          <p:nvPr/>
        </p:nvSpPr>
        <p:spPr>
          <a:xfrm>
            <a:off x="4764938" y="3566160"/>
            <a:ext cx="2899562" cy="274320"/>
          </a:xfrm>
          <a:prstGeom prst="rect">
            <a:avLst/>
          </a:prstGeom>
          <a:noFill/>
          <a:ln/>
        </p:spPr>
        <p:txBody>
          <a:bodyPr wrap="square" lIns="0" tIns="0" rIns="0" bIns="0" rtlCol="0" anchor="ctr"/>
          <a:lstStyle/>
          <a:p>
            <a:pPr indent="0" marL="0">
              <a:buNone/>
            </a:pPr>
            <a:r>
              <a:rPr lang="en-US" sz="1150" b="1" dirty="0">
                <a:solidFill>
                  <a:srgbClr val="1B202A"/>
                </a:solidFill>
                <a:latin typeface="Georgia" pitchFamily="34" charset="0"/>
                <a:ea typeface="Georgia" pitchFamily="34" charset="-122"/>
                <a:cs typeface="Georgia" pitchFamily="34" charset="-120"/>
              </a:rPr>
              <a:t>Interdependence</a:t>
            </a:r>
            <a:endParaRPr lang="en-US" sz="1150" dirty="0"/>
          </a:p>
        </p:txBody>
      </p:sp>
      <p:sp>
        <p:nvSpPr>
          <p:cNvPr id="66" name="Text 64"/>
          <p:cNvSpPr txBox="1"/>
          <p:nvPr/>
        </p:nvSpPr>
        <p:spPr>
          <a:xfrm>
            <a:off x="4399178" y="3877056"/>
            <a:ext cx="3247034" cy="475488"/>
          </a:xfrm>
          <a:prstGeom prst="rect">
            <a:avLst/>
          </a:prstGeom>
          <a:noFill/>
          <a:ln/>
        </p:spPr>
        <p:txBody>
          <a:bodyPr wrap="square" lIns="0" tIns="0" rIns="0" bIns="0" rtlCol="0" anchor="ctr"/>
          <a:lstStyle/>
          <a:p>
            <a:pPr indent="0" marL="0">
              <a:buNone/>
            </a:pPr>
            <a:r>
              <a:rPr lang="en-US" sz="900" dirty="0">
                <a:solidFill>
                  <a:srgbClr val="596273"/>
                </a:solidFill>
                <a:latin typeface="Calibri" pitchFamily="34" charset="0"/>
                <a:ea typeface="Calibri" pitchFamily="34" charset="-122"/>
                <a:cs typeface="Calibri" pitchFamily="34" charset="-120"/>
              </a:rPr>
              <a:t>Failures propagate through interdependent agents — the graph models this directly</a:t>
            </a:r>
            <a:endParaRPr lang="en-US" sz="900" dirty="0"/>
          </a:p>
        </p:txBody>
      </p:sp>
      <p:sp>
        <p:nvSpPr>
          <p:cNvPr id="67" name="Shape 65"/>
          <p:cNvSpPr/>
          <p:nvPr/>
        </p:nvSpPr>
        <p:spPr>
          <a:xfrm>
            <a:off x="7958938" y="3482035"/>
            <a:ext cx="3521354" cy="914400"/>
          </a:xfrm>
          <a:prstGeom prst="roundRect">
            <a:avLst>
              <a:gd name="adj" fmla="val 6000"/>
            </a:avLst>
          </a:prstGeom>
          <a:solidFill>
            <a:srgbClr val="E4E6EB"/>
          </a:solidFill>
          <a:ln/>
        </p:spPr>
      </p:sp>
      <p:sp>
        <p:nvSpPr>
          <p:cNvPr id="68" name="Shape 66"/>
          <p:cNvSpPr/>
          <p:nvPr/>
        </p:nvSpPr>
        <p:spPr>
          <a:xfrm>
            <a:off x="7938821" y="3456432"/>
            <a:ext cx="3521354" cy="914400"/>
          </a:xfrm>
          <a:prstGeom prst="roundRect">
            <a:avLst>
              <a:gd name="adj" fmla="val 6000"/>
            </a:avLst>
          </a:prstGeom>
          <a:solidFill>
            <a:srgbClr val="E6F1EB"/>
          </a:solidFill>
          <a:ln w="9525">
            <a:solidFill>
              <a:srgbClr val="D9DCE3"/>
            </a:solidFill>
            <a:prstDash val="solid"/>
          </a:ln>
        </p:spPr>
      </p:sp>
      <p:sp>
        <p:nvSpPr>
          <p:cNvPr id="69" name="Shape 67"/>
          <p:cNvSpPr/>
          <p:nvPr/>
        </p:nvSpPr>
        <p:spPr>
          <a:xfrm>
            <a:off x="7938821" y="3511296"/>
            <a:ext cx="41148" cy="804672"/>
          </a:xfrm>
          <a:prstGeom prst="rect">
            <a:avLst/>
          </a:prstGeom>
          <a:solidFill>
            <a:srgbClr val="1E7A52"/>
          </a:solidFill>
          <a:ln/>
        </p:spPr>
      </p:sp>
      <p:sp>
        <p:nvSpPr>
          <p:cNvPr id="70" name="Shape 68"/>
          <p:cNvSpPr/>
          <p:nvPr/>
        </p:nvSpPr>
        <p:spPr>
          <a:xfrm>
            <a:off x="8085125" y="3575304"/>
            <a:ext cx="274320" cy="274320"/>
          </a:xfrm>
          <a:prstGeom prst="ellipse">
            <a:avLst/>
          </a:prstGeom>
          <a:solidFill>
            <a:srgbClr val="1E7A52"/>
          </a:solidFill>
          <a:ln/>
        </p:spPr>
      </p:sp>
      <p:sp>
        <p:nvSpPr>
          <p:cNvPr id="71" name="Text 69"/>
          <p:cNvSpPr txBox="1"/>
          <p:nvPr/>
        </p:nvSpPr>
        <p:spPr>
          <a:xfrm>
            <a:off x="8085125" y="3575304"/>
            <a:ext cx="274320" cy="274320"/>
          </a:xfrm>
          <a:prstGeom prst="rect">
            <a:avLst/>
          </a:prstGeom>
          <a:noFill/>
          <a:ln/>
        </p:spPr>
        <p:txBody>
          <a:bodyPr wrap="square" lIns="0" tIns="0" rIns="0" bIns="0" rtlCol="0" anchor="ctr"/>
          <a:lstStyle/>
          <a:p>
            <a:pPr algn="ctr" indent="0" marL="0">
              <a:buNone/>
            </a:pPr>
            <a:r>
              <a:rPr lang="en-US" sz="1200" b="1" dirty="0">
                <a:solidFill>
                  <a:srgbClr val="F5F6F8"/>
                </a:solidFill>
                <a:latin typeface="Georgia" pitchFamily="34" charset="0"/>
                <a:ea typeface="Georgia" pitchFamily="34" charset="-122"/>
                <a:cs typeface="Georgia" pitchFamily="34" charset="-120"/>
              </a:rPr>
              <a:t>9</a:t>
            </a:r>
            <a:endParaRPr lang="en-US" sz="1200" dirty="0"/>
          </a:p>
        </p:txBody>
      </p:sp>
      <p:sp>
        <p:nvSpPr>
          <p:cNvPr id="72" name="Text 70"/>
          <p:cNvSpPr txBox="1"/>
          <p:nvPr/>
        </p:nvSpPr>
        <p:spPr>
          <a:xfrm>
            <a:off x="8450885" y="3566160"/>
            <a:ext cx="2899562" cy="274320"/>
          </a:xfrm>
          <a:prstGeom prst="rect">
            <a:avLst/>
          </a:prstGeom>
          <a:noFill/>
          <a:ln/>
        </p:spPr>
        <p:txBody>
          <a:bodyPr wrap="square" lIns="0" tIns="0" rIns="0" bIns="0" rtlCol="0" anchor="ctr"/>
          <a:lstStyle/>
          <a:p>
            <a:pPr indent="0" marL="0">
              <a:buNone/>
            </a:pPr>
            <a:r>
              <a:rPr lang="en-US" sz="1150" b="1" dirty="0">
                <a:solidFill>
                  <a:srgbClr val="1B202A"/>
                </a:solidFill>
                <a:latin typeface="Georgia" pitchFamily="34" charset="0"/>
                <a:ea typeface="Georgia" pitchFamily="34" charset="-122"/>
                <a:cs typeface="Georgia" pitchFamily="34" charset="-120"/>
              </a:rPr>
              <a:t>Ill-defined cause</a:t>
            </a:r>
            <a:endParaRPr lang="en-US" sz="1150" dirty="0"/>
          </a:p>
        </p:txBody>
      </p:sp>
      <p:sp>
        <p:nvSpPr>
          <p:cNvPr id="73" name="Text 71"/>
          <p:cNvSpPr txBox="1"/>
          <p:nvPr/>
        </p:nvSpPr>
        <p:spPr>
          <a:xfrm>
            <a:off x="8085125" y="3877056"/>
            <a:ext cx="3247034" cy="475488"/>
          </a:xfrm>
          <a:prstGeom prst="rect">
            <a:avLst/>
          </a:prstGeom>
          <a:noFill/>
          <a:ln/>
        </p:spPr>
        <p:txBody>
          <a:bodyPr wrap="square" lIns="0" tIns="0" rIns="0" bIns="0" rtlCol="0" anchor="ctr"/>
          <a:lstStyle/>
          <a:p>
            <a:pPr indent="0" marL="0">
              <a:buNone/>
            </a:pPr>
            <a:r>
              <a:rPr lang="en-US" sz="900" dirty="0">
                <a:solidFill>
                  <a:srgbClr val="596273"/>
                </a:solidFill>
                <a:latin typeface="Calibri" pitchFamily="34" charset="0"/>
                <a:ea typeface="Calibri" pitchFamily="34" charset="-122"/>
                <a:cs typeface="Calibri" pitchFamily="34" charset="-120"/>
              </a:rPr>
              <a:t>3 unknowns at diagnosis time: whether, which agent/step, what correct behavior was</a:t>
            </a:r>
            <a:endParaRPr lang="en-US" sz="900" dirty="0"/>
          </a:p>
        </p:txBody>
      </p:sp>
      <p:sp>
        <p:nvSpPr>
          <p:cNvPr id="74" name="Text 72"/>
          <p:cNvSpPr txBox="1"/>
          <p:nvPr/>
        </p:nvSpPr>
        <p:spPr>
          <a:xfrm>
            <a:off x="566928" y="4517136"/>
            <a:ext cx="5852160" cy="237744"/>
          </a:xfrm>
          <a:prstGeom prst="rect">
            <a:avLst/>
          </a:prstGeom>
          <a:noFill/>
          <a:ln/>
        </p:spPr>
        <p:txBody>
          <a:bodyPr wrap="square" lIns="0" tIns="0" rIns="0" bIns="0" rtlCol="0" anchor="ctr"/>
          <a:lstStyle/>
          <a:p>
            <a:pPr indent="0" marL="0">
              <a:buNone/>
            </a:pPr>
            <a:r>
              <a:rPr lang="en-US" sz="1050" i="1" dirty="0">
                <a:solidFill>
                  <a:srgbClr val="596273"/>
                </a:solidFill>
                <a:latin typeface="Calibri" pitchFamily="34" charset="0"/>
                <a:ea typeface="Calibri" pitchFamily="34" charset="-122"/>
                <a:cs typeface="Calibri" pitchFamily="34" charset="-120"/>
              </a:rPr>
              <a:t>8 of 9 characteristics clear — the guide's own worked “Strong” examples clear 6 to 9.</a:t>
            </a:r>
            <a:endParaRPr lang="en-US" sz="1050" dirty="0"/>
          </a:p>
        </p:txBody>
      </p:sp>
      <p:sp>
        <p:nvSpPr>
          <p:cNvPr id="75" name="Shape 73"/>
          <p:cNvSpPr/>
          <p:nvPr/>
        </p:nvSpPr>
        <p:spPr>
          <a:xfrm>
            <a:off x="587045" y="4817059"/>
            <a:ext cx="11057839" cy="1353312"/>
          </a:xfrm>
          <a:prstGeom prst="roundRect">
            <a:avLst>
              <a:gd name="adj" fmla="val 4054"/>
            </a:avLst>
          </a:prstGeom>
          <a:solidFill>
            <a:srgbClr val="E4E6EB"/>
          </a:solidFill>
          <a:ln/>
        </p:spPr>
      </p:sp>
      <p:sp>
        <p:nvSpPr>
          <p:cNvPr id="76" name="Shape 74"/>
          <p:cNvSpPr/>
          <p:nvPr/>
        </p:nvSpPr>
        <p:spPr>
          <a:xfrm>
            <a:off x="566928" y="4791456"/>
            <a:ext cx="11057839" cy="1353312"/>
          </a:xfrm>
          <a:prstGeom prst="roundRect">
            <a:avLst>
              <a:gd name="adj" fmla="val 4054"/>
            </a:avLst>
          </a:prstGeom>
          <a:solidFill>
            <a:srgbClr val="171C26"/>
          </a:solidFill>
          <a:ln w="9525">
            <a:solidFill>
              <a:srgbClr val="D9DCE3"/>
            </a:solidFill>
            <a:prstDash val="solid"/>
          </a:ln>
        </p:spPr>
      </p:sp>
      <p:sp>
        <p:nvSpPr>
          <p:cNvPr id="77" name="Text 75"/>
          <p:cNvSpPr txBox="1"/>
          <p:nvPr/>
        </p:nvSpPr>
        <p:spPr>
          <a:xfrm>
            <a:off x="822960" y="4901184"/>
            <a:ext cx="10545775" cy="256032"/>
          </a:xfrm>
          <a:prstGeom prst="rect">
            <a:avLst/>
          </a:prstGeom>
          <a:noFill/>
          <a:ln/>
        </p:spPr>
        <p:txBody>
          <a:bodyPr wrap="square" lIns="0" tIns="0" rIns="0" bIns="0" rtlCol="0" anchor="ctr"/>
          <a:lstStyle/>
          <a:p>
            <a:pPr indent="0" marL="0">
              <a:buNone/>
            </a:pPr>
            <a:r>
              <a:rPr lang="en-US" sz="1000" b="1" spc="50" kern="0" dirty="0">
                <a:solidFill>
                  <a:srgbClr val="E3BC6E"/>
                </a:solidFill>
                <a:latin typeface="Consolas" pitchFamily="34" charset="0"/>
                <a:ea typeface="Consolas" pitchFamily="34" charset="-122"/>
                <a:cs typeface="Consolas" pitchFamily="34" charset="-120"/>
              </a:rPr>
              <a:t>THE HANDBOOK'S OWN TEST (C.7):  “Could a strong student with AI assistance build a working version of this in a week?”</a:t>
            </a:r>
            <a:endParaRPr lang="en-US" sz="1000" dirty="0"/>
          </a:p>
        </p:txBody>
      </p:sp>
      <p:sp>
        <p:nvSpPr>
          <p:cNvPr id="78" name="Text 76"/>
          <p:cNvSpPr txBox="1"/>
          <p:nvPr/>
        </p:nvSpPr>
        <p:spPr>
          <a:xfrm>
            <a:off x="822960" y="5193792"/>
            <a:ext cx="3411626" cy="877824"/>
          </a:xfrm>
          <a:prstGeom prst="rect">
            <a:avLst/>
          </a:prstGeom>
          <a:noFill/>
          <a:ln/>
        </p:spPr>
        <p:txBody>
          <a:bodyPr wrap="square" lIns="0" tIns="0" rIns="0" bIns="0" rtlCol="0" anchor="ctr"/>
          <a:lstStyle/>
          <a:p>
            <a:pPr indent="0" marL="0">
              <a:buNone/>
            </a:pPr>
            <a:r>
              <a:rPr lang="en-US" sz="850" b="1" spc="80" kern="0" dirty="0">
                <a:solidFill>
                  <a:srgbClr val="C89B3C"/>
                </a:solidFill>
                <a:latin typeface="Consolas" pitchFamily="34" charset="0"/>
                <a:ea typeface="Consolas" pitchFamily="34" charset="-122"/>
                <a:cs typeface="Consolas" pitchFamily="34" charset="-120"/>
              </a:rPr>
              <a:t>THE WRAPPER</a:t>
            </a:r>
            <a:endParaRPr lang="en-US" sz="850" dirty="0"/>
          </a:p>
          <a:p>
            <a:pPr indent="0" marL="0">
              <a:buNone/>
            </a:pPr>
            <a:r>
              <a:rPr lang="en-US" sz="1050" b="1" dirty="0">
                <a:solidFill>
                  <a:srgbClr val="F5F6F8"/>
                </a:solidFill>
                <a:latin typeface="Calibri" pitchFamily="34" charset="0"/>
                <a:ea typeface="Calibri" pitchFamily="34" charset="-122"/>
                <a:cs typeface="Calibri" pitchFamily="34" charset="-120"/>
              </a:rPr>
              <a:t>yes — in a weekend</a:t>
            </a:r>
            <a:endParaRPr lang="en-US" sz="850" dirty="0"/>
          </a:p>
          <a:p>
            <a:pPr indent="0" marL="0">
              <a:buNone/>
            </a:pPr>
            <a:r>
              <a:rPr lang="en-US" sz="870" dirty="0">
                <a:solidFill>
                  <a:srgbClr val="A9B0BE"/>
                </a:solidFill>
                <a:latin typeface="Calibri" pitchFamily="34" charset="0"/>
                <a:ea typeface="Calibri" pitchFamily="34" charset="-122"/>
                <a:cs typeface="Calibri" pitchFamily="34" charset="-120"/>
              </a:rPr>
              <a:t>An SDK that captures traces and calls an LLM to guess a culprit is a week of work.</a:t>
            </a:r>
            <a:endParaRPr lang="en-US" sz="850" dirty="0"/>
          </a:p>
        </p:txBody>
      </p:sp>
      <p:sp>
        <p:nvSpPr>
          <p:cNvPr id="79" name="Text 77"/>
          <p:cNvSpPr txBox="1"/>
          <p:nvPr/>
        </p:nvSpPr>
        <p:spPr>
          <a:xfrm>
            <a:off x="4390034" y="5193792"/>
            <a:ext cx="3411626" cy="877824"/>
          </a:xfrm>
          <a:prstGeom prst="rect">
            <a:avLst/>
          </a:prstGeom>
          <a:noFill/>
          <a:ln/>
        </p:spPr>
        <p:txBody>
          <a:bodyPr wrap="square" lIns="0" tIns="0" rIns="0" bIns="0" rtlCol="0" anchor="ctr"/>
          <a:lstStyle/>
          <a:p>
            <a:pPr indent="0" marL="0">
              <a:buNone/>
            </a:pPr>
            <a:r>
              <a:rPr lang="en-US" sz="850" b="1" spc="80" kern="0" dirty="0">
                <a:solidFill>
                  <a:srgbClr val="C89B3C"/>
                </a:solidFill>
                <a:latin typeface="Consolas" pitchFamily="34" charset="0"/>
                <a:ea typeface="Consolas" pitchFamily="34" charset="-122"/>
                <a:cs typeface="Consolas" pitchFamily="34" charset="-120"/>
              </a:rPr>
              <a:t>WHAT IT WOULD GET WRONG</a:t>
            </a:r>
            <a:endParaRPr lang="en-US" sz="850" dirty="0"/>
          </a:p>
          <a:p>
            <a:pPr indent="0" marL="0">
              <a:buNone/>
            </a:pPr>
            <a:r>
              <a:rPr lang="en-US" sz="1050" b="1" dirty="0">
                <a:solidFill>
                  <a:srgbClr val="F5F6F8"/>
                </a:solidFill>
                <a:latin typeface="Calibri" pitchFamily="34" charset="0"/>
                <a:ea typeface="Calibri" pitchFamily="34" charset="-122"/>
                <a:cs typeface="Calibri" pitchFamily="34" charset="-120"/>
              </a:rPr>
              <a:t>everything that carries the marks</a:t>
            </a:r>
            <a:endParaRPr lang="en-US" sz="850" dirty="0"/>
          </a:p>
          <a:p>
            <a:pPr indent="0" marL="0">
              <a:buNone/>
            </a:pPr>
            <a:r>
              <a:rPr lang="en-US" sz="870" dirty="0">
                <a:solidFill>
                  <a:srgbClr val="F5F6F8"/>
                </a:solidFill>
                <a:latin typeface="Calibri" pitchFamily="34" charset="0"/>
                <a:ea typeface="Calibri" pitchFamily="34" charset="-122"/>
                <a:cs typeface="Calibri" pitchFamily="34" charset="-120"/>
              </a:rPr>
              <a:t>It would have no benchmark on unseen architectures, no way to tell a silent failure from a correct answer, no measured false-positive rate on clean controls, and no evidence its fix works.</a:t>
            </a:r>
            <a:endParaRPr lang="en-US" sz="850" dirty="0"/>
          </a:p>
        </p:txBody>
      </p:sp>
      <p:sp>
        <p:nvSpPr>
          <p:cNvPr id="80" name="Text 78"/>
          <p:cNvSpPr txBox="1"/>
          <p:nvPr/>
        </p:nvSpPr>
        <p:spPr>
          <a:xfrm>
            <a:off x="7957109" y="5193792"/>
            <a:ext cx="3411626" cy="877824"/>
          </a:xfrm>
          <a:prstGeom prst="rect">
            <a:avLst/>
          </a:prstGeom>
          <a:noFill/>
          <a:ln/>
        </p:spPr>
        <p:txBody>
          <a:bodyPr wrap="square" lIns="0" tIns="0" rIns="0" bIns="0" rtlCol="0" anchor="ctr"/>
          <a:lstStyle/>
          <a:p>
            <a:pPr indent="0" marL="0">
              <a:buNone/>
            </a:pPr>
            <a:r>
              <a:rPr lang="en-US" sz="850" b="1" spc="80" kern="0" dirty="0">
                <a:solidFill>
                  <a:srgbClr val="C89B3C"/>
                </a:solidFill>
                <a:latin typeface="Consolas" pitchFamily="34" charset="0"/>
                <a:ea typeface="Consolas" pitchFamily="34" charset="-122"/>
                <a:cs typeface="Consolas" pitchFamily="34" charset="-120"/>
              </a:rPr>
              <a:t>WHERE OUR DIFFICULTY SITS</a:t>
            </a:r>
            <a:endParaRPr lang="en-US" sz="850" dirty="0"/>
          </a:p>
          <a:p>
            <a:pPr indent="0" marL="0">
              <a:buNone/>
            </a:pPr>
            <a:r>
              <a:rPr lang="en-US" sz="1050" b="1" dirty="0">
                <a:solidFill>
                  <a:srgbClr val="F5F6F8"/>
                </a:solidFill>
                <a:latin typeface="Calibri" pitchFamily="34" charset="0"/>
                <a:ea typeface="Calibri" pitchFamily="34" charset="-122"/>
                <a:cs typeface="Calibri" pitchFamily="34" charset="-120"/>
              </a:rPr>
              <a:t>data, evaluation, constraints</a:t>
            </a:r>
            <a:endParaRPr lang="en-US" sz="850" dirty="0"/>
          </a:p>
          <a:p>
            <a:pPr indent="0" marL="0">
              <a:buNone/>
            </a:pPr>
            <a:r>
              <a:rPr lang="en-US" sz="870" dirty="0">
                <a:solidFill>
                  <a:srgbClr val="F5F6F8"/>
                </a:solidFill>
                <a:latin typeface="Calibri" pitchFamily="34" charset="0"/>
                <a:ea typeface="Calibri" pitchFamily="34" charset="-122"/>
                <a:cs typeface="Calibri" pitchFamily="34" charset="-120"/>
              </a:rPr>
              <a:t>Building the cross-architecture fault-injection benchmark, defining verifiable constraints, and proving a repair works via controlled replay — none of which generation removes.</a:t>
            </a:r>
            <a:endParaRPr lang="en-US" sz="850" dirty="0"/>
          </a:p>
        </p:txBody>
      </p:sp>
      <p:sp>
        <p:nvSpPr>
          <p:cNvPr id="81" name="Text 79"/>
          <p:cNvSpPr txBox="1"/>
          <p:nvPr/>
        </p:nvSpPr>
        <p:spPr>
          <a:xfrm>
            <a:off x="566928" y="6217920"/>
            <a:ext cx="11057839" cy="201168"/>
          </a:xfrm>
          <a:prstGeom prst="rect">
            <a:avLst/>
          </a:prstGeom>
          <a:noFill/>
          <a:ln/>
        </p:spPr>
        <p:txBody>
          <a:bodyPr wrap="square" lIns="0" tIns="0" rIns="0" bIns="0" rtlCol="0" anchor="ctr"/>
          <a:lstStyle/>
          <a:p>
            <a:pPr indent="0" marL="0">
              <a:buNone/>
            </a:pPr>
            <a:r>
              <a:rPr lang="en-US" sz="800" dirty="0">
                <a:solidFill>
                  <a:srgbClr val="8B92A2"/>
                </a:solidFill>
                <a:latin typeface="Consolas" pitchFamily="34" charset="0"/>
                <a:ea typeface="Consolas" pitchFamily="34" charset="-122"/>
                <a:cs typeface="Consolas" pitchFamily="34" charset="-120"/>
              </a:rPr>
              <a:t>▸ 02_Panel_Defense_Question_Bank.md Q8a  ·  plan §1 (three-tier CCP)  ·  §2 (9-characteristic rating)</a:t>
            </a:r>
            <a:endParaRPr lang="en-US" sz="8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10896"/>
            <a:ext cx="11057839" cy="237744"/>
          </a:xfrm>
          <a:prstGeom prst="rect">
            <a:avLst/>
          </a:prstGeom>
          <a:noFill/>
          <a:ln/>
        </p:spPr>
        <p:txBody>
          <a:bodyPr wrap="square" lIns="0" tIns="0" rIns="0" bIns="0" rtlCol="0" anchor="ctr"/>
          <a:lstStyle/>
          <a:p>
            <a:pPr indent="0" marL="0">
              <a:buNone/>
            </a:pPr>
            <a:r>
              <a:rPr lang="en-US" sz="1050" b="1" spc="180" kern="0" dirty="0">
                <a:solidFill>
                  <a:srgbClr val="8E6A1F"/>
                </a:solidFill>
                <a:latin typeface="Consolas" pitchFamily="34" charset="0"/>
                <a:ea typeface="Consolas" pitchFamily="34" charset="-122"/>
                <a:cs typeface="Consolas" pitchFamily="34" charset="-120"/>
              </a:rPr>
              <a:t>WHAT IS BEING BUILT, AND WHERE THE BOUNDARY SITS</a:t>
            </a:r>
            <a:endParaRPr lang="en-US" sz="10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indent="0" marL="0">
              <a:buNone/>
            </a:pPr>
            <a:r>
              <a:rPr lang="en-US" sz="2700" b="1" dirty="0">
                <a:solidFill>
                  <a:srgbClr val="1B202A"/>
                </a:solidFill>
                <a:latin typeface="Georgia" pitchFamily="34" charset="0"/>
                <a:ea typeface="Georgia" pitchFamily="34" charset="-122"/>
                <a:cs typeface="Georgia" pitchFamily="34" charset="-120"/>
              </a:rPr>
              <a:t>Proposed Solution &amp; Contribution</a:t>
            </a:r>
            <a:endParaRPr lang="en-US" sz="2700" dirty="0"/>
          </a:p>
        </p:txBody>
      </p:sp>
      <p:sp>
        <p:nvSpPr>
          <p:cNvPr id="7" name="Shape 5"/>
          <p:cNvSpPr/>
          <p:nvPr/>
        </p:nvSpPr>
        <p:spPr>
          <a:xfrm>
            <a:off x="566928" y="1188720"/>
            <a:ext cx="566928" cy="36576"/>
          </a:xfrm>
          <a:prstGeom prst="rect">
            <a:avLst/>
          </a:prstGeom>
          <a:solidFill>
            <a:srgbClr val="C89B3C"/>
          </a:solidFill>
          <a:ln/>
        </p:spPr>
      </p:sp>
      <p:sp>
        <p:nvSpPr>
          <p:cNvPr id="8" name="Shape 6"/>
          <p:cNvSpPr/>
          <p:nvPr/>
        </p:nvSpPr>
        <p:spPr>
          <a:xfrm>
            <a:off x="566928" y="6437376"/>
            <a:ext cx="11057839" cy="0"/>
          </a:xfrm>
          <a:prstGeom prst="line">
            <a:avLst/>
          </a:prstGeom>
          <a:noFill/>
          <a:ln w="9525">
            <a:solidFill>
              <a:srgbClr val="D9DCE3"/>
            </a:solidFill>
            <a:prstDash val="solid"/>
          </a:ln>
        </p:spPr>
      </p:sp>
      <p:sp>
        <p:nvSpPr>
          <p:cNvPr id="9" name="Text 7"/>
          <p:cNvSpPr txBox="1"/>
          <p:nvPr/>
        </p:nvSpPr>
        <p:spPr>
          <a:xfrm>
            <a:off x="566928" y="6492240"/>
            <a:ext cx="5943600" cy="237744"/>
          </a:xfrm>
          <a:prstGeom prst="rect">
            <a:avLst/>
          </a:prstGeom>
          <a:noFill/>
          <a:ln/>
        </p:spPr>
        <p:txBody>
          <a:bodyPr wrap="square" lIns="0" tIns="0" rIns="0" bIns="0" rtlCol="0" anchor="ctr"/>
          <a:lstStyle/>
          <a:p>
            <a:pPr indent="0" marL="0">
              <a:buNone/>
            </a:pPr>
            <a:r>
              <a:rPr lang="en-US" sz="850" spc="80" kern="0" dirty="0">
                <a:solidFill>
                  <a:srgbClr val="8B92A2"/>
                </a:solidFill>
                <a:latin typeface="Consolas" pitchFamily="34" charset="0"/>
                <a:ea typeface="Consolas" pitchFamily="34" charset="-122"/>
                <a:cs typeface="Consolas" pitchFamily="34" charset="-120"/>
              </a:rPr>
              <a:t>F26-060-GRANITE  ·  PROPOSAL DEFENSE  ·  STREAM A</a:t>
            </a:r>
            <a:endParaRPr lang="en-US" sz="850" dirty="0"/>
          </a:p>
        </p:txBody>
      </p:sp>
      <p:sp>
        <p:nvSpPr>
          <p:cNvPr id="10" name="Text 8"/>
          <p:cNvSpPr txBox="1"/>
          <p:nvPr/>
        </p:nvSpPr>
        <p:spPr>
          <a:xfrm>
            <a:off x="10527487" y="6492240"/>
            <a:ext cx="1097280" cy="237744"/>
          </a:xfrm>
          <a:prstGeom prst="rect">
            <a:avLst/>
          </a:prstGeom>
          <a:noFill/>
          <a:ln/>
        </p:spPr>
        <p:txBody>
          <a:bodyPr wrap="square" lIns="0" tIns="0" rIns="0" bIns="0" rtlCol="0" anchor="ctr"/>
          <a:lstStyle/>
          <a:p>
            <a:pPr algn="r" indent="0" marL="0">
              <a:buNone/>
            </a:pPr>
            <a:r>
              <a:rPr lang="en-US" sz="850" b="1" dirty="0">
                <a:solidFill>
                  <a:srgbClr val="8E6A1F"/>
                </a:solidFill>
                <a:latin typeface="Consolas" pitchFamily="34" charset="0"/>
                <a:ea typeface="Consolas" pitchFamily="34" charset="-122"/>
                <a:cs typeface="Consolas" pitchFamily="34" charset="-120"/>
              </a:rPr>
              <a:t>6 / 10</a:t>
            </a:r>
            <a:endParaRPr lang="en-US" sz="850" dirty="0"/>
          </a:p>
        </p:txBody>
      </p:sp>
      <p:sp>
        <p:nvSpPr>
          <p:cNvPr id="11" name="Shape 9"/>
          <p:cNvSpPr/>
          <p:nvPr/>
        </p:nvSpPr>
        <p:spPr>
          <a:xfrm>
            <a:off x="587045" y="1397203"/>
            <a:ext cx="11057839" cy="868680"/>
          </a:xfrm>
          <a:prstGeom prst="roundRect">
            <a:avLst>
              <a:gd name="adj" fmla="val 6316"/>
            </a:avLst>
          </a:prstGeom>
          <a:solidFill>
            <a:srgbClr val="E4E6EB"/>
          </a:solidFill>
          <a:ln/>
        </p:spPr>
      </p:sp>
      <p:sp>
        <p:nvSpPr>
          <p:cNvPr id="12" name="Shape 10"/>
          <p:cNvSpPr/>
          <p:nvPr/>
        </p:nvSpPr>
        <p:spPr>
          <a:xfrm>
            <a:off x="566928" y="1371600"/>
            <a:ext cx="11057839" cy="868680"/>
          </a:xfrm>
          <a:prstGeom prst="roundRect">
            <a:avLst>
              <a:gd name="adj" fmla="val 6316"/>
            </a:avLst>
          </a:prstGeom>
          <a:solidFill>
            <a:srgbClr val="F1F2F5"/>
          </a:solidFill>
          <a:ln w="9525">
            <a:solidFill>
              <a:srgbClr val="D9DCE3"/>
            </a:solidFill>
            <a:prstDash val="solid"/>
          </a:ln>
        </p:spPr>
      </p:sp>
      <p:sp>
        <p:nvSpPr>
          <p:cNvPr id="13" name="Shape 11"/>
          <p:cNvSpPr/>
          <p:nvPr/>
        </p:nvSpPr>
        <p:spPr>
          <a:xfrm>
            <a:off x="566928" y="1426464"/>
            <a:ext cx="41148" cy="758952"/>
          </a:xfrm>
          <a:prstGeom prst="rect">
            <a:avLst/>
          </a:prstGeom>
          <a:solidFill>
            <a:srgbClr val="C89B3C"/>
          </a:solidFill>
          <a:ln/>
        </p:spPr>
      </p:sp>
      <p:sp>
        <p:nvSpPr>
          <p:cNvPr id="14" name="Text 12"/>
          <p:cNvSpPr txBox="1"/>
          <p:nvPr/>
        </p:nvSpPr>
        <p:spPr>
          <a:xfrm>
            <a:off x="822960" y="1481328"/>
            <a:ext cx="10545775" cy="713232"/>
          </a:xfrm>
          <a:prstGeom prst="rect">
            <a:avLst/>
          </a:prstGeom>
          <a:noFill/>
          <a:ln/>
        </p:spPr>
        <p:txBody>
          <a:bodyPr wrap="square" lIns="0" tIns="0" rIns="0" bIns="0" rtlCol="0" anchor="ctr"/>
          <a:lstStyle/>
          <a:p>
            <a:pPr indent="0" marL="0">
              <a:buNone/>
            </a:pPr>
            <a:r>
              <a:rPr lang="en-US" sz="1100" b="1" dirty="0">
                <a:solidFill>
                  <a:srgbClr val="8E6A1F"/>
                </a:solidFill>
                <a:latin typeface="Calibri" pitchFamily="34" charset="0"/>
                <a:ea typeface="Calibri" pitchFamily="34" charset="-122"/>
                <a:cs typeface="Calibri" pitchFamily="34" charset="-120"/>
              </a:rPr>
              <a:t>Contribution.  </a:t>
            </a:r>
            <a:pPr indent="0" marL="0">
              <a:buNone/>
            </a:pPr>
            <a:r>
              <a:rPr lang="en-US" sz="1080" dirty="0">
                <a:solidFill>
                  <a:srgbClr val="1B202A"/>
                </a:solidFill>
                <a:latin typeface="Calibri" pitchFamily="34" charset="0"/>
                <a:ea typeface="Calibri" pitchFamily="34" charset="-122"/>
                <a:cs typeface="Calibri" pitchFamily="34" charset="-120"/>
              </a:rPr>
              <a:t>Existing methods reach up to 59.5% step accuracy but remain weak under two conditions: none is evaluated on an architecture absent from its own benchmark construction, and the strongest admits it cannot catch silent failures. We are building a cross-architecture fault-injection benchmark and a diagnosis pipeline with constraint-based silent-failure verification, packaged as a framework-agnostic testing SDK.</a:t>
            </a:r>
            <a:endParaRPr lang="en-US" sz="1100" dirty="0"/>
          </a:p>
        </p:txBody>
      </p:sp>
      <p:sp>
        <p:nvSpPr>
          <p:cNvPr id="15" name="Shape 13"/>
          <p:cNvSpPr/>
          <p:nvPr/>
        </p:nvSpPr>
        <p:spPr>
          <a:xfrm>
            <a:off x="566928" y="2596896"/>
            <a:ext cx="1481328" cy="749808"/>
          </a:xfrm>
          <a:prstGeom prst="roundRect">
            <a:avLst>
              <a:gd name="adj" fmla="val 6098"/>
            </a:avLst>
          </a:prstGeom>
          <a:solidFill>
            <a:srgbClr val="FBFBFC"/>
          </a:solidFill>
          <a:ln w="12700">
            <a:solidFill>
              <a:srgbClr val="596273"/>
            </a:solidFill>
            <a:prstDash val="dash"/>
          </a:ln>
        </p:spPr>
      </p:sp>
      <p:sp>
        <p:nvSpPr>
          <p:cNvPr id="16" name="Text 14"/>
          <p:cNvSpPr txBox="1"/>
          <p:nvPr/>
        </p:nvSpPr>
        <p:spPr>
          <a:xfrm>
            <a:off x="640080" y="2670048"/>
            <a:ext cx="1335024" cy="603504"/>
          </a:xfrm>
          <a:prstGeom prst="rect">
            <a:avLst/>
          </a:prstGeom>
          <a:noFill/>
          <a:ln/>
        </p:spPr>
        <p:txBody>
          <a:bodyPr wrap="square" lIns="0" tIns="0" rIns="0" bIns="0" rtlCol="0" anchor="ctr"/>
          <a:lstStyle/>
          <a:p>
            <a:pPr algn="ctr" indent="0" marL="0">
              <a:buNone/>
            </a:pPr>
            <a:r>
              <a:rPr lang="en-US" sz="980" b="1" dirty="0">
                <a:solidFill>
                  <a:srgbClr val="1B202A"/>
                </a:solidFill>
                <a:latin typeface="Calibri" pitchFamily="34" charset="0"/>
                <a:ea typeface="Calibri" pitchFamily="34" charset="-122"/>
                <a:cs typeface="Calibri" pitchFamily="34" charset="-120"/>
              </a:rPr>
              <a:t>Target System</a:t>
            </a:r>
            <a:endParaRPr lang="en-US" sz="980" dirty="0"/>
          </a:p>
          <a:p>
            <a:pPr algn="ctr" indent="0" marL="0">
              <a:buNone/>
            </a:pPr>
            <a:r>
              <a:rPr lang="en-US" sz="830" dirty="0">
                <a:solidFill>
                  <a:srgbClr val="596273"/>
                </a:solidFill>
                <a:latin typeface="Calibri" pitchFamily="34" charset="0"/>
                <a:ea typeface="Calibri" pitchFamily="34" charset="-122"/>
                <a:cs typeface="Calibri" pitchFamily="34" charset="-120"/>
              </a:rPr>
              <a:t>CrewAI / LangGraph</a:t>
            </a:r>
            <a:endParaRPr lang="en-US" sz="980" dirty="0"/>
          </a:p>
        </p:txBody>
      </p:sp>
      <p:sp>
        <p:nvSpPr>
          <p:cNvPr id="17" name="Shape 15"/>
          <p:cNvSpPr/>
          <p:nvPr/>
        </p:nvSpPr>
        <p:spPr>
          <a:xfrm>
            <a:off x="566928" y="4663440"/>
            <a:ext cx="1481328" cy="749808"/>
          </a:xfrm>
          <a:prstGeom prst="roundRect">
            <a:avLst>
              <a:gd name="adj" fmla="val 6098"/>
            </a:avLst>
          </a:prstGeom>
          <a:solidFill>
            <a:srgbClr val="FBFBFC"/>
          </a:solidFill>
          <a:ln w="12700">
            <a:solidFill>
              <a:srgbClr val="596273"/>
            </a:solidFill>
            <a:prstDash val="dash"/>
          </a:ln>
        </p:spPr>
      </p:sp>
      <p:sp>
        <p:nvSpPr>
          <p:cNvPr id="18" name="Text 16"/>
          <p:cNvSpPr txBox="1"/>
          <p:nvPr/>
        </p:nvSpPr>
        <p:spPr>
          <a:xfrm>
            <a:off x="640080" y="4736592"/>
            <a:ext cx="1335024" cy="603504"/>
          </a:xfrm>
          <a:prstGeom prst="rect">
            <a:avLst/>
          </a:prstGeom>
          <a:noFill/>
          <a:ln/>
        </p:spPr>
        <p:txBody>
          <a:bodyPr wrap="square" lIns="0" tIns="0" rIns="0" bIns="0" rtlCol="0" anchor="ctr"/>
          <a:lstStyle/>
          <a:p>
            <a:pPr algn="ctr" indent="0" marL="0">
              <a:buNone/>
            </a:pPr>
            <a:r>
              <a:rPr lang="en-US" sz="980" b="1" dirty="0">
                <a:solidFill>
                  <a:srgbClr val="1B202A"/>
                </a:solidFill>
                <a:latin typeface="Calibri" pitchFamily="34" charset="0"/>
                <a:ea typeface="Calibri" pitchFamily="34" charset="-122"/>
                <a:cs typeface="Calibri" pitchFamily="34" charset="-120"/>
              </a:rPr>
              <a:t>Operator</a:t>
            </a:r>
            <a:endParaRPr lang="en-US" sz="980" dirty="0"/>
          </a:p>
          <a:p>
            <a:pPr algn="ctr" indent="0" marL="0">
              <a:buNone/>
            </a:pPr>
            <a:r>
              <a:rPr lang="en-US" sz="830" dirty="0">
                <a:solidFill>
                  <a:srgbClr val="596273"/>
                </a:solidFill>
                <a:latin typeface="Calibri" pitchFamily="34" charset="0"/>
                <a:ea typeface="Calibri" pitchFamily="34" charset="-122"/>
                <a:cs typeface="Calibri" pitchFamily="34" charset="-120"/>
              </a:rPr>
              <a:t>engineering team</a:t>
            </a:r>
            <a:endParaRPr lang="en-US" sz="980" dirty="0"/>
          </a:p>
        </p:txBody>
      </p:sp>
      <p:sp>
        <p:nvSpPr>
          <p:cNvPr id="19" name="Shape 17"/>
          <p:cNvSpPr/>
          <p:nvPr/>
        </p:nvSpPr>
        <p:spPr>
          <a:xfrm>
            <a:off x="2322576" y="2395728"/>
            <a:ext cx="7452360" cy="3246120"/>
          </a:xfrm>
          <a:prstGeom prst="roundRect">
            <a:avLst>
              <a:gd name="adj" fmla="val 2254"/>
            </a:avLst>
          </a:prstGeom>
          <a:solidFill>
            <a:srgbClr val="FFFFFF"/>
          </a:solidFill>
          <a:ln w="15875">
            <a:solidFill>
              <a:srgbClr val="C89B3C"/>
            </a:solidFill>
            <a:prstDash val="dash"/>
          </a:ln>
        </p:spPr>
      </p:sp>
      <p:sp>
        <p:nvSpPr>
          <p:cNvPr id="20" name="Text 18"/>
          <p:cNvSpPr txBox="1"/>
          <p:nvPr/>
        </p:nvSpPr>
        <p:spPr>
          <a:xfrm>
            <a:off x="2468880" y="2450592"/>
            <a:ext cx="3657600" cy="201168"/>
          </a:xfrm>
          <a:prstGeom prst="rect">
            <a:avLst/>
          </a:prstGeom>
          <a:noFill/>
          <a:ln/>
        </p:spPr>
        <p:txBody>
          <a:bodyPr wrap="square" lIns="0" tIns="0" rIns="0" bIns="0" rtlCol="0" anchor="ctr"/>
          <a:lstStyle/>
          <a:p>
            <a:pPr indent="0" marL="0">
              <a:buNone/>
            </a:pPr>
            <a:r>
              <a:rPr lang="en-US" sz="800" b="1" spc="100" kern="0" dirty="0">
                <a:solidFill>
                  <a:srgbClr val="8E6A1F"/>
                </a:solidFill>
                <a:latin typeface="Consolas" pitchFamily="34" charset="0"/>
                <a:ea typeface="Consolas" pitchFamily="34" charset="-122"/>
                <a:cs typeface="Consolas" pitchFamily="34" charset="-120"/>
              </a:rPr>
              <a:t>GRANITE — SYSTEM BOUNDARY</a:t>
            </a:r>
            <a:endParaRPr lang="en-US" sz="800" dirty="0"/>
          </a:p>
        </p:txBody>
      </p:sp>
      <p:sp>
        <p:nvSpPr>
          <p:cNvPr id="21" name="Shape 19"/>
          <p:cNvSpPr/>
          <p:nvPr/>
        </p:nvSpPr>
        <p:spPr>
          <a:xfrm>
            <a:off x="2468880" y="2706624"/>
            <a:ext cx="5733288" cy="758952"/>
          </a:xfrm>
          <a:prstGeom prst="roundRect">
            <a:avLst>
              <a:gd name="adj" fmla="val 6024"/>
            </a:avLst>
          </a:prstGeom>
          <a:solidFill>
            <a:srgbClr val="E3EFF1"/>
          </a:solidFill>
          <a:ln w="12700">
            <a:solidFill>
              <a:srgbClr val="15707A"/>
            </a:solidFill>
            <a:prstDash val="solid"/>
          </a:ln>
        </p:spPr>
      </p:sp>
      <p:sp>
        <p:nvSpPr>
          <p:cNvPr id="22" name="Text 20"/>
          <p:cNvSpPr txBox="1"/>
          <p:nvPr/>
        </p:nvSpPr>
        <p:spPr>
          <a:xfrm>
            <a:off x="2596896" y="2761488"/>
            <a:ext cx="5477256" cy="201168"/>
          </a:xfrm>
          <a:prstGeom prst="rect">
            <a:avLst/>
          </a:prstGeom>
          <a:noFill/>
          <a:ln/>
        </p:spPr>
        <p:txBody>
          <a:bodyPr wrap="square" lIns="0" tIns="0" rIns="0" bIns="0" rtlCol="0" anchor="ctr"/>
          <a:lstStyle/>
          <a:p>
            <a:pPr indent="0" marL="0">
              <a:buNone/>
            </a:pPr>
            <a:r>
              <a:rPr lang="en-US" sz="830" b="1" dirty="0">
                <a:solidFill>
                  <a:srgbClr val="15707A"/>
                </a:solidFill>
                <a:latin typeface="Consolas" pitchFamily="34" charset="0"/>
                <a:ea typeface="Consolas" pitchFamily="34" charset="-122"/>
                <a:cs typeface="Consolas" pitchFamily="34" charset="-120"/>
              </a:rPr>
              <a:t>LANE A — DATA / BENCHMARK · SHAHOUD</a:t>
            </a:r>
            <a:endParaRPr lang="en-US" sz="830" dirty="0"/>
          </a:p>
        </p:txBody>
      </p:sp>
      <p:sp>
        <p:nvSpPr>
          <p:cNvPr id="23" name="Text 21"/>
          <p:cNvSpPr txBox="1"/>
          <p:nvPr/>
        </p:nvSpPr>
        <p:spPr>
          <a:xfrm>
            <a:off x="2596896" y="2971800"/>
            <a:ext cx="5477256" cy="438912"/>
          </a:xfrm>
          <a:prstGeom prst="rect">
            <a:avLst/>
          </a:prstGeom>
          <a:noFill/>
          <a:ln/>
        </p:spPr>
        <p:txBody>
          <a:bodyPr wrap="square" lIns="0" tIns="0" rIns="0" bIns="0" rtlCol="0" anchor="ctr"/>
          <a:lstStyle/>
          <a:p>
            <a:pPr indent="0" marL="0">
              <a:buNone/>
            </a:pPr>
            <a:r>
              <a:rPr lang="en-US" sz="930" dirty="0">
                <a:solidFill>
                  <a:srgbClr val="1B202A"/>
                </a:solidFill>
                <a:latin typeface="Calibri" pitchFamily="34" charset="0"/>
                <a:ea typeface="Calibri" pitchFamily="34" charset="-122"/>
                <a:cs typeface="Calibri" pitchFamily="34" charset="-120"/>
              </a:rPr>
              <a:t>Framework Adapters   ·   Fault Injection   ·   Benchmark Store</a:t>
            </a:r>
            <a:endParaRPr lang="en-US" sz="930" dirty="0"/>
          </a:p>
        </p:txBody>
      </p:sp>
      <p:sp>
        <p:nvSpPr>
          <p:cNvPr id="24" name="Shape 22"/>
          <p:cNvSpPr/>
          <p:nvPr/>
        </p:nvSpPr>
        <p:spPr>
          <a:xfrm>
            <a:off x="5189220" y="3465576"/>
            <a:ext cx="0" cy="109728"/>
          </a:xfrm>
          <a:prstGeom prst="line">
            <a:avLst/>
          </a:prstGeom>
          <a:noFill/>
          <a:ln w="15875">
            <a:solidFill>
              <a:srgbClr val="596273"/>
            </a:solidFill>
            <a:prstDash val="solid"/>
            <a:tailEnd type="triangle"/>
          </a:ln>
        </p:spPr>
      </p:sp>
      <p:sp>
        <p:nvSpPr>
          <p:cNvPr id="25" name="Shape 23"/>
          <p:cNvSpPr/>
          <p:nvPr/>
        </p:nvSpPr>
        <p:spPr>
          <a:xfrm>
            <a:off x="2468880" y="3575304"/>
            <a:ext cx="5733288" cy="758952"/>
          </a:xfrm>
          <a:prstGeom prst="roundRect">
            <a:avLst>
              <a:gd name="adj" fmla="val 6024"/>
            </a:avLst>
          </a:prstGeom>
          <a:solidFill>
            <a:srgbClr val="F6EADD"/>
          </a:solidFill>
          <a:ln w="12700">
            <a:solidFill>
              <a:srgbClr val="B05C1C"/>
            </a:solidFill>
            <a:prstDash val="solid"/>
          </a:ln>
        </p:spPr>
      </p:sp>
      <p:sp>
        <p:nvSpPr>
          <p:cNvPr id="26" name="Text 24"/>
          <p:cNvSpPr txBox="1"/>
          <p:nvPr/>
        </p:nvSpPr>
        <p:spPr>
          <a:xfrm>
            <a:off x="2596896" y="3630168"/>
            <a:ext cx="5477256" cy="201168"/>
          </a:xfrm>
          <a:prstGeom prst="rect">
            <a:avLst/>
          </a:prstGeom>
          <a:noFill/>
          <a:ln/>
        </p:spPr>
        <p:txBody>
          <a:bodyPr wrap="square" lIns="0" tIns="0" rIns="0" bIns="0" rtlCol="0" anchor="ctr"/>
          <a:lstStyle/>
          <a:p>
            <a:pPr indent="0" marL="0">
              <a:buNone/>
            </a:pPr>
            <a:r>
              <a:rPr lang="en-US" sz="830" b="1" dirty="0">
                <a:solidFill>
                  <a:srgbClr val="B05C1C"/>
                </a:solidFill>
                <a:latin typeface="Consolas" pitchFamily="34" charset="0"/>
                <a:ea typeface="Consolas" pitchFamily="34" charset="-122"/>
                <a:cs typeface="Consolas" pitchFamily="34" charset="-120"/>
              </a:rPr>
              <a:t>LANE B — DIAGNOSIS · NOOR</a:t>
            </a:r>
            <a:endParaRPr lang="en-US" sz="830" dirty="0"/>
          </a:p>
        </p:txBody>
      </p:sp>
      <p:sp>
        <p:nvSpPr>
          <p:cNvPr id="27" name="Text 25"/>
          <p:cNvSpPr txBox="1"/>
          <p:nvPr/>
        </p:nvSpPr>
        <p:spPr>
          <a:xfrm>
            <a:off x="2596896" y="3840480"/>
            <a:ext cx="5477256" cy="438912"/>
          </a:xfrm>
          <a:prstGeom prst="rect">
            <a:avLst/>
          </a:prstGeom>
          <a:noFill/>
          <a:ln/>
        </p:spPr>
        <p:txBody>
          <a:bodyPr wrap="square" lIns="0" tIns="0" rIns="0" bIns="0" rtlCol="0" anchor="ctr"/>
          <a:lstStyle/>
          <a:p>
            <a:pPr indent="0" marL="0">
              <a:buNone/>
            </a:pPr>
            <a:r>
              <a:rPr lang="en-US" sz="930" dirty="0">
                <a:solidFill>
                  <a:srgbClr val="1B202A"/>
                </a:solidFill>
                <a:latin typeface="Calibri" pitchFamily="34" charset="0"/>
                <a:ea typeface="Calibri" pitchFamily="34" charset="-122"/>
                <a:cs typeface="Calibri" pitchFamily="34" charset="-120"/>
              </a:rPr>
              <a:t>Trace Normalizer → Graph Builder → Semantic Error Diagnostic + Backward Causal Tracer</a:t>
            </a:r>
            <a:endParaRPr lang="en-US" sz="930" dirty="0"/>
          </a:p>
        </p:txBody>
      </p:sp>
      <p:sp>
        <p:nvSpPr>
          <p:cNvPr id="28" name="Shape 26"/>
          <p:cNvSpPr/>
          <p:nvPr/>
        </p:nvSpPr>
        <p:spPr>
          <a:xfrm>
            <a:off x="5189220" y="4334256"/>
            <a:ext cx="0" cy="109728"/>
          </a:xfrm>
          <a:prstGeom prst="line">
            <a:avLst/>
          </a:prstGeom>
          <a:noFill/>
          <a:ln w="15875">
            <a:solidFill>
              <a:srgbClr val="596273"/>
            </a:solidFill>
            <a:prstDash val="solid"/>
            <a:tailEnd type="triangle"/>
          </a:ln>
        </p:spPr>
      </p:sp>
      <p:sp>
        <p:nvSpPr>
          <p:cNvPr id="29" name="Shape 27"/>
          <p:cNvSpPr/>
          <p:nvPr/>
        </p:nvSpPr>
        <p:spPr>
          <a:xfrm>
            <a:off x="2468880" y="4443984"/>
            <a:ext cx="5733288" cy="758952"/>
          </a:xfrm>
          <a:prstGeom prst="roundRect">
            <a:avLst>
              <a:gd name="adj" fmla="val 6024"/>
            </a:avLst>
          </a:prstGeom>
          <a:solidFill>
            <a:srgbClr val="E4E9F2"/>
          </a:solidFill>
          <a:ln w="12700">
            <a:solidFill>
              <a:srgbClr val="31558F"/>
            </a:solidFill>
            <a:prstDash val="solid"/>
          </a:ln>
        </p:spPr>
      </p:sp>
      <p:sp>
        <p:nvSpPr>
          <p:cNvPr id="30" name="Text 28"/>
          <p:cNvSpPr txBox="1"/>
          <p:nvPr/>
        </p:nvSpPr>
        <p:spPr>
          <a:xfrm>
            <a:off x="2596896" y="4498848"/>
            <a:ext cx="5477256" cy="201168"/>
          </a:xfrm>
          <a:prstGeom prst="rect">
            <a:avLst/>
          </a:prstGeom>
          <a:noFill/>
          <a:ln/>
        </p:spPr>
        <p:txBody>
          <a:bodyPr wrap="square" lIns="0" tIns="0" rIns="0" bIns="0" rtlCol="0" anchor="ctr"/>
          <a:lstStyle/>
          <a:p>
            <a:pPr indent="0" marL="0">
              <a:buNone/>
            </a:pPr>
            <a:r>
              <a:rPr lang="en-US" sz="830" b="1" dirty="0">
                <a:solidFill>
                  <a:srgbClr val="31558F"/>
                </a:solidFill>
                <a:latin typeface="Consolas" pitchFamily="34" charset="0"/>
                <a:ea typeface="Consolas" pitchFamily="34" charset="-122"/>
                <a:cs typeface="Consolas" pitchFamily="34" charset="-120"/>
              </a:rPr>
              <a:t>LANE C — PLATFORM · SAIF</a:t>
            </a:r>
            <a:endParaRPr lang="en-US" sz="830" dirty="0"/>
          </a:p>
        </p:txBody>
      </p:sp>
      <p:sp>
        <p:nvSpPr>
          <p:cNvPr id="31" name="Text 29"/>
          <p:cNvSpPr txBox="1"/>
          <p:nvPr/>
        </p:nvSpPr>
        <p:spPr>
          <a:xfrm>
            <a:off x="2596896" y="4709160"/>
            <a:ext cx="5477256" cy="438912"/>
          </a:xfrm>
          <a:prstGeom prst="rect">
            <a:avLst/>
          </a:prstGeom>
          <a:noFill/>
          <a:ln/>
        </p:spPr>
        <p:txBody>
          <a:bodyPr wrap="square" lIns="0" tIns="0" rIns="0" bIns="0" rtlCol="0" anchor="ctr"/>
          <a:lstStyle/>
          <a:p>
            <a:pPr indent="0" marL="0">
              <a:buNone/>
            </a:pPr>
            <a:r>
              <a:rPr lang="en-US" sz="930" dirty="0">
                <a:solidFill>
                  <a:srgbClr val="1B202A"/>
                </a:solidFill>
                <a:latin typeface="Calibri" pitchFamily="34" charset="0"/>
                <a:ea typeface="Calibri" pitchFamily="34" charset="-122"/>
                <a:cs typeface="Calibri" pitchFamily="34" charset="-120"/>
              </a:rPr>
              <a:t>Repair Agent → Verified Automatic Repair → Recovery Controller / Memory (Tier 2) → API → Dashboard</a:t>
            </a:r>
            <a:endParaRPr lang="en-US" sz="930" dirty="0"/>
          </a:p>
        </p:txBody>
      </p:sp>
      <p:sp>
        <p:nvSpPr>
          <p:cNvPr id="32" name="Shape 30"/>
          <p:cNvSpPr/>
          <p:nvPr/>
        </p:nvSpPr>
        <p:spPr>
          <a:xfrm>
            <a:off x="8357616" y="2743200"/>
            <a:ext cx="1261872" cy="896112"/>
          </a:xfrm>
          <a:prstGeom prst="roundRect">
            <a:avLst>
              <a:gd name="adj" fmla="val 5102"/>
            </a:avLst>
          </a:prstGeom>
          <a:solidFill>
            <a:srgbClr val="FBF3E3"/>
          </a:solidFill>
          <a:ln w="12700">
            <a:solidFill>
              <a:srgbClr val="C89B3C"/>
            </a:solidFill>
            <a:prstDash val="dash"/>
          </a:ln>
        </p:spPr>
      </p:sp>
      <p:sp>
        <p:nvSpPr>
          <p:cNvPr id="33" name="Text 31"/>
          <p:cNvSpPr txBox="1"/>
          <p:nvPr/>
        </p:nvSpPr>
        <p:spPr>
          <a:xfrm>
            <a:off x="8412480" y="2816352"/>
            <a:ext cx="1152144" cy="768096"/>
          </a:xfrm>
          <a:prstGeom prst="rect">
            <a:avLst/>
          </a:prstGeom>
          <a:noFill/>
          <a:ln/>
        </p:spPr>
        <p:txBody>
          <a:bodyPr wrap="square" lIns="0" tIns="0" rIns="0" bIns="0" rtlCol="0" anchor="ctr"/>
          <a:lstStyle/>
          <a:p>
            <a:pPr algn="ctr" indent="0" marL="0">
              <a:buNone/>
            </a:pPr>
            <a:r>
              <a:rPr lang="en-US" sz="980" b="1" dirty="0">
                <a:solidFill>
                  <a:srgbClr val="8E6A1F"/>
                </a:solidFill>
                <a:latin typeface="Calibri" pitchFamily="34" charset="0"/>
                <a:ea typeface="Calibri" pitchFamily="34" charset="-122"/>
                <a:cs typeface="Calibri" pitchFamily="34" charset="-120"/>
              </a:rPr>
              <a:t>LLM API</a:t>
            </a:r>
            <a:endParaRPr lang="en-US" sz="980" dirty="0"/>
          </a:p>
          <a:p>
            <a:pPr algn="ctr" indent="0" marL="0">
              <a:buNone/>
            </a:pPr>
            <a:r>
              <a:rPr lang="en-US" sz="760" dirty="0">
                <a:solidFill>
                  <a:srgbClr val="596273"/>
                </a:solidFill>
                <a:latin typeface="Calibri" pitchFamily="34" charset="0"/>
                <a:ea typeface="Calibri" pitchFamily="34" charset="-122"/>
                <a:cs typeface="Calibri" pitchFamily="34" charset="-120"/>
              </a:rPr>
              <a:t>core-assist only</a:t>
            </a:r>
            <a:endParaRPr lang="en-US" sz="980" dirty="0"/>
          </a:p>
          <a:p>
            <a:pPr algn="ctr" indent="0" marL="0">
              <a:buNone/>
            </a:pPr>
            <a:r>
              <a:rPr lang="en-US" sz="760" dirty="0">
                <a:solidFill>
                  <a:srgbClr val="596273"/>
                </a:solidFill>
                <a:latin typeface="Calibri" pitchFamily="34" charset="0"/>
                <a:ea typeface="Calibri" pitchFamily="34" charset="-122"/>
                <a:cs typeface="Calibri" pitchFamily="34" charset="-120"/>
              </a:rPr>
              <a:t>~15–20% of components</a:t>
            </a:r>
            <a:endParaRPr lang="en-US" sz="980" dirty="0"/>
          </a:p>
        </p:txBody>
      </p:sp>
      <p:sp>
        <p:nvSpPr>
          <p:cNvPr id="34" name="Text 32"/>
          <p:cNvSpPr txBox="1"/>
          <p:nvPr/>
        </p:nvSpPr>
        <p:spPr>
          <a:xfrm>
            <a:off x="2322576" y="5715000"/>
            <a:ext cx="7452360" cy="329184"/>
          </a:xfrm>
          <a:prstGeom prst="rect">
            <a:avLst/>
          </a:prstGeom>
          <a:noFill/>
          <a:ln/>
        </p:spPr>
        <p:txBody>
          <a:bodyPr wrap="square" lIns="0" tIns="0" rIns="0" bIns="0" rtlCol="0" anchor="ctr"/>
          <a:lstStyle/>
          <a:p>
            <a:pPr indent="0" marL="0">
              <a:buNone/>
            </a:pPr>
            <a:r>
              <a:rPr lang="en-US" sz="900" b="1" i="1" dirty="0">
                <a:solidFill>
                  <a:srgbClr val="1B202A"/>
                </a:solidFill>
                <a:latin typeface="Calibri" pitchFamily="34" charset="0"/>
                <a:ea typeface="Calibri" pitchFamily="34" charset="-122"/>
                <a:cs typeface="Calibri" pitchFamily="34" charset="-120"/>
              </a:rPr>
              <a:t>In scope: </a:t>
            </a:r>
            <a:pPr indent="0" marL="0">
              <a:buNone/>
            </a:pPr>
            <a:r>
              <a:rPr lang="en-US" sz="900" i="1" dirty="0">
                <a:solidFill>
                  <a:srgbClr val="596273"/>
                </a:solidFill>
                <a:latin typeface="Calibri" pitchFamily="34" charset="0"/>
                <a:ea typeface="Calibri" pitchFamily="34" charset="-122"/>
                <a:cs typeface="Calibri" pitchFamily="34" charset="-120"/>
              </a:rPr>
              <a:t>10 committed mechanisms (Tier 1 + gated Tier 2).     </a:t>
            </a:r>
            <a:pPr indent="0" marL="0">
              <a:buNone/>
            </a:pPr>
            <a:r>
              <a:rPr lang="en-US" sz="900" b="1" i="1" dirty="0">
                <a:solidFill>
                  <a:srgbClr val="1B202A"/>
                </a:solidFill>
                <a:latin typeface="Calibri" pitchFamily="34" charset="0"/>
                <a:ea typeface="Calibri" pitchFamily="34" charset="-122"/>
                <a:cs typeface="Calibri" pitchFamily="34" charset="-120"/>
              </a:rPr>
              <a:t>Out of scope: </a:t>
            </a:r>
            <a:pPr indent="0" marL="0">
              <a:buNone/>
            </a:pPr>
            <a:r>
              <a:rPr lang="en-US" sz="900" i="1" dirty="0">
                <a:solidFill>
                  <a:srgbClr val="596273"/>
                </a:solidFill>
                <a:latin typeface="Calibri" pitchFamily="34" charset="0"/>
                <a:ea typeface="Calibri" pitchFamily="34" charset="-122"/>
                <a:cs typeface="Calibri" pitchFamily="34" charset="-120"/>
              </a:rPr>
              <a:t>message queues, Kubernetes / multi-region, full RBAC, DR infrastructure, multi-tenant billing.     </a:t>
            </a:r>
            <a:pPr indent="0" marL="0">
              <a:buNone/>
            </a:pPr>
            <a:r>
              <a:rPr lang="en-US" sz="900" b="1" i="1" dirty="0">
                <a:solidFill>
                  <a:srgbClr val="8E6A1F"/>
                </a:solidFill>
                <a:latin typeface="Calibri" pitchFamily="34" charset="0"/>
                <a:ea typeface="Calibri" pitchFamily="34" charset="-122"/>
                <a:cs typeface="Calibri" pitchFamily="34" charset="-120"/>
              </a:rPr>
              <a:t>Deployment target: </a:t>
            </a:r>
            <a:pPr indent="0" marL="0">
              <a:buNone/>
            </a:pPr>
            <a:r>
              <a:rPr lang="en-US" sz="900" i="1" dirty="0">
                <a:solidFill>
                  <a:srgbClr val="596273"/>
                </a:solidFill>
                <a:latin typeface="Calibri" pitchFamily="34" charset="0"/>
                <a:ea typeface="Calibri" pitchFamily="34" charset="-122"/>
                <a:cs typeface="Calibri" pitchFamily="34" charset="-120"/>
              </a:rPr>
              <a:t>containerized (Docker) with a pip-installable SDK — installed and operated from documented steps by someone who did not build it.</a:t>
            </a:r>
            <a:endParaRPr lang="en-US" sz="900" dirty="0"/>
          </a:p>
        </p:txBody>
      </p:sp>
      <p:sp>
        <p:nvSpPr>
          <p:cNvPr id="35" name="Text 33"/>
          <p:cNvSpPr txBox="1"/>
          <p:nvPr/>
        </p:nvSpPr>
        <p:spPr>
          <a:xfrm>
            <a:off x="566928" y="6044184"/>
            <a:ext cx="11057839" cy="201168"/>
          </a:xfrm>
          <a:prstGeom prst="rect">
            <a:avLst/>
          </a:prstGeom>
          <a:noFill/>
          <a:ln/>
        </p:spPr>
        <p:txBody>
          <a:bodyPr wrap="square" lIns="0" tIns="0" rIns="0" bIns="0" rtlCol="0" anchor="ctr"/>
          <a:lstStyle/>
          <a:p>
            <a:pPr indent="0" marL="0">
              <a:buNone/>
            </a:pPr>
            <a:r>
              <a:rPr lang="en-US" sz="800" dirty="0">
                <a:solidFill>
                  <a:srgbClr val="8B92A2"/>
                </a:solidFill>
                <a:latin typeface="Consolas" pitchFamily="34" charset="0"/>
                <a:ea typeface="Consolas" pitchFamily="34" charset="-122"/>
                <a:cs typeface="Consolas" pitchFamily="34" charset="-120"/>
              </a:rPr>
              <a:t>▸ Software_Design_Specification.md §2–§6  ·  plan §7.0 (frozen scope)  ·  architecture-sketch.md</a:t>
            </a:r>
            <a:endParaRPr lang="en-US" sz="800" dirty="0"/>
          </a:p>
        </p:txBody>
      </p:sp>
      <p:sp>
        <p:nvSpPr>
          <p:cNvPr id="36" name="Text 34"/>
          <p:cNvSpPr txBox="1"/>
          <p:nvPr/>
        </p:nvSpPr>
        <p:spPr>
          <a:xfrm>
            <a:off x="566928" y="6227064"/>
            <a:ext cx="11057839" cy="201168"/>
          </a:xfrm>
          <a:prstGeom prst="rect">
            <a:avLst/>
          </a:prstGeom>
          <a:noFill/>
          <a:ln/>
        </p:spPr>
        <p:txBody>
          <a:bodyPr wrap="square" lIns="0" tIns="0" rIns="0" bIns="0" rtlCol="0" anchor="ctr"/>
          <a:lstStyle/>
          <a:p>
            <a:pPr indent="0" marL="0">
              <a:buNone/>
            </a:pPr>
            <a:r>
              <a:rPr lang="en-US" sz="800" dirty="0">
                <a:solidFill>
                  <a:srgbClr val="8B92A2"/>
                </a:solidFill>
                <a:latin typeface="Consolas" pitchFamily="34" charset="0"/>
                <a:ea typeface="Consolas" pitchFamily="34" charset="-122"/>
                <a:cs typeface="Consolas" pitchFamily="34" charset="-120"/>
              </a:rPr>
              <a:t>▸ Full traceable spec: Use Case Model + diagram · 3 System Sequence Diagrams · SRS · Test Plan · Software Development Plan · Traceability Matrix · 16-screen wireframes</a:t>
            </a:r>
            <a:endParaRPr lang="en-US" sz="8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10896"/>
            <a:ext cx="11057839" cy="237744"/>
          </a:xfrm>
          <a:prstGeom prst="rect">
            <a:avLst/>
          </a:prstGeom>
          <a:noFill/>
          <a:ln/>
        </p:spPr>
        <p:txBody>
          <a:bodyPr wrap="square" lIns="0" tIns="0" rIns="0" bIns="0" rtlCol="0" anchor="ctr"/>
          <a:lstStyle/>
          <a:p>
            <a:pPr indent="0" marL="0">
              <a:buNone/>
            </a:pPr>
            <a:r>
              <a:rPr lang="en-US" sz="1050" b="1" spc="180" kern="0" dirty="0">
                <a:solidFill>
                  <a:srgbClr val="8E6A1F"/>
                </a:solidFill>
                <a:latin typeface="Consolas" pitchFamily="34" charset="0"/>
                <a:ea typeface="Consolas" pitchFamily="34" charset="-122"/>
                <a:cs typeface="Consolas" pitchFamily="34" charset="-120"/>
              </a:rPr>
              <a:t>“SHOW THE EVIDENCE — DO NOT MERELY DESCRIBE THAT IT EXISTS”</a:t>
            </a:r>
            <a:endParaRPr lang="en-US" sz="10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indent="0" marL="0">
              <a:buNone/>
            </a:pPr>
            <a:r>
              <a:rPr lang="en-US" sz="2700" b="1" dirty="0">
                <a:solidFill>
                  <a:srgbClr val="1B202A"/>
                </a:solidFill>
                <a:latin typeface="Georgia" pitchFamily="34" charset="0"/>
                <a:ea typeface="Georgia" pitchFamily="34" charset="-122"/>
                <a:cs typeface="Georgia" pitchFamily="34" charset="-120"/>
              </a:rPr>
              <a:t>POC / Feasibility Evidence</a:t>
            </a:r>
            <a:endParaRPr lang="en-US" sz="2700" dirty="0"/>
          </a:p>
        </p:txBody>
      </p:sp>
      <p:sp>
        <p:nvSpPr>
          <p:cNvPr id="7" name="Shape 5"/>
          <p:cNvSpPr/>
          <p:nvPr/>
        </p:nvSpPr>
        <p:spPr>
          <a:xfrm>
            <a:off x="566928" y="1188720"/>
            <a:ext cx="566928" cy="36576"/>
          </a:xfrm>
          <a:prstGeom prst="rect">
            <a:avLst/>
          </a:prstGeom>
          <a:solidFill>
            <a:srgbClr val="C89B3C"/>
          </a:solidFill>
          <a:ln/>
        </p:spPr>
      </p:sp>
      <p:sp>
        <p:nvSpPr>
          <p:cNvPr id="8" name="Shape 6"/>
          <p:cNvSpPr/>
          <p:nvPr/>
        </p:nvSpPr>
        <p:spPr>
          <a:xfrm>
            <a:off x="566928" y="6437376"/>
            <a:ext cx="11057839" cy="0"/>
          </a:xfrm>
          <a:prstGeom prst="line">
            <a:avLst/>
          </a:prstGeom>
          <a:noFill/>
          <a:ln w="9525">
            <a:solidFill>
              <a:srgbClr val="D9DCE3"/>
            </a:solidFill>
            <a:prstDash val="solid"/>
          </a:ln>
        </p:spPr>
      </p:sp>
      <p:sp>
        <p:nvSpPr>
          <p:cNvPr id="9" name="Text 7"/>
          <p:cNvSpPr txBox="1"/>
          <p:nvPr/>
        </p:nvSpPr>
        <p:spPr>
          <a:xfrm>
            <a:off x="566928" y="6492240"/>
            <a:ext cx="5943600" cy="237744"/>
          </a:xfrm>
          <a:prstGeom prst="rect">
            <a:avLst/>
          </a:prstGeom>
          <a:noFill/>
          <a:ln/>
        </p:spPr>
        <p:txBody>
          <a:bodyPr wrap="square" lIns="0" tIns="0" rIns="0" bIns="0" rtlCol="0" anchor="ctr"/>
          <a:lstStyle/>
          <a:p>
            <a:pPr indent="0" marL="0">
              <a:buNone/>
            </a:pPr>
            <a:r>
              <a:rPr lang="en-US" sz="850" spc="80" kern="0" dirty="0">
                <a:solidFill>
                  <a:srgbClr val="8B92A2"/>
                </a:solidFill>
                <a:latin typeface="Consolas" pitchFamily="34" charset="0"/>
                <a:ea typeface="Consolas" pitchFamily="34" charset="-122"/>
                <a:cs typeface="Consolas" pitchFamily="34" charset="-120"/>
              </a:rPr>
              <a:t>F26-060-GRANITE  ·  PROPOSAL DEFENSE  ·  STREAM A</a:t>
            </a:r>
            <a:endParaRPr lang="en-US" sz="850" dirty="0"/>
          </a:p>
        </p:txBody>
      </p:sp>
      <p:sp>
        <p:nvSpPr>
          <p:cNvPr id="10" name="Text 8"/>
          <p:cNvSpPr txBox="1"/>
          <p:nvPr/>
        </p:nvSpPr>
        <p:spPr>
          <a:xfrm>
            <a:off x="10527487" y="6492240"/>
            <a:ext cx="1097280" cy="237744"/>
          </a:xfrm>
          <a:prstGeom prst="rect">
            <a:avLst/>
          </a:prstGeom>
          <a:noFill/>
          <a:ln/>
        </p:spPr>
        <p:txBody>
          <a:bodyPr wrap="square" lIns="0" tIns="0" rIns="0" bIns="0" rtlCol="0" anchor="ctr"/>
          <a:lstStyle/>
          <a:p>
            <a:pPr algn="r" indent="0" marL="0">
              <a:buNone/>
            </a:pPr>
            <a:r>
              <a:rPr lang="en-US" sz="850" b="1" dirty="0">
                <a:solidFill>
                  <a:srgbClr val="8E6A1F"/>
                </a:solidFill>
                <a:latin typeface="Consolas" pitchFamily="34" charset="0"/>
                <a:ea typeface="Consolas" pitchFamily="34" charset="-122"/>
                <a:cs typeface="Consolas" pitchFamily="34" charset="-120"/>
              </a:rPr>
              <a:t>7 / 10</a:t>
            </a:r>
            <a:endParaRPr lang="en-US" sz="850" dirty="0"/>
          </a:p>
        </p:txBody>
      </p:sp>
      <p:sp>
        <p:nvSpPr>
          <p:cNvPr id="11" name="Text 9"/>
          <p:cNvSpPr txBox="1"/>
          <p:nvPr/>
        </p:nvSpPr>
        <p:spPr>
          <a:xfrm>
            <a:off x="566928" y="1335024"/>
            <a:ext cx="2581580" cy="475488"/>
          </a:xfrm>
          <a:prstGeom prst="rect">
            <a:avLst/>
          </a:prstGeom>
          <a:noFill/>
          <a:ln/>
        </p:spPr>
        <p:txBody>
          <a:bodyPr wrap="square" lIns="0" tIns="0" rIns="0" bIns="0" rtlCol="0" anchor="ctr"/>
          <a:lstStyle/>
          <a:p>
            <a:pPr indent="0" marL="0">
              <a:buNone/>
            </a:pPr>
            <a:r>
              <a:rPr lang="en-US" sz="2900" b="1" dirty="0">
                <a:solidFill>
                  <a:srgbClr val="8E6A1F"/>
                </a:solidFill>
                <a:latin typeface="Georgia" pitchFamily="34" charset="0"/>
                <a:ea typeface="Georgia" pitchFamily="34" charset="-122"/>
                <a:cs typeface="Georgia" pitchFamily="34" charset="-120"/>
              </a:rPr>
              <a:t>71.4%</a:t>
            </a:r>
            <a:endParaRPr lang="en-US" sz="2900" dirty="0"/>
          </a:p>
        </p:txBody>
      </p:sp>
      <p:sp>
        <p:nvSpPr>
          <p:cNvPr id="12" name="Text 10"/>
          <p:cNvSpPr txBox="1"/>
          <p:nvPr/>
        </p:nvSpPr>
        <p:spPr>
          <a:xfrm>
            <a:off x="566928" y="1810512"/>
            <a:ext cx="2490140" cy="402336"/>
          </a:xfrm>
          <a:prstGeom prst="rect">
            <a:avLst/>
          </a:prstGeom>
          <a:noFill/>
          <a:ln/>
        </p:spPr>
        <p:txBody>
          <a:bodyPr wrap="square" lIns="0" tIns="0" rIns="0" bIns="0" rtlCol="0" anchor="ctr"/>
          <a:lstStyle/>
          <a:p>
            <a:pPr indent="0" marL="0">
              <a:buNone/>
            </a:pPr>
            <a:r>
              <a:rPr lang="en-US" sz="930" dirty="0">
                <a:solidFill>
                  <a:srgbClr val="596273"/>
                </a:solidFill>
                <a:latin typeface="Calibri" pitchFamily="34" charset="0"/>
                <a:ea typeface="Calibri" pitchFamily="34" charset="-122"/>
                <a:cs typeface="Calibri" pitchFamily="34" charset="-120"/>
              </a:rPr>
              <a:t>agent accuracy — mean of 5 real runs</a:t>
            </a:r>
            <a:endParaRPr lang="en-US" sz="930" dirty="0"/>
          </a:p>
        </p:txBody>
      </p:sp>
      <p:sp>
        <p:nvSpPr>
          <p:cNvPr id="13" name="Text 11"/>
          <p:cNvSpPr txBox="1"/>
          <p:nvPr/>
        </p:nvSpPr>
        <p:spPr>
          <a:xfrm>
            <a:off x="3331388" y="1335024"/>
            <a:ext cx="2581580" cy="475488"/>
          </a:xfrm>
          <a:prstGeom prst="rect">
            <a:avLst/>
          </a:prstGeom>
          <a:noFill/>
          <a:ln/>
        </p:spPr>
        <p:txBody>
          <a:bodyPr wrap="square" lIns="0" tIns="0" rIns="0" bIns="0" rtlCol="0" anchor="ctr"/>
          <a:lstStyle/>
          <a:p>
            <a:pPr indent="0" marL="0">
              <a:buNone/>
            </a:pPr>
            <a:r>
              <a:rPr lang="en-US" sz="2900" b="1" dirty="0">
                <a:solidFill>
                  <a:srgbClr val="8E6A1F"/>
                </a:solidFill>
                <a:latin typeface="Georgia" pitchFamily="34" charset="0"/>
                <a:ea typeface="Georgia" pitchFamily="34" charset="-122"/>
                <a:cs typeface="Georgia" pitchFamily="34" charset="-120"/>
              </a:rPr>
              <a:t>13.2%</a:t>
            </a:r>
            <a:endParaRPr lang="en-US" sz="2900" dirty="0"/>
          </a:p>
        </p:txBody>
      </p:sp>
      <p:sp>
        <p:nvSpPr>
          <p:cNvPr id="14" name="Text 12"/>
          <p:cNvSpPr txBox="1"/>
          <p:nvPr/>
        </p:nvSpPr>
        <p:spPr>
          <a:xfrm>
            <a:off x="3331388" y="1810512"/>
            <a:ext cx="2490140" cy="402336"/>
          </a:xfrm>
          <a:prstGeom prst="rect">
            <a:avLst/>
          </a:prstGeom>
          <a:noFill/>
          <a:ln/>
        </p:spPr>
        <p:txBody>
          <a:bodyPr wrap="square" lIns="0" tIns="0" rIns="0" bIns="0" rtlCol="0" anchor="ctr"/>
          <a:lstStyle/>
          <a:p>
            <a:pPr indent="0" marL="0">
              <a:buNone/>
            </a:pPr>
            <a:r>
              <a:rPr lang="en-US" sz="930" dirty="0">
                <a:solidFill>
                  <a:srgbClr val="596273"/>
                </a:solidFill>
                <a:latin typeface="Calibri" pitchFamily="34" charset="0"/>
                <a:ea typeface="Calibri" pitchFamily="34" charset="-122"/>
                <a:cs typeface="Calibri" pitchFamily="34" charset="-120"/>
              </a:rPr>
              <a:t>step accuracy — mean of 5 real runs</a:t>
            </a:r>
            <a:endParaRPr lang="en-US" sz="930" dirty="0"/>
          </a:p>
        </p:txBody>
      </p:sp>
      <p:sp>
        <p:nvSpPr>
          <p:cNvPr id="15" name="Text 13"/>
          <p:cNvSpPr txBox="1"/>
          <p:nvPr/>
        </p:nvSpPr>
        <p:spPr>
          <a:xfrm>
            <a:off x="6095848" y="1335024"/>
            <a:ext cx="2581580" cy="475488"/>
          </a:xfrm>
          <a:prstGeom prst="rect">
            <a:avLst/>
          </a:prstGeom>
          <a:noFill/>
          <a:ln/>
        </p:spPr>
        <p:txBody>
          <a:bodyPr wrap="square" lIns="0" tIns="0" rIns="0" bIns="0" rtlCol="0" anchor="ctr"/>
          <a:lstStyle/>
          <a:p>
            <a:pPr indent="0" marL="0">
              <a:buNone/>
            </a:pPr>
            <a:r>
              <a:rPr lang="en-US" sz="2900" b="1" dirty="0">
                <a:solidFill>
                  <a:srgbClr val="8E6A1F"/>
                </a:solidFill>
                <a:latin typeface="Georgia" pitchFamily="34" charset="0"/>
                <a:ea typeface="Georgia" pitchFamily="34" charset="-122"/>
                <a:cs typeface="Georgia" pitchFamily="34" charset="-120"/>
              </a:rPr>
              <a:t>4 / 6</a:t>
            </a:r>
            <a:endParaRPr lang="en-US" sz="2900" dirty="0"/>
          </a:p>
        </p:txBody>
      </p:sp>
      <p:sp>
        <p:nvSpPr>
          <p:cNvPr id="16" name="Text 14"/>
          <p:cNvSpPr txBox="1"/>
          <p:nvPr/>
        </p:nvSpPr>
        <p:spPr>
          <a:xfrm>
            <a:off x="6095848" y="1810512"/>
            <a:ext cx="2490140" cy="402336"/>
          </a:xfrm>
          <a:prstGeom prst="rect">
            <a:avLst/>
          </a:prstGeom>
          <a:noFill/>
          <a:ln/>
        </p:spPr>
        <p:txBody>
          <a:bodyPr wrap="square" lIns="0" tIns="0" rIns="0" bIns="0" rtlCol="0" anchor="ctr"/>
          <a:lstStyle/>
          <a:p>
            <a:pPr indent="0" marL="0">
              <a:buNone/>
            </a:pPr>
            <a:r>
              <a:rPr lang="en-US" sz="930" dirty="0">
                <a:solidFill>
                  <a:srgbClr val="596273"/>
                </a:solidFill>
                <a:latin typeface="Calibri" pitchFamily="34" charset="0"/>
                <a:ea typeface="Calibri" pitchFamily="34" charset="-122"/>
                <a:cs typeface="Calibri" pitchFamily="34" charset="-120"/>
              </a:rPr>
              <a:t>Repair Agent success (Spike 8)</a:t>
            </a:r>
            <a:endParaRPr lang="en-US" sz="930" dirty="0"/>
          </a:p>
        </p:txBody>
      </p:sp>
      <p:sp>
        <p:nvSpPr>
          <p:cNvPr id="17" name="Text 15"/>
          <p:cNvSpPr txBox="1"/>
          <p:nvPr/>
        </p:nvSpPr>
        <p:spPr>
          <a:xfrm>
            <a:off x="8860307" y="1335024"/>
            <a:ext cx="2581580" cy="475488"/>
          </a:xfrm>
          <a:prstGeom prst="rect">
            <a:avLst/>
          </a:prstGeom>
          <a:noFill/>
          <a:ln/>
        </p:spPr>
        <p:txBody>
          <a:bodyPr wrap="square" lIns="0" tIns="0" rIns="0" bIns="0" rtlCol="0" anchor="ctr"/>
          <a:lstStyle/>
          <a:p>
            <a:pPr indent="0" marL="0">
              <a:buNone/>
            </a:pPr>
            <a:r>
              <a:rPr lang="en-US" sz="2900" b="1" dirty="0">
                <a:solidFill>
                  <a:srgbClr val="8E6A1F"/>
                </a:solidFill>
                <a:latin typeface="Georgia" pitchFamily="34" charset="0"/>
                <a:ea typeface="Georgia" pitchFamily="34" charset="-122"/>
                <a:cs typeface="Georgia" pitchFamily="34" charset="-120"/>
              </a:rPr>
              <a:t>8 / 8</a:t>
            </a:r>
            <a:endParaRPr lang="en-US" sz="2900" dirty="0"/>
          </a:p>
        </p:txBody>
      </p:sp>
      <p:sp>
        <p:nvSpPr>
          <p:cNvPr id="18" name="Text 16"/>
          <p:cNvSpPr txBox="1"/>
          <p:nvPr/>
        </p:nvSpPr>
        <p:spPr>
          <a:xfrm>
            <a:off x="8860307" y="1810512"/>
            <a:ext cx="2490140" cy="402336"/>
          </a:xfrm>
          <a:prstGeom prst="rect">
            <a:avLst/>
          </a:prstGeom>
          <a:noFill/>
          <a:ln/>
        </p:spPr>
        <p:txBody>
          <a:bodyPr wrap="square" lIns="0" tIns="0" rIns="0" bIns="0" rtlCol="0" anchor="ctr"/>
          <a:lstStyle/>
          <a:p>
            <a:pPr indent="0" marL="0">
              <a:buNone/>
            </a:pPr>
            <a:r>
              <a:rPr lang="en-US" sz="930" dirty="0">
                <a:solidFill>
                  <a:srgbClr val="596273"/>
                </a:solidFill>
                <a:latin typeface="Calibri" pitchFamily="34" charset="0"/>
                <a:ea typeface="Calibri" pitchFamily="34" charset="-122"/>
                <a:cs typeface="Calibri" pitchFamily="34" charset="-120"/>
              </a:rPr>
              <a:t>spikes with real, on-disk evidence</a:t>
            </a:r>
            <a:endParaRPr lang="en-US" sz="930" dirty="0"/>
          </a:p>
        </p:txBody>
      </p:sp>
      <p:sp>
        <p:nvSpPr>
          <p:cNvPr id="19" name="Shape 17"/>
          <p:cNvSpPr/>
          <p:nvPr/>
        </p:nvSpPr>
        <p:spPr>
          <a:xfrm>
            <a:off x="566928" y="2249424"/>
            <a:ext cx="11057839" cy="0"/>
          </a:xfrm>
          <a:prstGeom prst="line">
            <a:avLst/>
          </a:prstGeom>
          <a:noFill/>
          <a:ln w="9525">
            <a:solidFill>
              <a:srgbClr val="D9DCE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7839" cy="3063240"/>
        </p:xfrm>
        <a:graphic>
          <a:graphicData uri="http://schemas.openxmlformats.org/drawingml/2006/table">
            <a:tbl>
              <a:tblPr/>
              <a:tblGrid>
                <a:gridCol w="457200"/>
                <a:gridCol w="2331720"/>
                <a:gridCol w="1874520"/>
                <a:gridCol w="6419088"/>
              </a:tblGrid>
              <a:tr h="340360">
                <a:tc>
                  <a:txBody>
                    <a:bodyPr/>
                    <a:lstStyle/>
                    <a:p>
                      <a:pPr algn="ctr" indent="0" marL="0">
                        <a:buNone/>
                      </a:pPr>
                      <a:r>
                        <a:rPr lang="en-US" sz="900" b="1" dirty="0">
                          <a:solidFill>
                            <a:srgbClr val="F5F6F8"/>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900" b="1" dirty="0">
                          <a:solidFill>
                            <a:srgbClr val="F5F6F8"/>
                          </a:solidFill>
                          <a:latin typeface="Calibri" pitchFamily="34" charset="0"/>
                          <a:ea typeface="Calibri" pitchFamily="34" charset="-122"/>
                          <a:cs typeface="Calibri" pitchFamily="34" charset="-120"/>
                        </a:rPr>
                        <a:t>Spike</a:t>
                      </a:r>
                      <a:endParaRPr lang="en-US" sz="9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900" b="1" dirty="0">
                          <a:solidFill>
                            <a:srgbClr val="F5F6F8"/>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900" b="1" dirty="0">
                          <a:solidFill>
                            <a:srgbClr val="F5F6F8"/>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340360">
                <a:tc>
                  <a:txBody>
                    <a:bodyPr/>
                    <a:lstStyle/>
                    <a:p>
                      <a:pPr algn="ctr" indent="0" marL="0">
                        <a:buNone/>
                      </a:pPr>
                      <a:r>
                        <a:rPr lang="en-US" sz="880" dirty="0">
                          <a:solidFill>
                            <a:srgbClr val="1B202A"/>
                          </a:solidFill>
                          <a:latin typeface="Calibri" pitchFamily="34" charset="0"/>
                          <a:ea typeface="Calibri" pitchFamily="34" charset="-122"/>
                          <a:cs typeface="Calibri" pitchFamily="34" charset="-120"/>
                        </a:rPr>
                        <a:t>1</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ErrorProbe reproduction (simplified)</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880" b="1" dirty="0">
                          <a:solidFill>
                            <a:srgbClr val="1E7A52"/>
                          </a:solidFill>
                          <a:latin typeface="Calibri" pitchFamily="34" charset="0"/>
                          <a:ea typeface="Calibri" pitchFamily="34" charset="-122"/>
                          <a:cs typeface="Calibri" pitchFamily="34" charset="-120"/>
                        </a:rPr>
                        <a:t>DEMONSTRATED</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agent 62.5–85.7% (mean 71.4%) · step 0–25% (mean 13.2%) — 5 real runs, a range not a point estimate</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340360">
                <a:tc>
                  <a:txBody>
                    <a:bodyPr/>
                    <a:lstStyle/>
                    <a:p>
                      <a:pPr algn="ctr" indent="0" marL="0">
                        <a:buNone/>
                      </a:pPr>
                      <a:r>
                        <a:rPr lang="en-US" sz="880" dirty="0">
                          <a:solidFill>
                            <a:srgbClr val="1B202A"/>
                          </a:solidFill>
                          <a:latin typeface="Calibri" pitchFamily="34" charset="0"/>
                          <a:ea typeface="Calibri" pitchFamily="34" charset="-122"/>
                          <a:cs typeface="Calibri" pitchFamily="34" charset="-120"/>
                        </a:rPr>
                        <a:t>2</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CrewAI instrumentation</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b="1" dirty="0">
                          <a:solidFill>
                            <a:srgbClr val="1E7A52"/>
                          </a:solidFill>
                          <a:latin typeface="Calibri" pitchFamily="34" charset="0"/>
                          <a:ea typeface="Calibri" pitchFamily="34" charset="-122"/>
                          <a:cs typeface="Calibri" pitchFamily="34" charset="-120"/>
                        </a:rPr>
                        <a:t>DEMONSTRATED</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Clean trace: 3 nodes, 2 correctly-ordered edges</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340360">
                <a:tc>
                  <a:txBody>
                    <a:bodyPr/>
                    <a:lstStyle/>
                    <a:p>
                      <a:pPr algn="ctr" indent="0" marL="0">
                        <a:buNone/>
                      </a:pPr>
                      <a:r>
                        <a:rPr lang="en-US" sz="880" dirty="0">
                          <a:solidFill>
                            <a:srgbClr val="1B202A"/>
                          </a:solidFill>
                          <a:latin typeface="Calibri" pitchFamily="34" charset="0"/>
                          <a:ea typeface="Calibri" pitchFamily="34" charset="-122"/>
                          <a:cs typeface="Calibri" pitchFamily="34" charset="-120"/>
                        </a:rPr>
                        <a:t>3/3b</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Fault injection</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880" b="1" dirty="0">
                          <a:solidFill>
                            <a:srgbClr val="1E7A52"/>
                          </a:solidFill>
                          <a:latin typeface="Calibri" pitchFamily="34" charset="0"/>
                          <a:ea typeface="Calibri" pitchFamily="34" charset="-122"/>
                          <a:cs typeface="Calibri" pitchFamily="34" charset="-120"/>
                        </a:rPr>
                        <a:t>DEMONSTRATED</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Ground truth unambiguous; one case self-corrected by the agent — kept as a finding</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340360">
                <a:tc>
                  <a:txBody>
                    <a:bodyPr/>
                    <a:lstStyle/>
                    <a:p>
                      <a:pPr algn="ctr" indent="0" marL="0">
                        <a:buNone/>
                      </a:pPr>
                      <a:r>
                        <a:rPr lang="en-US" sz="880" dirty="0">
                          <a:solidFill>
                            <a:srgbClr val="1B202A"/>
                          </a:solidFill>
                          <a:latin typeface="Calibri" pitchFamily="34" charset="0"/>
                          <a:ea typeface="Calibri" pitchFamily="34" charset="-122"/>
                          <a:cs typeface="Calibri" pitchFamily="34" charset="-120"/>
                        </a:rPr>
                        <a:t>4</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Semantic Error Diagnostic</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b="1" dirty="0">
                          <a:solidFill>
                            <a:srgbClr val="1E7A52"/>
                          </a:solidFill>
                          <a:latin typeface="Calibri" pitchFamily="34" charset="0"/>
                          <a:ea typeface="Calibri" pitchFamily="34" charset="-122"/>
                          <a:cs typeface="Calibri" pitchFamily="34" charset="-120"/>
                        </a:rPr>
                        <a:t>DEMONSTRATED</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Catches known-wrong values incl. a near-miss ($20.00 vs $19.75), zero false positives</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340360">
                <a:tc>
                  <a:txBody>
                    <a:bodyPr/>
                    <a:lstStyle/>
                    <a:p>
                      <a:pPr algn="ctr" indent="0" marL="0">
                        <a:buNone/>
                      </a:pPr>
                      <a:r>
                        <a:rPr lang="en-US" sz="880" dirty="0">
                          <a:solidFill>
                            <a:srgbClr val="1B202A"/>
                          </a:solidFill>
                          <a:latin typeface="Calibri" pitchFamily="34" charset="0"/>
                          <a:ea typeface="Calibri" pitchFamily="34" charset="-122"/>
                          <a:cs typeface="Calibri" pitchFamily="34" charset="-120"/>
                        </a:rPr>
                        <a:t>5</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Controlled counterfactual replay</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880" b="1" dirty="0">
                          <a:solidFill>
                            <a:srgbClr val="1E7A52"/>
                          </a:solidFill>
                          <a:latin typeface="Calibri" pitchFamily="34" charset="0"/>
                          <a:ea typeface="Calibri" pitchFamily="34" charset="-122"/>
                          <a:cs typeface="Calibri" pitchFamily="34" charset="-120"/>
                        </a:rPr>
                        <a:t>DEMONSTRATED</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Corrupted trace 97.2 → recovered 108.0, recovery_success = true</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340360">
                <a:tc>
                  <a:txBody>
                    <a:bodyPr/>
                    <a:lstStyle/>
                    <a:p>
                      <a:pPr algn="ctr" indent="0" marL="0">
                        <a:buNone/>
                      </a:pPr>
                      <a:r>
                        <a:rPr lang="en-US" sz="880" dirty="0">
                          <a:solidFill>
                            <a:srgbClr val="1B202A"/>
                          </a:solidFill>
                          <a:latin typeface="Calibri" pitchFamily="34" charset="0"/>
                          <a:ea typeface="Calibri" pitchFamily="34" charset="-122"/>
                          <a:cs typeface="Calibri" pitchFamily="34" charset="-120"/>
                        </a:rPr>
                        <a:t>6</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Cyclic graph handling</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b="1" dirty="0">
                          <a:solidFill>
                            <a:srgbClr val="1E7A52"/>
                          </a:solidFill>
                          <a:latin typeface="Calibri" pitchFamily="34" charset="0"/>
                          <a:ea typeface="Calibri" pitchFamily="34" charset="-122"/>
                          <a:cs typeface="Calibri" pitchFamily="34" charset="-120"/>
                        </a:rPr>
                        <a:t>DEMONSTRATED</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Bound proven load-bearing: control run with it disabled hit the 10,000-step safety cap</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340360">
                <a:tc>
                  <a:txBody>
                    <a:bodyPr/>
                    <a:lstStyle/>
                    <a:p>
                      <a:pPr algn="ctr" indent="0" marL="0">
                        <a:buNone/>
                      </a:pPr>
                      <a:r>
                        <a:rPr lang="en-US" sz="880" dirty="0">
                          <a:solidFill>
                            <a:srgbClr val="1B202A"/>
                          </a:solidFill>
                          <a:latin typeface="Calibri" pitchFamily="34" charset="0"/>
                          <a:ea typeface="Calibri" pitchFamily="34" charset="-122"/>
                          <a:cs typeface="Calibri" pitchFamily="34" charset="-120"/>
                        </a:rPr>
                        <a:t>7</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Preventive classifier</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880" b="1" dirty="0">
                          <a:solidFill>
                            <a:srgbClr val="A8760F"/>
                          </a:solidFill>
                          <a:latin typeface="Calibri" pitchFamily="34" charset="0"/>
                          <a:ea typeface="Calibri" pitchFamily="34" charset="-122"/>
                          <a:cs typeface="Calibri" pitchFamily="34" charset="-120"/>
                        </a:rPr>
                        <a:t>HONEST NEGATIVE</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precision / recall / F1 = 0.25, near-random — reported, not hidden</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r>
              <a:tr h="340360">
                <a:tc>
                  <a:txBody>
                    <a:bodyPr/>
                    <a:lstStyle/>
                    <a:p>
                      <a:pPr algn="ctr" indent="0" marL="0">
                        <a:buNone/>
                      </a:pPr>
                      <a:r>
                        <a:rPr lang="en-US" sz="880" dirty="0">
                          <a:solidFill>
                            <a:srgbClr val="1B202A"/>
                          </a:solidFill>
                          <a:latin typeface="Calibri" pitchFamily="34" charset="0"/>
                          <a:ea typeface="Calibri" pitchFamily="34" charset="-122"/>
                          <a:cs typeface="Calibri" pitchFamily="34" charset="-120"/>
                        </a:rPr>
                        <a:t>8</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Repair Agent</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b="1" dirty="0">
                          <a:solidFill>
                            <a:srgbClr val="1E7A52"/>
                          </a:solidFill>
                          <a:latin typeface="Calibri" pitchFamily="34" charset="0"/>
                          <a:ea typeface="Calibri" pitchFamily="34" charset="-122"/>
                          <a:cs typeface="Calibri" pitchFamily="34" charset="-120"/>
                        </a:rPr>
                        <a:t>DEMONSTRATED</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880" dirty="0">
                          <a:solidFill>
                            <a:srgbClr val="1B202A"/>
                          </a:solidFill>
                          <a:latin typeface="Calibri" pitchFamily="34" charset="0"/>
                          <a:ea typeface="Calibri" pitchFamily="34" charset="-122"/>
                          <a:cs typeface="Calibri" pitchFamily="34" charset="-120"/>
                        </a:rPr>
                        <a:t>4/6 repair success; both failures share one precisely diagnosed, fixable cause</a:t>
                      </a:r>
                      <a:endParaRPr lang="en-US" sz="88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bl>
          </a:graphicData>
        </a:graphic>
      </p:graphicFrame>
      <p:sp>
        <p:nvSpPr>
          <p:cNvPr id="21" name="Shape 18"/>
          <p:cNvSpPr/>
          <p:nvPr/>
        </p:nvSpPr>
        <p:spPr>
          <a:xfrm>
            <a:off x="587045" y="5566867"/>
            <a:ext cx="11057839" cy="603504"/>
          </a:xfrm>
          <a:prstGeom prst="roundRect">
            <a:avLst>
              <a:gd name="adj" fmla="val 9091"/>
            </a:avLst>
          </a:prstGeom>
          <a:solidFill>
            <a:srgbClr val="E4E6EB"/>
          </a:solidFill>
          <a:ln/>
        </p:spPr>
      </p:sp>
      <p:sp>
        <p:nvSpPr>
          <p:cNvPr id="22" name="Shape 19"/>
          <p:cNvSpPr/>
          <p:nvPr/>
        </p:nvSpPr>
        <p:spPr>
          <a:xfrm>
            <a:off x="566928" y="5541264"/>
            <a:ext cx="11057839" cy="603504"/>
          </a:xfrm>
          <a:prstGeom prst="roundRect">
            <a:avLst>
              <a:gd name="adj" fmla="val 9091"/>
            </a:avLst>
          </a:prstGeom>
          <a:solidFill>
            <a:srgbClr val="F7EFDC"/>
          </a:solidFill>
          <a:ln w="9525">
            <a:solidFill>
              <a:srgbClr val="D9DCE3"/>
            </a:solidFill>
            <a:prstDash val="solid"/>
          </a:ln>
        </p:spPr>
      </p:sp>
      <p:sp>
        <p:nvSpPr>
          <p:cNvPr id="23" name="Shape 20"/>
          <p:cNvSpPr/>
          <p:nvPr/>
        </p:nvSpPr>
        <p:spPr>
          <a:xfrm>
            <a:off x="566928" y="5596128"/>
            <a:ext cx="41148" cy="493776"/>
          </a:xfrm>
          <a:prstGeom prst="rect">
            <a:avLst/>
          </a:prstGeom>
          <a:solidFill>
            <a:srgbClr val="A8760F"/>
          </a:solidFill>
          <a:ln/>
        </p:spPr>
      </p:sp>
      <p:sp>
        <p:nvSpPr>
          <p:cNvPr id="24" name="Text 21"/>
          <p:cNvSpPr txBox="1"/>
          <p:nvPr/>
        </p:nvSpPr>
        <p:spPr>
          <a:xfrm>
            <a:off x="768096" y="5641848"/>
            <a:ext cx="10655503" cy="402336"/>
          </a:xfrm>
          <a:prstGeom prst="rect">
            <a:avLst/>
          </a:prstGeom>
          <a:noFill/>
          <a:ln/>
        </p:spPr>
        <p:txBody>
          <a:bodyPr wrap="square" lIns="0" tIns="0" rIns="0" bIns="0" rtlCol="0" anchor="ctr"/>
          <a:lstStyle/>
          <a:p>
            <a:pPr indent="0" marL="0">
              <a:buNone/>
            </a:pPr>
            <a:r>
              <a:rPr lang="en-US" sz="980" b="1" dirty="0">
                <a:solidFill>
                  <a:srgbClr val="A8760F"/>
                </a:solidFill>
                <a:latin typeface="Calibri" pitchFamily="34" charset="0"/>
                <a:ea typeface="Calibri" pitchFamily="34" charset="-122"/>
                <a:cs typeface="Calibri" pitchFamily="34" charset="-120"/>
              </a:rPr>
              <a:t>In progress: </a:t>
            </a:r>
            <a:pPr indent="0" marL="0">
              <a:buNone/>
            </a:pPr>
            <a:r>
              <a:rPr lang="en-US" sz="980" dirty="0">
                <a:solidFill>
                  <a:srgbClr val="1B202A"/>
                </a:solidFill>
                <a:latin typeface="Calibri" pitchFamily="34" charset="0"/>
                <a:ea typeface="Calibri" pitchFamily="34" charset="-122"/>
                <a:cs typeface="Calibri" pitchFamily="34" charset="-120"/>
              </a:rPr>
              <a:t>full 3-stage reproduction (top FYP-1 priority).     </a:t>
            </a:r>
            <a:pPr indent="0" marL="0">
              <a:buNone/>
            </a:pPr>
            <a:r>
              <a:rPr lang="en-US" sz="980" b="1" dirty="0">
                <a:solidFill>
                  <a:srgbClr val="A8760F"/>
                </a:solidFill>
                <a:latin typeface="Calibri" pitchFamily="34" charset="0"/>
                <a:ea typeface="Calibri" pitchFamily="34" charset="-122"/>
                <a:cs typeface="Calibri" pitchFamily="34" charset="-120"/>
              </a:rPr>
              <a:t>Planned: </a:t>
            </a:r>
            <a:pPr indent="0" marL="0">
              <a:buNone/>
            </a:pPr>
            <a:r>
              <a:rPr lang="en-US" sz="980" dirty="0">
                <a:solidFill>
                  <a:srgbClr val="1B202A"/>
                </a:solidFill>
                <a:latin typeface="Calibri" pitchFamily="34" charset="0"/>
                <a:ea typeface="Calibri" pitchFamily="34" charset="-122"/>
                <a:cs typeface="Calibri" pitchFamily="34" charset="-120"/>
              </a:rPr>
              <a:t>Recovery Controller + Verified Repair Memory Tier-2 gates — pre-registered Mid-1 criteria, not yet run.</a:t>
            </a:r>
            <a:endParaRPr lang="en-US" sz="980" dirty="0"/>
          </a:p>
        </p:txBody>
      </p:sp>
      <p:sp>
        <p:nvSpPr>
          <p:cNvPr id="25" name="Text 22"/>
          <p:cNvSpPr txBox="1"/>
          <p:nvPr/>
        </p:nvSpPr>
        <p:spPr>
          <a:xfrm>
            <a:off x="566928" y="6217920"/>
            <a:ext cx="11057839" cy="201168"/>
          </a:xfrm>
          <a:prstGeom prst="rect">
            <a:avLst/>
          </a:prstGeom>
          <a:noFill/>
          <a:ln/>
        </p:spPr>
        <p:txBody>
          <a:bodyPr wrap="square" lIns="0" tIns="0" rIns="0" bIns="0" rtlCol="0" anchor="ctr"/>
          <a:lstStyle/>
          <a:p>
            <a:pPr indent="0" marL="0">
              <a:buNone/>
            </a:pPr>
            <a:r>
              <a:rPr lang="en-US" sz="800" dirty="0">
                <a:solidFill>
                  <a:srgbClr val="8B92A2"/>
                </a:solidFill>
                <a:latin typeface="Consolas" pitchFamily="34" charset="0"/>
                <a:ea typeface="Consolas" pitchFamily="34" charset="-122"/>
                <a:cs typeface="Consolas" pitchFamily="34" charset="-120"/>
              </a:rPr>
              <a:t>▸ dev/spikes/poc/ (8 scripts + output JSONs on disk)  ·  markdowns/04-poc-evidence/POC_Spike_Outputs_Full.md</a:t>
            </a:r>
            <a:endParaRPr lang="en-US" sz="8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10896"/>
            <a:ext cx="11057839" cy="237744"/>
          </a:xfrm>
          <a:prstGeom prst="rect">
            <a:avLst/>
          </a:prstGeom>
          <a:noFill/>
          <a:ln/>
        </p:spPr>
        <p:txBody>
          <a:bodyPr wrap="square" lIns="0" tIns="0" rIns="0" bIns="0" rtlCol="0" anchor="ctr"/>
          <a:lstStyle/>
          <a:p>
            <a:pPr indent="0" marL="0">
              <a:buNone/>
            </a:pPr>
            <a:r>
              <a:rPr lang="en-US" sz="1050" b="1" spc="180" kern="0" dirty="0">
                <a:solidFill>
                  <a:srgbClr val="8E6A1F"/>
                </a:solidFill>
                <a:latin typeface="Consolas" pitchFamily="34" charset="0"/>
                <a:ea typeface="Consolas" pitchFamily="34" charset="-122"/>
                <a:cs typeface="Consolas" pitchFamily="34" charset="-120"/>
              </a:rPr>
              <a:t>THRESHOLDS AND FALLBACKS DECIDED BEFORE ANY RESULT EXISTS</a:t>
            </a:r>
            <a:endParaRPr lang="en-US" sz="10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indent="0" marL="0">
              <a:buNone/>
            </a:pPr>
            <a:r>
              <a:rPr lang="en-US" sz="2700" b="1" dirty="0">
                <a:solidFill>
                  <a:srgbClr val="1B202A"/>
                </a:solidFill>
                <a:latin typeface="Georgia" pitchFamily="34" charset="0"/>
                <a:ea typeface="Georgia" pitchFamily="34" charset="-122"/>
                <a:cs typeface="Georgia" pitchFamily="34" charset="-120"/>
              </a:rPr>
              <a:t>Evaluation Plan &amp; Risks</a:t>
            </a:r>
            <a:endParaRPr lang="en-US" sz="2700" dirty="0"/>
          </a:p>
        </p:txBody>
      </p:sp>
      <p:sp>
        <p:nvSpPr>
          <p:cNvPr id="7" name="Shape 5"/>
          <p:cNvSpPr/>
          <p:nvPr/>
        </p:nvSpPr>
        <p:spPr>
          <a:xfrm>
            <a:off x="566928" y="1188720"/>
            <a:ext cx="566928" cy="36576"/>
          </a:xfrm>
          <a:prstGeom prst="rect">
            <a:avLst/>
          </a:prstGeom>
          <a:solidFill>
            <a:srgbClr val="C89B3C"/>
          </a:solidFill>
          <a:ln/>
        </p:spPr>
      </p:sp>
      <p:sp>
        <p:nvSpPr>
          <p:cNvPr id="8" name="Shape 6"/>
          <p:cNvSpPr/>
          <p:nvPr/>
        </p:nvSpPr>
        <p:spPr>
          <a:xfrm>
            <a:off x="566928" y="6437376"/>
            <a:ext cx="11057839" cy="0"/>
          </a:xfrm>
          <a:prstGeom prst="line">
            <a:avLst/>
          </a:prstGeom>
          <a:noFill/>
          <a:ln w="9525">
            <a:solidFill>
              <a:srgbClr val="D9DCE3"/>
            </a:solidFill>
            <a:prstDash val="solid"/>
          </a:ln>
        </p:spPr>
      </p:sp>
      <p:sp>
        <p:nvSpPr>
          <p:cNvPr id="9" name="Text 7"/>
          <p:cNvSpPr txBox="1"/>
          <p:nvPr/>
        </p:nvSpPr>
        <p:spPr>
          <a:xfrm>
            <a:off x="566928" y="6492240"/>
            <a:ext cx="5943600" cy="237744"/>
          </a:xfrm>
          <a:prstGeom prst="rect">
            <a:avLst/>
          </a:prstGeom>
          <a:noFill/>
          <a:ln/>
        </p:spPr>
        <p:txBody>
          <a:bodyPr wrap="square" lIns="0" tIns="0" rIns="0" bIns="0" rtlCol="0" anchor="ctr"/>
          <a:lstStyle/>
          <a:p>
            <a:pPr indent="0" marL="0">
              <a:buNone/>
            </a:pPr>
            <a:r>
              <a:rPr lang="en-US" sz="850" spc="80" kern="0" dirty="0">
                <a:solidFill>
                  <a:srgbClr val="8B92A2"/>
                </a:solidFill>
                <a:latin typeface="Consolas" pitchFamily="34" charset="0"/>
                <a:ea typeface="Consolas" pitchFamily="34" charset="-122"/>
                <a:cs typeface="Consolas" pitchFamily="34" charset="-120"/>
              </a:rPr>
              <a:t>F26-060-GRANITE  ·  PROPOSAL DEFENSE  ·  STREAM A</a:t>
            </a:r>
            <a:endParaRPr lang="en-US" sz="850" dirty="0"/>
          </a:p>
        </p:txBody>
      </p:sp>
      <p:sp>
        <p:nvSpPr>
          <p:cNvPr id="10" name="Text 8"/>
          <p:cNvSpPr txBox="1"/>
          <p:nvPr/>
        </p:nvSpPr>
        <p:spPr>
          <a:xfrm>
            <a:off x="10527487" y="6492240"/>
            <a:ext cx="1097280" cy="237744"/>
          </a:xfrm>
          <a:prstGeom prst="rect">
            <a:avLst/>
          </a:prstGeom>
          <a:noFill/>
          <a:ln/>
        </p:spPr>
        <p:txBody>
          <a:bodyPr wrap="square" lIns="0" tIns="0" rIns="0" bIns="0" rtlCol="0" anchor="ctr"/>
          <a:lstStyle/>
          <a:p>
            <a:pPr algn="r" indent="0" marL="0">
              <a:buNone/>
            </a:pPr>
            <a:r>
              <a:rPr lang="en-US" sz="850" b="1" dirty="0">
                <a:solidFill>
                  <a:srgbClr val="8E6A1F"/>
                </a:solidFill>
                <a:latin typeface="Consolas" pitchFamily="34" charset="0"/>
                <a:ea typeface="Consolas" pitchFamily="34" charset="-122"/>
                <a:cs typeface="Consolas" pitchFamily="34" charset="-120"/>
              </a:rPr>
              <a:t>8 / 10</a:t>
            </a:r>
            <a:endParaRPr lang="en-US" sz="850" dirty="0"/>
          </a:p>
        </p:txBody>
      </p:sp>
      <p:sp>
        <p:nvSpPr>
          <p:cNvPr id="11" name="Shape 9"/>
          <p:cNvSpPr/>
          <p:nvPr/>
        </p:nvSpPr>
        <p:spPr>
          <a:xfrm>
            <a:off x="587045" y="1378915"/>
            <a:ext cx="11057839" cy="658368"/>
          </a:xfrm>
          <a:prstGeom prst="roundRect">
            <a:avLst>
              <a:gd name="adj" fmla="val 8333"/>
            </a:avLst>
          </a:prstGeom>
          <a:solidFill>
            <a:srgbClr val="E4E6EB"/>
          </a:solidFill>
          <a:ln/>
        </p:spPr>
      </p:sp>
      <p:sp>
        <p:nvSpPr>
          <p:cNvPr id="12" name="Shape 10"/>
          <p:cNvSpPr/>
          <p:nvPr/>
        </p:nvSpPr>
        <p:spPr>
          <a:xfrm>
            <a:off x="566928" y="1353312"/>
            <a:ext cx="11057839" cy="658368"/>
          </a:xfrm>
          <a:prstGeom prst="roundRect">
            <a:avLst>
              <a:gd name="adj" fmla="val 8333"/>
            </a:avLst>
          </a:prstGeom>
          <a:solidFill>
            <a:srgbClr val="F1F2F5"/>
          </a:solidFill>
          <a:ln w="9525">
            <a:solidFill>
              <a:srgbClr val="D9DCE3"/>
            </a:solidFill>
            <a:prstDash val="solid"/>
          </a:ln>
        </p:spPr>
      </p:sp>
      <p:sp>
        <p:nvSpPr>
          <p:cNvPr id="13" name="Shape 11"/>
          <p:cNvSpPr/>
          <p:nvPr/>
        </p:nvSpPr>
        <p:spPr>
          <a:xfrm>
            <a:off x="566928" y="1408176"/>
            <a:ext cx="41148" cy="548640"/>
          </a:xfrm>
          <a:prstGeom prst="rect">
            <a:avLst/>
          </a:prstGeom>
          <a:solidFill>
            <a:srgbClr val="C89B3C"/>
          </a:solidFill>
          <a:ln/>
        </p:spPr>
      </p:sp>
      <p:sp>
        <p:nvSpPr>
          <p:cNvPr id="14" name="Text 12"/>
          <p:cNvSpPr txBox="1"/>
          <p:nvPr/>
        </p:nvSpPr>
        <p:spPr>
          <a:xfrm>
            <a:off x="804672" y="1444752"/>
            <a:ext cx="10582351" cy="493776"/>
          </a:xfrm>
          <a:prstGeom prst="rect">
            <a:avLst/>
          </a:prstGeom>
          <a:noFill/>
          <a:ln/>
        </p:spPr>
        <p:txBody>
          <a:bodyPr wrap="square" lIns="0" tIns="0" rIns="0" bIns="0" rtlCol="0" anchor="ctr"/>
          <a:lstStyle/>
          <a:p>
            <a:pPr indent="0" marL="0">
              <a:buNone/>
            </a:pPr>
            <a:r>
              <a:rPr lang="en-US" sz="1050" b="1" dirty="0">
                <a:solidFill>
                  <a:srgbClr val="8E6A1F"/>
                </a:solidFill>
                <a:latin typeface="Calibri" pitchFamily="34" charset="0"/>
                <a:ea typeface="Calibri" pitchFamily="34" charset="-122"/>
                <a:cs typeface="Calibri" pitchFamily="34" charset="-120"/>
              </a:rPr>
              <a:t>Pre-registered acceptance band.  </a:t>
            </a:r>
            <a:pPr indent="0" marL="0">
              <a:buNone/>
            </a:pPr>
            <a:r>
              <a:rPr lang="en-US" sz="1050" dirty="0">
                <a:solidFill>
                  <a:srgbClr val="1B202A"/>
                </a:solidFill>
                <a:latin typeface="Calibri" pitchFamily="34" charset="0"/>
                <a:ea typeface="Calibri" pitchFamily="34" charset="-122"/>
                <a:cs typeface="Calibri" pitchFamily="34" charset="-120"/>
              </a:rPr>
              <a:t>Reproduction accepted within ±10 points of ErrorProbe's published 59.5% on a comparable-class backbone. Outside the band, both numbers are reported transparently per Annex A.2 — declared before the run, not after.</a:t>
            </a:r>
            <a:endParaRPr lang="en-US" sz="1050" dirty="0"/>
          </a:p>
        </p:txBody>
      </p:sp>
      <p:sp>
        <p:nvSpPr>
          <p:cNvPr id="15" name="Text 13"/>
          <p:cNvSpPr txBox="1"/>
          <p:nvPr/>
        </p:nvSpPr>
        <p:spPr>
          <a:xfrm>
            <a:off x="566928" y="2139696"/>
            <a:ext cx="4892040" cy="219456"/>
          </a:xfrm>
          <a:prstGeom prst="rect">
            <a:avLst/>
          </a:prstGeom>
          <a:noFill/>
          <a:ln/>
        </p:spPr>
        <p:txBody>
          <a:bodyPr wrap="square" lIns="0" tIns="0" rIns="0" bIns="0" rtlCol="0" anchor="ctr"/>
          <a:lstStyle/>
          <a:p>
            <a:pPr indent="0" marL="0">
              <a:buNone/>
            </a:pPr>
            <a:r>
              <a:rPr lang="en-US" sz="950" b="1" spc="120" kern="0" dirty="0">
                <a:solidFill>
                  <a:srgbClr val="8E6A1F"/>
                </a:solidFill>
                <a:latin typeface="Consolas" pitchFamily="34" charset="0"/>
                <a:ea typeface="Consolas" pitchFamily="34" charset="-122"/>
                <a:cs typeface="Consolas" pitchFamily="34" charset="-120"/>
              </a:rPr>
              <a:t>METRICS</a:t>
            </a:r>
            <a:endParaRPr lang="en-US" sz="950" dirty="0"/>
          </a:p>
        </p:txBody>
      </p:sp>
      <p:sp>
        <p:nvSpPr>
          <p:cNvPr id="16" name="Text 14"/>
          <p:cNvSpPr txBox="1"/>
          <p:nvPr/>
        </p:nvSpPr>
        <p:spPr>
          <a:xfrm>
            <a:off x="566928" y="2395728"/>
            <a:ext cx="4892040" cy="1691640"/>
          </a:xfrm>
          <a:prstGeom prst="rect">
            <a:avLst/>
          </a:prstGeom>
          <a:noFill/>
          <a:ln/>
        </p:spPr>
        <p:txBody>
          <a:bodyPr wrap="square" lIns="0" tIns="0" rIns="0" bIns="0" rtlCol="0" anchor="t"/>
          <a:lstStyle/>
          <a:p>
            <a:pPr marL="165100" indent="-165100">
              <a:spcAft>
                <a:spcPts val="700"/>
              </a:spcAft>
              <a:buSzPct val="100000"/>
              <a:buChar char="▪"/>
            </a:pPr>
            <a:r>
              <a:rPr lang="en-US" sz="1030" dirty="0">
                <a:solidFill>
                  <a:srgbClr val="1B202A"/>
                </a:solidFill>
                <a:latin typeface="Calibri" pitchFamily="34" charset="0"/>
                <a:ea typeface="Calibri" pitchFamily="34" charset="-122"/>
                <a:cs typeface="Calibri" pitchFamily="34" charset="-120"/>
              </a:rPr>
              <a:t>Agent / step accuracy · propagation-path F1</a:t>
            </a:r>
            <a:endParaRPr lang="en-US" sz="1030" dirty="0"/>
          </a:p>
          <a:p>
            <a:pPr marL="165100" indent="-165100">
              <a:spcAft>
                <a:spcPts val="700"/>
              </a:spcAft>
              <a:buSzPct val="100000"/>
              <a:buChar char="▪"/>
            </a:pPr>
            <a:r>
              <a:rPr lang="en-US" sz="1030" dirty="0">
                <a:solidFill>
                  <a:srgbClr val="1B202A"/>
                </a:solidFill>
                <a:latin typeface="Calibri" pitchFamily="34" charset="0"/>
                <a:ea typeface="Calibri" pitchFamily="34" charset="-122"/>
                <a:cs typeface="Calibri" pitchFamily="34" charset="-120"/>
              </a:rPr>
              <a:t>Silent-failure precision / recall + coverage (abstention rate)</a:t>
            </a:r>
            <a:endParaRPr lang="en-US" sz="1030" dirty="0"/>
          </a:p>
          <a:p>
            <a:pPr marL="165100" indent="-165100">
              <a:spcAft>
                <a:spcPts val="700"/>
              </a:spcAft>
              <a:buSzPct val="100000"/>
              <a:buChar char="▪"/>
            </a:pPr>
            <a:r>
              <a:rPr lang="en-US" sz="1030" dirty="0">
                <a:solidFill>
                  <a:srgbClr val="1B202A"/>
                </a:solidFill>
                <a:latin typeface="Calibri" pitchFamily="34" charset="0"/>
                <a:ea typeface="Calibri" pitchFamily="34" charset="-122"/>
                <a:cs typeface="Calibri" pitchFamily="34" charset="-120"/>
              </a:rPr>
              <a:t>Pipeline false-positive rate on 15–20% clean controls — absent from every paper and platform reviewed</a:t>
            </a:r>
            <a:endParaRPr lang="en-US" sz="1030" dirty="0"/>
          </a:p>
          <a:p>
            <a:pPr marL="165100" indent="-165100">
              <a:spcAft>
                <a:spcPts val="700"/>
              </a:spcAft>
              <a:buSzPct val="100000"/>
              <a:buChar char="▪"/>
            </a:pPr>
            <a:r>
              <a:rPr lang="en-US" sz="1030" dirty="0">
                <a:solidFill>
                  <a:srgbClr val="1B202A"/>
                </a:solidFill>
                <a:latin typeface="Calibri" pitchFamily="34" charset="0"/>
                <a:ea typeface="Calibri" pitchFamily="34" charset="-122"/>
                <a:cs typeface="Calibri" pitchFamily="34" charset="-120"/>
              </a:rPr>
              <a:t>Task completion · recovery rate · repair success · false-repair rate</a:t>
            </a:r>
            <a:endParaRPr lang="en-US" sz="1030" dirty="0"/>
          </a:p>
          <a:p>
            <a:pPr marL="165100" indent="-165100">
              <a:spcAft>
                <a:spcPts val="700"/>
              </a:spcAft>
              <a:buSzPct val="100000"/>
              <a:buChar char="▪"/>
            </a:pPr>
            <a:r>
              <a:rPr lang="en-US" sz="1030" dirty="0">
                <a:solidFill>
                  <a:srgbClr val="1B202A"/>
                </a:solidFill>
                <a:latin typeface="Calibri" pitchFamily="34" charset="0"/>
                <a:ea typeface="Calibri" pitchFamily="34" charset="-122"/>
                <a:cs typeface="Calibri" pitchFamily="34" charset="-120"/>
              </a:rPr>
              <a:t>Diagnostic latency overhead — the measurable NFR, target &lt; 50%</a:t>
            </a:r>
            <a:endParaRPr lang="en-US" sz="1030" dirty="0"/>
          </a:p>
        </p:txBody>
      </p:sp>
      <p:sp>
        <p:nvSpPr>
          <p:cNvPr id="17" name="Shape 15"/>
          <p:cNvSpPr/>
          <p:nvPr/>
        </p:nvSpPr>
        <p:spPr>
          <a:xfrm>
            <a:off x="587045" y="4176979"/>
            <a:ext cx="4892040" cy="868680"/>
          </a:xfrm>
          <a:prstGeom prst="roundRect">
            <a:avLst>
              <a:gd name="adj" fmla="val 6316"/>
            </a:avLst>
          </a:prstGeom>
          <a:solidFill>
            <a:srgbClr val="E4E6EB"/>
          </a:solidFill>
          <a:ln/>
        </p:spPr>
      </p:sp>
      <p:sp>
        <p:nvSpPr>
          <p:cNvPr id="18" name="Shape 16"/>
          <p:cNvSpPr/>
          <p:nvPr/>
        </p:nvSpPr>
        <p:spPr>
          <a:xfrm>
            <a:off x="566928" y="4151376"/>
            <a:ext cx="4892040" cy="868680"/>
          </a:xfrm>
          <a:prstGeom prst="roundRect">
            <a:avLst>
              <a:gd name="adj" fmla="val 6316"/>
            </a:avLst>
          </a:prstGeom>
          <a:solidFill>
            <a:srgbClr val="F1F2F5"/>
          </a:solidFill>
          <a:ln w="9525">
            <a:solidFill>
              <a:srgbClr val="D9DCE3"/>
            </a:solidFill>
            <a:prstDash val="solid"/>
          </a:ln>
        </p:spPr>
      </p:sp>
      <p:sp>
        <p:nvSpPr>
          <p:cNvPr id="19" name="Text 17"/>
          <p:cNvSpPr txBox="1"/>
          <p:nvPr/>
        </p:nvSpPr>
        <p:spPr>
          <a:xfrm>
            <a:off x="749808" y="4224528"/>
            <a:ext cx="4526280" cy="219456"/>
          </a:xfrm>
          <a:prstGeom prst="rect">
            <a:avLst/>
          </a:prstGeom>
          <a:noFill/>
          <a:ln/>
        </p:spPr>
        <p:txBody>
          <a:bodyPr wrap="square" lIns="0" tIns="0" rIns="0" bIns="0" rtlCol="0" anchor="ctr"/>
          <a:lstStyle/>
          <a:p>
            <a:pPr indent="0" marL="0">
              <a:buNone/>
            </a:pPr>
            <a:r>
              <a:rPr lang="en-US" sz="950" b="1" spc="120" kern="0" dirty="0">
                <a:solidFill>
                  <a:srgbClr val="596273"/>
                </a:solidFill>
                <a:latin typeface="Consolas" pitchFamily="34" charset="0"/>
                <a:ea typeface="Consolas" pitchFamily="34" charset="-122"/>
                <a:cs typeface="Consolas" pitchFamily="34" charset="-120"/>
              </a:rPr>
              <a:t>DATA / SCENARIOS  ·  STATISTICAL PROTOCOL</a:t>
            </a:r>
            <a:endParaRPr lang="en-US" sz="950" dirty="0"/>
          </a:p>
        </p:txBody>
      </p:sp>
      <p:sp>
        <p:nvSpPr>
          <p:cNvPr id="20" name="Text 18"/>
          <p:cNvSpPr txBox="1"/>
          <p:nvPr/>
        </p:nvSpPr>
        <p:spPr>
          <a:xfrm>
            <a:off x="749808" y="4425696"/>
            <a:ext cx="4526280" cy="566928"/>
          </a:xfrm>
          <a:prstGeom prst="rect">
            <a:avLst/>
          </a:prstGeom>
          <a:noFill/>
          <a:ln/>
        </p:spPr>
        <p:txBody>
          <a:bodyPr wrap="square" lIns="0" tIns="0" rIns="0" bIns="0" rtlCol="0" anchor="ctr"/>
          <a:lstStyle/>
          <a:p>
            <a:pPr indent="0" marL="0">
              <a:buNone/>
            </a:pPr>
            <a:r>
              <a:rPr lang="en-US" sz="860" b="1" dirty="0">
                <a:solidFill>
                  <a:srgbClr val="1B202A"/>
                </a:solidFill>
                <a:latin typeface="Calibri" pitchFamily="34" charset="0"/>
                <a:ea typeface="Calibri" pitchFamily="34" charset="-122"/>
                <a:cs typeface="Calibri" pitchFamily="34" charset="-120"/>
              </a:rPr>
              <a:t>Data: </a:t>
            </a:r>
            <a:pPr indent="0" marL="0">
              <a:buNone/>
            </a:pPr>
            <a:r>
              <a:rPr lang="en-US" sz="860" dirty="0">
                <a:solidFill>
                  <a:srgbClr val="1B202A"/>
                </a:solidFill>
                <a:latin typeface="Calibri" pitchFamily="34" charset="0"/>
                <a:ea typeface="Calibri" pitchFamily="34" charset="-122"/>
                <a:cs typeface="Calibri" pitchFamily="34" charset="-120"/>
              </a:rPr>
              <a:t>Who&amp;When (184 real cases) for the reproduction; our own cross-architecture fault-injection benchmark on GSM8K + tau-bench retail substrates, with 15–20% deliberately clean controls.  </a:t>
            </a:r>
            <a:pPr indent="0" marL="0">
              <a:buNone/>
            </a:pPr>
            <a:r>
              <a:rPr lang="en-US" sz="860" b="1" dirty="0">
                <a:solidFill>
                  <a:srgbClr val="1B202A"/>
                </a:solidFill>
                <a:latin typeface="Calibri" pitchFamily="34" charset="0"/>
                <a:ea typeface="Calibri" pitchFamily="34" charset="-122"/>
                <a:cs typeface="Calibri" pitchFamily="34" charset="-120"/>
              </a:rPr>
              <a:t>Protocol: </a:t>
            </a:r>
            <a:pPr indent="0" marL="0">
              <a:buNone/>
            </a:pPr>
            <a:r>
              <a:rPr lang="en-US" sz="860" dirty="0">
                <a:solidFill>
                  <a:srgbClr val="1B202A"/>
                </a:solidFill>
                <a:latin typeface="Calibri" pitchFamily="34" charset="0"/>
                <a:ea typeface="Calibri" pitchFamily="34" charset="-122"/>
                <a:cs typeface="Calibri" pitchFamily="34" charset="-120"/>
              </a:rPr>
              <a:t>bootstrap 95% CIs · fixed seeds · N=5 replay variance · 4-item pre-declared ablation matrix · human baseline.</a:t>
            </a:r>
            <a:endParaRPr lang="en-US" sz="860" dirty="0"/>
          </a:p>
        </p:txBody>
      </p:sp>
      <p:sp>
        <p:nvSpPr>
          <p:cNvPr id="21" name="Shape 19"/>
          <p:cNvSpPr/>
          <p:nvPr/>
        </p:nvSpPr>
        <p:spPr>
          <a:xfrm>
            <a:off x="587045" y="5146243"/>
            <a:ext cx="4892040" cy="731520"/>
          </a:xfrm>
          <a:prstGeom prst="roundRect">
            <a:avLst>
              <a:gd name="adj" fmla="val 7500"/>
            </a:avLst>
          </a:prstGeom>
          <a:solidFill>
            <a:srgbClr val="E4E6EB"/>
          </a:solidFill>
          <a:ln/>
        </p:spPr>
      </p:sp>
      <p:sp>
        <p:nvSpPr>
          <p:cNvPr id="22" name="Shape 20"/>
          <p:cNvSpPr/>
          <p:nvPr/>
        </p:nvSpPr>
        <p:spPr>
          <a:xfrm>
            <a:off x="566928" y="5120640"/>
            <a:ext cx="4892040" cy="731520"/>
          </a:xfrm>
          <a:prstGeom prst="roundRect">
            <a:avLst>
              <a:gd name="adj" fmla="val 7500"/>
            </a:avLst>
          </a:prstGeom>
          <a:solidFill>
            <a:srgbClr val="F6E6E3"/>
          </a:solidFill>
          <a:ln w="9525">
            <a:solidFill>
              <a:srgbClr val="D9DCE3"/>
            </a:solidFill>
            <a:prstDash val="solid"/>
          </a:ln>
        </p:spPr>
      </p:sp>
      <p:sp>
        <p:nvSpPr>
          <p:cNvPr id="23" name="Shape 21"/>
          <p:cNvSpPr/>
          <p:nvPr/>
        </p:nvSpPr>
        <p:spPr>
          <a:xfrm>
            <a:off x="566928" y="5175504"/>
            <a:ext cx="41148" cy="621792"/>
          </a:xfrm>
          <a:prstGeom prst="rect">
            <a:avLst/>
          </a:prstGeom>
          <a:solidFill>
            <a:srgbClr val="A83A30"/>
          </a:solidFill>
          <a:ln/>
        </p:spPr>
      </p:sp>
      <p:sp>
        <p:nvSpPr>
          <p:cNvPr id="24" name="Text 22"/>
          <p:cNvSpPr txBox="1"/>
          <p:nvPr/>
        </p:nvSpPr>
        <p:spPr>
          <a:xfrm>
            <a:off x="749808" y="5212080"/>
            <a:ext cx="4526280" cy="566928"/>
          </a:xfrm>
          <a:prstGeom prst="rect">
            <a:avLst/>
          </a:prstGeom>
          <a:noFill/>
          <a:ln/>
        </p:spPr>
        <p:txBody>
          <a:bodyPr wrap="square" lIns="0" tIns="0" rIns="0" bIns="0" rtlCol="0" anchor="ctr"/>
          <a:lstStyle/>
          <a:p>
            <a:pPr indent="0" marL="0">
              <a:buNone/>
            </a:pPr>
            <a:r>
              <a:rPr lang="en-US" sz="950" b="1" dirty="0">
                <a:solidFill>
                  <a:srgbClr val="A83A30"/>
                </a:solidFill>
                <a:latin typeface="Calibri" pitchFamily="34" charset="0"/>
                <a:ea typeface="Calibri" pitchFamily="34" charset="-122"/>
                <a:cs typeface="Calibri" pitchFamily="34" charset="-120"/>
              </a:rPr>
              <a:t>Cannot support: </a:t>
            </a:r>
            <a:pPr indent="0" marL="0">
              <a:buNone/>
            </a:pPr>
            <a:r>
              <a:rPr lang="en-US" sz="950" dirty="0">
                <a:solidFill>
                  <a:srgbClr val="1B202A"/>
                </a:solidFill>
                <a:latin typeface="Calibri" pitchFamily="34" charset="0"/>
                <a:ea typeface="Calibri" pitchFamily="34" charset="-122"/>
                <a:cs typeface="Calibri" pitchFamily="34" charset="-120"/>
              </a:rPr>
              <a:t>production-scale reliability claims beyond the tested frameworks and task domains — stated up front, not extracted under questioning.</a:t>
            </a:r>
            <a:endParaRPr lang="en-US" sz="950" dirty="0"/>
          </a:p>
        </p:txBody>
      </p:sp>
      <p:sp>
        <p:nvSpPr>
          <p:cNvPr id="25" name="Text 23"/>
          <p:cNvSpPr txBox="1"/>
          <p:nvPr/>
        </p:nvSpPr>
        <p:spPr>
          <a:xfrm>
            <a:off x="5696712" y="2139696"/>
            <a:ext cx="2606040" cy="219456"/>
          </a:xfrm>
          <a:prstGeom prst="rect">
            <a:avLst/>
          </a:prstGeom>
          <a:noFill/>
          <a:ln/>
        </p:spPr>
        <p:txBody>
          <a:bodyPr wrap="square" lIns="0" tIns="0" rIns="0" bIns="0" rtlCol="0" anchor="ctr"/>
          <a:lstStyle/>
          <a:p>
            <a:pPr indent="0" marL="0">
              <a:buNone/>
            </a:pPr>
            <a:r>
              <a:rPr lang="en-US" sz="950" b="1" spc="120" kern="0" dirty="0">
                <a:solidFill>
                  <a:srgbClr val="8E6A1F"/>
                </a:solidFill>
                <a:latin typeface="Consolas" pitchFamily="34" charset="0"/>
                <a:ea typeface="Consolas" pitchFamily="34" charset="-122"/>
                <a:cs typeface="Consolas" pitchFamily="34" charset="-120"/>
              </a:rPr>
              <a:t>SUCCESS BANDS</a:t>
            </a:r>
            <a:endParaRPr lang="en-US" sz="950" dirty="0"/>
          </a:p>
        </p:txBody>
      </p:sp>
      <p:sp>
        <p:nvSpPr>
          <p:cNvPr id="26" name="Shape 24"/>
          <p:cNvSpPr/>
          <p:nvPr/>
        </p:nvSpPr>
        <p:spPr>
          <a:xfrm>
            <a:off x="5716829" y="2421331"/>
            <a:ext cx="2606040" cy="713232"/>
          </a:xfrm>
          <a:prstGeom prst="roundRect">
            <a:avLst>
              <a:gd name="adj" fmla="val 7692"/>
            </a:avLst>
          </a:prstGeom>
          <a:solidFill>
            <a:srgbClr val="E4E6EB"/>
          </a:solidFill>
          <a:ln/>
        </p:spPr>
      </p:sp>
      <p:sp>
        <p:nvSpPr>
          <p:cNvPr id="27" name="Shape 25"/>
          <p:cNvSpPr/>
          <p:nvPr/>
        </p:nvSpPr>
        <p:spPr>
          <a:xfrm>
            <a:off x="5696712" y="2395728"/>
            <a:ext cx="2606040" cy="713232"/>
          </a:xfrm>
          <a:prstGeom prst="roundRect">
            <a:avLst>
              <a:gd name="adj" fmla="val 7692"/>
            </a:avLst>
          </a:prstGeom>
          <a:solidFill>
            <a:srgbClr val="F6E6E3"/>
          </a:solidFill>
          <a:ln w="9525">
            <a:solidFill>
              <a:srgbClr val="D9DCE3"/>
            </a:solidFill>
            <a:prstDash val="solid"/>
          </a:ln>
        </p:spPr>
      </p:sp>
      <p:sp>
        <p:nvSpPr>
          <p:cNvPr id="28" name="Shape 26"/>
          <p:cNvSpPr/>
          <p:nvPr/>
        </p:nvSpPr>
        <p:spPr>
          <a:xfrm>
            <a:off x="5696712" y="2450592"/>
            <a:ext cx="41148" cy="603504"/>
          </a:xfrm>
          <a:prstGeom prst="rect">
            <a:avLst/>
          </a:prstGeom>
          <a:solidFill>
            <a:srgbClr val="A83A30"/>
          </a:solidFill>
          <a:ln/>
        </p:spPr>
      </p:sp>
      <p:sp>
        <p:nvSpPr>
          <p:cNvPr id="29" name="Text 27"/>
          <p:cNvSpPr txBox="1"/>
          <p:nvPr/>
        </p:nvSpPr>
        <p:spPr>
          <a:xfrm>
            <a:off x="5861304" y="2459736"/>
            <a:ext cx="2276856" cy="228600"/>
          </a:xfrm>
          <a:prstGeom prst="rect">
            <a:avLst/>
          </a:prstGeom>
          <a:noFill/>
          <a:ln/>
        </p:spPr>
        <p:txBody>
          <a:bodyPr wrap="square" lIns="0" tIns="0" rIns="0" bIns="0" rtlCol="0" anchor="ctr"/>
          <a:lstStyle/>
          <a:p>
            <a:pPr indent="0" marL="0">
              <a:buNone/>
            </a:pPr>
            <a:r>
              <a:rPr lang="en-US" sz="1150" b="1" dirty="0">
                <a:solidFill>
                  <a:srgbClr val="A83A30"/>
                </a:solidFill>
                <a:latin typeface="Georgia" pitchFamily="34" charset="0"/>
                <a:ea typeface="Georgia" pitchFamily="34" charset="-122"/>
                <a:cs typeface="Georgia" pitchFamily="34" charset="-120"/>
              </a:rPr>
              <a:t>Failure</a:t>
            </a:r>
            <a:endParaRPr lang="en-US" sz="1150" dirty="0"/>
          </a:p>
        </p:txBody>
      </p:sp>
      <p:sp>
        <p:nvSpPr>
          <p:cNvPr id="30" name="Text 28"/>
          <p:cNvSpPr txBox="1"/>
          <p:nvPr/>
        </p:nvSpPr>
        <p:spPr>
          <a:xfrm>
            <a:off x="5861304" y="2697480"/>
            <a:ext cx="2276856" cy="384048"/>
          </a:xfrm>
          <a:prstGeom prst="rect">
            <a:avLst/>
          </a:prstGeom>
          <a:noFill/>
          <a:ln/>
        </p:spPr>
        <p:txBody>
          <a:bodyPr wrap="square" lIns="0" tIns="0" rIns="0" bIns="0" rtlCol="0" anchor="ctr"/>
          <a:lstStyle/>
          <a:p>
            <a:pPr indent="0" marL="0">
              <a:buNone/>
            </a:pPr>
            <a:r>
              <a:rPr lang="en-US" sz="860" dirty="0">
                <a:solidFill>
                  <a:srgbClr val="1B202A"/>
                </a:solidFill>
                <a:latin typeface="Calibri" pitchFamily="34" charset="0"/>
                <a:ea typeface="Calibri" pitchFamily="34" charset="-122"/>
                <a:cs typeface="Calibri" pitchFamily="34" charset="-120"/>
              </a:rPr>
              <a:t>No measurable improvement anywhere</a:t>
            </a:r>
            <a:endParaRPr lang="en-US" sz="860" dirty="0"/>
          </a:p>
        </p:txBody>
      </p:sp>
      <p:sp>
        <p:nvSpPr>
          <p:cNvPr id="31" name="Shape 29"/>
          <p:cNvSpPr/>
          <p:nvPr/>
        </p:nvSpPr>
        <p:spPr>
          <a:xfrm>
            <a:off x="5716829" y="3207715"/>
            <a:ext cx="2606040" cy="713232"/>
          </a:xfrm>
          <a:prstGeom prst="roundRect">
            <a:avLst>
              <a:gd name="adj" fmla="val 7692"/>
            </a:avLst>
          </a:prstGeom>
          <a:solidFill>
            <a:srgbClr val="E4E6EB"/>
          </a:solidFill>
          <a:ln/>
        </p:spPr>
      </p:sp>
      <p:sp>
        <p:nvSpPr>
          <p:cNvPr id="32" name="Shape 30"/>
          <p:cNvSpPr/>
          <p:nvPr/>
        </p:nvSpPr>
        <p:spPr>
          <a:xfrm>
            <a:off x="5696712" y="3182112"/>
            <a:ext cx="2606040" cy="713232"/>
          </a:xfrm>
          <a:prstGeom prst="roundRect">
            <a:avLst>
              <a:gd name="adj" fmla="val 7692"/>
            </a:avLst>
          </a:prstGeom>
          <a:solidFill>
            <a:srgbClr val="F7EFDC"/>
          </a:solidFill>
          <a:ln w="9525">
            <a:solidFill>
              <a:srgbClr val="D9DCE3"/>
            </a:solidFill>
            <a:prstDash val="solid"/>
          </a:ln>
        </p:spPr>
      </p:sp>
      <p:sp>
        <p:nvSpPr>
          <p:cNvPr id="33" name="Shape 31"/>
          <p:cNvSpPr/>
          <p:nvPr/>
        </p:nvSpPr>
        <p:spPr>
          <a:xfrm>
            <a:off x="5696712" y="3236976"/>
            <a:ext cx="41148" cy="603504"/>
          </a:xfrm>
          <a:prstGeom prst="rect">
            <a:avLst/>
          </a:prstGeom>
          <a:solidFill>
            <a:srgbClr val="A8760F"/>
          </a:solidFill>
          <a:ln/>
        </p:spPr>
      </p:sp>
      <p:sp>
        <p:nvSpPr>
          <p:cNvPr id="34" name="Text 32"/>
          <p:cNvSpPr txBox="1"/>
          <p:nvPr/>
        </p:nvSpPr>
        <p:spPr>
          <a:xfrm>
            <a:off x="5861304" y="3246120"/>
            <a:ext cx="2276856" cy="228600"/>
          </a:xfrm>
          <a:prstGeom prst="rect">
            <a:avLst/>
          </a:prstGeom>
          <a:noFill/>
          <a:ln/>
        </p:spPr>
        <p:txBody>
          <a:bodyPr wrap="square" lIns="0" tIns="0" rIns="0" bIns="0" rtlCol="0" anchor="ctr"/>
          <a:lstStyle/>
          <a:p>
            <a:pPr indent="0" marL="0">
              <a:buNone/>
            </a:pPr>
            <a:r>
              <a:rPr lang="en-US" sz="1150" b="1" dirty="0">
                <a:solidFill>
                  <a:srgbClr val="A8760F"/>
                </a:solidFill>
                <a:latin typeface="Georgia" pitchFamily="34" charset="0"/>
                <a:ea typeface="Georgia" pitchFamily="34" charset="-122"/>
                <a:cs typeface="Georgia" pitchFamily="34" charset="-120"/>
              </a:rPr>
              <a:t>Acceptable</a:t>
            </a:r>
            <a:endParaRPr lang="en-US" sz="1150" dirty="0"/>
          </a:p>
        </p:txBody>
      </p:sp>
      <p:sp>
        <p:nvSpPr>
          <p:cNvPr id="35" name="Text 33"/>
          <p:cNvSpPr txBox="1"/>
          <p:nvPr/>
        </p:nvSpPr>
        <p:spPr>
          <a:xfrm>
            <a:off x="5861304" y="3483864"/>
            <a:ext cx="2276856" cy="384048"/>
          </a:xfrm>
          <a:prstGeom prst="rect">
            <a:avLst/>
          </a:prstGeom>
          <a:noFill/>
          <a:ln/>
        </p:spPr>
        <p:txBody>
          <a:bodyPr wrap="square" lIns="0" tIns="0" rIns="0" bIns="0" rtlCol="0" anchor="ctr"/>
          <a:lstStyle/>
          <a:p>
            <a:pPr indent="0" marL="0">
              <a:buNone/>
            </a:pPr>
            <a:r>
              <a:rPr lang="en-US" sz="860" dirty="0">
                <a:solidFill>
                  <a:srgbClr val="1B202A"/>
                </a:solidFill>
                <a:latin typeface="Calibri" pitchFamily="34" charset="0"/>
                <a:ea typeface="Calibri" pitchFamily="34" charset="-122"/>
                <a:cs typeface="Calibri" pitchFamily="34" charset="-120"/>
              </a:rPr>
              <a:t>Parity on Who&amp;When + any cross-arch result</a:t>
            </a:r>
            <a:endParaRPr lang="en-US" sz="860" dirty="0"/>
          </a:p>
        </p:txBody>
      </p:sp>
      <p:sp>
        <p:nvSpPr>
          <p:cNvPr id="36" name="Shape 34"/>
          <p:cNvSpPr/>
          <p:nvPr/>
        </p:nvSpPr>
        <p:spPr>
          <a:xfrm>
            <a:off x="5716829" y="3994099"/>
            <a:ext cx="2606040" cy="713232"/>
          </a:xfrm>
          <a:prstGeom prst="roundRect">
            <a:avLst>
              <a:gd name="adj" fmla="val 7692"/>
            </a:avLst>
          </a:prstGeom>
          <a:solidFill>
            <a:srgbClr val="E4E6EB"/>
          </a:solidFill>
          <a:ln/>
        </p:spPr>
      </p:sp>
      <p:sp>
        <p:nvSpPr>
          <p:cNvPr id="37" name="Shape 35"/>
          <p:cNvSpPr/>
          <p:nvPr/>
        </p:nvSpPr>
        <p:spPr>
          <a:xfrm>
            <a:off x="5696712" y="3968496"/>
            <a:ext cx="2606040" cy="713232"/>
          </a:xfrm>
          <a:prstGeom prst="roundRect">
            <a:avLst>
              <a:gd name="adj" fmla="val 7692"/>
            </a:avLst>
          </a:prstGeom>
          <a:solidFill>
            <a:srgbClr val="E3EFF1"/>
          </a:solidFill>
          <a:ln w="9525">
            <a:solidFill>
              <a:srgbClr val="D9DCE3"/>
            </a:solidFill>
            <a:prstDash val="solid"/>
          </a:ln>
        </p:spPr>
      </p:sp>
      <p:sp>
        <p:nvSpPr>
          <p:cNvPr id="38" name="Shape 36"/>
          <p:cNvSpPr/>
          <p:nvPr/>
        </p:nvSpPr>
        <p:spPr>
          <a:xfrm>
            <a:off x="5696712" y="4023360"/>
            <a:ext cx="41148" cy="603504"/>
          </a:xfrm>
          <a:prstGeom prst="rect">
            <a:avLst/>
          </a:prstGeom>
          <a:solidFill>
            <a:srgbClr val="15707A"/>
          </a:solidFill>
          <a:ln/>
        </p:spPr>
      </p:sp>
      <p:sp>
        <p:nvSpPr>
          <p:cNvPr id="39" name="Text 37"/>
          <p:cNvSpPr txBox="1"/>
          <p:nvPr/>
        </p:nvSpPr>
        <p:spPr>
          <a:xfrm>
            <a:off x="5861304" y="4032504"/>
            <a:ext cx="2276856" cy="228600"/>
          </a:xfrm>
          <a:prstGeom prst="rect">
            <a:avLst/>
          </a:prstGeom>
          <a:noFill/>
          <a:ln/>
        </p:spPr>
        <p:txBody>
          <a:bodyPr wrap="square" lIns="0" tIns="0" rIns="0" bIns="0" rtlCol="0" anchor="ctr"/>
          <a:lstStyle/>
          <a:p>
            <a:pPr indent="0" marL="0">
              <a:buNone/>
            </a:pPr>
            <a:r>
              <a:rPr lang="en-US" sz="1150" b="1" dirty="0">
                <a:solidFill>
                  <a:srgbClr val="15707A"/>
                </a:solidFill>
                <a:latin typeface="Georgia" pitchFamily="34" charset="0"/>
                <a:ea typeface="Georgia" pitchFamily="34" charset="-122"/>
                <a:cs typeface="Georgia" pitchFamily="34" charset="-120"/>
              </a:rPr>
              <a:t>Strong</a:t>
            </a:r>
            <a:endParaRPr lang="en-US" sz="1150" dirty="0"/>
          </a:p>
        </p:txBody>
      </p:sp>
      <p:sp>
        <p:nvSpPr>
          <p:cNvPr id="40" name="Text 38"/>
          <p:cNvSpPr txBox="1"/>
          <p:nvPr/>
        </p:nvSpPr>
        <p:spPr>
          <a:xfrm>
            <a:off x="5861304" y="4270248"/>
            <a:ext cx="2276856" cy="384048"/>
          </a:xfrm>
          <a:prstGeom prst="rect">
            <a:avLst/>
          </a:prstGeom>
          <a:noFill/>
          <a:ln/>
        </p:spPr>
        <p:txBody>
          <a:bodyPr wrap="square" lIns="0" tIns="0" rIns="0" bIns="0" rtlCol="0" anchor="ctr"/>
          <a:lstStyle/>
          <a:p>
            <a:pPr indent="0" marL="0">
              <a:buNone/>
            </a:pPr>
            <a:r>
              <a:rPr lang="en-US" sz="860" dirty="0">
                <a:solidFill>
                  <a:srgbClr val="1B202A"/>
                </a:solidFill>
                <a:latin typeface="Calibri" pitchFamily="34" charset="0"/>
                <a:ea typeface="Calibri" pitchFamily="34" charset="-122"/>
                <a:cs typeface="Calibri" pitchFamily="34" charset="-120"/>
              </a:rPr>
              <a:t>Beats baseline on unseen archs, &gt;70% SF recall</a:t>
            </a:r>
            <a:endParaRPr lang="en-US" sz="860" dirty="0"/>
          </a:p>
        </p:txBody>
      </p:sp>
      <p:sp>
        <p:nvSpPr>
          <p:cNvPr id="41" name="Shape 39"/>
          <p:cNvSpPr/>
          <p:nvPr/>
        </p:nvSpPr>
        <p:spPr>
          <a:xfrm>
            <a:off x="5716829" y="4780483"/>
            <a:ext cx="2606040" cy="713232"/>
          </a:xfrm>
          <a:prstGeom prst="roundRect">
            <a:avLst>
              <a:gd name="adj" fmla="val 7692"/>
            </a:avLst>
          </a:prstGeom>
          <a:solidFill>
            <a:srgbClr val="E4E6EB"/>
          </a:solidFill>
          <a:ln/>
        </p:spPr>
      </p:sp>
      <p:sp>
        <p:nvSpPr>
          <p:cNvPr id="42" name="Shape 40"/>
          <p:cNvSpPr/>
          <p:nvPr/>
        </p:nvSpPr>
        <p:spPr>
          <a:xfrm>
            <a:off x="5696712" y="4754880"/>
            <a:ext cx="2606040" cy="713232"/>
          </a:xfrm>
          <a:prstGeom prst="roundRect">
            <a:avLst>
              <a:gd name="adj" fmla="val 7692"/>
            </a:avLst>
          </a:prstGeom>
          <a:solidFill>
            <a:srgbClr val="E6F1EB"/>
          </a:solidFill>
          <a:ln w="9525">
            <a:solidFill>
              <a:srgbClr val="D9DCE3"/>
            </a:solidFill>
            <a:prstDash val="solid"/>
          </a:ln>
        </p:spPr>
      </p:sp>
      <p:sp>
        <p:nvSpPr>
          <p:cNvPr id="43" name="Shape 41"/>
          <p:cNvSpPr/>
          <p:nvPr/>
        </p:nvSpPr>
        <p:spPr>
          <a:xfrm>
            <a:off x="5696712" y="4809744"/>
            <a:ext cx="41148" cy="603504"/>
          </a:xfrm>
          <a:prstGeom prst="rect">
            <a:avLst/>
          </a:prstGeom>
          <a:solidFill>
            <a:srgbClr val="1E7A52"/>
          </a:solidFill>
          <a:ln/>
        </p:spPr>
      </p:sp>
      <p:sp>
        <p:nvSpPr>
          <p:cNvPr id="44" name="Text 42"/>
          <p:cNvSpPr txBox="1"/>
          <p:nvPr/>
        </p:nvSpPr>
        <p:spPr>
          <a:xfrm>
            <a:off x="5861304" y="4818888"/>
            <a:ext cx="2276856" cy="228600"/>
          </a:xfrm>
          <a:prstGeom prst="rect">
            <a:avLst/>
          </a:prstGeom>
          <a:noFill/>
          <a:ln/>
        </p:spPr>
        <p:txBody>
          <a:bodyPr wrap="square" lIns="0" tIns="0" rIns="0" bIns="0" rtlCol="0" anchor="ctr"/>
          <a:lstStyle/>
          <a:p>
            <a:pPr indent="0" marL="0">
              <a:buNone/>
            </a:pPr>
            <a:r>
              <a:rPr lang="en-US" sz="1150" b="1" dirty="0">
                <a:solidFill>
                  <a:srgbClr val="1E7A52"/>
                </a:solidFill>
                <a:latin typeface="Georgia" pitchFamily="34" charset="0"/>
                <a:ea typeface="Georgia" pitchFamily="34" charset="-122"/>
                <a:cs typeface="Georgia" pitchFamily="34" charset="-120"/>
              </a:rPr>
              <a:t>Exceptional</a:t>
            </a:r>
            <a:endParaRPr lang="en-US" sz="1150" dirty="0"/>
          </a:p>
        </p:txBody>
      </p:sp>
      <p:sp>
        <p:nvSpPr>
          <p:cNvPr id="45" name="Text 43"/>
          <p:cNvSpPr txBox="1"/>
          <p:nvPr/>
        </p:nvSpPr>
        <p:spPr>
          <a:xfrm>
            <a:off x="5861304" y="5056632"/>
            <a:ext cx="2276856" cy="384048"/>
          </a:xfrm>
          <a:prstGeom prst="rect">
            <a:avLst/>
          </a:prstGeom>
          <a:noFill/>
          <a:ln/>
        </p:spPr>
        <p:txBody>
          <a:bodyPr wrap="square" lIns="0" tIns="0" rIns="0" bIns="0" rtlCol="0" anchor="ctr"/>
          <a:lstStyle/>
          <a:p>
            <a:pPr indent="0" marL="0">
              <a:buNone/>
            </a:pPr>
            <a:r>
              <a:rPr lang="en-US" sz="860" dirty="0">
                <a:solidFill>
                  <a:srgbClr val="1B202A"/>
                </a:solidFill>
                <a:latin typeface="Calibri" pitchFamily="34" charset="0"/>
                <a:ea typeface="Calibri" pitchFamily="34" charset="-122"/>
                <a:cs typeface="Calibri" pitchFamily="34" charset="-120"/>
              </a:rPr>
              <a:t>Strong + &gt;50% verified-repair recovery</a:t>
            </a:r>
            <a:endParaRPr lang="en-US" sz="860" dirty="0"/>
          </a:p>
        </p:txBody>
      </p:sp>
      <p:sp>
        <p:nvSpPr>
          <p:cNvPr id="46" name="Text 44"/>
          <p:cNvSpPr txBox="1"/>
          <p:nvPr/>
        </p:nvSpPr>
        <p:spPr>
          <a:xfrm>
            <a:off x="8540496" y="2139696"/>
            <a:ext cx="3084271" cy="219456"/>
          </a:xfrm>
          <a:prstGeom prst="rect">
            <a:avLst/>
          </a:prstGeom>
          <a:noFill/>
          <a:ln/>
        </p:spPr>
        <p:txBody>
          <a:bodyPr wrap="square" lIns="0" tIns="0" rIns="0" bIns="0" rtlCol="0" anchor="ctr"/>
          <a:lstStyle/>
          <a:p>
            <a:pPr indent="0" marL="0">
              <a:buNone/>
            </a:pPr>
            <a:r>
              <a:rPr lang="en-US" sz="950" b="1" spc="120" kern="0" dirty="0">
                <a:solidFill>
                  <a:srgbClr val="8E6A1F"/>
                </a:solidFill>
                <a:latin typeface="Consolas" pitchFamily="34" charset="0"/>
                <a:ea typeface="Consolas" pitchFamily="34" charset="-122"/>
                <a:cs typeface="Consolas" pitchFamily="34" charset="-120"/>
              </a:rPr>
              <a:t>TOP RISKS → STATED FALLBACK</a:t>
            </a:r>
            <a:endParaRPr lang="en-US" sz="950" dirty="0"/>
          </a:p>
        </p:txBody>
      </p:sp>
      <p:sp>
        <p:nvSpPr>
          <p:cNvPr id="47" name="Shape 45"/>
          <p:cNvSpPr/>
          <p:nvPr/>
        </p:nvSpPr>
        <p:spPr>
          <a:xfrm>
            <a:off x="8560613" y="2421331"/>
            <a:ext cx="3084271" cy="713232"/>
          </a:xfrm>
          <a:prstGeom prst="roundRect">
            <a:avLst>
              <a:gd name="adj" fmla="val 7692"/>
            </a:avLst>
          </a:prstGeom>
          <a:solidFill>
            <a:srgbClr val="E4E6EB"/>
          </a:solidFill>
          <a:ln/>
        </p:spPr>
      </p:sp>
      <p:sp>
        <p:nvSpPr>
          <p:cNvPr id="48" name="Shape 46"/>
          <p:cNvSpPr/>
          <p:nvPr/>
        </p:nvSpPr>
        <p:spPr>
          <a:xfrm>
            <a:off x="8540496" y="2395728"/>
            <a:ext cx="3084271" cy="713232"/>
          </a:xfrm>
          <a:prstGeom prst="roundRect">
            <a:avLst>
              <a:gd name="adj" fmla="val 7692"/>
            </a:avLst>
          </a:prstGeom>
          <a:solidFill>
            <a:srgbClr val="F1F2F5"/>
          </a:solidFill>
          <a:ln w="9525">
            <a:solidFill>
              <a:srgbClr val="D9DCE3"/>
            </a:solidFill>
            <a:prstDash val="solid"/>
          </a:ln>
        </p:spPr>
      </p:sp>
      <p:sp>
        <p:nvSpPr>
          <p:cNvPr id="49" name="Text 47"/>
          <p:cNvSpPr txBox="1"/>
          <p:nvPr/>
        </p:nvSpPr>
        <p:spPr>
          <a:xfrm>
            <a:off x="8705088" y="2459736"/>
            <a:ext cx="2755087" cy="292608"/>
          </a:xfrm>
          <a:prstGeom prst="rect">
            <a:avLst/>
          </a:prstGeom>
          <a:noFill/>
          <a:ln/>
        </p:spPr>
        <p:txBody>
          <a:bodyPr wrap="square" lIns="0" tIns="0" rIns="0" bIns="0" rtlCol="0" anchor="ctr"/>
          <a:lstStyle/>
          <a:p>
            <a:pPr indent="0" marL="0">
              <a:buNone/>
            </a:pPr>
            <a:r>
              <a:rPr lang="en-US" sz="950" b="1" dirty="0">
                <a:solidFill>
                  <a:srgbClr val="1B202A"/>
                </a:solidFill>
                <a:latin typeface="Calibri" pitchFamily="34" charset="0"/>
                <a:ea typeface="Calibri" pitchFamily="34" charset="-122"/>
                <a:cs typeface="Calibri" pitchFamily="34" charset="-120"/>
              </a:rPr>
              <a:t>Reproduction misses the ±10pt band — now expected (local backbone)</a:t>
            </a:r>
            <a:endParaRPr lang="en-US" sz="950" dirty="0"/>
          </a:p>
        </p:txBody>
      </p:sp>
      <p:sp>
        <p:nvSpPr>
          <p:cNvPr id="50" name="Text 48"/>
          <p:cNvSpPr txBox="1"/>
          <p:nvPr/>
        </p:nvSpPr>
        <p:spPr>
          <a:xfrm>
            <a:off x="8705088" y="2761488"/>
            <a:ext cx="2755087" cy="310896"/>
          </a:xfrm>
          <a:prstGeom prst="rect">
            <a:avLst/>
          </a:prstGeom>
          <a:noFill/>
          <a:ln/>
        </p:spPr>
        <p:txBody>
          <a:bodyPr wrap="square" lIns="0" tIns="0" rIns="0" bIns="0" rtlCol="0" anchor="ctr"/>
          <a:lstStyle/>
          <a:p>
            <a:pPr indent="0" marL="0">
              <a:buNone/>
            </a:pPr>
            <a:r>
              <a:rPr lang="en-US" sz="880" dirty="0">
                <a:solidFill>
                  <a:srgbClr val="1E7A52"/>
                </a:solidFill>
                <a:latin typeface="Calibri" pitchFamily="34" charset="0"/>
                <a:ea typeface="Calibri" pitchFamily="34" charset="-122"/>
                <a:cs typeface="Calibri" pitchFamily="34" charset="-120"/>
              </a:rPr>
              <a:t>Transparent dual-reporting (Annex A.2) — the anticipated path, not a failure</a:t>
            </a:r>
            <a:endParaRPr lang="en-US" sz="880" dirty="0"/>
          </a:p>
        </p:txBody>
      </p:sp>
      <p:sp>
        <p:nvSpPr>
          <p:cNvPr id="51" name="Shape 49"/>
          <p:cNvSpPr/>
          <p:nvPr/>
        </p:nvSpPr>
        <p:spPr>
          <a:xfrm>
            <a:off x="8560613" y="3207715"/>
            <a:ext cx="3084271" cy="713232"/>
          </a:xfrm>
          <a:prstGeom prst="roundRect">
            <a:avLst>
              <a:gd name="adj" fmla="val 7692"/>
            </a:avLst>
          </a:prstGeom>
          <a:solidFill>
            <a:srgbClr val="E4E6EB"/>
          </a:solidFill>
          <a:ln/>
        </p:spPr>
      </p:sp>
      <p:sp>
        <p:nvSpPr>
          <p:cNvPr id="52" name="Shape 50"/>
          <p:cNvSpPr/>
          <p:nvPr/>
        </p:nvSpPr>
        <p:spPr>
          <a:xfrm>
            <a:off x="8540496" y="3182112"/>
            <a:ext cx="3084271" cy="713232"/>
          </a:xfrm>
          <a:prstGeom prst="roundRect">
            <a:avLst>
              <a:gd name="adj" fmla="val 7692"/>
            </a:avLst>
          </a:prstGeom>
          <a:solidFill>
            <a:srgbClr val="F1F2F5"/>
          </a:solidFill>
          <a:ln w="9525">
            <a:solidFill>
              <a:srgbClr val="D9DCE3"/>
            </a:solidFill>
            <a:prstDash val="solid"/>
          </a:ln>
        </p:spPr>
      </p:sp>
      <p:sp>
        <p:nvSpPr>
          <p:cNvPr id="53" name="Text 51"/>
          <p:cNvSpPr txBox="1"/>
          <p:nvPr/>
        </p:nvSpPr>
        <p:spPr>
          <a:xfrm>
            <a:off x="8705088" y="3246120"/>
            <a:ext cx="2755087" cy="292608"/>
          </a:xfrm>
          <a:prstGeom prst="rect">
            <a:avLst/>
          </a:prstGeom>
          <a:noFill/>
          <a:ln/>
        </p:spPr>
        <p:txBody>
          <a:bodyPr wrap="square" lIns="0" tIns="0" rIns="0" bIns="0" rtlCol="0" anchor="ctr"/>
          <a:lstStyle/>
          <a:p>
            <a:pPr indent="0" marL="0">
              <a:buNone/>
            </a:pPr>
            <a:r>
              <a:rPr lang="en-US" sz="950" b="1" dirty="0">
                <a:solidFill>
                  <a:srgbClr val="1B202A"/>
                </a:solidFill>
                <a:latin typeface="Calibri" pitchFamily="34" charset="0"/>
                <a:ea typeface="Calibri" pitchFamily="34" charset="-122"/>
                <a:cs typeface="Calibri" pitchFamily="34" charset="-120"/>
              </a:rPr>
              <a:t>Recovery Controller gate fails at Mid-1</a:t>
            </a:r>
            <a:endParaRPr lang="en-US" sz="950" dirty="0"/>
          </a:p>
        </p:txBody>
      </p:sp>
      <p:sp>
        <p:nvSpPr>
          <p:cNvPr id="54" name="Text 52"/>
          <p:cNvSpPr txBox="1"/>
          <p:nvPr/>
        </p:nvSpPr>
        <p:spPr>
          <a:xfrm>
            <a:off x="8705088" y="3547872"/>
            <a:ext cx="2755087" cy="310896"/>
          </a:xfrm>
          <a:prstGeom prst="rect">
            <a:avLst/>
          </a:prstGeom>
          <a:noFill/>
          <a:ln/>
        </p:spPr>
        <p:txBody>
          <a:bodyPr wrap="square" lIns="0" tIns="0" rIns="0" bIns="0" rtlCol="0" anchor="ctr"/>
          <a:lstStyle/>
          <a:p>
            <a:pPr indent="0" marL="0">
              <a:buNone/>
            </a:pPr>
            <a:r>
              <a:rPr lang="en-US" sz="880" dirty="0">
                <a:solidFill>
                  <a:srgbClr val="1E7A52"/>
                </a:solidFill>
                <a:latin typeface="Calibri" pitchFamily="34" charset="0"/>
                <a:ea typeface="Calibri" pitchFamily="34" charset="-122"/>
                <a:cs typeface="Calibri" pitchFamily="34" charset="-120"/>
              </a:rPr>
              <a:t>Resume via controlled replay — Tier 1 already delivers it</a:t>
            </a:r>
            <a:endParaRPr lang="en-US" sz="880" dirty="0"/>
          </a:p>
        </p:txBody>
      </p:sp>
      <p:sp>
        <p:nvSpPr>
          <p:cNvPr id="55" name="Shape 53"/>
          <p:cNvSpPr/>
          <p:nvPr/>
        </p:nvSpPr>
        <p:spPr>
          <a:xfrm>
            <a:off x="8560613" y="3994099"/>
            <a:ext cx="3084271" cy="713232"/>
          </a:xfrm>
          <a:prstGeom prst="roundRect">
            <a:avLst>
              <a:gd name="adj" fmla="val 7692"/>
            </a:avLst>
          </a:prstGeom>
          <a:solidFill>
            <a:srgbClr val="E4E6EB"/>
          </a:solidFill>
          <a:ln/>
        </p:spPr>
      </p:sp>
      <p:sp>
        <p:nvSpPr>
          <p:cNvPr id="56" name="Shape 54"/>
          <p:cNvSpPr/>
          <p:nvPr/>
        </p:nvSpPr>
        <p:spPr>
          <a:xfrm>
            <a:off x="8540496" y="3968496"/>
            <a:ext cx="3084271" cy="713232"/>
          </a:xfrm>
          <a:prstGeom prst="roundRect">
            <a:avLst>
              <a:gd name="adj" fmla="val 7692"/>
            </a:avLst>
          </a:prstGeom>
          <a:solidFill>
            <a:srgbClr val="F1F2F5"/>
          </a:solidFill>
          <a:ln w="9525">
            <a:solidFill>
              <a:srgbClr val="D9DCE3"/>
            </a:solidFill>
            <a:prstDash val="solid"/>
          </a:ln>
        </p:spPr>
      </p:sp>
      <p:sp>
        <p:nvSpPr>
          <p:cNvPr id="57" name="Text 55"/>
          <p:cNvSpPr txBox="1"/>
          <p:nvPr/>
        </p:nvSpPr>
        <p:spPr>
          <a:xfrm>
            <a:off x="8705088" y="4032504"/>
            <a:ext cx="2755087" cy="292608"/>
          </a:xfrm>
          <a:prstGeom prst="rect">
            <a:avLst/>
          </a:prstGeom>
          <a:noFill/>
          <a:ln/>
        </p:spPr>
        <p:txBody>
          <a:bodyPr wrap="square" lIns="0" tIns="0" rIns="0" bIns="0" rtlCol="0" anchor="ctr"/>
          <a:lstStyle/>
          <a:p>
            <a:pPr indent="0" marL="0">
              <a:buNone/>
            </a:pPr>
            <a:r>
              <a:rPr lang="en-US" sz="950" b="1" dirty="0">
                <a:solidFill>
                  <a:srgbClr val="1B202A"/>
                </a:solidFill>
                <a:latin typeface="Calibri" pitchFamily="34" charset="0"/>
                <a:ea typeface="Calibri" pitchFamily="34" charset="-122"/>
                <a:cs typeface="Calibri" pitchFamily="34" charset="-120"/>
              </a:rPr>
              <a:t>Verified Repair Memory re-test fails again</a:t>
            </a:r>
            <a:endParaRPr lang="en-US" sz="950" dirty="0"/>
          </a:p>
        </p:txBody>
      </p:sp>
      <p:sp>
        <p:nvSpPr>
          <p:cNvPr id="58" name="Text 56"/>
          <p:cNvSpPr txBox="1"/>
          <p:nvPr/>
        </p:nvSpPr>
        <p:spPr>
          <a:xfrm>
            <a:off x="8705088" y="4334256"/>
            <a:ext cx="2755087" cy="310896"/>
          </a:xfrm>
          <a:prstGeom prst="rect">
            <a:avLst/>
          </a:prstGeom>
          <a:noFill/>
          <a:ln/>
        </p:spPr>
        <p:txBody>
          <a:bodyPr wrap="square" lIns="0" tIns="0" rIns="0" bIns="0" rtlCol="0" anchor="ctr"/>
          <a:lstStyle/>
          <a:p>
            <a:pPr indent="0" marL="0">
              <a:buNone/>
            </a:pPr>
            <a:r>
              <a:rPr lang="en-US" sz="880" dirty="0">
                <a:solidFill>
                  <a:srgbClr val="1E7A52"/>
                </a:solidFill>
                <a:latin typeface="Calibri" pitchFamily="34" charset="0"/>
                <a:ea typeface="Calibri" pitchFamily="34" charset="-122"/>
                <a:cs typeface="Calibri" pitchFamily="34" charset="-120"/>
              </a:rPr>
              <a:t>Ships as a memory-on/off ablation — still a legitimate contribution</a:t>
            </a:r>
            <a:endParaRPr lang="en-US" sz="880" dirty="0"/>
          </a:p>
        </p:txBody>
      </p:sp>
      <p:sp>
        <p:nvSpPr>
          <p:cNvPr id="59" name="Shape 57"/>
          <p:cNvSpPr/>
          <p:nvPr/>
        </p:nvSpPr>
        <p:spPr>
          <a:xfrm>
            <a:off x="8560613" y="4780483"/>
            <a:ext cx="3084271" cy="713232"/>
          </a:xfrm>
          <a:prstGeom prst="roundRect">
            <a:avLst>
              <a:gd name="adj" fmla="val 7692"/>
            </a:avLst>
          </a:prstGeom>
          <a:solidFill>
            <a:srgbClr val="E4E6EB"/>
          </a:solidFill>
          <a:ln/>
        </p:spPr>
      </p:sp>
      <p:sp>
        <p:nvSpPr>
          <p:cNvPr id="60" name="Shape 58"/>
          <p:cNvSpPr/>
          <p:nvPr/>
        </p:nvSpPr>
        <p:spPr>
          <a:xfrm>
            <a:off x="8540496" y="4754880"/>
            <a:ext cx="3084271" cy="713232"/>
          </a:xfrm>
          <a:prstGeom prst="roundRect">
            <a:avLst>
              <a:gd name="adj" fmla="val 7692"/>
            </a:avLst>
          </a:prstGeom>
          <a:solidFill>
            <a:srgbClr val="F1F2F5"/>
          </a:solidFill>
          <a:ln w="9525">
            <a:solidFill>
              <a:srgbClr val="D9DCE3"/>
            </a:solidFill>
            <a:prstDash val="solid"/>
          </a:ln>
        </p:spPr>
      </p:sp>
      <p:sp>
        <p:nvSpPr>
          <p:cNvPr id="61" name="Text 59"/>
          <p:cNvSpPr txBox="1"/>
          <p:nvPr/>
        </p:nvSpPr>
        <p:spPr>
          <a:xfrm>
            <a:off x="8705088" y="4818888"/>
            <a:ext cx="2755087" cy="292608"/>
          </a:xfrm>
          <a:prstGeom prst="rect">
            <a:avLst/>
          </a:prstGeom>
          <a:noFill/>
          <a:ln/>
        </p:spPr>
        <p:txBody>
          <a:bodyPr wrap="square" lIns="0" tIns="0" rIns="0" bIns="0" rtlCol="0" anchor="ctr"/>
          <a:lstStyle/>
          <a:p>
            <a:pPr indent="0" marL="0">
              <a:buNone/>
            </a:pPr>
            <a:r>
              <a:rPr lang="en-US" sz="950" b="1" dirty="0">
                <a:solidFill>
                  <a:srgbClr val="1B202A"/>
                </a:solidFill>
                <a:latin typeface="Calibri" pitchFamily="34" charset="0"/>
                <a:ea typeface="Calibri" pitchFamily="34" charset="-122"/>
                <a:cs typeface="Calibri" pitchFamily="34" charset="-120"/>
              </a:rPr>
              <a:t>Benchmark scale stalls below 500</a:t>
            </a:r>
            <a:endParaRPr lang="en-US" sz="950" dirty="0"/>
          </a:p>
        </p:txBody>
      </p:sp>
      <p:sp>
        <p:nvSpPr>
          <p:cNvPr id="62" name="Text 60"/>
          <p:cNvSpPr txBox="1"/>
          <p:nvPr/>
        </p:nvSpPr>
        <p:spPr>
          <a:xfrm>
            <a:off x="8705088" y="5120640"/>
            <a:ext cx="2755087" cy="310896"/>
          </a:xfrm>
          <a:prstGeom prst="rect">
            <a:avLst/>
          </a:prstGeom>
          <a:noFill/>
          <a:ln/>
        </p:spPr>
        <p:txBody>
          <a:bodyPr wrap="square" lIns="0" tIns="0" rIns="0" bIns="0" rtlCol="0" anchor="ctr"/>
          <a:lstStyle/>
          <a:p>
            <a:pPr indent="0" marL="0">
              <a:buNone/>
            </a:pPr>
            <a:r>
              <a:rPr lang="en-US" sz="880" dirty="0">
                <a:solidFill>
                  <a:srgbClr val="1E7A52"/>
                </a:solidFill>
                <a:latin typeface="Calibri" pitchFamily="34" charset="0"/>
                <a:ea typeface="Calibri" pitchFamily="34" charset="-122"/>
                <a:cs typeface="Calibri" pitchFamily="34" charset="-120"/>
              </a:rPr>
              <a:t>Floor of 500; 300-with-statistics beats 1,000-without</a:t>
            </a:r>
            <a:endParaRPr lang="en-US" sz="880" dirty="0"/>
          </a:p>
        </p:txBody>
      </p:sp>
      <p:sp>
        <p:nvSpPr>
          <p:cNvPr id="63" name="Shape 61"/>
          <p:cNvSpPr/>
          <p:nvPr/>
        </p:nvSpPr>
        <p:spPr>
          <a:xfrm>
            <a:off x="5716829" y="5621731"/>
            <a:ext cx="5928055" cy="566928"/>
          </a:xfrm>
          <a:prstGeom prst="roundRect">
            <a:avLst>
              <a:gd name="adj" fmla="val 9677"/>
            </a:avLst>
          </a:prstGeom>
          <a:solidFill>
            <a:srgbClr val="E4E6EB"/>
          </a:solidFill>
          <a:ln/>
        </p:spPr>
      </p:sp>
      <p:sp>
        <p:nvSpPr>
          <p:cNvPr id="64" name="Shape 62"/>
          <p:cNvSpPr/>
          <p:nvPr/>
        </p:nvSpPr>
        <p:spPr>
          <a:xfrm>
            <a:off x="5696712" y="5596128"/>
            <a:ext cx="5928055" cy="566928"/>
          </a:xfrm>
          <a:prstGeom prst="roundRect">
            <a:avLst>
              <a:gd name="adj" fmla="val 9677"/>
            </a:avLst>
          </a:prstGeom>
          <a:solidFill>
            <a:srgbClr val="E4E9F2"/>
          </a:solidFill>
          <a:ln w="9525">
            <a:solidFill>
              <a:srgbClr val="D9DCE3"/>
            </a:solidFill>
            <a:prstDash val="solid"/>
          </a:ln>
        </p:spPr>
      </p:sp>
      <p:sp>
        <p:nvSpPr>
          <p:cNvPr id="65" name="Shape 63"/>
          <p:cNvSpPr/>
          <p:nvPr/>
        </p:nvSpPr>
        <p:spPr>
          <a:xfrm>
            <a:off x="5696712" y="5650992"/>
            <a:ext cx="41148" cy="457200"/>
          </a:xfrm>
          <a:prstGeom prst="rect">
            <a:avLst/>
          </a:prstGeom>
          <a:solidFill>
            <a:srgbClr val="31558F"/>
          </a:solidFill>
          <a:ln/>
        </p:spPr>
      </p:sp>
      <p:sp>
        <p:nvSpPr>
          <p:cNvPr id="66" name="Text 64"/>
          <p:cNvSpPr txBox="1"/>
          <p:nvPr/>
        </p:nvSpPr>
        <p:spPr>
          <a:xfrm>
            <a:off x="5879592" y="5678424"/>
            <a:ext cx="5562295" cy="420624"/>
          </a:xfrm>
          <a:prstGeom prst="rect">
            <a:avLst/>
          </a:prstGeom>
          <a:noFill/>
          <a:ln/>
        </p:spPr>
        <p:txBody>
          <a:bodyPr wrap="square" lIns="0" tIns="0" rIns="0" bIns="0" rtlCol="0" anchor="ctr"/>
          <a:lstStyle/>
          <a:p>
            <a:pPr indent="0" marL="0">
              <a:buNone/>
            </a:pPr>
            <a:r>
              <a:rPr lang="en-US" sz="910" b="1" dirty="0">
                <a:solidFill>
                  <a:srgbClr val="31558F"/>
                </a:solidFill>
                <a:latin typeface="Calibri" pitchFamily="34" charset="0"/>
                <a:ea typeface="Calibri" pitchFamily="34" charset="-122"/>
                <a:cs typeface="Calibri" pitchFamily="34" charset="-120"/>
              </a:rPr>
              <a:t>Tool / API / GenAI boundary:  </a:t>
            </a:r>
            <a:pPr indent="0" marL="0">
              <a:buNone/>
            </a:pPr>
            <a:r>
              <a:rPr lang="en-US" sz="910" dirty="0">
                <a:solidFill>
                  <a:srgbClr val="1B202A"/>
                </a:solidFill>
                <a:latin typeface="Calibri" pitchFamily="34" charset="0"/>
                <a:ea typeface="Calibri" pitchFamily="34" charset="-122"/>
                <a:cs typeface="Calibri" pitchFamily="34" charset="-120"/>
              </a:rPr>
              <a:t>every external component classified Support / Core-assist / Core-replacement on Form 13. Nothing we claim as contribution sits in core-replacement — the LLM is core-assist, and the contribution survives swapping it.</a:t>
            </a:r>
            <a:endParaRPr lang="en-US" sz="910" dirty="0"/>
          </a:p>
        </p:txBody>
      </p:sp>
      <p:sp>
        <p:nvSpPr>
          <p:cNvPr id="67" name="Text 65"/>
          <p:cNvSpPr txBox="1"/>
          <p:nvPr/>
        </p:nvSpPr>
        <p:spPr>
          <a:xfrm>
            <a:off x="566928" y="6217920"/>
            <a:ext cx="11057839" cy="201168"/>
          </a:xfrm>
          <a:prstGeom prst="rect">
            <a:avLst/>
          </a:prstGeom>
          <a:noFill/>
          <a:ln/>
        </p:spPr>
        <p:txBody>
          <a:bodyPr wrap="square" lIns="0" tIns="0" rIns="0" bIns="0" rtlCol="0" anchor="ctr"/>
          <a:lstStyle/>
          <a:p>
            <a:pPr indent="0" marL="0">
              <a:buNone/>
            </a:pPr>
            <a:r>
              <a:rPr lang="en-US" sz="800" dirty="0">
                <a:solidFill>
                  <a:srgbClr val="8B92A2"/>
                </a:solidFill>
                <a:latin typeface="Consolas" pitchFamily="34" charset="0"/>
                <a:ea typeface="Consolas" pitchFamily="34" charset="-122"/>
                <a:cs typeface="Consolas" pitchFamily="34" charset="-120"/>
              </a:rPr>
              <a:t>▸ plan §11 (acceptance band, pre-registered)  ·  Form13_GenAI_Disclosure_Sheet.md  ·  risk-register.md (R4/R25/R37)</a:t>
            </a:r>
            <a:endParaRPr lang="en-US" sz="8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10896"/>
            <a:ext cx="11057839" cy="237744"/>
          </a:xfrm>
          <a:prstGeom prst="rect">
            <a:avLst/>
          </a:prstGeom>
          <a:noFill/>
          <a:ln/>
        </p:spPr>
        <p:txBody>
          <a:bodyPr wrap="square" lIns="0" tIns="0" rIns="0" bIns="0" rtlCol="0" anchor="ctr"/>
          <a:lstStyle/>
          <a:p>
            <a:pPr indent="0" marL="0">
              <a:buNone/>
            </a:pPr>
            <a:r>
              <a:rPr lang="en-US" sz="1050" b="1" spc="180" kern="0" dirty="0">
                <a:solidFill>
                  <a:srgbClr val="8E6A1F"/>
                </a:solidFill>
                <a:latin typeface="Consolas" pitchFamily="34" charset="0"/>
                <a:ea typeface="Consolas" pitchFamily="34" charset="-122"/>
                <a:cs typeface="Consolas" pitchFamily="34" charset="-120"/>
              </a:rPr>
              <a:t>COMMITTED SCOPE, MEMBER-WISE OWNERSHIP, DEPENDENCIES AND MILESTONES</a:t>
            </a:r>
            <a:endParaRPr lang="en-US" sz="10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indent="0" marL="0">
              <a:buNone/>
            </a:pPr>
            <a:r>
              <a:rPr lang="en-US" sz="2700" b="1" dirty="0">
                <a:solidFill>
                  <a:srgbClr val="1B202A"/>
                </a:solidFill>
                <a:latin typeface="Georgia" pitchFamily="34" charset="0"/>
                <a:ea typeface="Georgia" pitchFamily="34" charset="-122"/>
                <a:cs typeface="Georgia" pitchFamily="34" charset="-120"/>
              </a:rPr>
              <a:t>Scope, Work Division &amp; Iteration Plan</a:t>
            </a:r>
            <a:endParaRPr lang="en-US" sz="2700" dirty="0"/>
          </a:p>
        </p:txBody>
      </p:sp>
      <p:sp>
        <p:nvSpPr>
          <p:cNvPr id="7" name="Shape 5"/>
          <p:cNvSpPr/>
          <p:nvPr/>
        </p:nvSpPr>
        <p:spPr>
          <a:xfrm>
            <a:off x="566928" y="1188720"/>
            <a:ext cx="566928" cy="36576"/>
          </a:xfrm>
          <a:prstGeom prst="rect">
            <a:avLst/>
          </a:prstGeom>
          <a:solidFill>
            <a:srgbClr val="C89B3C"/>
          </a:solidFill>
          <a:ln/>
        </p:spPr>
      </p:sp>
      <p:sp>
        <p:nvSpPr>
          <p:cNvPr id="8" name="Shape 6"/>
          <p:cNvSpPr/>
          <p:nvPr/>
        </p:nvSpPr>
        <p:spPr>
          <a:xfrm>
            <a:off x="566928" y="6437376"/>
            <a:ext cx="11057839" cy="0"/>
          </a:xfrm>
          <a:prstGeom prst="line">
            <a:avLst/>
          </a:prstGeom>
          <a:noFill/>
          <a:ln w="9525">
            <a:solidFill>
              <a:srgbClr val="D9DCE3"/>
            </a:solidFill>
            <a:prstDash val="solid"/>
          </a:ln>
        </p:spPr>
      </p:sp>
      <p:sp>
        <p:nvSpPr>
          <p:cNvPr id="9" name="Text 7"/>
          <p:cNvSpPr txBox="1"/>
          <p:nvPr/>
        </p:nvSpPr>
        <p:spPr>
          <a:xfrm>
            <a:off x="566928" y="6492240"/>
            <a:ext cx="5943600" cy="237744"/>
          </a:xfrm>
          <a:prstGeom prst="rect">
            <a:avLst/>
          </a:prstGeom>
          <a:noFill/>
          <a:ln/>
        </p:spPr>
        <p:txBody>
          <a:bodyPr wrap="square" lIns="0" tIns="0" rIns="0" bIns="0" rtlCol="0" anchor="ctr"/>
          <a:lstStyle/>
          <a:p>
            <a:pPr indent="0" marL="0">
              <a:buNone/>
            </a:pPr>
            <a:r>
              <a:rPr lang="en-US" sz="850" spc="80" kern="0" dirty="0">
                <a:solidFill>
                  <a:srgbClr val="8B92A2"/>
                </a:solidFill>
                <a:latin typeface="Consolas" pitchFamily="34" charset="0"/>
                <a:ea typeface="Consolas" pitchFamily="34" charset="-122"/>
                <a:cs typeface="Consolas" pitchFamily="34" charset="-120"/>
              </a:rPr>
              <a:t>F26-060-GRANITE  ·  PROPOSAL DEFENSE  ·  STREAM A</a:t>
            </a:r>
            <a:endParaRPr lang="en-US" sz="850" dirty="0"/>
          </a:p>
        </p:txBody>
      </p:sp>
      <p:sp>
        <p:nvSpPr>
          <p:cNvPr id="10" name="Text 8"/>
          <p:cNvSpPr txBox="1"/>
          <p:nvPr/>
        </p:nvSpPr>
        <p:spPr>
          <a:xfrm>
            <a:off x="10527487" y="6492240"/>
            <a:ext cx="1097280" cy="237744"/>
          </a:xfrm>
          <a:prstGeom prst="rect">
            <a:avLst/>
          </a:prstGeom>
          <a:noFill/>
          <a:ln/>
        </p:spPr>
        <p:txBody>
          <a:bodyPr wrap="square" lIns="0" tIns="0" rIns="0" bIns="0" rtlCol="0" anchor="ctr"/>
          <a:lstStyle/>
          <a:p>
            <a:pPr algn="r" indent="0" marL="0">
              <a:buNone/>
            </a:pPr>
            <a:r>
              <a:rPr lang="en-US" sz="850" b="1" dirty="0">
                <a:solidFill>
                  <a:srgbClr val="8E6A1F"/>
                </a:solidFill>
                <a:latin typeface="Consolas" pitchFamily="34" charset="0"/>
                <a:ea typeface="Consolas" pitchFamily="34" charset="-122"/>
                <a:cs typeface="Consolas" pitchFamily="34" charset="-120"/>
              </a:rPr>
              <a:t>9 / 10</a:t>
            </a:r>
            <a:endParaRPr lang="en-US" sz="850" dirty="0"/>
          </a:p>
        </p:txBody>
      </p:sp>
      <p:sp>
        <p:nvSpPr>
          <p:cNvPr id="11" name="Shape 9"/>
          <p:cNvSpPr/>
          <p:nvPr/>
        </p:nvSpPr>
        <p:spPr>
          <a:xfrm>
            <a:off x="587045" y="1342339"/>
            <a:ext cx="3551834" cy="2066544"/>
          </a:xfrm>
          <a:prstGeom prst="roundRect">
            <a:avLst>
              <a:gd name="adj" fmla="val 2655"/>
            </a:avLst>
          </a:prstGeom>
          <a:solidFill>
            <a:srgbClr val="E4E6EB"/>
          </a:solidFill>
          <a:ln/>
        </p:spPr>
      </p:sp>
      <p:sp>
        <p:nvSpPr>
          <p:cNvPr id="12" name="Shape 10"/>
          <p:cNvSpPr/>
          <p:nvPr/>
        </p:nvSpPr>
        <p:spPr>
          <a:xfrm>
            <a:off x="566928" y="1316736"/>
            <a:ext cx="3551834" cy="2066544"/>
          </a:xfrm>
          <a:prstGeom prst="roundRect">
            <a:avLst>
              <a:gd name="adj" fmla="val 2655"/>
            </a:avLst>
          </a:prstGeom>
          <a:solidFill>
            <a:srgbClr val="E3EFF1"/>
          </a:solidFill>
          <a:ln w="9525">
            <a:solidFill>
              <a:srgbClr val="D9DCE3"/>
            </a:solidFill>
            <a:prstDash val="solid"/>
          </a:ln>
        </p:spPr>
      </p:sp>
      <p:sp>
        <p:nvSpPr>
          <p:cNvPr id="13" name="Shape 11"/>
          <p:cNvSpPr/>
          <p:nvPr/>
        </p:nvSpPr>
        <p:spPr>
          <a:xfrm>
            <a:off x="566928" y="1371600"/>
            <a:ext cx="41148" cy="1956816"/>
          </a:xfrm>
          <a:prstGeom prst="rect">
            <a:avLst/>
          </a:prstGeom>
          <a:solidFill>
            <a:srgbClr val="15707A"/>
          </a:solidFill>
          <a:ln/>
        </p:spPr>
      </p:sp>
      <p:sp>
        <p:nvSpPr>
          <p:cNvPr id="14" name="Text 12"/>
          <p:cNvSpPr txBox="1"/>
          <p:nvPr/>
        </p:nvSpPr>
        <p:spPr>
          <a:xfrm>
            <a:off x="749808" y="1408176"/>
            <a:ext cx="3186074" cy="256032"/>
          </a:xfrm>
          <a:prstGeom prst="rect">
            <a:avLst/>
          </a:prstGeom>
          <a:noFill/>
          <a:ln/>
        </p:spPr>
        <p:txBody>
          <a:bodyPr wrap="square" lIns="0" tIns="0" rIns="0" bIns="0" rtlCol="0" anchor="ctr"/>
          <a:lstStyle/>
          <a:p>
            <a:pPr indent="0" marL="0">
              <a:buNone/>
            </a:pPr>
            <a:r>
              <a:rPr lang="en-US" sz="1300" b="1" dirty="0">
                <a:solidFill>
                  <a:srgbClr val="1B202A"/>
                </a:solidFill>
                <a:latin typeface="Georgia" pitchFamily="34" charset="0"/>
                <a:ea typeface="Georgia" pitchFamily="34" charset="-122"/>
                <a:cs typeface="Georgia" pitchFamily="34" charset="-120"/>
              </a:rPr>
              <a:t>Shahoud Shahid</a:t>
            </a:r>
            <a:pPr indent="0" marL="0">
              <a:buNone/>
            </a:pPr>
            <a:r>
              <a:rPr lang="en-US" sz="850" dirty="0">
                <a:solidFill>
                  <a:srgbClr val="596273"/>
                </a:solidFill>
                <a:latin typeface="Consolas" pitchFamily="34" charset="0"/>
                <a:ea typeface="Consolas" pitchFamily="34" charset="-122"/>
                <a:cs typeface="Consolas" pitchFamily="34" charset="-120"/>
              </a:rPr>
              <a:t>   23i-2515</a:t>
            </a:r>
            <a:endParaRPr lang="en-US" sz="1300" dirty="0"/>
          </a:p>
        </p:txBody>
      </p:sp>
      <p:sp>
        <p:nvSpPr>
          <p:cNvPr id="15" name="Shape 13"/>
          <p:cNvSpPr/>
          <p:nvPr/>
        </p:nvSpPr>
        <p:spPr>
          <a:xfrm>
            <a:off x="749808" y="1700784"/>
            <a:ext cx="1874520" cy="237744"/>
          </a:xfrm>
          <a:prstGeom prst="roundRect">
            <a:avLst>
              <a:gd name="adj" fmla="val 50000"/>
            </a:avLst>
          </a:prstGeom>
          <a:solidFill>
            <a:srgbClr val="15707A"/>
          </a:solidFill>
          <a:ln/>
        </p:spPr>
      </p:sp>
      <p:sp>
        <p:nvSpPr>
          <p:cNvPr id="16" name="Text 14"/>
          <p:cNvSpPr txBox="1"/>
          <p:nvPr/>
        </p:nvSpPr>
        <p:spPr>
          <a:xfrm>
            <a:off x="749808" y="1700784"/>
            <a:ext cx="1874520" cy="237744"/>
          </a:xfrm>
          <a:prstGeom prst="rect">
            <a:avLst/>
          </a:prstGeom>
          <a:noFill/>
          <a:ln/>
        </p:spPr>
        <p:txBody>
          <a:bodyPr wrap="square" lIns="0" tIns="0" rIns="0" bIns="0" rtlCol="0" anchor="ctr"/>
          <a:lstStyle/>
          <a:p>
            <a:pPr algn="ctr" indent="0" marL="0">
              <a:buNone/>
            </a:pPr>
            <a:r>
              <a:rPr lang="en-US" sz="850" b="1" dirty="0">
                <a:solidFill>
                  <a:srgbClr val="F5F6F8"/>
                </a:solidFill>
                <a:latin typeface="Consolas" pitchFamily="34" charset="0"/>
                <a:ea typeface="Consolas" pitchFamily="34" charset="-122"/>
                <a:cs typeface="Consolas" pitchFamily="34" charset="-120"/>
              </a:rPr>
              <a:t>DATA / BENCHMARK</a:t>
            </a:r>
            <a:endParaRPr lang="en-US" sz="850" dirty="0"/>
          </a:p>
        </p:txBody>
      </p:sp>
      <p:sp>
        <p:nvSpPr>
          <p:cNvPr id="17" name="Text 15"/>
          <p:cNvSpPr txBox="1"/>
          <p:nvPr/>
        </p:nvSpPr>
        <p:spPr>
          <a:xfrm>
            <a:off x="749808" y="2029968"/>
            <a:ext cx="3186074" cy="896112"/>
          </a:xfrm>
          <a:prstGeom prst="rect">
            <a:avLst/>
          </a:prstGeom>
          <a:noFill/>
          <a:ln/>
        </p:spPr>
        <p:txBody>
          <a:bodyPr wrap="square" lIns="0" tIns="0" rIns="0" bIns="0" rtlCol="0" anchor="t"/>
          <a:lstStyle/>
          <a:p>
            <a:pPr marL="165100" indent="-165100">
              <a:spcAft>
                <a:spcPts val="700"/>
              </a:spcAft>
              <a:buSzPct val="100000"/>
              <a:buChar char="▪"/>
            </a:pPr>
            <a:r>
              <a:rPr lang="en-US" sz="900" dirty="0">
                <a:solidFill>
                  <a:srgbClr val="1B202A"/>
                </a:solidFill>
                <a:latin typeface="Calibri" pitchFamily="34" charset="0"/>
                <a:ea typeface="Calibri" pitchFamily="34" charset="-122"/>
                <a:cs typeface="Calibri" pitchFamily="34" charset="-120"/>
              </a:rPr>
              <a:t>Framework instrumentation (CrewAI, LangGraph)</a:t>
            </a:r>
            <a:endParaRPr lang="en-US" sz="900" dirty="0"/>
          </a:p>
          <a:p>
            <a:pPr marL="165100" indent="-165100">
              <a:spcAft>
                <a:spcPts val="700"/>
              </a:spcAft>
              <a:buSzPct val="100000"/>
              <a:buChar char="▪"/>
            </a:pPr>
            <a:r>
              <a:rPr lang="en-US" sz="900" dirty="0">
                <a:solidFill>
                  <a:srgbClr val="1B202A"/>
                </a:solidFill>
                <a:latin typeface="Calibri" pitchFamily="34" charset="0"/>
                <a:ea typeface="Calibri" pitchFamily="34" charset="-122"/>
                <a:cs typeface="Calibri" pitchFamily="34" charset="-120"/>
              </a:rPr>
              <a:t>Fault-injection operators + ground-truth labelling</a:t>
            </a:r>
            <a:endParaRPr lang="en-US" sz="900" dirty="0"/>
          </a:p>
          <a:p>
            <a:pPr marL="165100" indent="-165100">
              <a:spcAft>
                <a:spcPts val="700"/>
              </a:spcAft>
              <a:buSzPct val="100000"/>
              <a:buChar char="▪"/>
            </a:pPr>
            <a:r>
              <a:rPr lang="en-US" sz="900" dirty="0">
                <a:solidFill>
                  <a:srgbClr val="1B202A"/>
                </a:solidFill>
                <a:latin typeface="Calibri" pitchFamily="34" charset="0"/>
                <a:ea typeface="Calibri" pitchFamily="34" charset="-122"/>
                <a:cs typeface="Calibri" pitchFamily="34" charset="-120"/>
              </a:rPr>
              <a:t>Cross-architecture benchmark build &amp; licensed release</a:t>
            </a:r>
            <a:endParaRPr lang="en-US" sz="900" dirty="0"/>
          </a:p>
        </p:txBody>
      </p:sp>
      <p:sp>
        <p:nvSpPr>
          <p:cNvPr id="18" name="Shape 16"/>
          <p:cNvSpPr/>
          <p:nvPr/>
        </p:nvSpPr>
        <p:spPr>
          <a:xfrm>
            <a:off x="749808" y="2962656"/>
            <a:ext cx="3186074" cy="0"/>
          </a:xfrm>
          <a:prstGeom prst="line">
            <a:avLst/>
          </a:prstGeom>
          <a:noFill/>
          <a:ln w="9525">
            <a:solidFill>
              <a:srgbClr val="15707A"/>
            </a:solidFill>
            <a:prstDash val="solid"/>
          </a:ln>
        </p:spPr>
      </p:sp>
      <p:sp>
        <p:nvSpPr>
          <p:cNvPr id="19" name="Text 17"/>
          <p:cNvSpPr txBox="1"/>
          <p:nvPr/>
        </p:nvSpPr>
        <p:spPr>
          <a:xfrm>
            <a:off x="749808" y="3017520"/>
            <a:ext cx="3186074" cy="329184"/>
          </a:xfrm>
          <a:prstGeom prst="rect">
            <a:avLst/>
          </a:prstGeom>
          <a:noFill/>
          <a:ln/>
        </p:spPr>
        <p:txBody>
          <a:bodyPr wrap="square" lIns="0" tIns="0" rIns="0" bIns="0" rtlCol="0" anchor="ctr"/>
          <a:lstStyle/>
          <a:p>
            <a:pPr indent="0" marL="0">
              <a:buNone/>
            </a:pPr>
            <a:r>
              <a:rPr lang="en-US" sz="840" i="1" dirty="0">
                <a:solidFill>
                  <a:srgbClr val="596273"/>
                </a:solidFill>
                <a:latin typeface="Calibri" pitchFamily="34" charset="0"/>
                <a:ea typeface="Calibri" pitchFamily="34" charset="-122"/>
                <a:cs typeface="Calibri" pitchFamily="34" charset="-120"/>
              </a:rPr>
              <a:t>If removed: no cross-architecture benchmark exists — the core research claim is untestable</a:t>
            </a:r>
            <a:endParaRPr lang="en-US" sz="840" dirty="0"/>
          </a:p>
        </p:txBody>
      </p:sp>
      <p:sp>
        <p:nvSpPr>
          <p:cNvPr id="20" name="Shape 18"/>
          <p:cNvSpPr/>
          <p:nvPr/>
        </p:nvSpPr>
        <p:spPr>
          <a:xfrm>
            <a:off x="4340047" y="1342339"/>
            <a:ext cx="3551834" cy="2066544"/>
          </a:xfrm>
          <a:prstGeom prst="roundRect">
            <a:avLst>
              <a:gd name="adj" fmla="val 2655"/>
            </a:avLst>
          </a:prstGeom>
          <a:solidFill>
            <a:srgbClr val="E4E6EB"/>
          </a:solidFill>
          <a:ln/>
        </p:spPr>
      </p:sp>
      <p:sp>
        <p:nvSpPr>
          <p:cNvPr id="21" name="Shape 19"/>
          <p:cNvSpPr/>
          <p:nvPr/>
        </p:nvSpPr>
        <p:spPr>
          <a:xfrm>
            <a:off x="4319930" y="1316736"/>
            <a:ext cx="3551834" cy="2066544"/>
          </a:xfrm>
          <a:prstGeom prst="roundRect">
            <a:avLst>
              <a:gd name="adj" fmla="val 2655"/>
            </a:avLst>
          </a:prstGeom>
          <a:solidFill>
            <a:srgbClr val="F6EADD"/>
          </a:solidFill>
          <a:ln w="9525">
            <a:solidFill>
              <a:srgbClr val="D9DCE3"/>
            </a:solidFill>
            <a:prstDash val="solid"/>
          </a:ln>
        </p:spPr>
      </p:sp>
      <p:sp>
        <p:nvSpPr>
          <p:cNvPr id="22" name="Shape 20"/>
          <p:cNvSpPr/>
          <p:nvPr/>
        </p:nvSpPr>
        <p:spPr>
          <a:xfrm>
            <a:off x="4319930" y="1371600"/>
            <a:ext cx="41148" cy="1956816"/>
          </a:xfrm>
          <a:prstGeom prst="rect">
            <a:avLst/>
          </a:prstGeom>
          <a:solidFill>
            <a:srgbClr val="B05C1C"/>
          </a:solidFill>
          <a:ln/>
        </p:spPr>
      </p:sp>
      <p:sp>
        <p:nvSpPr>
          <p:cNvPr id="23" name="Text 21"/>
          <p:cNvSpPr txBox="1"/>
          <p:nvPr/>
        </p:nvSpPr>
        <p:spPr>
          <a:xfrm>
            <a:off x="4502810" y="1408176"/>
            <a:ext cx="3186074" cy="256032"/>
          </a:xfrm>
          <a:prstGeom prst="rect">
            <a:avLst/>
          </a:prstGeom>
          <a:noFill/>
          <a:ln/>
        </p:spPr>
        <p:txBody>
          <a:bodyPr wrap="square" lIns="0" tIns="0" rIns="0" bIns="0" rtlCol="0" anchor="ctr"/>
          <a:lstStyle/>
          <a:p>
            <a:pPr indent="0" marL="0">
              <a:buNone/>
            </a:pPr>
            <a:r>
              <a:rPr lang="en-US" sz="1300" b="1" dirty="0">
                <a:solidFill>
                  <a:srgbClr val="1B202A"/>
                </a:solidFill>
                <a:latin typeface="Georgia" pitchFamily="34" charset="0"/>
                <a:ea typeface="Georgia" pitchFamily="34" charset="-122"/>
                <a:cs typeface="Georgia" pitchFamily="34" charset="-120"/>
              </a:rPr>
              <a:t>Muhammad Noor</a:t>
            </a:r>
            <a:pPr indent="0" marL="0">
              <a:buNone/>
            </a:pPr>
            <a:r>
              <a:rPr lang="en-US" sz="850" dirty="0">
                <a:solidFill>
                  <a:srgbClr val="596273"/>
                </a:solidFill>
                <a:latin typeface="Consolas" pitchFamily="34" charset="0"/>
                <a:ea typeface="Consolas" pitchFamily="34" charset="-122"/>
                <a:cs typeface="Consolas" pitchFamily="34" charset="-120"/>
              </a:rPr>
              <a:t>   23i-2520</a:t>
            </a:r>
            <a:endParaRPr lang="en-US" sz="1300" dirty="0"/>
          </a:p>
        </p:txBody>
      </p:sp>
      <p:sp>
        <p:nvSpPr>
          <p:cNvPr id="24" name="Shape 22"/>
          <p:cNvSpPr/>
          <p:nvPr/>
        </p:nvSpPr>
        <p:spPr>
          <a:xfrm>
            <a:off x="4502810" y="1700784"/>
            <a:ext cx="1874520" cy="237744"/>
          </a:xfrm>
          <a:prstGeom prst="roundRect">
            <a:avLst>
              <a:gd name="adj" fmla="val 50000"/>
            </a:avLst>
          </a:prstGeom>
          <a:solidFill>
            <a:srgbClr val="B05C1C"/>
          </a:solidFill>
          <a:ln/>
        </p:spPr>
      </p:sp>
      <p:sp>
        <p:nvSpPr>
          <p:cNvPr id="25" name="Text 23"/>
          <p:cNvSpPr txBox="1"/>
          <p:nvPr/>
        </p:nvSpPr>
        <p:spPr>
          <a:xfrm>
            <a:off x="4502810" y="1700784"/>
            <a:ext cx="1874520" cy="237744"/>
          </a:xfrm>
          <a:prstGeom prst="rect">
            <a:avLst/>
          </a:prstGeom>
          <a:noFill/>
          <a:ln/>
        </p:spPr>
        <p:txBody>
          <a:bodyPr wrap="square" lIns="0" tIns="0" rIns="0" bIns="0" rtlCol="0" anchor="ctr"/>
          <a:lstStyle/>
          <a:p>
            <a:pPr algn="ctr" indent="0" marL="0">
              <a:buNone/>
            </a:pPr>
            <a:r>
              <a:rPr lang="en-US" sz="850" b="1" dirty="0">
                <a:solidFill>
                  <a:srgbClr val="F5F6F8"/>
                </a:solidFill>
                <a:latin typeface="Consolas" pitchFamily="34" charset="0"/>
                <a:ea typeface="Consolas" pitchFamily="34" charset="-122"/>
                <a:cs typeface="Consolas" pitchFamily="34" charset="-120"/>
              </a:rPr>
              <a:t>DIAGNOSIS ENGINE</a:t>
            </a:r>
            <a:endParaRPr lang="en-US" sz="850" dirty="0"/>
          </a:p>
        </p:txBody>
      </p:sp>
      <p:sp>
        <p:nvSpPr>
          <p:cNvPr id="26" name="Text 24"/>
          <p:cNvSpPr txBox="1"/>
          <p:nvPr/>
        </p:nvSpPr>
        <p:spPr>
          <a:xfrm>
            <a:off x="4502810" y="2029968"/>
            <a:ext cx="3186074" cy="896112"/>
          </a:xfrm>
          <a:prstGeom prst="rect">
            <a:avLst/>
          </a:prstGeom>
          <a:noFill/>
          <a:ln/>
        </p:spPr>
        <p:txBody>
          <a:bodyPr wrap="square" lIns="0" tIns="0" rIns="0" bIns="0" rtlCol="0" anchor="t"/>
          <a:lstStyle/>
          <a:p>
            <a:pPr marL="165100" indent="-165100">
              <a:spcAft>
                <a:spcPts val="700"/>
              </a:spcAft>
              <a:buSzPct val="100000"/>
              <a:buChar char="▪"/>
            </a:pPr>
            <a:r>
              <a:rPr lang="en-US" sz="900" dirty="0">
                <a:solidFill>
                  <a:srgbClr val="1B202A"/>
                </a:solidFill>
                <a:latin typeface="Calibri" pitchFamily="34" charset="0"/>
                <a:ea typeface="Calibri" pitchFamily="34" charset="-122"/>
                <a:cs typeface="Calibri" pitchFamily="34" charset="-120"/>
              </a:rPr>
              <a:t>Execution-graph construction + trace normalization</a:t>
            </a:r>
            <a:endParaRPr lang="en-US" sz="900" dirty="0"/>
          </a:p>
          <a:p>
            <a:pPr marL="165100" indent="-165100">
              <a:spcAft>
                <a:spcPts val="700"/>
              </a:spcAft>
              <a:buSzPct val="100000"/>
              <a:buChar char="▪"/>
            </a:pPr>
            <a:r>
              <a:rPr lang="en-US" sz="900" dirty="0">
                <a:solidFill>
                  <a:srgbClr val="1B202A"/>
                </a:solidFill>
                <a:latin typeface="Calibri" pitchFamily="34" charset="0"/>
                <a:ea typeface="Calibri" pitchFamily="34" charset="-122"/>
                <a:cs typeface="Calibri" pitchFamily="34" charset="-120"/>
              </a:rPr>
              <a:t>ErrorProbe reproduction and the measured baseline</a:t>
            </a:r>
            <a:endParaRPr lang="en-US" sz="900" dirty="0"/>
          </a:p>
          <a:p>
            <a:pPr marL="165100" indent="-165100">
              <a:spcAft>
                <a:spcPts val="700"/>
              </a:spcAft>
              <a:buSzPct val="100000"/>
              <a:buChar char="▪"/>
            </a:pPr>
            <a:r>
              <a:rPr lang="en-US" sz="900" dirty="0">
                <a:solidFill>
                  <a:srgbClr val="1B202A"/>
                </a:solidFill>
                <a:latin typeface="Calibri" pitchFamily="34" charset="0"/>
                <a:ea typeface="Calibri" pitchFamily="34" charset="-122"/>
                <a:cs typeface="Calibri" pitchFamily="34" charset="-120"/>
              </a:rPr>
              <a:t>Semantic Error Diagnostic + backward causal tracing</a:t>
            </a:r>
            <a:endParaRPr lang="en-US" sz="900" dirty="0"/>
          </a:p>
        </p:txBody>
      </p:sp>
      <p:sp>
        <p:nvSpPr>
          <p:cNvPr id="27" name="Shape 25"/>
          <p:cNvSpPr/>
          <p:nvPr/>
        </p:nvSpPr>
        <p:spPr>
          <a:xfrm>
            <a:off x="4502810" y="2962656"/>
            <a:ext cx="3186074" cy="0"/>
          </a:xfrm>
          <a:prstGeom prst="line">
            <a:avLst/>
          </a:prstGeom>
          <a:noFill/>
          <a:ln w="9525">
            <a:solidFill>
              <a:srgbClr val="B05C1C"/>
            </a:solidFill>
            <a:prstDash val="solid"/>
          </a:ln>
        </p:spPr>
      </p:sp>
      <p:sp>
        <p:nvSpPr>
          <p:cNvPr id="28" name="Text 26"/>
          <p:cNvSpPr txBox="1"/>
          <p:nvPr/>
        </p:nvSpPr>
        <p:spPr>
          <a:xfrm>
            <a:off x="4502810" y="3017520"/>
            <a:ext cx="3186074" cy="329184"/>
          </a:xfrm>
          <a:prstGeom prst="rect">
            <a:avLst/>
          </a:prstGeom>
          <a:noFill/>
          <a:ln/>
        </p:spPr>
        <p:txBody>
          <a:bodyPr wrap="square" lIns="0" tIns="0" rIns="0" bIns="0" rtlCol="0" anchor="ctr"/>
          <a:lstStyle/>
          <a:p>
            <a:pPr indent="0" marL="0">
              <a:buNone/>
            </a:pPr>
            <a:r>
              <a:rPr lang="en-US" sz="840" i="1" dirty="0">
                <a:solidFill>
                  <a:srgbClr val="596273"/>
                </a:solidFill>
                <a:latin typeface="Calibri" pitchFamily="34" charset="0"/>
                <a:ea typeface="Calibri" pitchFamily="34" charset="-122"/>
                <a:cs typeface="Calibri" pitchFamily="34" charset="-120"/>
              </a:rPr>
              <a:t>If removed: no attribution algorithm and no silent-failure detection — the contribution disappears</a:t>
            </a:r>
            <a:endParaRPr lang="en-US" sz="840" dirty="0"/>
          </a:p>
        </p:txBody>
      </p:sp>
      <p:sp>
        <p:nvSpPr>
          <p:cNvPr id="29" name="Shape 27"/>
          <p:cNvSpPr/>
          <p:nvPr/>
        </p:nvSpPr>
        <p:spPr>
          <a:xfrm>
            <a:off x="8093050" y="1342339"/>
            <a:ext cx="3551834" cy="2066544"/>
          </a:xfrm>
          <a:prstGeom prst="roundRect">
            <a:avLst>
              <a:gd name="adj" fmla="val 2655"/>
            </a:avLst>
          </a:prstGeom>
          <a:solidFill>
            <a:srgbClr val="E4E6EB"/>
          </a:solidFill>
          <a:ln/>
        </p:spPr>
      </p:sp>
      <p:sp>
        <p:nvSpPr>
          <p:cNvPr id="30" name="Shape 28"/>
          <p:cNvSpPr/>
          <p:nvPr/>
        </p:nvSpPr>
        <p:spPr>
          <a:xfrm>
            <a:off x="8072933" y="1316736"/>
            <a:ext cx="3551834" cy="2066544"/>
          </a:xfrm>
          <a:prstGeom prst="roundRect">
            <a:avLst>
              <a:gd name="adj" fmla="val 2655"/>
            </a:avLst>
          </a:prstGeom>
          <a:solidFill>
            <a:srgbClr val="E4E9F2"/>
          </a:solidFill>
          <a:ln w="9525">
            <a:solidFill>
              <a:srgbClr val="D9DCE3"/>
            </a:solidFill>
            <a:prstDash val="solid"/>
          </a:ln>
        </p:spPr>
      </p:sp>
      <p:sp>
        <p:nvSpPr>
          <p:cNvPr id="31" name="Shape 29"/>
          <p:cNvSpPr/>
          <p:nvPr/>
        </p:nvSpPr>
        <p:spPr>
          <a:xfrm>
            <a:off x="8072933" y="1371600"/>
            <a:ext cx="41148" cy="1956816"/>
          </a:xfrm>
          <a:prstGeom prst="rect">
            <a:avLst/>
          </a:prstGeom>
          <a:solidFill>
            <a:srgbClr val="31558F"/>
          </a:solidFill>
          <a:ln/>
        </p:spPr>
      </p:sp>
      <p:sp>
        <p:nvSpPr>
          <p:cNvPr id="32" name="Text 30"/>
          <p:cNvSpPr txBox="1"/>
          <p:nvPr/>
        </p:nvSpPr>
        <p:spPr>
          <a:xfrm>
            <a:off x="8255813" y="1408176"/>
            <a:ext cx="3186074" cy="256032"/>
          </a:xfrm>
          <a:prstGeom prst="rect">
            <a:avLst/>
          </a:prstGeom>
          <a:noFill/>
          <a:ln/>
        </p:spPr>
        <p:txBody>
          <a:bodyPr wrap="square" lIns="0" tIns="0" rIns="0" bIns="0" rtlCol="0" anchor="ctr"/>
          <a:lstStyle/>
          <a:p>
            <a:pPr indent="0" marL="0">
              <a:buNone/>
            </a:pPr>
            <a:r>
              <a:rPr lang="en-US" sz="1300" b="1" dirty="0">
                <a:solidFill>
                  <a:srgbClr val="1B202A"/>
                </a:solidFill>
                <a:latin typeface="Georgia" pitchFamily="34" charset="0"/>
                <a:ea typeface="Georgia" pitchFamily="34" charset="-122"/>
                <a:cs typeface="Georgia" pitchFamily="34" charset="-120"/>
              </a:rPr>
              <a:t>Saif Shahzad</a:t>
            </a:r>
            <a:pPr indent="0" marL="0">
              <a:buNone/>
            </a:pPr>
            <a:r>
              <a:rPr lang="en-US" sz="850" dirty="0">
                <a:solidFill>
                  <a:srgbClr val="596273"/>
                </a:solidFill>
                <a:latin typeface="Consolas" pitchFamily="34" charset="0"/>
                <a:ea typeface="Consolas" pitchFamily="34" charset="-122"/>
                <a:cs typeface="Consolas" pitchFamily="34" charset="-120"/>
              </a:rPr>
              <a:t>   23i-2634</a:t>
            </a:r>
            <a:endParaRPr lang="en-US" sz="1300" dirty="0"/>
          </a:p>
        </p:txBody>
      </p:sp>
      <p:sp>
        <p:nvSpPr>
          <p:cNvPr id="33" name="Shape 31"/>
          <p:cNvSpPr/>
          <p:nvPr/>
        </p:nvSpPr>
        <p:spPr>
          <a:xfrm>
            <a:off x="8255813" y="1700784"/>
            <a:ext cx="1874520" cy="237744"/>
          </a:xfrm>
          <a:prstGeom prst="roundRect">
            <a:avLst>
              <a:gd name="adj" fmla="val 50000"/>
            </a:avLst>
          </a:prstGeom>
          <a:solidFill>
            <a:srgbClr val="31558F"/>
          </a:solidFill>
          <a:ln/>
        </p:spPr>
      </p:sp>
      <p:sp>
        <p:nvSpPr>
          <p:cNvPr id="34" name="Text 32"/>
          <p:cNvSpPr txBox="1"/>
          <p:nvPr/>
        </p:nvSpPr>
        <p:spPr>
          <a:xfrm>
            <a:off x="8255813" y="1700784"/>
            <a:ext cx="1874520" cy="237744"/>
          </a:xfrm>
          <a:prstGeom prst="rect">
            <a:avLst/>
          </a:prstGeom>
          <a:noFill/>
          <a:ln/>
        </p:spPr>
        <p:txBody>
          <a:bodyPr wrap="square" lIns="0" tIns="0" rIns="0" bIns="0" rtlCol="0" anchor="ctr"/>
          <a:lstStyle/>
          <a:p>
            <a:pPr algn="ctr" indent="0" marL="0">
              <a:buNone/>
            </a:pPr>
            <a:r>
              <a:rPr lang="en-US" sz="850" b="1" dirty="0">
                <a:solidFill>
                  <a:srgbClr val="F5F6F8"/>
                </a:solidFill>
                <a:latin typeface="Consolas" pitchFamily="34" charset="0"/>
                <a:ea typeface="Consolas" pitchFamily="34" charset="-122"/>
                <a:cs typeface="Consolas" pitchFamily="34" charset="-120"/>
              </a:rPr>
              <a:t>PLATFORM</a:t>
            </a:r>
            <a:endParaRPr lang="en-US" sz="850" dirty="0"/>
          </a:p>
        </p:txBody>
      </p:sp>
      <p:sp>
        <p:nvSpPr>
          <p:cNvPr id="35" name="Text 33"/>
          <p:cNvSpPr txBox="1"/>
          <p:nvPr/>
        </p:nvSpPr>
        <p:spPr>
          <a:xfrm>
            <a:off x="8255813" y="2029968"/>
            <a:ext cx="3186074" cy="896112"/>
          </a:xfrm>
          <a:prstGeom prst="rect">
            <a:avLst/>
          </a:prstGeom>
          <a:noFill/>
          <a:ln/>
        </p:spPr>
        <p:txBody>
          <a:bodyPr wrap="square" lIns="0" tIns="0" rIns="0" bIns="0" rtlCol="0" anchor="t"/>
          <a:lstStyle/>
          <a:p>
            <a:pPr marL="165100" indent="-165100">
              <a:spcAft>
                <a:spcPts val="700"/>
              </a:spcAft>
              <a:buSzPct val="100000"/>
              <a:buChar char="▪"/>
            </a:pPr>
            <a:r>
              <a:rPr lang="en-US" sz="900" dirty="0">
                <a:solidFill>
                  <a:srgbClr val="1B202A"/>
                </a:solidFill>
                <a:latin typeface="Calibri" pitchFamily="34" charset="0"/>
                <a:ea typeface="Calibri" pitchFamily="34" charset="-122"/>
                <a:cs typeface="Calibri" pitchFamily="34" charset="-120"/>
              </a:rPr>
              <a:t>Counterfactual replay + Recovery Controller</a:t>
            </a:r>
            <a:endParaRPr lang="en-US" sz="900" dirty="0"/>
          </a:p>
          <a:p>
            <a:pPr marL="165100" indent="-165100">
              <a:spcAft>
                <a:spcPts val="700"/>
              </a:spcAft>
              <a:buSzPct val="100000"/>
              <a:buChar char="▪"/>
            </a:pPr>
            <a:r>
              <a:rPr lang="en-US" sz="900" dirty="0">
                <a:solidFill>
                  <a:srgbClr val="1B202A"/>
                </a:solidFill>
                <a:latin typeface="Calibri" pitchFamily="34" charset="0"/>
                <a:ea typeface="Calibri" pitchFamily="34" charset="-122"/>
                <a:cs typeface="Calibri" pitchFamily="34" charset="-120"/>
              </a:rPr>
              <a:t>Framework-agnostic SDK, FastAPI backend, Postgres</a:t>
            </a:r>
            <a:endParaRPr lang="en-US" sz="900" dirty="0"/>
          </a:p>
          <a:p>
            <a:pPr marL="165100" indent="-165100">
              <a:spcAft>
                <a:spcPts val="700"/>
              </a:spcAft>
              <a:buSzPct val="100000"/>
              <a:buChar char="▪"/>
            </a:pPr>
            <a:r>
              <a:rPr lang="en-US" sz="900" dirty="0">
                <a:solidFill>
                  <a:srgbClr val="1B202A"/>
                </a:solidFill>
                <a:latin typeface="Calibri" pitchFamily="34" charset="0"/>
                <a:ea typeface="Calibri" pitchFamily="34" charset="-122"/>
                <a:cs typeface="Calibri" pitchFamily="34" charset="-120"/>
              </a:rPr>
              <a:t>React dashboard, containerized deployment</a:t>
            </a:r>
            <a:endParaRPr lang="en-US" sz="900" dirty="0"/>
          </a:p>
        </p:txBody>
      </p:sp>
      <p:sp>
        <p:nvSpPr>
          <p:cNvPr id="36" name="Shape 34"/>
          <p:cNvSpPr/>
          <p:nvPr/>
        </p:nvSpPr>
        <p:spPr>
          <a:xfrm>
            <a:off x="8255813" y="2962656"/>
            <a:ext cx="3186074" cy="0"/>
          </a:xfrm>
          <a:prstGeom prst="line">
            <a:avLst/>
          </a:prstGeom>
          <a:noFill/>
          <a:ln w="9525">
            <a:solidFill>
              <a:srgbClr val="31558F"/>
            </a:solidFill>
            <a:prstDash val="solid"/>
          </a:ln>
        </p:spPr>
      </p:sp>
      <p:sp>
        <p:nvSpPr>
          <p:cNvPr id="37" name="Text 35"/>
          <p:cNvSpPr txBox="1"/>
          <p:nvPr/>
        </p:nvSpPr>
        <p:spPr>
          <a:xfrm>
            <a:off x="8255813" y="3017520"/>
            <a:ext cx="3186074" cy="329184"/>
          </a:xfrm>
          <a:prstGeom prst="rect">
            <a:avLst/>
          </a:prstGeom>
          <a:noFill/>
          <a:ln/>
        </p:spPr>
        <p:txBody>
          <a:bodyPr wrap="square" lIns="0" tIns="0" rIns="0" bIns="0" rtlCol="0" anchor="ctr"/>
          <a:lstStyle/>
          <a:p>
            <a:pPr indent="0" marL="0">
              <a:buNone/>
            </a:pPr>
            <a:r>
              <a:rPr lang="en-US" sz="840" i="1" dirty="0">
                <a:solidFill>
                  <a:srgbClr val="596273"/>
                </a:solidFill>
                <a:latin typeface="Calibri" pitchFamily="34" charset="0"/>
                <a:ea typeface="Calibri" pitchFamily="34" charset="-122"/>
                <a:cs typeface="Calibri" pitchFamily="34" charset="-120"/>
              </a:rPr>
              <a:t>If removed: nothing is installable or operable outside the development machine</a:t>
            </a:r>
            <a:endParaRPr lang="en-US" sz="840" dirty="0"/>
          </a:p>
        </p:txBody>
      </p:sp>
      <p:sp>
        <p:nvSpPr>
          <p:cNvPr id="38" name="Shape 36"/>
          <p:cNvSpPr/>
          <p:nvPr/>
        </p:nvSpPr>
        <p:spPr>
          <a:xfrm>
            <a:off x="587045" y="3482035"/>
            <a:ext cx="3551834" cy="859536"/>
          </a:xfrm>
          <a:prstGeom prst="roundRect">
            <a:avLst>
              <a:gd name="adj" fmla="val 6383"/>
            </a:avLst>
          </a:prstGeom>
          <a:solidFill>
            <a:srgbClr val="E4E6EB"/>
          </a:solidFill>
          <a:ln/>
        </p:spPr>
      </p:sp>
      <p:sp>
        <p:nvSpPr>
          <p:cNvPr id="39" name="Shape 37"/>
          <p:cNvSpPr/>
          <p:nvPr/>
        </p:nvSpPr>
        <p:spPr>
          <a:xfrm>
            <a:off x="566928" y="3456432"/>
            <a:ext cx="3551834" cy="859536"/>
          </a:xfrm>
          <a:prstGeom prst="roundRect">
            <a:avLst>
              <a:gd name="adj" fmla="val 6383"/>
            </a:avLst>
          </a:prstGeom>
          <a:solidFill>
            <a:srgbClr val="F1F2F5"/>
          </a:solidFill>
          <a:ln w="9525">
            <a:solidFill>
              <a:srgbClr val="D9DCE3"/>
            </a:solidFill>
            <a:prstDash val="solid"/>
          </a:ln>
        </p:spPr>
      </p:sp>
      <p:sp>
        <p:nvSpPr>
          <p:cNvPr id="40" name="Shape 38"/>
          <p:cNvSpPr/>
          <p:nvPr/>
        </p:nvSpPr>
        <p:spPr>
          <a:xfrm>
            <a:off x="566928" y="3511296"/>
            <a:ext cx="41148" cy="749808"/>
          </a:xfrm>
          <a:prstGeom prst="rect">
            <a:avLst/>
          </a:prstGeom>
          <a:solidFill>
            <a:srgbClr val="1E7A52"/>
          </a:solidFill>
          <a:ln/>
        </p:spPr>
      </p:sp>
      <p:sp>
        <p:nvSpPr>
          <p:cNvPr id="41" name="Text 39"/>
          <p:cNvSpPr txBox="1"/>
          <p:nvPr/>
        </p:nvSpPr>
        <p:spPr>
          <a:xfrm>
            <a:off x="749808" y="3529584"/>
            <a:ext cx="3204362" cy="182880"/>
          </a:xfrm>
          <a:prstGeom prst="rect">
            <a:avLst/>
          </a:prstGeom>
          <a:noFill/>
          <a:ln/>
        </p:spPr>
        <p:txBody>
          <a:bodyPr wrap="square" lIns="0" tIns="0" rIns="0" bIns="0" rtlCol="0" anchor="ctr"/>
          <a:lstStyle/>
          <a:p>
            <a:pPr indent="0" marL="0">
              <a:buNone/>
            </a:pPr>
            <a:r>
              <a:rPr lang="en-US" sz="820" b="1" spc="80" kern="0" dirty="0">
                <a:solidFill>
                  <a:srgbClr val="1E7A52"/>
                </a:solidFill>
                <a:latin typeface="Consolas" pitchFamily="34" charset="0"/>
                <a:ea typeface="Consolas" pitchFamily="34" charset="-122"/>
                <a:cs typeface="Consolas" pitchFamily="34" charset="-120"/>
              </a:rPr>
              <a:t>COMMITTED CORE</a:t>
            </a:r>
            <a:endParaRPr lang="en-US" sz="820" dirty="0"/>
          </a:p>
        </p:txBody>
      </p:sp>
      <p:sp>
        <p:nvSpPr>
          <p:cNvPr id="42" name="Text 40"/>
          <p:cNvSpPr txBox="1"/>
          <p:nvPr/>
        </p:nvSpPr>
        <p:spPr>
          <a:xfrm>
            <a:off x="749808" y="3712464"/>
            <a:ext cx="3204362" cy="566928"/>
          </a:xfrm>
          <a:prstGeom prst="rect">
            <a:avLst/>
          </a:prstGeom>
          <a:noFill/>
          <a:ln/>
        </p:spPr>
        <p:txBody>
          <a:bodyPr wrap="square" lIns="0" tIns="0" rIns="0" bIns="0" rtlCol="0" anchor="ctr"/>
          <a:lstStyle/>
          <a:p>
            <a:pPr indent="0" marL="0">
              <a:buNone/>
            </a:pPr>
            <a:r>
              <a:rPr lang="en-US" sz="830" dirty="0">
                <a:solidFill>
                  <a:srgbClr val="1B202A"/>
                </a:solidFill>
                <a:latin typeface="Calibri" pitchFamily="34" charset="0"/>
                <a:ea typeface="Calibri" pitchFamily="34" charset="-122"/>
                <a:cs typeface="Calibri" pitchFamily="34" charset="-120"/>
              </a:rPr>
              <a:t>Tier 1 — 8 items, evidence-backed, unconditional.  Tier 2 — 2 items (Recovery Controller, Verified Repair Memory), gated on pre-registered Mid-1 criteria.  8 further extensions sit behind the core and are built only after it works.</a:t>
            </a:r>
            <a:endParaRPr lang="en-US" sz="830" dirty="0"/>
          </a:p>
        </p:txBody>
      </p:sp>
      <p:sp>
        <p:nvSpPr>
          <p:cNvPr id="43" name="Shape 41"/>
          <p:cNvSpPr/>
          <p:nvPr/>
        </p:nvSpPr>
        <p:spPr>
          <a:xfrm>
            <a:off x="4340047" y="3482035"/>
            <a:ext cx="3551834" cy="859536"/>
          </a:xfrm>
          <a:prstGeom prst="roundRect">
            <a:avLst>
              <a:gd name="adj" fmla="val 6383"/>
            </a:avLst>
          </a:prstGeom>
          <a:solidFill>
            <a:srgbClr val="E4E6EB"/>
          </a:solidFill>
          <a:ln/>
        </p:spPr>
      </p:sp>
      <p:sp>
        <p:nvSpPr>
          <p:cNvPr id="44" name="Shape 42"/>
          <p:cNvSpPr/>
          <p:nvPr/>
        </p:nvSpPr>
        <p:spPr>
          <a:xfrm>
            <a:off x="4319930" y="3456432"/>
            <a:ext cx="3551834" cy="859536"/>
          </a:xfrm>
          <a:prstGeom prst="roundRect">
            <a:avLst>
              <a:gd name="adj" fmla="val 6383"/>
            </a:avLst>
          </a:prstGeom>
          <a:solidFill>
            <a:srgbClr val="F1F2F5"/>
          </a:solidFill>
          <a:ln w="9525">
            <a:solidFill>
              <a:srgbClr val="D9DCE3"/>
            </a:solidFill>
            <a:prstDash val="solid"/>
          </a:ln>
        </p:spPr>
      </p:sp>
      <p:sp>
        <p:nvSpPr>
          <p:cNvPr id="45" name="Shape 43"/>
          <p:cNvSpPr/>
          <p:nvPr/>
        </p:nvSpPr>
        <p:spPr>
          <a:xfrm>
            <a:off x="4319930" y="3511296"/>
            <a:ext cx="41148" cy="749808"/>
          </a:xfrm>
          <a:prstGeom prst="rect">
            <a:avLst/>
          </a:prstGeom>
          <a:solidFill>
            <a:srgbClr val="A8760F"/>
          </a:solidFill>
          <a:ln/>
        </p:spPr>
      </p:sp>
      <p:sp>
        <p:nvSpPr>
          <p:cNvPr id="46" name="Text 44"/>
          <p:cNvSpPr txBox="1"/>
          <p:nvPr/>
        </p:nvSpPr>
        <p:spPr>
          <a:xfrm>
            <a:off x="4502810" y="3529584"/>
            <a:ext cx="3204362" cy="182880"/>
          </a:xfrm>
          <a:prstGeom prst="rect">
            <a:avLst/>
          </a:prstGeom>
          <a:noFill/>
          <a:ln/>
        </p:spPr>
        <p:txBody>
          <a:bodyPr wrap="square" lIns="0" tIns="0" rIns="0" bIns="0" rtlCol="0" anchor="ctr"/>
          <a:lstStyle/>
          <a:p>
            <a:pPr indent="0" marL="0">
              <a:buNone/>
            </a:pPr>
            <a:r>
              <a:rPr lang="en-US" sz="820" b="1" spc="80" kern="0" dirty="0">
                <a:solidFill>
                  <a:srgbClr val="A8760F"/>
                </a:solidFill>
                <a:latin typeface="Consolas" pitchFamily="34" charset="0"/>
                <a:ea typeface="Consolas" pitchFamily="34" charset="-122"/>
                <a:cs typeface="Consolas" pitchFamily="34" charset="-120"/>
              </a:rPr>
              <a:t>RESOURCES</a:t>
            </a:r>
            <a:endParaRPr lang="en-US" sz="820" dirty="0"/>
          </a:p>
        </p:txBody>
      </p:sp>
      <p:sp>
        <p:nvSpPr>
          <p:cNvPr id="47" name="Text 45"/>
          <p:cNvSpPr txBox="1"/>
          <p:nvPr/>
        </p:nvSpPr>
        <p:spPr>
          <a:xfrm>
            <a:off x="4502810" y="3712464"/>
            <a:ext cx="3204362" cy="566928"/>
          </a:xfrm>
          <a:prstGeom prst="rect">
            <a:avLst/>
          </a:prstGeom>
          <a:noFill/>
          <a:ln/>
        </p:spPr>
        <p:txBody>
          <a:bodyPr wrap="square" lIns="0" tIns="0" rIns="0" bIns="0" rtlCol="0" anchor="ctr"/>
          <a:lstStyle/>
          <a:p>
            <a:pPr indent="0" marL="0">
              <a:buNone/>
            </a:pPr>
            <a:r>
              <a:rPr lang="en-US" sz="830" dirty="0">
                <a:solidFill>
                  <a:srgbClr val="1B202A"/>
                </a:solidFill>
                <a:latin typeface="Calibri" pitchFamily="34" charset="0"/>
                <a:ea typeface="Calibri" pitchFamily="34" charset="-122"/>
                <a:cs typeface="Calibri" pitchFamily="34" charset="-120"/>
              </a:rPr>
              <a:t>$0 committed — local Ollama for every model call, including reproduction and evaluation. A paid comparable-class backbone was priced (≈$353, ≈$881 ceiling) and explicitly declined, with the confound dual-reported.</a:t>
            </a:r>
            <a:endParaRPr lang="en-US" sz="830" dirty="0"/>
          </a:p>
        </p:txBody>
      </p:sp>
      <p:sp>
        <p:nvSpPr>
          <p:cNvPr id="48" name="Shape 46"/>
          <p:cNvSpPr/>
          <p:nvPr/>
        </p:nvSpPr>
        <p:spPr>
          <a:xfrm>
            <a:off x="8093050" y="3482035"/>
            <a:ext cx="3551834" cy="859536"/>
          </a:xfrm>
          <a:prstGeom prst="roundRect">
            <a:avLst>
              <a:gd name="adj" fmla="val 6383"/>
            </a:avLst>
          </a:prstGeom>
          <a:solidFill>
            <a:srgbClr val="E4E6EB"/>
          </a:solidFill>
          <a:ln/>
        </p:spPr>
      </p:sp>
      <p:sp>
        <p:nvSpPr>
          <p:cNvPr id="49" name="Shape 47"/>
          <p:cNvSpPr/>
          <p:nvPr/>
        </p:nvSpPr>
        <p:spPr>
          <a:xfrm>
            <a:off x="8072933" y="3456432"/>
            <a:ext cx="3551834" cy="859536"/>
          </a:xfrm>
          <a:prstGeom prst="roundRect">
            <a:avLst>
              <a:gd name="adj" fmla="val 6383"/>
            </a:avLst>
          </a:prstGeom>
          <a:solidFill>
            <a:srgbClr val="F1F2F5"/>
          </a:solidFill>
          <a:ln w="9525">
            <a:solidFill>
              <a:srgbClr val="D9DCE3"/>
            </a:solidFill>
            <a:prstDash val="solid"/>
          </a:ln>
        </p:spPr>
      </p:sp>
      <p:sp>
        <p:nvSpPr>
          <p:cNvPr id="50" name="Shape 48"/>
          <p:cNvSpPr/>
          <p:nvPr/>
        </p:nvSpPr>
        <p:spPr>
          <a:xfrm>
            <a:off x="8072933" y="3511296"/>
            <a:ext cx="41148" cy="749808"/>
          </a:xfrm>
          <a:prstGeom prst="rect">
            <a:avLst/>
          </a:prstGeom>
          <a:solidFill>
            <a:srgbClr val="31558F"/>
          </a:solidFill>
          <a:ln/>
        </p:spPr>
      </p:sp>
      <p:sp>
        <p:nvSpPr>
          <p:cNvPr id="51" name="Text 49"/>
          <p:cNvSpPr txBox="1"/>
          <p:nvPr/>
        </p:nvSpPr>
        <p:spPr>
          <a:xfrm>
            <a:off x="8255813" y="3529584"/>
            <a:ext cx="3204362" cy="182880"/>
          </a:xfrm>
          <a:prstGeom prst="rect">
            <a:avLst/>
          </a:prstGeom>
          <a:noFill/>
          <a:ln/>
        </p:spPr>
        <p:txBody>
          <a:bodyPr wrap="square" lIns="0" tIns="0" rIns="0" bIns="0" rtlCol="0" anchor="ctr"/>
          <a:lstStyle/>
          <a:p>
            <a:pPr indent="0" marL="0">
              <a:buNone/>
            </a:pPr>
            <a:r>
              <a:rPr lang="en-US" sz="820" b="1" spc="80" kern="0" dirty="0">
                <a:solidFill>
                  <a:srgbClr val="31558F"/>
                </a:solidFill>
                <a:latin typeface="Consolas" pitchFamily="34" charset="0"/>
                <a:ea typeface="Consolas" pitchFamily="34" charset="-122"/>
                <a:cs typeface="Consolas" pitchFamily="34" charset="-120"/>
              </a:rPr>
              <a:t>TOOLS · DEPENDENCIES · DEPLOYMENT</a:t>
            </a:r>
            <a:endParaRPr lang="en-US" sz="820" dirty="0"/>
          </a:p>
        </p:txBody>
      </p:sp>
      <p:sp>
        <p:nvSpPr>
          <p:cNvPr id="52" name="Text 50"/>
          <p:cNvSpPr txBox="1"/>
          <p:nvPr/>
        </p:nvSpPr>
        <p:spPr>
          <a:xfrm>
            <a:off x="8255813" y="3712464"/>
            <a:ext cx="3204362" cy="566928"/>
          </a:xfrm>
          <a:prstGeom prst="rect">
            <a:avLst/>
          </a:prstGeom>
          <a:noFill/>
          <a:ln/>
        </p:spPr>
        <p:txBody>
          <a:bodyPr wrap="square" lIns="0" tIns="0" rIns="0" bIns="0" rtlCol="0" anchor="ctr"/>
          <a:lstStyle/>
          <a:p>
            <a:pPr indent="0" marL="0">
              <a:buNone/>
            </a:pPr>
            <a:r>
              <a:rPr lang="en-US" sz="830" dirty="0">
                <a:solidFill>
                  <a:srgbClr val="1B202A"/>
                </a:solidFill>
                <a:latin typeface="Calibri" pitchFamily="34" charset="0"/>
                <a:ea typeface="Calibri" pitchFamily="34" charset="-122"/>
                <a:cs typeface="Calibri" pitchFamily="34" charset="-120"/>
              </a:rPr>
              <a:t>Python · FastAPI · React/TypeScript · Postgres · Docker · CrewAI · LangGraph · Ollama · GitHub Actions.  Ships as a container plus a pip-installable SDK — operable by someone who did not build it.</a:t>
            </a:r>
            <a:endParaRPr lang="en-US" sz="830" dirty="0"/>
          </a:p>
        </p:txBody>
      </p:sp>
      <p:sp>
        <p:nvSpPr>
          <p:cNvPr id="53" name="Text 51"/>
          <p:cNvSpPr txBox="1"/>
          <p:nvPr/>
        </p:nvSpPr>
        <p:spPr>
          <a:xfrm>
            <a:off x="566928" y="4407408"/>
            <a:ext cx="11057839" cy="219456"/>
          </a:xfrm>
          <a:prstGeom prst="rect">
            <a:avLst/>
          </a:prstGeom>
          <a:noFill/>
          <a:ln/>
        </p:spPr>
        <p:txBody>
          <a:bodyPr wrap="square" lIns="0" tIns="0" rIns="0" bIns="0" rtlCol="0" anchor="ctr"/>
          <a:lstStyle/>
          <a:p>
            <a:pPr indent="0" marL="0">
              <a:buNone/>
            </a:pPr>
            <a:r>
              <a:rPr lang="en-US" sz="950" b="1" spc="120" kern="0" dirty="0">
                <a:solidFill>
                  <a:srgbClr val="8E6A1F"/>
                </a:solidFill>
                <a:latin typeface="Consolas" pitchFamily="34" charset="0"/>
                <a:ea typeface="Consolas" pitchFamily="34" charset="-122"/>
                <a:cs typeface="Consolas" pitchFamily="34" charset="-120"/>
              </a:rPr>
              <a:t>FYP-1 → FYP-2 MILESTONES (FIVE APPROVAL GATES)</a:t>
            </a:r>
            <a:endParaRPr lang="en-US" sz="950" dirty="0"/>
          </a:p>
        </p:txBody>
      </p:sp>
      <p:sp>
        <p:nvSpPr>
          <p:cNvPr id="54" name="Shape 52"/>
          <p:cNvSpPr/>
          <p:nvPr/>
        </p:nvSpPr>
        <p:spPr>
          <a:xfrm>
            <a:off x="1672712" y="4864608"/>
            <a:ext cx="8846271" cy="0"/>
          </a:xfrm>
          <a:prstGeom prst="line">
            <a:avLst/>
          </a:prstGeom>
          <a:noFill/>
          <a:ln w="25400">
            <a:solidFill>
              <a:srgbClr val="C89B3C"/>
            </a:solidFill>
            <a:prstDash val="solid"/>
          </a:ln>
        </p:spPr>
      </p:sp>
      <p:sp>
        <p:nvSpPr>
          <p:cNvPr id="55" name="Shape 53"/>
          <p:cNvSpPr/>
          <p:nvPr/>
        </p:nvSpPr>
        <p:spPr>
          <a:xfrm>
            <a:off x="1581272" y="4773168"/>
            <a:ext cx="182880" cy="182880"/>
          </a:xfrm>
          <a:prstGeom prst="ellipse">
            <a:avLst/>
          </a:prstGeom>
          <a:solidFill>
            <a:srgbClr val="C89B3C"/>
          </a:solidFill>
          <a:ln w="25400">
            <a:solidFill>
              <a:srgbClr val="C89B3C"/>
            </a:solidFill>
            <a:prstDash val="solid"/>
          </a:ln>
        </p:spPr>
      </p:sp>
      <p:sp>
        <p:nvSpPr>
          <p:cNvPr id="56" name="Text 54"/>
          <p:cNvSpPr txBox="1"/>
          <p:nvPr/>
        </p:nvSpPr>
        <p:spPr>
          <a:xfrm>
            <a:off x="676656" y="4992624"/>
            <a:ext cx="1992112" cy="603504"/>
          </a:xfrm>
          <a:prstGeom prst="rect">
            <a:avLst/>
          </a:prstGeom>
          <a:noFill/>
          <a:ln/>
        </p:spPr>
        <p:txBody>
          <a:bodyPr wrap="square" lIns="0" tIns="0" rIns="0" bIns="0" rtlCol="0" anchor="ctr"/>
          <a:lstStyle/>
          <a:p>
            <a:pPr algn="ctr" indent="0" marL="0">
              <a:buNone/>
            </a:pPr>
            <a:r>
              <a:rPr lang="en-US" sz="800" b="1" dirty="0">
                <a:solidFill>
                  <a:srgbClr val="8E6A1F"/>
                </a:solidFill>
                <a:latin typeface="Consolas" pitchFamily="34" charset="0"/>
                <a:ea typeface="Consolas" pitchFamily="34" charset="-122"/>
                <a:cs typeface="Consolas" pitchFamily="34" charset="-120"/>
              </a:rPr>
              <a:t>GATE 1</a:t>
            </a:r>
            <a:endParaRPr lang="en-US" sz="800" dirty="0"/>
          </a:p>
          <a:p>
            <a:pPr algn="ctr" indent="0" marL="0">
              <a:buNone/>
            </a:pPr>
            <a:r>
              <a:rPr lang="en-US" sz="1000" b="1" dirty="0">
                <a:solidFill>
                  <a:srgbClr val="1B202A"/>
                </a:solidFill>
                <a:latin typeface="Calibri" pitchFamily="34" charset="0"/>
                <a:ea typeface="Calibri" pitchFamily="34" charset="-122"/>
                <a:cs typeface="Calibri" pitchFamily="34" charset="-120"/>
              </a:rPr>
              <a:t>Proposal Defense</a:t>
            </a:r>
            <a:endParaRPr lang="en-US" sz="800" dirty="0"/>
          </a:p>
          <a:p>
            <a:pPr algn="ctr" indent="0" marL="0">
              <a:buNone/>
            </a:pPr>
            <a:r>
              <a:rPr lang="en-US" sz="800" dirty="0">
                <a:solidFill>
                  <a:srgbClr val="596273"/>
                </a:solidFill>
                <a:latin typeface="Calibri" pitchFamily="34" charset="0"/>
                <a:ea typeface="Calibri" pitchFamily="34" charset="-122"/>
                <a:cs typeface="Calibri" pitchFamily="34" charset="-120"/>
              </a:rPr>
              <a:t>scope approved</a:t>
            </a:r>
            <a:endParaRPr lang="en-US" sz="800" dirty="0"/>
          </a:p>
        </p:txBody>
      </p:sp>
      <p:sp>
        <p:nvSpPr>
          <p:cNvPr id="57" name="Shape 55"/>
          <p:cNvSpPr/>
          <p:nvPr/>
        </p:nvSpPr>
        <p:spPr>
          <a:xfrm>
            <a:off x="3792840" y="4773168"/>
            <a:ext cx="182880" cy="182880"/>
          </a:xfrm>
          <a:prstGeom prst="ellipse">
            <a:avLst/>
          </a:prstGeom>
          <a:solidFill>
            <a:srgbClr val="FBFBFC"/>
          </a:solidFill>
          <a:ln w="25400">
            <a:solidFill>
              <a:srgbClr val="C89B3C"/>
            </a:solidFill>
            <a:prstDash val="solid"/>
          </a:ln>
        </p:spPr>
      </p:sp>
      <p:sp>
        <p:nvSpPr>
          <p:cNvPr id="58" name="Text 56"/>
          <p:cNvSpPr txBox="1"/>
          <p:nvPr/>
        </p:nvSpPr>
        <p:spPr>
          <a:xfrm>
            <a:off x="2888224" y="4992624"/>
            <a:ext cx="1992112" cy="603504"/>
          </a:xfrm>
          <a:prstGeom prst="rect">
            <a:avLst/>
          </a:prstGeom>
          <a:noFill/>
          <a:ln/>
        </p:spPr>
        <p:txBody>
          <a:bodyPr wrap="square" lIns="0" tIns="0" rIns="0" bIns="0" rtlCol="0" anchor="ctr"/>
          <a:lstStyle/>
          <a:p>
            <a:pPr algn="ctr" indent="0" marL="0">
              <a:buNone/>
            </a:pPr>
            <a:r>
              <a:rPr lang="en-US" sz="800" b="1" dirty="0">
                <a:solidFill>
                  <a:srgbClr val="8E6A1F"/>
                </a:solidFill>
                <a:latin typeface="Consolas" pitchFamily="34" charset="0"/>
                <a:ea typeface="Consolas" pitchFamily="34" charset="-122"/>
                <a:cs typeface="Consolas" pitchFamily="34" charset="-120"/>
              </a:rPr>
              <a:t>GATE 2/3</a:t>
            </a:r>
            <a:endParaRPr lang="en-US" sz="800" dirty="0"/>
          </a:p>
          <a:p>
            <a:pPr algn="ctr" indent="0" marL="0">
              <a:buNone/>
            </a:pPr>
            <a:r>
              <a:rPr lang="en-US" sz="1000" b="1" dirty="0">
                <a:solidFill>
                  <a:srgbClr val="1B202A"/>
                </a:solidFill>
                <a:latin typeface="Calibri" pitchFamily="34" charset="0"/>
                <a:ea typeface="Calibri" pitchFamily="34" charset="-122"/>
                <a:cs typeface="Calibri" pitchFamily="34" charset="-120"/>
              </a:rPr>
              <a:t>Mid-1</a:t>
            </a:r>
            <a:endParaRPr lang="en-US" sz="800" dirty="0"/>
          </a:p>
          <a:p>
            <a:pPr algn="ctr" indent="0" marL="0">
              <a:buNone/>
            </a:pPr>
            <a:r>
              <a:rPr lang="en-US" sz="800" dirty="0">
                <a:solidFill>
                  <a:srgbClr val="596273"/>
                </a:solidFill>
                <a:latin typeface="Calibri" pitchFamily="34" charset="0"/>
                <a:ea typeface="Calibri" pitchFamily="34" charset="-122"/>
                <a:cs typeface="Calibri" pitchFamily="34" charset="-120"/>
              </a:rPr>
              <a:t>reproduction + both Tier-2 gates + design baseline</a:t>
            </a:r>
            <a:endParaRPr lang="en-US" sz="800" dirty="0"/>
          </a:p>
        </p:txBody>
      </p:sp>
      <p:sp>
        <p:nvSpPr>
          <p:cNvPr id="59" name="Shape 57"/>
          <p:cNvSpPr/>
          <p:nvPr/>
        </p:nvSpPr>
        <p:spPr>
          <a:xfrm>
            <a:off x="6004408" y="4773168"/>
            <a:ext cx="182880" cy="182880"/>
          </a:xfrm>
          <a:prstGeom prst="ellipse">
            <a:avLst/>
          </a:prstGeom>
          <a:solidFill>
            <a:srgbClr val="FBFBFC"/>
          </a:solidFill>
          <a:ln w="25400">
            <a:solidFill>
              <a:srgbClr val="C89B3C"/>
            </a:solidFill>
            <a:prstDash val="solid"/>
          </a:ln>
        </p:spPr>
      </p:sp>
      <p:sp>
        <p:nvSpPr>
          <p:cNvPr id="60" name="Text 58"/>
          <p:cNvSpPr txBox="1"/>
          <p:nvPr/>
        </p:nvSpPr>
        <p:spPr>
          <a:xfrm>
            <a:off x="5099792" y="4992624"/>
            <a:ext cx="1992112" cy="603504"/>
          </a:xfrm>
          <a:prstGeom prst="rect">
            <a:avLst/>
          </a:prstGeom>
          <a:noFill/>
          <a:ln/>
        </p:spPr>
        <p:txBody>
          <a:bodyPr wrap="square" lIns="0" tIns="0" rIns="0" bIns="0" rtlCol="0" anchor="ctr"/>
          <a:lstStyle/>
          <a:p>
            <a:pPr algn="ctr" indent="0" marL="0">
              <a:buNone/>
            </a:pPr>
            <a:r>
              <a:rPr lang="en-US" sz="800" b="1" dirty="0">
                <a:solidFill>
                  <a:srgbClr val="8E6A1F"/>
                </a:solidFill>
                <a:latin typeface="Consolas" pitchFamily="34" charset="0"/>
                <a:ea typeface="Consolas" pitchFamily="34" charset="-122"/>
                <a:cs typeface="Consolas" pitchFamily="34" charset="-120"/>
              </a:rPr>
              <a:t>GATE 3</a:t>
            </a:r>
            <a:endParaRPr lang="en-US" sz="800" dirty="0"/>
          </a:p>
          <a:p>
            <a:pPr algn="ctr" indent="0" marL="0">
              <a:buNone/>
            </a:pPr>
            <a:r>
              <a:rPr lang="en-US" sz="1000" b="1" dirty="0">
                <a:solidFill>
                  <a:srgbClr val="1B202A"/>
                </a:solidFill>
                <a:latin typeface="Calibri" pitchFamily="34" charset="0"/>
                <a:ea typeface="Calibri" pitchFamily="34" charset="-122"/>
                <a:cs typeface="Calibri" pitchFamily="34" charset="-120"/>
              </a:rPr>
              <a:t>Final-1</a:t>
            </a:r>
            <a:endParaRPr lang="en-US" sz="800" dirty="0"/>
          </a:p>
          <a:p>
            <a:pPr algn="ctr" indent="0" marL="0">
              <a:buNone/>
            </a:pPr>
            <a:r>
              <a:rPr lang="en-US" sz="800" dirty="0">
                <a:solidFill>
                  <a:srgbClr val="596273"/>
                </a:solidFill>
                <a:latin typeface="Calibri" pitchFamily="34" charset="0"/>
                <a:ea typeface="Calibri" pitchFamily="34" charset="-122"/>
                <a:cs typeface="Calibri" pitchFamily="34" charset="-120"/>
              </a:rPr>
              <a:t>integrated working core, end to end</a:t>
            </a:r>
            <a:endParaRPr lang="en-US" sz="800" dirty="0"/>
          </a:p>
        </p:txBody>
      </p:sp>
      <p:sp>
        <p:nvSpPr>
          <p:cNvPr id="61" name="Shape 59"/>
          <p:cNvSpPr/>
          <p:nvPr/>
        </p:nvSpPr>
        <p:spPr>
          <a:xfrm>
            <a:off x="8215975" y="4773168"/>
            <a:ext cx="182880" cy="182880"/>
          </a:xfrm>
          <a:prstGeom prst="ellipse">
            <a:avLst/>
          </a:prstGeom>
          <a:solidFill>
            <a:srgbClr val="FBFBFC"/>
          </a:solidFill>
          <a:ln w="25400">
            <a:solidFill>
              <a:srgbClr val="C89B3C"/>
            </a:solidFill>
            <a:prstDash val="solid"/>
          </a:ln>
        </p:spPr>
      </p:sp>
      <p:sp>
        <p:nvSpPr>
          <p:cNvPr id="62" name="Text 60"/>
          <p:cNvSpPr txBox="1"/>
          <p:nvPr/>
        </p:nvSpPr>
        <p:spPr>
          <a:xfrm>
            <a:off x="7311360" y="4992624"/>
            <a:ext cx="1992112" cy="603504"/>
          </a:xfrm>
          <a:prstGeom prst="rect">
            <a:avLst/>
          </a:prstGeom>
          <a:noFill/>
          <a:ln/>
        </p:spPr>
        <p:txBody>
          <a:bodyPr wrap="square" lIns="0" tIns="0" rIns="0" bIns="0" rtlCol="0" anchor="ctr"/>
          <a:lstStyle/>
          <a:p>
            <a:pPr algn="ctr" indent="0" marL="0">
              <a:buNone/>
            </a:pPr>
            <a:r>
              <a:rPr lang="en-US" sz="800" b="1" dirty="0">
                <a:solidFill>
                  <a:srgbClr val="8E6A1F"/>
                </a:solidFill>
                <a:latin typeface="Consolas" pitchFamily="34" charset="0"/>
                <a:ea typeface="Consolas" pitchFamily="34" charset="-122"/>
                <a:cs typeface="Consolas" pitchFamily="34" charset="-120"/>
              </a:rPr>
              <a:t>GATE 4</a:t>
            </a:r>
            <a:endParaRPr lang="en-US" sz="800" dirty="0"/>
          </a:p>
          <a:p>
            <a:pPr algn="ctr" indent="0" marL="0">
              <a:buNone/>
            </a:pPr>
            <a:r>
              <a:rPr lang="en-US" sz="1000" b="1" dirty="0">
                <a:solidFill>
                  <a:srgbClr val="1B202A"/>
                </a:solidFill>
                <a:latin typeface="Calibri" pitchFamily="34" charset="0"/>
                <a:ea typeface="Calibri" pitchFamily="34" charset="-122"/>
                <a:cs typeface="Calibri" pitchFamily="34" charset="-120"/>
              </a:rPr>
              <a:t>Mid-2</a:t>
            </a:r>
            <a:endParaRPr lang="en-US" sz="800" dirty="0"/>
          </a:p>
          <a:p>
            <a:pPr algn="ctr" indent="0" marL="0">
              <a:buNone/>
            </a:pPr>
            <a:r>
              <a:rPr lang="en-US" sz="800" dirty="0">
                <a:solidFill>
                  <a:srgbClr val="596273"/>
                </a:solidFill>
                <a:latin typeface="Calibri" pitchFamily="34" charset="0"/>
                <a:ea typeface="Calibri" pitchFamily="34" charset="-122"/>
                <a:cs typeface="Calibri" pitchFamily="34" charset="-120"/>
              </a:rPr>
              <a:t>benchmark ≥ 500 · release readiness</a:t>
            </a:r>
            <a:endParaRPr lang="en-US" sz="800" dirty="0"/>
          </a:p>
        </p:txBody>
      </p:sp>
      <p:sp>
        <p:nvSpPr>
          <p:cNvPr id="63" name="Shape 61"/>
          <p:cNvSpPr/>
          <p:nvPr/>
        </p:nvSpPr>
        <p:spPr>
          <a:xfrm>
            <a:off x="10427543" y="4773168"/>
            <a:ext cx="182880" cy="182880"/>
          </a:xfrm>
          <a:prstGeom prst="ellipse">
            <a:avLst/>
          </a:prstGeom>
          <a:solidFill>
            <a:srgbClr val="FBFBFC"/>
          </a:solidFill>
          <a:ln w="25400">
            <a:solidFill>
              <a:srgbClr val="C89B3C"/>
            </a:solidFill>
            <a:prstDash val="solid"/>
          </a:ln>
        </p:spPr>
      </p:sp>
      <p:sp>
        <p:nvSpPr>
          <p:cNvPr id="64" name="Text 62"/>
          <p:cNvSpPr txBox="1"/>
          <p:nvPr/>
        </p:nvSpPr>
        <p:spPr>
          <a:xfrm>
            <a:off x="9522927" y="4992624"/>
            <a:ext cx="1992112" cy="603504"/>
          </a:xfrm>
          <a:prstGeom prst="rect">
            <a:avLst/>
          </a:prstGeom>
          <a:noFill/>
          <a:ln/>
        </p:spPr>
        <p:txBody>
          <a:bodyPr wrap="square" lIns="0" tIns="0" rIns="0" bIns="0" rtlCol="0" anchor="ctr"/>
          <a:lstStyle/>
          <a:p>
            <a:pPr algn="ctr" indent="0" marL="0">
              <a:buNone/>
            </a:pPr>
            <a:r>
              <a:rPr lang="en-US" sz="800" b="1" dirty="0">
                <a:solidFill>
                  <a:srgbClr val="8E6A1F"/>
                </a:solidFill>
                <a:latin typeface="Consolas" pitchFamily="34" charset="0"/>
                <a:ea typeface="Consolas" pitchFamily="34" charset="-122"/>
                <a:cs typeface="Consolas" pitchFamily="34" charset="-120"/>
              </a:rPr>
              <a:t>GATE 5</a:t>
            </a:r>
            <a:endParaRPr lang="en-US" sz="800" dirty="0"/>
          </a:p>
          <a:p>
            <a:pPr algn="ctr" indent="0" marL="0">
              <a:buNone/>
            </a:pPr>
            <a:r>
              <a:rPr lang="en-US" sz="1000" b="1" dirty="0">
                <a:solidFill>
                  <a:srgbClr val="1B202A"/>
                </a:solidFill>
                <a:latin typeface="Calibri" pitchFamily="34" charset="0"/>
                <a:ea typeface="Calibri" pitchFamily="34" charset="-122"/>
                <a:cs typeface="Calibri" pitchFamily="34" charset="-120"/>
              </a:rPr>
              <a:t>Final-2</a:t>
            </a:r>
            <a:endParaRPr lang="en-US" sz="800" dirty="0"/>
          </a:p>
          <a:p>
            <a:pPr algn="ctr" indent="0" marL="0">
              <a:buNone/>
            </a:pPr>
            <a:r>
              <a:rPr lang="en-US" sz="800" dirty="0">
                <a:solidFill>
                  <a:srgbClr val="596273"/>
                </a:solidFill>
                <a:latin typeface="Calibri" pitchFamily="34" charset="0"/>
                <a:ea typeface="Calibri" pitchFamily="34" charset="-122"/>
                <a:cs typeface="Calibri" pitchFamily="34" charset="-120"/>
              </a:rPr>
              <a:t>full evaluation, UAT, deployed + released</a:t>
            </a:r>
            <a:endParaRPr lang="en-US" sz="800" dirty="0"/>
          </a:p>
        </p:txBody>
      </p:sp>
      <p:sp>
        <p:nvSpPr>
          <p:cNvPr id="65" name="Shape 63"/>
          <p:cNvSpPr/>
          <p:nvPr/>
        </p:nvSpPr>
        <p:spPr>
          <a:xfrm>
            <a:off x="587045" y="5658307"/>
            <a:ext cx="11057839" cy="493776"/>
          </a:xfrm>
          <a:prstGeom prst="roundRect">
            <a:avLst>
              <a:gd name="adj" fmla="val 11111"/>
            </a:avLst>
          </a:prstGeom>
          <a:solidFill>
            <a:srgbClr val="E4E6EB"/>
          </a:solidFill>
          <a:ln/>
        </p:spPr>
      </p:sp>
      <p:sp>
        <p:nvSpPr>
          <p:cNvPr id="66" name="Shape 64"/>
          <p:cNvSpPr/>
          <p:nvPr/>
        </p:nvSpPr>
        <p:spPr>
          <a:xfrm>
            <a:off x="566928" y="5632704"/>
            <a:ext cx="11057839" cy="493776"/>
          </a:xfrm>
          <a:prstGeom prst="roundRect">
            <a:avLst>
              <a:gd name="adj" fmla="val 11111"/>
            </a:avLst>
          </a:prstGeom>
          <a:solidFill>
            <a:srgbClr val="F1F2F5"/>
          </a:solidFill>
          <a:ln w="9525">
            <a:solidFill>
              <a:srgbClr val="D9DCE3"/>
            </a:solidFill>
            <a:prstDash val="solid"/>
          </a:ln>
        </p:spPr>
      </p:sp>
      <p:sp>
        <p:nvSpPr>
          <p:cNvPr id="67" name="Shape 65"/>
          <p:cNvSpPr/>
          <p:nvPr/>
        </p:nvSpPr>
        <p:spPr>
          <a:xfrm>
            <a:off x="566928" y="5687568"/>
            <a:ext cx="41148" cy="384048"/>
          </a:xfrm>
          <a:prstGeom prst="rect">
            <a:avLst/>
          </a:prstGeom>
          <a:solidFill>
            <a:srgbClr val="C89B3C"/>
          </a:solidFill>
          <a:ln/>
        </p:spPr>
      </p:sp>
      <p:sp>
        <p:nvSpPr>
          <p:cNvPr id="68" name="Text 66"/>
          <p:cNvSpPr txBox="1"/>
          <p:nvPr/>
        </p:nvSpPr>
        <p:spPr>
          <a:xfrm>
            <a:off x="768096" y="5705856"/>
            <a:ext cx="10655503" cy="365760"/>
          </a:xfrm>
          <a:prstGeom prst="rect">
            <a:avLst/>
          </a:prstGeom>
          <a:noFill/>
          <a:ln/>
        </p:spPr>
        <p:txBody>
          <a:bodyPr wrap="square" lIns="0" tIns="0" rIns="0" bIns="0" rtlCol="0" anchor="ctr"/>
          <a:lstStyle/>
          <a:p>
            <a:pPr indent="0" marL="0">
              <a:buNone/>
            </a:pPr>
            <a:r>
              <a:rPr lang="en-US" sz="980" b="1" dirty="0">
                <a:solidFill>
                  <a:srgbClr val="8E6A1F"/>
                </a:solidFill>
                <a:latin typeface="Calibri" pitchFamily="34" charset="0"/>
                <a:ea typeface="Calibri" pitchFamily="34" charset="-122"/>
                <a:cs typeface="Calibri" pitchFamily="34" charset="-120"/>
              </a:rPr>
              <a:t>Effort budget:  </a:t>
            </a:r>
            <a:pPr indent="0" marL="0">
              <a:buNone/>
            </a:pPr>
            <a:r>
              <a:rPr lang="en-US" sz="940" dirty="0">
                <a:solidFill>
                  <a:srgbClr val="1B202A"/>
                </a:solidFill>
                <a:latin typeface="Calibri" pitchFamily="34" charset="0"/>
                <a:ea typeface="Calibri" pitchFamily="34" charset="-122"/>
                <a:cs typeface="Calibri" pitchFamily="34" charset="-120"/>
              </a:rPr>
              <a:t>490h (FYP-1) + 640h (FYP-2) = 1,130h, budgeted line-by-line against 1,130h of capacity (3 × ~15h/week × ~28 weeks). Balanced depth, not identical tasks — each lane carries decisions, implementation and validation.</a:t>
            </a:r>
            <a:endParaRPr lang="en-US" sz="980" dirty="0"/>
          </a:p>
        </p:txBody>
      </p:sp>
      <p:sp>
        <p:nvSpPr>
          <p:cNvPr id="69" name="Text 67"/>
          <p:cNvSpPr txBox="1"/>
          <p:nvPr/>
        </p:nvSpPr>
        <p:spPr>
          <a:xfrm>
            <a:off x="566928" y="6181344"/>
            <a:ext cx="11057839" cy="201168"/>
          </a:xfrm>
          <a:prstGeom prst="rect">
            <a:avLst/>
          </a:prstGeom>
          <a:noFill/>
          <a:ln/>
        </p:spPr>
        <p:txBody>
          <a:bodyPr wrap="square" lIns="0" tIns="0" rIns="0" bIns="0" rtlCol="0" anchor="ctr"/>
          <a:lstStyle/>
          <a:p>
            <a:pPr indent="0" marL="0">
              <a:buNone/>
            </a:pPr>
            <a:r>
              <a:rPr lang="en-US" sz="800" dirty="0">
                <a:solidFill>
                  <a:srgbClr val="8B92A2"/>
                </a:solidFill>
                <a:latin typeface="Consolas" pitchFamily="34" charset="0"/>
                <a:ea typeface="Consolas" pitchFamily="34" charset="-122"/>
                <a:cs typeface="Consolas" pitchFamily="34" charset="-120"/>
              </a:rPr>
              <a:t>▸ plan §3 (ownership) · §7.0 (frozen scope) · §12 (effort) · cost-estimate.md · 06_Expanded_Scope_and_Feasibility_Plan.md</a:t>
            </a:r>
            <a:endParaRPr lang="en-US" sz="8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10896"/>
            <a:ext cx="11057839" cy="237744"/>
          </a:xfrm>
          <a:prstGeom prst="rect">
            <a:avLst/>
          </a:prstGeom>
          <a:noFill/>
          <a:ln/>
        </p:spPr>
        <p:txBody>
          <a:bodyPr wrap="square" lIns="0" tIns="0" rIns="0" bIns="0" rtlCol="0" anchor="ctr"/>
          <a:lstStyle/>
          <a:p>
            <a:pPr indent="0" marL="0">
              <a:buNone/>
            </a:pPr>
            <a:r>
              <a:rPr lang="en-US" sz="1050" b="1" spc="180" kern="0" dirty="0">
                <a:solidFill>
                  <a:srgbClr val="8E6A1F"/>
                </a:solidFill>
                <a:latin typeface="Consolas" pitchFamily="34" charset="0"/>
                <a:ea typeface="Consolas" pitchFamily="34" charset="-122"/>
                <a:cs typeface="Consolas" pitchFamily="34" charset="-120"/>
              </a:rPr>
              <a:t>WHAT STAYS SHARED, HOW IT ITERATES, AND THE COMPLIANCE LINES THE GUIDE NAMES</a:t>
            </a:r>
            <a:endParaRPr lang="en-US" sz="1050" dirty="0"/>
          </a:p>
        </p:txBody>
      </p:sp>
      <p:sp>
        <p:nvSpPr>
          <p:cNvPr id="6" name="Text 4"/>
          <p:cNvSpPr txBox="1"/>
          <p:nvPr/>
        </p:nvSpPr>
        <p:spPr>
          <a:xfrm>
            <a:off x="566928" y="548640"/>
            <a:ext cx="11057839" cy="585216"/>
          </a:xfrm>
          <a:prstGeom prst="rect">
            <a:avLst/>
          </a:prstGeom>
          <a:noFill/>
          <a:ln/>
        </p:spPr>
        <p:txBody>
          <a:bodyPr wrap="square" lIns="0" tIns="0" rIns="0" bIns="0" rtlCol="0" anchor="ctr"/>
          <a:lstStyle/>
          <a:p>
            <a:pPr indent="0" marL="0">
              <a:buNone/>
            </a:pPr>
            <a:r>
              <a:rPr lang="en-US" sz="2700" b="1" dirty="0">
                <a:solidFill>
                  <a:srgbClr val="1B202A"/>
                </a:solidFill>
                <a:latin typeface="Georgia" pitchFamily="34" charset="0"/>
                <a:ea typeface="Georgia" pitchFamily="34" charset="-122"/>
                <a:cs typeface="Georgia" pitchFamily="34" charset="-120"/>
              </a:rPr>
              <a:t>Team Responsibilities, Iterations, DEI &amp; Ethics/Legal</a:t>
            </a:r>
            <a:endParaRPr lang="en-US" sz="2700" dirty="0"/>
          </a:p>
        </p:txBody>
      </p:sp>
      <p:sp>
        <p:nvSpPr>
          <p:cNvPr id="7" name="Shape 5"/>
          <p:cNvSpPr/>
          <p:nvPr/>
        </p:nvSpPr>
        <p:spPr>
          <a:xfrm>
            <a:off x="566928" y="1188720"/>
            <a:ext cx="566928" cy="36576"/>
          </a:xfrm>
          <a:prstGeom prst="rect">
            <a:avLst/>
          </a:prstGeom>
          <a:solidFill>
            <a:srgbClr val="C89B3C"/>
          </a:solidFill>
          <a:ln/>
        </p:spPr>
      </p:sp>
      <p:sp>
        <p:nvSpPr>
          <p:cNvPr id="8" name="Shape 6"/>
          <p:cNvSpPr/>
          <p:nvPr/>
        </p:nvSpPr>
        <p:spPr>
          <a:xfrm>
            <a:off x="566928" y="6437376"/>
            <a:ext cx="11057839" cy="0"/>
          </a:xfrm>
          <a:prstGeom prst="line">
            <a:avLst/>
          </a:prstGeom>
          <a:noFill/>
          <a:ln w="9525">
            <a:solidFill>
              <a:srgbClr val="D9DCE3"/>
            </a:solidFill>
            <a:prstDash val="solid"/>
          </a:ln>
        </p:spPr>
      </p:sp>
      <p:sp>
        <p:nvSpPr>
          <p:cNvPr id="9" name="Text 7"/>
          <p:cNvSpPr txBox="1"/>
          <p:nvPr/>
        </p:nvSpPr>
        <p:spPr>
          <a:xfrm>
            <a:off x="566928" y="6492240"/>
            <a:ext cx="5943600" cy="237744"/>
          </a:xfrm>
          <a:prstGeom prst="rect">
            <a:avLst/>
          </a:prstGeom>
          <a:noFill/>
          <a:ln/>
        </p:spPr>
        <p:txBody>
          <a:bodyPr wrap="square" lIns="0" tIns="0" rIns="0" bIns="0" rtlCol="0" anchor="ctr"/>
          <a:lstStyle/>
          <a:p>
            <a:pPr indent="0" marL="0">
              <a:buNone/>
            </a:pPr>
            <a:r>
              <a:rPr lang="en-US" sz="850" spc="80" kern="0" dirty="0">
                <a:solidFill>
                  <a:srgbClr val="8B92A2"/>
                </a:solidFill>
                <a:latin typeface="Consolas" pitchFamily="34" charset="0"/>
                <a:ea typeface="Consolas" pitchFamily="34" charset="-122"/>
                <a:cs typeface="Consolas" pitchFamily="34" charset="-120"/>
              </a:rPr>
              <a:t>F26-060-GRANITE  ·  PROPOSAL DEFENSE  ·  STREAM A</a:t>
            </a:r>
            <a:endParaRPr lang="en-US" sz="850" dirty="0"/>
          </a:p>
        </p:txBody>
      </p:sp>
      <p:sp>
        <p:nvSpPr>
          <p:cNvPr id="10" name="Text 8"/>
          <p:cNvSpPr txBox="1"/>
          <p:nvPr/>
        </p:nvSpPr>
        <p:spPr>
          <a:xfrm>
            <a:off x="10527487" y="6492240"/>
            <a:ext cx="1097280" cy="237744"/>
          </a:xfrm>
          <a:prstGeom prst="rect">
            <a:avLst/>
          </a:prstGeom>
          <a:noFill/>
          <a:ln/>
        </p:spPr>
        <p:txBody>
          <a:bodyPr wrap="square" lIns="0" tIns="0" rIns="0" bIns="0" rtlCol="0" anchor="ctr"/>
          <a:lstStyle/>
          <a:p>
            <a:pPr algn="r" indent="0" marL="0">
              <a:buNone/>
            </a:pPr>
            <a:r>
              <a:rPr lang="en-US" sz="850" b="1" dirty="0">
                <a:solidFill>
                  <a:srgbClr val="8E6A1F"/>
                </a:solidFill>
                <a:latin typeface="Consolas" pitchFamily="34" charset="0"/>
                <a:ea typeface="Consolas" pitchFamily="34" charset="-122"/>
                <a:cs typeface="Consolas" pitchFamily="34" charset="-120"/>
              </a:rPr>
              <a:t>10 / 10</a:t>
            </a:r>
            <a:endParaRPr lang="en-US" sz="850" dirty="0"/>
          </a:p>
        </p:txBody>
      </p:sp>
      <p:sp>
        <p:nvSpPr>
          <p:cNvPr id="11" name="Shape 9"/>
          <p:cNvSpPr/>
          <p:nvPr/>
        </p:nvSpPr>
        <p:spPr>
          <a:xfrm>
            <a:off x="587045" y="1342339"/>
            <a:ext cx="11057839" cy="914400"/>
          </a:xfrm>
          <a:prstGeom prst="roundRect">
            <a:avLst>
              <a:gd name="adj" fmla="val 6000"/>
            </a:avLst>
          </a:prstGeom>
          <a:solidFill>
            <a:srgbClr val="E4E6EB"/>
          </a:solidFill>
          <a:ln/>
        </p:spPr>
      </p:sp>
      <p:sp>
        <p:nvSpPr>
          <p:cNvPr id="12" name="Shape 10"/>
          <p:cNvSpPr/>
          <p:nvPr/>
        </p:nvSpPr>
        <p:spPr>
          <a:xfrm>
            <a:off x="566928" y="1316736"/>
            <a:ext cx="11057839" cy="914400"/>
          </a:xfrm>
          <a:prstGeom prst="roundRect">
            <a:avLst>
              <a:gd name="adj" fmla="val 6000"/>
            </a:avLst>
          </a:prstGeom>
          <a:solidFill>
            <a:srgbClr val="F1F2F5"/>
          </a:solidFill>
          <a:ln w="9525">
            <a:solidFill>
              <a:srgbClr val="D9DCE3"/>
            </a:solidFill>
            <a:prstDash val="solid"/>
          </a:ln>
        </p:spPr>
      </p:sp>
      <p:sp>
        <p:nvSpPr>
          <p:cNvPr id="13" name="Shape 11"/>
          <p:cNvSpPr/>
          <p:nvPr/>
        </p:nvSpPr>
        <p:spPr>
          <a:xfrm>
            <a:off x="566928" y="1371600"/>
            <a:ext cx="41148" cy="804672"/>
          </a:xfrm>
          <a:prstGeom prst="rect">
            <a:avLst/>
          </a:prstGeom>
          <a:solidFill>
            <a:srgbClr val="C89B3C"/>
          </a:solidFill>
          <a:ln/>
        </p:spPr>
      </p:sp>
      <p:sp>
        <p:nvSpPr>
          <p:cNvPr id="14" name="Text 12"/>
          <p:cNvSpPr txBox="1"/>
          <p:nvPr/>
        </p:nvSpPr>
        <p:spPr>
          <a:xfrm>
            <a:off x="786384" y="1399032"/>
            <a:ext cx="3291840" cy="219456"/>
          </a:xfrm>
          <a:prstGeom prst="rect">
            <a:avLst/>
          </a:prstGeom>
          <a:noFill/>
          <a:ln/>
        </p:spPr>
        <p:txBody>
          <a:bodyPr wrap="square" lIns="0" tIns="0" rIns="0" bIns="0" rtlCol="0" anchor="ctr"/>
          <a:lstStyle/>
          <a:p>
            <a:pPr indent="0" marL="0">
              <a:buNone/>
            </a:pPr>
            <a:r>
              <a:rPr lang="en-US" sz="950" b="1" spc="120" kern="0" dirty="0">
                <a:solidFill>
                  <a:srgbClr val="8E6A1F"/>
                </a:solidFill>
                <a:latin typeface="Consolas" pitchFamily="34" charset="0"/>
                <a:ea typeface="Consolas" pitchFamily="34" charset="-122"/>
                <a:cs typeface="Consolas" pitchFamily="34" charset="-120"/>
              </a:rPr>
              <a:t>PRIMARY OWNERSHIP (DETAIL ON SLIDE 9)</a:t>
            </a:r>
            <a:endParaRPr lang="en-US" sz="950" dirty="0"/>
          </a:p>
        </p:txBody>
      </p:sp>
      <p:sp>
        <p:nvSpPr>
          <p:cNvPr id="15" name="Text 13"/>
          <p:cNvSpPr txBox="1"/>
          <p:nvPr/>
        </p:nvSpPr>
        <p:spPr>
          <a:xfrm>
            <a:off x="786384" y="1645920"/>
            <a:ext cx="1572768" cy="201168"/>
          </a:xfrm>
          <a:prstGeom prst="rect">
            <a:avLst/>
          </a:prstGeom>
          <a:noFill/>
          <a:ln/>
        </p:spPr>
        <p:txBody>
          <a:bodyPr wrap="square" lIns="0" tIns="0" rIns="0" bIns="0" rtlCol="0" anchor="ctr"/>
          <a:lstStyle/>
          <a:p>
            <a:pPr indent="0" marL="0">
              <a:buNone/>
            </a:pPr>
            <a:r>
              <a:rPr lang="en-US" sz="940" b="1" dirty="0">
                <a:solidFill>
                  <a:srgbClr val="1B202A"/>
                </a:solidFill>
                <a:latin typeface="Calibri" pitchFamily="34" charset="0"/>
                <a:ea typeface="Calibri" pitchFamily="34" charset="-122"/>
                <a:cs typeface="Calibri" pitchFamily="34" charset="-120"/>
              </a:rPr>
              <a:t>Shahoud — </a:t>
            </a:r>
            <a:pPr indent="0" marL="0">
              <a:buNone/>
            </a:pPr>
            <a:r>
              <a:rPr lang="en-US" sz="940" b="1" dirty="0">
                <a:solidFill>
                  <a:srgbClr val="15707A"/>
                </a:solidFill>
                <a:latin typeface="Calibri" pitchFamily="34" charset="0"/>
                <a:ea typeface="Calibri" pitchFamily="34" charset="-122"/>
                <a:cs typeface="Calibri" pitchFamily="34" charset="-120"/>
              </a:rPr>
              <a:t>Benchmark</a:t>
            </a:r>
            <a:endParaRPr lang="en-US" sz="940" dirty="0"/>
          </a:p>
        </p:txBody>
      </p:sp>
      <p:sp>
        <p:nvSpPr>
          <p:cNvPr id="16" name="Text 14"/>
          <p:cNvSpPr txBox="1"/>
          <p:nvPr/>
        </p:nvSpPr>
        <p:spPr>
          <a:xfrm>
            <a:off x="2377440" y="1645920"/>
            <a:ext cx="1572768" cy="201168"/>
          </a:xfrm>
          <a:prstGeom prst="rect">
            <a:avLst/>
          </a:prstGeom>
          <a:noFill/>
          <a:ln/>
        </p:spPr>
        <p:txBody>
          <a:bodyPr wrap="square" lIns="0" tIns="0" rIns="0" bIns="0" rtlCol="0" anchor="ctr"/>
          <a:lstStyle/>
          <a:p>
            <a:pPr indent="0" marL="0">
              <a:buNone/>
            </a:pPr>
            <a:r>
              <a:rPr lang="en-US" sz="940" b="1" dirty="0">
                <a:solidFill>
                  <a:srgbClr val="1B202A"/>
                </a:solidFill>
                <a:latin typeface="Calibri" pitchFamily="34" charset="0"/>
                <a:ea typeface="Calibri" pitchFamily="34" charset="-122"/>
                <a:cs typeface="Calibri" pitchFamily="34" charset="-120"/>
              </a:rPr>
              <a:t>Noor — </a:t>
            </a:r>
            <a:pPr indent="0" marL="0">
              <a:buNone/>
            </a:pPr>
            <a:r>
              <a:rPr lang="en-US" sz="940" b="1" dirty="0">
                <a:solidFill>
                  <a:srgbClr val="B05C1C"/>
                </a:solidFill>
                <a:latin typeface="Calibri" pitchFamily="34" charset="0"/>
                <a:ea typeface="Calibri" pitchFamily="34" charset="-122"/>
                <a:cs typeface="Calibri" pitchFamily="34" charset="-120"/>
              </a:rPr>
              <a:t>Diagnosis</a:t>
            </a:r>
            <a:endParaRPr lang="en-US" sz="940" dirty="0"/>
          </a:p>
        </p:txBody>
      </p:sp>
      <p:sp>
        <p:nvSpPr>
          <p:cNvPr id="17" name="Text 15"/>
          <p:cNvSpPr txBox="1"/>
          <p:nvPr/>
        </p:nvSpPr>
        <p:spPr>
          <a:xfrm>
            <a:off x="3968496" y="1645920"/>
            <a:ext cx="1572768" cy="201168"/>
          </a:xfrm>
          <a:prstGeom prst="rect">
            <a:avLst/>
          </a:prstGeom>
          <a:noFill/>
          <a:ln/>
        </p:spPr>
        <p:txBody>
          <a:bodyPr wrap="square" lIns="0" tIns="0" rIns="0" bIns="0" rtlCol="0" anchor="ctr"/>
          <a:lstStyle/>
          <a:p>
            <a:pPr indent="0" marL="0">
              <a:buNone/>
            </a:pPr>
            <a:r>
              <a:rPr lang="en-US" sz="940" b="1" dirty="0">
                <a:solidFill>
                  <a:srgbClr val="1B202A"/>
                </a:solidFill>
                <a:latin typeface="Calibri" pitchFamily="34" charset="0"/>
                <a:ea typeface="Calibri" pitchFamily="34" charset="-122"/>
                <a:cs typeface="Calibri" pitchFamily="34" charset="-120"/>
              </a:rPr>
              <a:t>Saif — </a:t>
            </a:r>
            <a:pPr indent="0" marL="0">
              <a:buNone/>
            </a:pPr>
            <a:r>
              <a:rPr lang="en-US" sz="940" b="1" dirty="0">
                <a:solidFill>
                  <a:srgbClr val="31558F"/>
                </a:solidFill>
                <a:latin typeface="Calibri" pitchFamily="34" charset="0"/>
                <a:ea typeface="Calibri" pitchFamily="34" charset="-122"/>
                <a:cs typeface="Calibri" pitchFamily="34" charset="-120"/>
              </a:rPr>
              <a:t>Platform</a:t>
            </a:r>
            <a:endParaRPr lang="en-US" sz="940" dirty="0"/>
          </a:p>
        </p:txBody>
      </p:sp>
      <p:sp>
        <p:nvSpPr>
          <p:cNvPr id="18" name="Text 16"/>
          <p:cNvSpPr txBox="1"/>
          <p:nvPr/>
        </p:nvSpPr>
        <p:spPr>
          <a:xfrm>
            <a:off x="786384" y="1883664"/>
            <a:ext cx="4572000" cy="256032"/>
          </a:xfrm>
          <a:prstGeom prst="rect">
            <a:avLst/>
          </a:prstGeom>
          <a:noFill/>
          <a:ln/>
        </p:spPr>
        <p:txBody>
          <a:bodyPr wrap="square" lIns="0" tIns="0" rIns="0" bIns="0" rtlCol="0" anchor="ctr"/>
          <a:lstStyle/>
          <a:p>
            <a:pPr indent="0" marL="0">
              <a:buNone/>
            </a:pPr>
            <a:r>
              <a:rPr lang="en-US" sz="880" i="1" dirty="0">
                <a:solidFill>
                  <a:srgbClr val="596273"/>
                </a:solidFill>
                <a:latin typeface="Calibri" pitchFamily="34" charset="0"/>
                <a:ea typeface="Calibri" pitchFamily="34" charset="-122"/>
                <a:cs typeface="Calibri" pitchFamily="34" charset="-120"/>
              </a:rPr>
              <a:t>Each lane carries its own decisions, implementation and validation — not slides or manual testing.</a:t>
            </a:r>
            <a:endParaRPr lang="en-US" sz="880" dirty="0"/>
          </a:p>
        </p:txBody>
      </p:sp>
      <p:sp>
        <p:nvSpPr>
          <p:cNvPr id="19" name="Shape 17"/>
          <p:cNvSpPr/>
          <p:nvPr/>
        </p:nvSpPr>
        <p:spPr>
          <a:xfrm>
            <a:off x="5641848" y="1426464"/>
            <a:ext cx="0" cy="694944"/>
          </a:xfrm>
          <a:prstGeom prst="line">
            <a:avLst/>
          </a:prstGeom>
          <a:noFill/>
          <a:ln w="12700">
            <a:solidFill>
              <a:srgbClr val="D9DCE3"/>
            </a:solidFill>
            <a:prstDash val="solid"/>
          </a:ln>
        </p:spPr>
      </p:sp>
      <p:sp>
        <p:nvSpPr>
          <p:cNvPr id="20" name="Text 18"/>
          <p:cNvSpPr txBox="1"/>
          <p:nvPr/>
        </p:nvSpPr>
        <p:spPr>
          <a:xfrm>
            <a:off x="5870448" y="1399032"/>
            <a:ext cx="5486400" cy="219456"/>
          </a:xfrm>
          <a:prstGeom prst="rect">
            <a:avLst/>
          </a:prstGeom>
          <a:noFill/>
          <a:ln/>
        </p:spPr>
        <p:txBody>
          <a:bodyPr wrap="square" lIns="0" tIns="0" rIns="0" bIns="0" rtlCol="0" anchor="ctr"/>
          <a:lstStyle/>
          <a:p>
            <a:pPr indent="0" marL="0">
              <a:buNone/>
            </a:pPr>
            <a:r>
              <a:rPr lang="en-US" sz="950" b="1" spc="120" kern="0" dirty="0">
                <a:solidFill>
                  <a:srgbClr val="8E6A1F"/>
                </a:solidFill>
                <a:latin typeface="Consolas" pitchFamily="34" charset="0"/>
                <a:ea typeface="Consolas" pitchFamily="34" charset="-122"/>
                <a:cs typeface="Consolas" pitchFamily="34" charset="-120"/>
              </a:rPr>
              <a:t>SHARED BY ALL THREE — NEVER DELEGATED TO ONE MEMBER</a:t>
            </a:r>
            <a:endParaRPr lang="en-US" sz="950" dirty="0"/>
          </a:p>
        </p:txBody>
      </p:sp>
      <p:sp>
        <p:nvSpPr>
          <p:cNvPr id="21" name="Text 19"/>
          <p:cNvSpPr txBox="1"/>
          <p:nvPr/>
        </p:nvSpPr>
        <p:spPr>
          <a:xfrm>
            <a:off x="5870448" y="1636776"/>
            <a:ext cx="5534863" cy="512064"/>
          </a:xfrm>
          <a:prstGeom prst="rect">
            <a:avLst/>
          </a:prstGeom>
          <a:noFill/>
          <a:ln/>
        </p:spPr>
        <p:txBody>
          <a:bodyPr wrap="square" lIns="0" tIns="0" rIns="0" bIns="0" rtlCol="0" anchor="ctr"/>
          <a:lstStyle/>
          <a:p>
            <a:pPr indent="0" marL="0">
              <a:buNone/>
            </a:pPr>
            <a:r>
              <a:rPr lang="en-US" sz="880" dirty="0">
                <a:solidFill>
                  <a:srgbClr val="1B202A"/>
                </a:solidFill>
                <a:latin typeface="Calibri" pitchFamily="34" charset="0"/>
                <a:ea typeface="Calibri" pitchFamily="34" charset="-122"/>
                <a:cs typeface="Calibri" pitchFamily="34" charset="-120"/>
              </a:rPr>
              <a:t>System architecture   ·   integration across the three lanes   ·   quality assurance and the defect list   ·   security, ethics and data handling   ·   repository and change-control discipline   ·   the final defense itself. Per guide §C.5 these remain team responsibilities even where one member leads the component.</a:t>
            </a:r>
            <a:endParaRPr lang="en-US" sz="880" dirty="0"/>
          </a:p>
        </p:txBody>
      </p:sp>
      <p:sp>
        <p:nvSpPr>
          <p:cNvPr id="22" name="Text 20"/>
          <p:cNvSpPr txBox="1"/>
          <p:nvPr/>
        </p:nvSpPr>
        <p:spPr>
          <a:xfrm>
            <a:off x="566928" y="2322576"/>
            <a:ext cx="11057839" cy="219456"/>
          </a:xfrm>
          <a:prstGeom prst="rect">
            <a:avLst/>
          </a:prstGeom>
          <a:noFill/>
          <a:ln/>
        </p:spPr>
        <p:txBody>
          <a:bodyPr wrap="square" lIns="0" tIns="0" rIns="0" bIns="0" rtlCol="0" anchor="ctr"/>
          <a:lstStyle/>
          <a:p>
            <a:pPr indent="0" marL="0">
              <a:buNone/>
            </a:pPr>
            <a:r>
              <a:rPr lang="en-US" sz="950" b="1" spc="120" kern="0" dirty="0">
                <a:solidFill>
                  <a:srgbClr val="8E6A1F"/>
                </a:solidFill>
                <a:latin typeface="Consolas" pitchFamily="34" charset="0"/>
                <a:ea typeface="Consolas" pitchFamily="34" charset="-122"/>
                <a:cs typeface="Consolas" pitchFamily="34" charset="-120"/>
              </a:rPr>
              <a:t>ITERATION PLAN — WHAT THE TEAM JOINTLY OWNS AT EACH GATE</a:t>
            </a:r>
            <a:endParaRPr lang="en-US" sz="950" dirty="0"/>
          </a:p>
        </p:txBody>
      </p:sp>
      <p:sp>
        <p:nvSpPr>
          <p:cNvPr id="23" name="Shape 21"/>
          <p:cNvSpPr/>
          <p:nvPr/>
        </p:nvSpPr>
        <p:spPr>
          <a:xfrm>
            <a:off x="587045" y="2604211"/>
            <a:ext cx="2153046" cy="841248"/>
          </a:xfrm>
          <a:prstGeom prst="roundRect">
            <a:avLst>
              <a:gd name="adj" fmla="val 6522"/>
            </a:avLst>
          </a:prstGeom>
          <a:solidFill>
            <a:srgbClr val="E4E6EB"/>
          </a:solidFill>
          <a:ln/>
        </p:spPr>
      </p:sp>
      <p:sp>
        <p:nvSpPr>
          <p:cNvPr id="24" name="Shape 22"/>
          <p:cNvSpPr/>
          <p:nvPr/>
        </p:nvSpPr>
        <p:spPr>
          <a:xfrm>
            <a:off x="566928" y="2578608"/>
            <a:ext cx="2153046" cy="841248"/>
          </a:xfrm>
          <a:prstGeom prst="roundRect">
            <a:avLst>
              <a:gd name="adj" fmla="val 6522"/>
            </a:avLst>
          </a:prstGeom>
          <a:solidFill>
            <a:srgbClr val="FBFBFC"/>
          </a:solidFill>
          <a:ln w="9525">
            <a:solidFill>
              <a:srgbClr val="D9DCE3"/>
            </a:solidFill>
            <a:prstDash val="solid"/>
          </a:ln>
        </p:spPr>
      </p:sp>
      <p:sp>
        <p:nvSpPr>
          <p:cNvPr id="25" name="Shape 23"/>
          <p:cNvSpPr/>
          <p:nvPr/>
        </p:nvSpPr>
        <p:spPr>
          <a:xfrm>
            <a:off x="566928" y="2633472"/>
            <a:ext cx="41148" cy="731520"/>
          </a:xfrm>
          <a:prstGeom prst="rect">
            <a:avLst/>
          </a:prstGeom>
          <a:solidFill>
            <a:srgbClr val="C89B3C"/>
          </a:solidFill>
          <a:ln/>
        </p:spPr>
      </p:sp>
      <p:sp>
        <p:nvSpPr>
          <p:cNvPr id="26" name="Text 24"/>
          <p:cNvSpPr txBox="1"/>
          <p:nvPr/>
        </p:nvSpPr>
        <p:spPr>
          <a:xfrm>
            <a:off x="713232" y="2633472"/>
            <a:ext cx="1878726" cy="164592"/>
          </a:xfrm>
          <a:prstGeom prst="rect">
            <a:avLst/>
          </a:prstGeom>
          <a:noFill/>
          <a:ln/>
        </p:spPr>
        <p:txBody>
          <a:bodyPr wrap="square" lIns="0" tIns="0" rIns="0" bIns="0" rtlCol="0" anchor="ctr"/>
          <a:lstStyle/>
          <a:p>
            <a:pPr indent="0" marL="0">
              <a:buNone/>
            </a:pPr>
            <a:r>
              <a:rPr lang="en-US" sz="720" b="1" spc="60" kern="0" dirty="0">
                <a:solidFill>
                  <a:srgbClr val="C89B3C"/>
                </a:solidFill>
                <a:latin typeface="Consolas" pitchFamily="34" charset="0"/>
                <a:ea typeface="Consolas" pitchFamily="34" charset="-122"/>
                <a:cs typeface="Consolas" pitchFamily="34" charset="-120"/>
              </a:rPr>
              <a:t>FYP-1</a:t>
            </a:r>
            <a:endParaRPr lang="en-US" sz="720" dirty="0"/>
          </a:p>
        </p:txBody>
      </p:sp>
      <p:sp>
        <p:nvSpPr>
          <p:cNvPr id="27" name="Text 25"/>
          <p:cNvSpPr txBox="1"/>
          <p:nvPr/>
        </p:nvSpPr>
        <p:spPr>
          <a:xfrm>
            <a:off x="713232" y="2788920"/>
            <a:ext cx="1878726" cy="182880"/>
          </a:xfrm>
          <a:prstGeom prst="rect">
            <a:avLst/>
          </a:prstGeom>
          <a:noFill/>
          <a:ln/>
        </p:spPr>
        <p:txBody>
          <a:bodyPr wrap="square" lIns="0" tIns="0" rIns="0" bIns="0" rtlCol="0" anchor="ctr"/>
          <a:lstStyle/>
          <a:p>
            <a:pPr indent="0" marL="0">
              <a:buNone/>
            </a:pPr>
            <a:r>
              <a:rPr lang="en-US" sz="940" b="1" dirty="0">
                <a:solidFill>
                  <a:srgbClr val="1B202A"/>
                </a:solidFill>
                <a:latin typeface="Calibri" pitchFamily="34" charset="0"/>
                <a:ea typeface="Calibri" pitchFamily="34" charset="-122"/>
                <a:cs typeface="Calibri" pitchFamily="34" charset="-120"/>
              </a:rPr>
              <a:t>Gate 1 · Proposal</a:t>
            </a:r>
            <a:endParaRPr lang="en-US" sz="940" dirty="0"/>
          </a:p>
        </p:txBody>
      </p:sp>
      <p:sp>
        <p:nvSpPr>
          <p:cNvPr id="28" name="Text 26"/>
          <p:cNvSpPr txBox="1"/>
          <p:nvPr/>
        </p:nvSpPr>
        <p:spPr>
          <a:xfrm>
            <a:off x="713232" y="2980944"/>
            <a:ext cx="1878726" cy="402336"/>
          </a:xfrm>
          <a:prstGeom prst="rect">
            <a:avLst/>
          </a:prstGeom>
          <a:noFill/>
          <a:ln/>
        </p:spPr>
        <p:txBody>
          <a:bodyPr wrap="square" lIns="0" tIns="0" rIns="0" bIns="0" rtlCol="0" anchor="ctr"/>
          <a:lstStyle/>
          <a:p>
            <a:pPr indent="0" marL="0">
              <a:buNone/>
            </a:pPr>
            <a:r>
              <a:rPr lang="en-US" sz="780" dirty="0">
                <a:solidFill>
                  <a:srgbClr val="596273"/>
                </a:solidFill>
                <a:latin typeface="Calibri" pitchFamily="34" charset="0"/>
                <a:ea typeface="Calibri" pitchFamily="34" charset="-122"/>
                <a:cs typeface="Calibri" pitchFamily="34" charset="-120"/>
              </a:rPr>
              <a:t>scope + POC evidence approved</a:t>
            </a:r>
            <a:endParaRPr lang="en-US" sz="780" dirty="0"/>
          </a:p>
        </p:txBody>
      </p:sp>
      <p:sp>
        <p:nvSpPr>
          <p:cNvPr id="29" name="Shape 27"/>
          <p:cNvSpPr/>
          <p:nvPr/>
        </p:nvSpPr>
        <p:spPr>
          <a:xfrm>
            <a:off x="2813243" y="2604211"/>
            <a:ext cx="2153046" cy="841248"/>
          </a:xfrm>
          <a:prstGeom prst="roundRect">
            <a:avLst>
              <a:gd name="adj" fmla="val 6522"/>
            </a:avLst>
          </a:prstGeom>
          <a:solidFill>
            <a:srgbClr val="E4E6EB"/>
          </a:solidFill>
          <a:ln/>
        </p:spPr>
      </p:sp>
      <p:sp>
        <p:nvSpPr>
          <p:cNvPr id="30" name="Shape 28"/>
          <p:cNvSpPr/>
          <p:nvPr/>
        </p:nvSpPr>
        <p:spPr>
          <a:xfrm>
            <a:off x="2793126" y="2578608"/>
            <a:ext cx="2153046" cy="841248"/>
          </a:xfrm>
          <a:prstGeom prst="roundRect">
            <a:avLst>
              <a:gd name="adj" fmla="val 6522"/>
            </a:avLst>
          </a:prstGeom>
          <a:solidFill>
            <a:srgbClr val="FBFBFC"/>
          </a:solidFill>
          <a:ln w="9525">
            <a:solidFill>
              <a:srgbClr val="D9DCE3"/>
            </a:solidFill>
            <a:prstDash val="solid"/>
          </a:ln>
        </p:spPr>
      </p:sp>
      <p:sp>
        <p:nvSpPr>
          <p:cNvPr id="31" name="Shape 29"/>
          <p:cNvSpPr/>
          <p:nvPr/>
        </p:nvSpPr>
        <p:spPr>
          <a:xfrm>
            <a:off x="2793126" y="2633472"/>
            <a:ext cx="41148" cy="731520"/>
          </a:xfrm>
          <a:prstGeom prst="rect">
            <a:avLst/>
          </a:prstGeom>
          <a:solidFill>
            <a:srgbClr val="C89B3C"/>
          </a:solidFill>
          <a:ln/>
        </p:spPr>
      </p:sp>
      <p:sp>
        <p:nvSpPr>
          <p:cNvPr id="32" name="Text 30"/>
          <p:cNvSpPr txBox="1"/>
          <p:nvPr/>
        </p:nvSpPr>
        <p:spPr>
          <a:xfrm>
            <a:off x="2939430" y="2633472"/>
            <a:ext cx="1878726" cy="164592"/>
          </a:xfrm>
          <a:prstGeom prst="rect">
            <a:avLst/>
          </a:prstGeom>
          <a:noFill/>
          <a:ln/>
        </p:spPr>
        <p:txBody>
          <a:bodyPr wrap="square" lIns="0" tIns="0" rIns="0" bIns="0" rtlCol="0" anchor="ctr"/>
          <a:lstStyle/>
          <a:p>
            <a:pPr indent="0" marL="0">
              <a:buNone/>
            </a:pPr>
            <a:r>
              <a:rPr lang="en-US" sz="720" b="1" spc="60" kern="0" dirty="0">
                <a:solidFill>
                  <a:srgbClr val="C89B3C"/>
                </a:solidFill>
                <a:latin typeface="Consolas" pitchFamily="34" charset="0"/>
                <a:ea typeface="Consolas" pitchFamily="34" charset="-122"/>
                <a:cs typeface="Consolas" pitchFamily="34" charset="-120"/>
              </a:rPr>
              <a:t>FYP-1</a:t>
            </a:r>
            <a:endParaRPr lang="en-US" sz="720" dirty="0"/>
          </a:p>
        </p:txBody>
      </p:sp>
      <p:sp>
        <p:nvSpPr>
          <p:cNvPr id="33" name="Text 31"/>
          <p:cNvSpPr txBox="1"/>
          <p:nvPr/>
        </p:nvSpPr>
        <p:spPr>
          <a:xfrm>
            <a:off x="2939430" y="2788920"/>
            <a:ext cx="1878726" cy="182880"/>
          </a:xfrm>
          <a:prstGeom prst="rect">
            <a:avLst/>
          </a:prstGeom>
          <a:noFill/>
          <a:ln/>
        </p:spPr>
        <p:txBody>
          <a:bodyPr wrap="square" lIns="0" tIns="0" rIns="0" bIns="0" rtlCol="0" anchor="ctr"/>
          <a:lstStyle/>
          <a:p>
            <a:pPr indent="0" marL="0">
              <a:buNone/>
            </a:pPr>
            <a:r>
              <a:rPr lang="en-US" sz="940" b="1" dirty="0">
                <a:solidFill>
                  <a:srgbClr val="1B202A"/>
                </a:solidFill>
                <a:latin typeface="Calibri" pitchFamily="34" charset="0"/>
                <a:ea typeface="Calibri" pitchFamily="34" charset="-122"/>
                <a:cs typeface="Calibri" pitchFamily="34" charset="-120"/>
              </a:rPr>
              <a:t>Gate 2/3 · Mid-1</a:t>
            </a:r>
            <a:endParaRPr lang="en-US" sz="940" dirty="0"/>
          </a:p>
        </p:txBody>
      </p:sp>
      <p:sp>
        <p:nvSpPr>
          <p:cNvPr id="34" name="Text 32"/>
          <p:cNvSpPr txBox="1"/>
          <p:nvPr/>
        </p:nvSpPr>
        <p:spPr>
          <a:xfrm>
            <a:off x="2939430" y="2980944"/>
            <a:ext cx="1878726" cy="402336"/>
          </a:xfrm>
          <a:prstGeom prst="rect">
            <a:avLst/>
          </a:prstGeom>
          <a:noFill/>
          <a:ln/>
        </p:spPr>
        <p:txBody>
          <a:bodyPr wrap="square" lIns="0" tIns="0" rIns="0" bIns="0" rtlCol="0" anchor="ctr"/>
          <a:lstStyle/>
          <a:p>
            <a:pPr indent="0" marL="0">
              <a:buNone/>
            </a:pPr>
            <a:r>
              <a:rPr lang="en-US" sz="780" dirty="0">
                <a:solidFill>
                  <a:srgbClr val="596273"/>
                </a:solidFill>
                <a:latin typeface="Calibri" pitchFamily="34" charset="0"/>
                <a:ea typeface="Calibri" pitchFamily="34" charset="-122"/>
                <a:cs typeface="Calibri" pitchFamily="34" charset="-120"/>
              </a:rPr>
              <a:t>requirements + design baselined; reproduction run; both Tier-2 gates judged</a:t>
            </a:r>
            <a:endParaRPr lang="en-US" sz="780" dirty="0"/>
          </a:p>
        </p:txBody>
      </p:sp>
      <p:sp>
        <p:nvSpPr>
          <p:cNvPr id="35" name="Shape 33"/>
          <p:cNvSpPr/>
          <p:nvPr/>
        </p:nvSpPr>
        <p:spPr>
          <a:xfrm>
            <a:off x="5039441" y="2604211"/>
            <a:ext cx="2153046" cy="841248"/>
          </a:xfrm>
          <a:prstGeom prst="roundRect">
            <a:avLst>
              <a:gd name="adj" fmla="val 6522"/>
            </a:avLst>
          </a:prstGeom>
          <a:solidFill>
            <a:srgbClr val="E4E6EB"/>
          </a:solidFill>
          <a:ln/>
        </p:spPr>
      </p:sp>
      <p:sp>
        <p:nvSpPr>
          <p:cNvPr id="36" name="Shape 34"/>
          <p:cNvSpPr/>
          <p:nvPr/>
        </p:nvSpPr>
        <p:spPr>
          <a:xfrm>
            <a:off x="5019324" y="2578608"/>
            <a:ext cx="2153046" cy="841248"/>
          </a:xfrm>
          <a:prstGeom prst="roundRect">
            <a:avLst>
              <a:gd name="adj" fmla="val 6522"/>
            </a:avLst>
          </a:prstGeom>
          <a:solidFill>
            <a:srgbClr val="FBFBFC"/>
          </a:solidFill>
          <a:ln w="9525">
            <a:solidFill>
              <a:srgbClr val="D9DCE3"/>
            </a:solidFill>
            <a:prstDash val="solid"/>
          </a:ln>
        </p:spPr>
      </p:sp>
      <p:sp>
        <p:nvSpPr>
          <p:cNvPr id="37" name="Shape 35"/>
          <p:cNvSpPr/>
          <p:nvPr/>
        </p:nvSpPr>
        <p:spPr>
          <a:xfrm>
            <a:off x="5019324" y="2633472"/>
            <a:ext cx="41148" cy="731520"/>
          </a:xfrm>
          <a:prstGeom prst="rect">
            <a:avLst/>
          </a:prstGeom>
          <a:solidFill>
            <a:srgbClr val="C89B3C"/>
          </a:solidFill>
          <a:ln/>
        </p:spPr>
      </p:sp>
      <p:sp>
        <p:nvSpPr>
          <p:cNvPr id="38" name="Text 36"/>
          <p:cNvSpPr txBox="1"/>
          <p:nvPr/>
        </p:nvSpPr>
        <p:spPr>
          <a:xfrm>
            <a:off x="5165628" y="2633472"/>
            <a:ext cx="1878726" cy="164592"/>
          </a:xfrm>
          <a:prstGeom prst="rect">
            <a:avLst/>
          </a:prstGeom>
          <a:noFill/>
          <a:ln/>
        </p:spPr>
        <p:txBody>
          <a:bodyPr wrap="square" lIns="0" tIns="0" rIns="0" bIns="0" rtlCol="0" anchor="ctr"/>
          <a:lstStyle/>
          <a:p>
            <a:pPr indent="0" marL="0">
              <a:buNone/>
            </a:pPr>
            <a:r>
              <a:rPr lang="en-US" sz="720" b="1" spc="60" kern="0" dirty="0">
                <a:solidFill>
                  <a:srgbClr val="C89B3C"/>
                </a:solidFill>
                <a:latin typeface="Consolas" pitchFamily="34" charset="0"/>
                <a:ea typeface="Consolas" pitchFamily="34" charset="-122"/>
                <a:cs typeface="Consolas" pitchFamily="34" charset="-120"/>
              </a:rPr>
              <a:t>FYP-1</a:t>
            </a:r>
            <a:endParaRPr lang="en-US" sz="720" dirty="0"/>
          </a:p>
        </p:txBody>
      </p:sp>
      <p:sp>
        <p:nvSpPr>
          <p:cNvPr id="39" name="Text 37"/>
          <p:cNvSpPr txBox="1"/>
          <p:nvPr/>
        </p:nvSpPr>
        <p:spPr>
          <a:xfrm>
            <a:off x="5165628" y="2788920"/>
            <a:ext cx="1878726" cy="182880"/>
          </a:xfrm>
          <a:prstGeom prst="rect">
            <a:avLst/>
          </a:prstGeom>
          <a:noFill/>
          <a:ln/>
        </p:spPr>
        <p:txBody>
          <a:bodyPr wrap="square" lIns="0" tIns="0" rIns="0" bIns="0" rtlCol="0" anchor="ctr"/>
          <a:lstStyle/>
          <a:p>
            <a:pPr indent="0" marL="0">
              <a:buNone/>
            </a:pPr>
            <a:r>
              <a:rPr lang="en-US" sz="940" b="1" dirty="0">
                <a:solidFill>
                  <a:srgbClr val="1B202A"/>
                </a:solidFill>
                <a:latin typeface="Calibri" pitchFamily="34" charset="0"/>
                <a:ea typeface="Calibri" pitchFamily="34" charset="-122"/>
                <a:cs typeface="Calibri" pitchFamily="34" charset="-120"/>
              </a:rPr>
              <a:t>Gate 3 · Final-1</a:t>
            </a:r>
            <a:endParaRPr lang="en-US" sz="940" dirty="0"/>
          </a:p>
        </p:txBody>
      </p:sp>
      <p:sp>
        <p:nvSpPr>
          <p:cNvPr id="40" name="Text 38"/>
          <p:cNvSpPr txBox="1"/>
          <p:nvPr/>
        </p:nvSpPr>
        <p:spPr>
          <a:xfrm>
            <a:off x="5165628" y="2980944"/>
            <a:ext cx="1878726" cy="402336"/>
          </a:xfrm>
          <a:prstGeom prst="rect">
            <a:avLst/>
          </a:prstGeom>
          <a:noFill/>
          <a:ln/>
        </p:spPr>
        <p:txBody>
          <a:bodyPr wrap="square" lIns="0" tIns="0" rIns="0" bIns="0" rtlCol="0" anchor="ctr"/>
          <a:lstStyle/>
          <a:p>
            <a:pPr indent="0" marL="0">
              <a:buNone/>
            </a:pPr>
            <a:r>
              <a:rPr lang="en-US" sz="780" dirty="0">
                <a:solidFill>
                  <a:srgbClr val="596273"/>
                </a:solidFill>
                <a:latin typeface="Calibri" pitchFamily="34" charset="0"/>
                <a:ea typeface="Calibri" pitchFamily="34" charset="-122"/>
                <a:cs typeface="Calibri" pitchFamily="34" charset="-120"/>
              </a:rPr>
              <a:t>integrated core working end to end, integration proven not assumed</a:t>
            </a:r>
            <a:endParaRPr lang="en-US" sz="780" dirty="0"/>
          </a:p>
        </p:txBody>
      </p:sp>
      <p:sp>
        <p:nvSpPr>
          <p:cNvPr id="41" name="Shape 39"/>
          <p:cNvSpPr/>
          <p:nvPr/>
        </p:nvSpPr>
        <p:spPr>
          <a:xfrm>
            <a:off x="7265640" y="2604211"/>
            <a:ext cx="2153046" cy="841248"/>
          </a:xfrm>
          <a:prstGeom prst="roundRect">
            <a:avLst>
              <a:gd name="adj" fmla="val 6522"/>
            </a:avLst>
          </a:prstGeom>
          <a:solidFill>
            <a:srgbClr val="E4E6EB"/>
          </a:solidFill>
          <a:ln/>
        </p:spPr>
      </p:sp>
      <p:sp>
        <p:nvSpPr>
          <p:cNvPr id="42" name="Shape 40"/>
          <p:cNvSpPr/>
          <p:nvPr/>
        </p:nvSpPr>
        <p:spPr>
          <a:xfrm>
            <a:off x="7245523" y="2578608"/>
            <a:ext cx="2153046" cy="841248"/>
          </a:xfrm>
          <a:prstGeom prst="roundRect">
            <a:avLst>
              <a:gd name="adj" fmla="val 6522"/>
            </a:avLst>
          </a:prstGeom>
          <a:solidFill>
            <a:srgbClr val="FBFBFC"/>
          </a:solidFill>
          <a:ln w="9525">
            <a:solidFill>
              <a:srgbClr val="D9DCE3"/>
            </a:solidFill>
            <a:prstDash val="solid"/>
          </a:ln>
        </p:spPr>
      </p:sp>
      <p:sp>
        <p:nvSpPr>
          <p:cNvPr id="43" name="Shape 41"/>
          <p:cNvSpPr/>
          <p:nvPr/>
        </p:nvSpPr>
        <p:spPr>
          <a:xfrm>
            <a:off x="7245523" y="2633472"/>
            <a:ext cx="41148" cy="731520"/>
          </a:xfrm>
          <a:prstGeom prst="rect">
            <a:avLst/>
          </a:prstGeom>
          <a:solidFill>
            <a:srgbClr val="31558F"/>
          </a:solidFill>
          <a:ln/>
        </p:spPr>
      </p:sp>
      <p:sp>
        <p:nvSpPr>
          <p:cNvPr id="44" name="Text 42"/>
          <p:cNvSpPr txBox="1"/>
          <p:nvPr/>
        </p:nvSpPr>
        <p:spPr>
          <a:xfrm>
            <a:off x="7391827" y="2633472"/>
            <a:ext cx="1878726" cy="164592"/>
          </a:xfrm>
          <a:prstGeom prst="rect">
            <a:avLst/>
          </a:prstGeom>
          <a:noFill/>
          <a:ln/>
        </p:spPr>
        <p:txBody>
          <a:bodyPr wrap="square" lIns="0" tIns="0" rIns="0" bIns="0" rtlCol="0" anchor="ctr"/>
          <a:lstStyle/>
          <a:p>
            <a:pPr indent="0" marL="0">
              <a:buNone/>
            </a:pPr>
            <a:r>
              <a:rPr lang="en-US" sz="720" b="1" spc="60" kern="0" dirty="0">
                <a:solidFill>
                  <a:srgbClr val="31558F"/>
                </a:solidFill>
                <a:latin typeface="Consolas" pitchFamily="34" charset="0"/>
                <a:ea typeface="Consolas" pitchFamily="34" charset="-122"/>
                <a:cs typeface="Consolas" pitchFamily="34" charset="-120"/>
              </a:rPr>
              <a:t>FYP-2</a:t>
            </a:r>
            <a:endParaRPr lang="en-US" sz="720" dirty="0"/>
          </a:p>
        </p:txBody>
      </p:sp>
      <p:sp>
        <p:nvSpPr>
          <p:cNvPr id="45" name="Text 43"/>
          <p:cNvSpPr txBox="1"/>
          <p:nvPr/>
        </p:nvSpPr>
        <p:spPr>
          <a:xfrm>
            <a:off x="7391827" y="2788920"/>
            <a:ext cx="1878726" cy="182880"/>
          </a:xfrm>
          <a:prstGeom prst="rect">
            <a:avLst/>
          </a:prstGeom>
          <a:noFill/>
          <a:ln/>
        </p:spPr>
        <p:txBody>
          <a:bodyPr wrap="square" lIns="0" tIns="0" rIns="0" bIns="0" rtlCol="0" anchor="ctr"/>
          <a:lstStyle/>
          <a:p>
            <a:pPr indent="0" marL="0">
              <a:buNone/>
            </a:pPr>
            <a:r>
              <a:rPr lang="en-US" sz="940" b="1" dirty="0">
                <a:solidFill>
                  <a:srgbClr val="1B202A"/>
                </a:solidFill>
                <a:latin typeface="Calibri" pitchFamily="34" charset="0"/>
                <a:ea typeface="Calibri" pitchFamily="34" charset="-122"/>
                <a:cs typeface="Calibri" pitchFamily="34" charset="-120"/>
              </a:rPr>
              <a:t>Gate 4 · Mid-2</a:t>
            </a:r>
            <a:endParaRPr lang="en-US" sz="940" dirty="0"/>
          </a:p>
        </p:txBody>
      </p:sp>
      <p:sp>
        <p:nvSpPr>
          <p:cNvPr id="46" name="Text 44"/>
          <p:cNvSpPr txBox="1"/>
          <p:nvPr/>
        </p:nvSpPr>
        <p:spPr>
          <a:xfrm>
            <a:off x="7391827" y="2980944"/>
            <a:ext cx="1878726" cy="402336"/>
          </a:xfrm>
          <a:prstGeom prst="rect">
            <a:avLst/>
          </a:prstGeom>
          <a:noFill/>
          <a:ln/>
        </p:spPr>
        <p:txBody>
          <a:bodyPr wrap="square" lIns="0" tIns="0" rIns="0" bIns="0" rtlCol="0" anchor="ctr"/>
          <a:lstStyle/>
          <a:p>
            <a:pPr indent="0" marL="0">
              <a:buNone/>
            </a:pPr>
            <a:r>
              <a:rPr lang="en-US" sz="780" dirty="0">
                <a:solidFill>
                  <a:srgbClr val="596273"/>
                </a:solidFill>
                <a:latin typeface="Calibri" pitchFamily="34" charset="0"/>
                <a:ea typeface="Calibri" pitchFamily="34" charset="-122"/>
                <a:cs typeface="Calibri" pitchFamily="34" charset="-120"/>
              </a:rPr>
              <a:t>benchmark ≥500; non-functional targets measured; UAT plan exists</a:t>
            </a:r>
            <a:endParaRPr lang="en-US" sz="780" dirty="0"/>
          </a:p>
        </p:txBody>
      </p:sp>
      <p:sp>
        <p:nvSpPr>
          <p:cNvPr id="47" name="Shape 45"/>
          <p:cNvSpPr/>
          <p:nvPr/>
        </p:nvSpPr>
        <p:spPr>
          <a:xfrm>
            <a:off x="9491838" y="2604211"/>
            <a:ext cx="2153046" cy="841248"/>
          </a:xfrm>
          <a:prstGeom prst="roundRect">
            <a:avLst>
              <a:gd name="adj" fmla="val 6522"/>
            </a:avLst>
          </a:prstGeom>
          <a:solidFill>
            <a:srgbClr val="E4E6EB"/>
          </a:solidFill>
          <a:ln/>
        </p:spPr>
      </p:sp>
      <p:sp>
        <p:nvSpPr>
          <p:cNvPr id="48" name="Shape 46"/>
          <p:cNvSpPr/>
          <p:nvPr/>
        </p:nvSpPr>
        <p:spPr>
          <a:xfrm>
            <a:off x="9471721" y="2578608"/>
            <a:ext cx="2153046" cy="841248"/>
          </a:xfrm>
          <a:prstGeom prst="roundRect">
            <a:avLst>
              <a:gd name="adj" fmla="val 6522"/>
            </a:avLst>
          </a:prstGeom>
          <a:solidFill>
            <a:srgbClr val="FBFBFC"/>
          </a:solidFill>
          <a:ln w="9525">
            <a:solidFill>
              <a:srgbClr val="D9DCE3"/>
            </a:solidFill>
            <a:prstDash val="solid"/>
          </a:ln>
        </p:spPr>
      </p:sp>
      <p:sp>
        <p:nvSpPr>
          <p:cNvPr id="49" name="Shape 47"/>
          <p:cNvSpPr/>
          <p:nvPr/>
        </p:nvSpPr>
        <p:spPr>
          <a:xfrm>
            <a:off x="9471721" y="2633472"/>
            <a:ext cx="41148" cy="731520"/>
          </a:xfrm>
          <a:prstGeom prst="rect">
            <a:avLst/>
          </a:prstGeom>
          <a:solidFill>
            <a:srgbClr val="31558F"/>
          </a:solidFill>
          <a:ln/>
        </p:spPr>
      </p:sp>
      <p:sp>
        <p:nvSpPr>
          <p:cNvPr id="50" name="Text 48"/>
          <p:cNvSpPr txBox="1"/>
          <p:nvPr/>
        </p:nvSpPr>
        <p:spPr>
          <a:xfrm>
            <a:off x="9618025" y="2633472"/>
            <a:ext cx="1878726" cy="164592"/>
          </a:xfrm>
          <a:prstGeom prst="rect">
            <a:avLst/>
          </a:prstGeom>
          <a:noFill/>
          <a:ln/>
        </p:spPr>
        <p:txBody>
          <a:bodyPr wrap="square" lIns="0" tIns="0" rIns="0" bIns="0" rtlCol="0" anchor="ctr"/>
          <a:lstStyle/>
          <a:p>
            <a:pPr indent="0" marL="0">
              <a:buNone/>
            </a:pPr>
            <a:r>
              <a:rPr lang="en-US" sz="720" b="1" spc="60" kern="0" dirty="0">
                <a:solidFill>
                  <a:srgbClr val="31558F"/>
                </a:solidFill>
                <a:latin typeface="Consolas" pitchFamily="34" charset="0"/>
                <a:ea typeface="Consolas" pitchFamily="34" charset="-122"/>
                <a:cs typeface="Consolas" pitchFamily="34" charset="-120"/>
              </a:rPr>
              <a:t>FYP-2</a:t>
            </a:r>
            <a:endParaRPr lang="en-US" sz="720" dirty="0"/>
          </a:p>
        </p:txBody>
      </p:sp>
      <p:sp>
        <p:nvSpPr>
          <p:cNvPr id="51" name="Text 49"/>
          <p:cNvSpPr txBox="1"/>
          <p:nvPr/>
        </p:nvSpPr>
        <p:spPr>
          <a:xfrm>
            <a:off x="9618025" y="2788920"/>
            <a:ext cx="1878726" cy="182880"/>
          </a:xfrm>
          <a:prstGeom prst="rect">
            <a:avLst/>
          </a:prstGeom>
          <a:noFill/>
          <a:ln/>
        </p:spPr>
        <p:txBody>
          <a:bodyPr wrap="square" lIns="0" tIns="0" rIns="0" bIns="0" rtlCol="0" anchor="ctr"/>
          <a:lstStyle/>
          <a:p>
            <a:pPr indent="0" marL="0">
              <a:buNone/>
            </a:pPr>
            <a:r>
              <a:rPr lang="en-US" sz="940" b="1" dirty="0">
                <a:solidFill>
                  <a:srgbClr val="1B202A"/>
                </a:solidFill>
                <a:latin typeface="Calibri" pitchFamily="34" charset="0"/>
                <a:ea typeface="Calibri" pitchFamily="34" charset="-122"/>
                <a:cs typeface="Calibri" pitchFamily="34" charset="-120"/>
              </a:rPr>
              <a:t>Gate 5 · Final-2</a:t>
            </a:r>
            <a:endParaRPr lang="en-US" sz="940" dirty="0"/>
          </a:p>
        </p:txBody>
      </p:sp>
      <p:sp>
        <p:nvSpPr>
          <p:cNvPr id="52" name="Text 50"/>
          <p:cNvSpPr txBox="1"/>
          <p:nvPr/>
        </p:nvSpPr>
        <p:spPr>
          <a:xfrm>
            <a:off x="9618025" y="2980944"/>
            <a:ext cx="1878726" cy="402336"/>
          </a:xfrm>
          <a:prstGeom prst="rect">
            <a:avLst/>
          </a:prstGeom>
          <a:noFill/>
          <a:ln/>
        </p:spPr>
        <p:txBody>
          <a:bodyPr wrap="square" lIns="0" tIns="0" rIns="0" bIns="0" rtlCol="0" anchor="ctr"/>
          <a:lstStyle/>
          <a:p>
            <a:pPr indent="0" marL="0">
              <a:buNone/>
            </a:pPr>
            <a:r>
              <a:rPr lang="en-US" sz="780" dirty="0">
                <a:solidFill>
                  <a:srgbClr val="596273"/>
                </a:solidFill>
                <a:latin typeface="Calibri" pitchFamily="34" charset="0"/>
                <a:ea typeface="Calibri" pitchFamily="34" charset="-122"/>
                <a:cs typeface="Calibri" pitchFamily="34" charset="-120"/>
              </a:rPr>
              <a:t>full evaluation, acceptance testing, deployed + released</a:t>
            </a:r>
            <a:endParaRPr lang="en-US" sz="780" dirty="0"/>
          </a:p>
        </p:txBody>
      </p:sp>
      <p:sp>
        <p:nvSpPr>
          <p:cNvPr id="53" name="Shape 51"/>
          <p:cNvSpPr/>
          <p:nvPr/>
        </p:nvSpPr>
        <p:spPr>
          <a:xfrm>
            <a:off x="587045" y="3536899"/>
            <a:ext cx="3551834" cy="1609344"/>
          </a:xfrm>
          <a:prstGeom prst="roundRect">
            <a:avLst>
              <a:gd name="adj" fmla="val 3409"/>
            </a:avLst>
          </a:prstGeom>
          <a:solidFill>
            <a:srgbClr val="E4E6EB"/>
          </a:solidFill>
          <a:ln/>
        </p:spPr>
      </p:sp>
      <p:sp>
        <p:nvSpPr>
          <p:cNvPr id="54" name="Shape 52"/>
          <p:cNvSpPr/>
          <p:nvPr/>
        </p:nvSpPr>
        <p:spPr>
          <a:xfrm>
            <a:off x="566928" y="3511296"/>
            <a:ext cx="3551834" cy="1609344"/>
          </a:xfrm>
          <a:prstGeom prst="roundRect">
            <a:avLst>
              <a:gd name="adj" fmla="val 3409"/>
            </a:avLst>
          </a:prstGeom>
          <a:solidFill>
            <a:srgbClr val="E3EFF1"/>
          </a:solidFill>
          <a:ln w="9525">
            <a:solidFill>
              <a:srgbClr val="D9DCE3"/>
            </a:solidFill>
            <a:prstDash val="solid"/>
          </a:ln>
        </p:spPr>
      </p:sp>
      <p:sp>
        <p:nvSpPr>
          <p:cNvPr id="55" name="Shape 53"/>
          <p:cNvSpPr/>
          <p:nvPr/>
        </p:nvSpPr>
        <p:spPr>
          <a:xfrm>
            <a:off x="566928" y="3566160"/>
            <a:ext cx="41148" cy="1499616"/>
          </a:xfrm>
          <a:prstGeom prst="rect">
            <a:avLst/>
          </a:prstGeom>
          <a:solidFill>
            <a:srgbClr val="15707A"/>
          </a:solidFill>
          <a:ln/>
        </p:spPr>
      </p:sp>
      <p:sp>
        <p:nvSpPr>
          <p:cNvPr id="56" name="Text 54"/>
          <p:cNvSpPr txBox="1"/>
          <p:nvPr/>
        </p:nvSpPr>
        <p:spPr>
          <a:xfrm>
            <a:off x="749808" y="3584448"/>
            <a:ext cx="3186074" cy="201168"/>
          </a:xfrm>
          <a:prstGeom prst="rect">
            <a:avLst/>
          </a:prstGeom>
          <a:noFill/>
          <a:ln/>
        </p:spPr>
        <p:txBody>
          <a:bodyPr wrap="square" lIns="0" tIns="0" rIns="0" bIns="0" rtlCol="0" anchor="ctr"/>
          <a:lstStyle/>
          <a:p>
            <a:pPr indent="0" marL="0">
              <a:buNone/>
            </a:pPr>
            <a:r>
              <a:rPr lang="en-US" sz="900" b="1" spc="120" kern="0" dirty="0">
                <a:solidFill>
                  <a:srgbClr val="15707A"/>
                </a:solidFill>
                <a:latin typeface="Consolas" pitchFamily="34" charset="0"/>
                <a:ea typeface="Consolas" pitchFamily="34" charset="-122"/>
                <a:cs typeface="Consolas" pitchFamily="34" charset="-120"/>
              </a:rPr>
              <a:t>DEI</a:t>
            </a:r>
            <a:endParaRPr lang="en-US" sz="900" dirty="0"/>
          </a:p>
        </p:txBody>
      </p:sp>
      <p:sp>
        <p:nvSpPr>
          <p:cNvPr id="57" name="Text 55"/>
          <p:cNvSpPr txBox="1"/>
          <p:nvPr/>
        </p:nvSpPr>
        <p:spPr>
          <a:xfrm>
            <a:off x="749808" y="3803904"/>
            <a:ext cx="3186074" cy="1243584"/>
          </a:xfrm>
          <a:prstGeom prst="rect">
            <a:avLst/>
          </a:prstGeom>
          <a:noFill/>
          <a:ln/>
        </p:spPr>
        <p:txBody>
          <a:bodyPr wrap="square" lIns="0" tIns="0" rIns="0" bIns="0" rtlCol="0" anchor="t"/>
          <a:lstStyle/>
          <a:p>
            <a:pPr marL="165100" indent="-165100">
              <a:spcAft>
                <a:spcPts val="700"/>
              </a:spcAft>
              <a:buSzPct val="100000"/>
              <a:buChar char="▪"/>
            </a:pPr>
            <a:r>
              <a:rPr lang="en-US" sz="820" dirty="0">
                <a:solidFill>
                  <a:srgbClr val="1B202A"/>
                </a:solidFill>
                <a:latin typeface="Calibri" pitchFamily="34" charset="0"/>
                <a:ea typeface="Calibri" pitchFamily="34" charset="-122"/>
                <a:cs typeface="Calibri" pitchFamily="34" charset="-120"/>
              </a:rPr>
              <a:t>Open-source release (MIT / CC BY 4.0) puts enterprise-grade diagnostic tooling within reach of resource-constrained teams — the SDG 9 access-equity line made concrete</a:t>
            </a:r>
            <a:endParaRPr lang="en-US" sz="820" dirty="0"/>
          </a:p>
          <a:p>
            <a:pPr marL="165100" indent="-165100">
              <a:spcAft>
                <a:spcPts val="700"/>
              </a:spcAft>
              <a:buSzPct val="100000"/>
              <a:buChar char="▪"/>
            </a:pPr>
            <a:r>
              <a:rPr lang="en-US" sz="820" dirty="0">
                <a:solidFill>
                  <a:srgbClr val="1B202A"/>
                </a:solidFill>
                <a:latin typeface="Calibri" pitchFamily="34" charset="0"/>
                <a:ea typeface="Calibri" pitchFamily="34" charset="-122"/>
                <a:cs typeface="Calibri" pitchFamily="34" charset="-120"/>
              </a:rPr>
              <a:t>Dashboard pairs colour with text and shape, never colour alone — WCAG contrast check owed by Final-1, named as owed</a:t>
            </a:r>
            <a:endParaRPr lang="en-US" sz="820" dirty="0"/>
          </a:p>
          <a:p>
            <a:pPr marL="165100" indent="-165100">
              <a:spcAft>
                <a:spcPts val="700"/>
              </a:spcAft>
              <a:buSzPct val="100000"/>
              <a:buChar char="▪"/>
            </a:pPr>
            <a:r>
              <a:rPr lang="en-US" sz="820" dirty="0">
                <a:solidFill>
                  <a:srgbClr val="1B202A"/>
                </a:solidFill>
                <a:latin typeface="Calibri" pitchFamily="34" charset="0"/>
                <a:ea typeface="Calibri" pitchFamily="34" charset="-122"/>
                <a:cs typeface="Calibri" pitchFamily="34" charset="-120"/>
              </a:rPr>
              <a:t>Accuracy claims stated as English-only, not generalized</a:t>
            </a:r>
            <a:endParaRPr lang="en-US" sz="820" dirty="0"/>
          </a:p>
        </p:txBody>
      </p:sp>
      <p:sp>
        <p:nvSpPr>
          <p:cNvPr id="58" name="Shape 56"/>
          <p:cNvSpPr/>
          <p:nvPr/>
        </p:nvSpPr>
        <p:spPr>
          <a:xfrm>
            <a:off x="4340047" y="3536899"/>
            <a:ext cx="3551834" cy="1609344"/>
          </a:xfrm>
          <a:prstGeom prst="roundRect">
            <a:avLst>
              <a:gd name="adj" fmla="val 3409"/>
            </a:avLst>
          </a:prstGeom>
          <a:solidFill>
            <a:srgbClr val="E4E6EB"/>
          </a:solidFill>
          <a:ln/>
        </p:spPr>
      </p:sp>
      <p:sp>
        <p:nvSpPr>
          <p:cNvPr id="59" name="Shape 57"/>
          <p:cNvSpPr/>
          <p:nvPr/>
        </p:nvSpPr>
        <p:spPr>
          <a:xfrm>
            <a:off x="4319930" y="3511296"/>
            <a:ext cx="3551834" cy="1609344"/>
          </a:xfrm>
          <a:prstGeom prst="roundRect">
            <a:avLst>
              <a:gd name="adj" fmla="val 3409"/>
            </a:avLst>
          </a:prstGeom>
          <a:solidFill>
            <a:srgbClr val="F6E6E3"/>
          </a:solidFill>
          <a:ln w="9525">
            <a:solidFill>
              <a:srgbClr val="D9DCE3"/>
            </a:solidFill>
            <a:prstDash val="solid"/>
          </a:ln>
        </p:spPr>
      </p:sp>
      <p:sp>
        <p:nvSpPr>
          <p:cNvPr id="60" name="Shape 58"/>
          <p:cNvSpPr/>
          <p:nvPr/>
        </p:nvSpPr>
        <p:spPr>
          <a:xfrm>
            <a:off x="4319930" y="3566160"/>
            <a:ext cx="41148" cy="1499616"/>
          </a:xfrm>
          <a:prstGeom prst="rect">
            <a:avLst/>
          </a:prstGeom>
          <a:solidFill>
            <a:srgbClr val="A83A30"/>
          </a:solidFill>
          <a:ln/>
        </p:spPr>
      </p:sp>
      <p:sp>
        <p:nvSpPr>
          <p:cNvPr id="61" name="Text 59"/>
          <p:cNvSpPr txBox="1"/>
          <p:nvPr/>
        </p:nvSpPr>
        <p:spPr>
          <a:xfrm>
            <a:off x="4502810" y="3584448"/>
            <a:ext cx="3186074" cy="201168"/>
          </a:xfrm>
          <a:prstGeom prst="rect">
            <a:avLst/>
          </a:prstGeom>
          <a:noFill/>
          <a:ln/>
        </p:spPr>
        <p:txBody>
          <a:bodyPr wrap="square" lIns="0" tIns="0" rIns="0" bIns="0" rtlCol="0" anchor="ctr"/>
          <a:lstStyle/>
          <a:p>
            <a:pPr indent="0" marL="0">
              <a:buNone/>
            </a:pPr>
            <a:r>
              <a:rPr lang="en-US" sz="900" b="1" spc="120" kern="0" dirty="0">
                <a:solidFill>
                  <a:srgbClr val="A83A30"/>
                </a:solidFill>
                <a:latin typeface="Consolas" pitchFamily="34" charset="0"/>
                <a:ea typeface="Consolas" pitchFamily="34" charset="-122"/>
                <a:cs typeface="Consolas" pitchFamily="34" charset="-120"/>
              </a:rPr>
              <a:t>ETHICAL</a:t>
            </a:r>
            <a:endParaRPr lang="en-US" sz="900" dirty="0"/>
          </a:p>
        </p:txBody>
      </p:sp>
      <p:sp>
        <p:nvSpPr>
          <p:cNvPr id="62" name="Text 60"/>
          <p:cNvSpPr txBox="1"/>
          <p:nvPr/>
        </p:nvSpPr>
        <p:spPr>
          <a:xfrm>
            <a:off x="4502810" y="3803904"/>
            <a:ext cx="3186074" cy="1243584"/>
          </a:xfrm>
          <a:prstGeom prst="rect">
            <a:avLst/>
          </a:prstGeom>
          <a:noFill/>
          <a:ln/>
        </p:spPr>
        <p:txBody>
          <a:bodyPr wrap="square" lIns="0" tIns="0" rIns="0" bIns="0" rtlCol="0" anchor="t"/>
          <a:lstStyle/>
          <a:p>
            <a:pPr marL="165100" indent="-165100">
              <a:spcAft>
                <a:spcPts val="700"/>
              </a:spcAft>
              <a:buSzPct val="100000"/>
              <a:buChar char="▪"/>
            </a:pPr>
            <a:r>
              <a:rPr lang="en-US" sz="820" dirty="0">
                <a:solidFill>
                  <a:srgbClr val="1B202A"/>
                </a:solidFill>
                <a:latin typeface="Calibri" pitchFamily="34" charset="0"/>
                <a:ea typeface="Calibri" pitchFamily="34" charset="-122"/>
                <a:cs typeface="Calibri" pitchFamily="34" charset="-120"/>
              </a:rPr>
              <a:t>Diagnosis is advisory, never autonomous — every repair is human-gated before it is applied</a:t>
            </a:r>
            <a:endParaRPr lang="en-US" sz="820" dirty="0"/>
          </a:p>
          <a:p>
            <a:pPr marL="165100" indent="-165100">
              <a:spcAft>
                <a:spcPts val="700"/>
              </a:spcAft>
              <a:buSzPct val="100000"/>
              <a:buChar char="▪"/>
            </a:pPr>
            <a:r>
              <a:rPr lang="en-US" sz="820" dirty="0">
                <a:solidFill>
                  <a:srgbClr val="1B202A"/>
                </a:solidFill>
                <a:latin typeface="Calibri" pitchFamily="34" charset="0"/>
                <a:ea typeface="Calibri" pitchFamily="34" charset="-122"/>
                <a:cs typeface="Calibri" pitchFamily="34" charset="-120"/>
              </a:rPr>
              <a:t>Informed consent required for any real user's trace data; synthetic substrate by default</a:t>
            </a:r>
            <a:endParaRPr lang="en-US" sz="820" dirty="0"/>
          </a:p>
          <a:p>
            <a:pPr marL="165100" indent="-165100">
              <a:spcAft>
                <a:spcPts val="700"/>
              </a:spcAft>
              <a:buSzPct val="100000"/>
              <a:buChar char="▪"/>
            </a:pPr>
            <a:r>
              <a:rPr lang="en-US" sz="820" dirty="0">
                <a:solidFill>
                  <a:srgbClr val="1B202A"/>
                </a:solidFill>
                <a:latin typeface="Calibri" pitchFamily="34" charset="0"/>
                <a:ea typeface="Calibri" pitchFamily="34" charset="-122"/>
                <a:cs typeface="Calibri" pitchFamily="34" charset="-120"/>
              </a:rPr>
              <a:t>Fault injection restricted to our own or explicitly consenting systems</a:t>
            </a:r>
            <a:endParaRPr lang="en-US" sz="820" dirty="0"/>
          </a:p>
          <a:p>
            <a:pPr marL="165100" indent="-165100">
              <a:spcAft>
                <a:spcPts val="700"/>
              </a:spcAft>
              <a:buSzPct val="100000"/>
              <a:buChar char="▪"/>
            </a:pPr>
            <a:r>
              <a:rPr lang="en-US" sz="820" dirty="0">
                <a:solidFill>
                  <a:srgbClr val="1B202A"/>
                </a:solidFill>
                <a:latin typeface="Calibri" pitchFamily="34" charset="0"/>
                <a:ea typeface="Calibri" pitchFamily="34" charset="-122"/>
                <a:cs typeface="Calibri" pitchFamily="34" charset="-120"/>
              </a:rPr>
              <a:t>Negative results published as found — Spike 7 is on the evidence slide, not buried</a:t>
            </a:r>
            <a:endParaRPr lang="en-US" sz="820" dirty="0"/>
          </a:p>
        </p:txBody>
      </p:sp>
      <p:sp>
        <p:nvSpPr>
          <p:cNvPr id="63" name="Shape 61"/>
          <p:cNvSpPr/>
          <p:nvPr/>
        </p:nvSpPr>
        <p:spPr>
          <a:xfrm>
            <a:off x="8093050" y="3536899"/>
            <a:ext cx="3551834" cy="1609344"/>
          </a:xfrm>
          <a:prstGeom prst="roundRect">
            <a:avLst>
              <a:gd name="adj" fmla="val 3409"/>
            </a:avLst>
          </a:prstGeom>
          <a:solidFill>
            <a:srgbClr val="E4E6EB"/>
          </a:solidFill>
          <a:ln/>
        </p:spPr>
      </p:sp>
      <p:sp>
        <p:nvSpPr>
          <p:cNvPr id="64" name="Shape 62"/>
          <p:cNvSpPr/>
          <p:nvPr/>
        </p:nvSpPr>
        <p:spPr>
          <a:xfrm>
            <a:off x="8072933" y="3511296"/>
            <a:ext cx="3551834" cy="1609344"/>
          </a:xfrm>
          <a:prstGeom prst="roundRect">
            <a:avLst>
              <a:gd name="adj" fmla="val 3409"/>
            </a:avLst>
          </a:prstGeom>
          <a:solidFill>
            <a:srgbClr val="E4E9F2"/>
          </a:solidFill>
          <a:ln w="9525">
            <a:solidFill>
              <a:srgbClr val="D9DCE3"/>
            </a:solidFill>
            <a:prstDash val="solid"/>
          </a:ln>
        </p:spPr>
      </p:sp>
      <p:sp>
        <p:nvSpPr>
          <p:cNvPr id="65" name="Shape 63"/>
          <p:cNvSpPr/>
          <p:nvPr/>
        </p:nvSpPr>
        <p:spPr>
          <a:xfrm>
            <a:off x="8072933" y="3566160"/>
            <a:ext cx="41148" cy="1499616"/>
          </a:xfrm>
          <a:prstGeom prst="rect">
            <a:avLst/>
          </a:prstGeom>
          <a:solidFill>
            <a:srgbClr val="31558F"/>
          </a:solidFill>
          <a:ln/>
        </p:spPr>
      </p:sp>
      <p:sp>
        <p:nvSpPr>
          <p:cNvPr id="66" name="Text 64"/>
          <p:cNvSpPr txBox="1"/>
          <p:nvPr/>
        </p:nvSpPr>
        <p:spPr>
          <a:xfrm>
            <a:off x="8255813" y="3584448"/>
            <a:ext cx="3186074" cy="201168"/>
          </a:xfrm>
          <a:prstGeom prst="rect">
            <a:avLst/>
          </a:prstGeom>
          <a:noFill/>
          <a:ln/>
        </p:spPr>
        <p:txBody>
          <a:bodyPr wrap="square" lIns="0" tIns="0" rIns="0" bIns="0" rtlCol="0" anchor="ctr"/>
          <a:lstStyle/>
          <a:p>
            <a:pPr indent="0" marL="0">
              <a:buNone/>
            </a:pPr>
            <a:r>
              <a:rPr lang="en-US" sz="900" b="1" spc="120" kern="0" dirty="0">
                <a:solidFill>
                  <a:srgbClr val="31558F"/>
                </a:solidFill>
                <a:latin typeface="Consolas" pitchFamily="34" charset="0"/>
                <a:ea typeface="Consolas" pitchFamily="34" charset="-122"/>
                <a:cs typeface="Consolas" pitchFamily="34" charset="-120"/>
              </a:rPr>
              <a:t>LEGAL / PROFESSIONAL</a:t>
            </a:r>
            <a:endParaRPr lang="en-US" sz="900" dirty="0"/>
          </a:p>
        </p:txBody>
      </p:sp>
      <p:sp>
        <p:nvSpPr>
          <p:cNvPr id="67" name="Text 65"/>
          <p:cNvSpPr txBox="1"/>
          <p:nvPr/>
        </p:nvSpPr>
        <p:spPr>
          <a:xfrm>
            <a:off x="8255813" y="3803904"/>
            <a:ext cx="3186074" cy="1243584"/>
          </a:xfrm>
          <a:prstGeom prst="rect">
            <a:avLst/>
          </a:prstGeom>
          <a:noFill/>
          <a:ln/>
        </p:spPr>
        <p:txBody>
          <a:bodyPr wrap="square" lIns="0" tIns="0" rIns="0" bIns="0" rtlCol="0" anchor="t"/>
          <a:lstStyle/>
          <a:p>
            <a:pPr marL="165100" indent="-165100">
              <a:spcAft>
                <a:spcPts val="700"/>
              </a:spcAft>
              <a:buSzPct val="100000"/>
              <a:buChar char="▪"/>
            </a:pPr>
            <a:r>
              <a:rPr lang="en-US" sz="820" dirty="0">
                <a:solidFill>
                  <a:srgbClr val="1B202A"/>
                </a:solidFill>
                <a:latin typeface="Calibri" pitchFamily="34" charset="0"/>
                <a:ea typeface="Calibri" pitchFamily="34" charset="-122"/>
                <a:cs typeface="Calibri" pitchFamily="34" charset="-120"/>
              </a:rPr>
              <a:t>Who&amp;When · GSM8K · tau-bench retail — all MIT, each licence confirmed against its own LICENSE file, not a secondary claim</a:t>
            </a:r>
            <a:endParaRPr lang="en-US" sz="820" dirty="0"/>
          </a:p>
          <a:p>
            <a:pPr marL="165100" indent="-165100">
              <a:spcAft>
                <a:spcPts val="700"/>
              </a:spcAft>
              <a:buSzPct val="100000"/>
              <a:buChar char="▪"/>
            </a:pPr>
            <a:r>
              <a:rPr lang="en-US" sz="820" dirty="0">
                <a:solidFill>
                  <a:srgbClr val="1B202A"/>
                </a:solidFill>
                <a:latin typeface="Calibri" pitchFamily="34" charset="0"/>
                <a:ea typeface="Calibri" pitchFamily="34" charset="-122"/>
                <a:cs typeface="Calibri" pitchFamily="34" charset="-120"/>
              </a:rPr>
              <a:t>Released artefacts carry MIT / CC BY 4.0, attribution preserved upstream</a:t>
            </a:r>
            <a:endParaRPr lang="en-US" sz="820" dirty="0"/>
          </a:p>
          <a:p>
            <a:pPr marL="165100" indent="-165100">
              <a:spcAft>
                <a:spcPts val="700"/>
              </a:spcAft>
              <a:buSzPct val="100000"/>
              <a:buChar char="▪"/>
            </a:pPr>
            <a:r>
              <a:rPr lang="en-US" sz="820" dirty="0">
                <a:solidFill>
                  <a:srgbClr val="1B202A"/>
                </a:solidFill>
                <a:latin typeface="Calibri" pitchFamily="34" charset="0"/>
                <a:ea typeface="Calibri" pitchFamily="34" charset="-122"/>
                <a:cs typeface="Calibri" pitchFamily="34" charset="-120"/>
              </a:rPr>
              <a:t>AI usage disclosed per session (19 logged) on Form 13, countersigned by the supervisor</a:t>
            </a:r>
            <a:endParaRPr lang="en-US" sz="820" dirty="0"/>
          </a:p>
        </p:txBody>
      </p:sp>
      <p:sp>
        <p:nvSpPr>
          <p:cNvPr id="68" name="Shape 66"/>
          <p:cNvSpPr/>
          <p:nvPr/>
        </p:nvSpPr>
        <p:spPr>
          <a:xfrm>
            <a:off x="587045" y="5237683"/>
            <a:ext cx="11057839" cy="932688"/>
          </a:xfrm>
          <a:prstGeom prst="roundRect">
            <a:avLst>
              <a:gd name="adj" fmla="val 5882"/>
            </a:avLst>
          </a:prstGeom>
          <a:solidFill>
            <a:srgbClr val="E4E6EB"/>
          </a:solidFill>
          <a:ln/>
        </p:spPr>
      </p:sp>
      <p:sp>
        <p:nvSpPr>
          <p:cNvPr id="69" name="Shape 67"/>
          <p:cNvSpPr/>
          <p:nvPr/>
        </p:nvSpPr>
        <p:spPr>
          <a:xfrm>
            <a:off x="566928" y="5212080"/>
            <a:ext cx="11057839" cy="932688"/>
          </a:xfrm>
          <a:prstGeom prst="roundRect">
            <a:avLst>
              <a:gd name="adj" fmla="val 5882"/>
            </a:avLst>
          </a:prstGeom>
          <a:solidFill>
            <a:srgbClr val="171C26"/>
          </a:solidFill>
          <a:ln w="9525">
            <a:solidFill>
              <a:srgbClr val="D9DCE3"/>
            </a:solidFill>
            <a:prstDash val="solid"/>
          </a:ln>
        </p:spPr>
      </p:sp>
      <p:sp>
        <p:nvSpPr>
          <p:cNvPr id="70" name="Text 68"/>
          <p:cNvSpPr txBox="1"/>
          <p:nvPr/>
        </p:nvSpPr>
        <p:spPr>
          <a:xfrm>
            <a:off x="822960" y="5285232"/>
            <a:ext cx="10545775" cy="201168"/>
          </a:xfrm>
          <a:prstGeom prst="rect">
            <a:avLst/>
          </a:prstGeom>
          <a:noFill/>
          <a:ln/>
        </p:spPr>
        <p:txBody>
          <a:bodyPr wrap="square" lIns="0" tIns="0" rIns="0" bIns="0" rtlCol="0" anchor="ctr"/>
          <a:lstStyle/>
          <a:p>
            <a:pPr indent="0" marL="0">
              <a:buNone/>
            </a:pPr>
            <a:r>
              <a:rPr lang="en-US" sz="880" b="1" spc="80" kern="0" dirty="0">
                <a:solidFill>
                  <a:srgbClr val="E3BC6E"/>
                </a:solidFill>
                <a:latin typeface="Consolas" pitchFamily="34" charset="0"/>
                <a:ea typeface="Consolas" pitchFamily="34" charset="-122"/>
                <a:cs typeface="Consolas" pitchFamily="34" charset="-120"/>
              </a:rPr>
              <a:t>AI-ASSISTED DEVELOPMENT LEVEL — REQUIRED TO BE NAMED AND JUSTIFIED AT THIS STAGE (HANDBOOK C.8)</a:t>
            </a:r>
            <a:endParaRPr lang="en-US" sz="880" dirty="0"/>
          </a:p>
        </p:txBody>
      </p:sp>
      <p:sp>
        <p:nvSpPr>
          <p:cNvPr id="71" name="Text 69"/>
          <p:cNvSpPr txBox="1"/>
          <p:nvPr/>
        </p:nvSpPr>
        <p:spPr>
          <a:xfrm>
            <a:off x="822960" y="5504688"/>
            <a:ext cx="10545775" cy="585216"/>
          </a:xfrm>
          <a:prstGeom prst="rect">
            <a:avLst/>
          </a:prstGeom>
          <a:noFill/>
          <a:ln/>
        </p:spPr>
        <p:txBody>
          <a:bodyPr wrap="square" lIns="0" tIns="0" rIns="0" bIns="0" rtlCol="0" anchor="ctr"/>
          <a:lstStyle/>
          <a:p>
            <a:pPr indent="0" marL="0">
              <a:buNone/>
            </a:pPr>
            <a:r>
              <a:rPr lang="en-US" sz="1200" b="1" dirty="0">
                <a:solidFill>
                  <a:srgbClr val="E3BC6E"/>
                </a:solidFill>
                <a:latin typeface="Georgia" pitchFamily="34" charset="0"/>
                <a:ea typeface="Georgia" pitchFamily="34" charset="-122"/>
                <a:cs typeface="Georgia" pitchFamily="34" charset="-120"/>
              </a:rPr>
              <a:t>Level 2 — AI-Assisted.  </a:t>
            </a:r>
            <a:pPr indent="0" marL="0">
              <a:buNone/>
            </a:pPr>
            <a:r>
              <a:rPr lang="en-US" sz="900" dirty="0">
                <a:solidFill>
                  <a:srgbClr val="A9B0BE"/>
                </a:solidFill>
                <a:latin typeface="Calibri" pitchFamily="34" charset="0"/>
                <a:ea typeface="Calibri" pitchFamily="34" charset="-122"/>
                <a:cs typeface="Calibri" pitchFamily="34" charset="-120"/>
              </a:rPr>
              <a:t>Humans lead both judgment and execution; AI assists with isolated tasks — checked against our own log before claiming it. Level 3 would relocate exactly the design and evaluation work Seoul Accord GA-4 requires the graduate to demonstrate.  </a:t>
            </a:r>
            <a:pPr indent="0" marL="0">
              <a:buNone/>
            </a:pPr>
            <a:r>
              <a:rPr lang="en-US" sz="900" b="1" dirty="0">
                <a:solidFill>
                  <a:srgbClr val="E3BC6E"/>
                </a:solidFill>
                <a:latin typeface="Calibri" pitchFamily="34" charset="0"/>
                <a:ea typeface="Calibri" pitchFamily="34" charset="-122"/>
                <a:cs typeface="Calibri" pitchFamily="34" charset="-120"/>
              </a:rPr>
              <a:t>Ownership standard accepted: </a:t>
            </a:r>
            <a:pPr indent="0" marL="0">
              <a:buNone/>
            </a:pPr>
            <a:r>
              <a:rPr lang="en-US" sz="900" dirty="0">
                <a:solidFill>
                  <a:srgbClr val="A9B0BE"/>
                </a:solidFill>
                <a:latin typeface="Calibri" pitchFamily="34" charset="0"/>
                <a:ea typeface="Calibri" pitchFamily="34" charset="-122"/>
                <a:cs typeface="Calibri" pitchFamily="34" charset="-120"/>
              </a:rPr>
              <a:t>for every CCP-relevant component the responsible member can explain it, justify it against a rejected alternative, predict what breaks, and modify it under questioning. Authorship of keystrokes is not the test.</a:t>
            </a:r>
            <a:endParaRPr lang="en-US" sz="1200" dirty="0"/>
          </a:p>
        </p:txBody>
      </p:sp>
      <p:sp>
        <p:nvSpPr>
          <p:cNvPr id="72" name="Text 70"/>
          <p:cNvSpPr txBox="1"/>
          <p:nvPr/>
        </p:nvSpPr>
        <p:spPr>
          <a:xfrm>
            <a:off x="566928" y="6217920"/>
            <a:ext cx="11057839" cy="201168"/>
          </a:xfrm>
          <a:prstGeom prst="rect">
            <a:avLst/>
          </a:prstGeom>
          <a:noFill/>
          <a:ln/>
        </p:spPr>
        <p:txBody>
          <a:bodyPr wrap="square" lIns="0" tIns="0" rIns="0" bIns="0" rtlCol="0" anchor="ctr"/>
          <a:lstStyle/>
          <a:p>
            <a:pPr indent="0" marL="0">
              <a:buNone/>
            </a:pPr>
            <a:r>
              <a:rPr lang="en-US" sz="800" dirty="0">
                <a:solidFill>
                  <a:srgbClr val="8B92A2"/>
                </a:solidFill>
                <a:latin typeface="Consolas" pitchFamily="34" charset="0"/>
                <a:ea typeface="Consolas" pitchFamily="34" charset="-122"/>
                <a:cs typeface="Consolas" pitchFamily="34" charset="-120"/>
              </a:rPr>
              <a:t>▸ plan §3 (ownership) · guide §C.5 (shared responsibilities) · AI_Usage_Log.md · Form13_GenAI_Disclosure_Sheet.md · risk-register R30/R38</a:t>
            </a:r>
            <a:endParaRPr lang="en-US" sz="8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FAST School of Computing, NUCES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Granite — Proposal Defense (v2)</dc:title>
  <dc:subject>Stage 1 Proposal Defense — F26-060-Granite</dc:subject>
  <dc:creator>Granite — F26-060</dc:creator>
  <cp:lastModifiedBy>Granite — F26-060</cp:lastModifiedBy>
  <cp:revision>1</cp:revision>
  <dcterms:created xsi:type="dcterms:W3CDTF">2026-09-07T19:33:14Z</dcterms:created>
  <dcterms:modified xsi:type="dcterms:W3CDTF">2026-09-07T19:33:14Z</dcterms:modified>
</cp:coreProperties>
</file>