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Only the 5 strongest characteristics are on-slide, renumbered 1-5 with no gaps. Badge 5 (Ill-defined cause) has three unknowns stacked — read its resolution aloud if pressed: whether/which/what's-correct, each resolved by a distinct pipeline stage. The other 4 (Unfamiliar issues, Significant consequences, Interdependence, Diverse stakeholders) are held back — full reasoning and likely panel questions for all 9 are in markdowns/05-deliverables/defense-prep/CCP_and_Spikes_Full_Reasoning.md,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On spike 4, state both halves before being asked, because they are two different runs. The LIVE n=3 task run produced zero natural silent failures — the model got all three right — so detector recall in the wild is UNMEASURED, not high. The near-miss result ($20.00 against a true $19.75, zero false positives) comes from the SEEDED mechanism test, spike 4b, which feeds known-wrong values straight to the rule-based checker: 3 of 3 wrong values caught, 0 of 3 correct values flagged, including one differing only by legitimate rounding. The mechanism works; its hit rate on natural failures does not yet have a number, and getting one needs injected near-misses at scale. Citations: dev/spikes/poc/ (9 scripts + output JSONs on disk, incl. poc_spike4b_mechanism_output.json) · markdowns/04-poc-evidence/POC_Spike_Outputs_Full.md · risk-register.md R10.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The abstention rate is on this list deliberately: the Semantic Error Diagnostic abstains where no checkable constraint exists, and we report how often rather than hiding it. On the acceptance band, stress the words 'pre-registered' and 'before any result exists' — that is what separates this from choosing a threshold after seeing the numbers. Risks and fallbacks are the next slide; do not pre-empt them here. Citations: plan §11 (acceptance band, pre-registered) · §13 (metric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column as confidence, not confession: each of these decision rules was written down before any result exists, which is the opposite of explaining away a bad number afterwards. Outside the acceptance band, both numbers are reported transparently — declared before the run, not after. The backbone-confound row is the one to volunteer unprompted; it is the objection a methodologically-minded panelist reaches for, and answering it first is worth more than answering it correctly later. On the GenAI boundary, the load-bearing claim is the last clause: the contribution survives swapping the LLM, because the diagnosis lane makes no model calls at all. Citations: risk-register.md (R4/R25/R37) · plan §11 · §0.08 (backbone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10;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off this slide — it stays up for the whole Q&amp;A, so the project identity is what the panel is looking at while they question you. The offer to open a file is genuine and should be made out loud, not left on the slide: the spike outputs are in dev/spikes/poc/ and any of them can be shown live. If the panel opens with a broad question, the restated claim above is the frame to answer within — attribution, silent-failure detection and verified repair, measured as one pipeline. Lead any weakness question with the honest answer already prepared: step accuracy is 13.2% against a published 59.5% on a simplified reproduction, Spike 7 is a reported negative, and two of the ten committed mechanisms carry pre-registered Mid-1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6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210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210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21024"/>
            <a:ext cx="8412480" cy="1188720"/>
          </a:xfrm>
          <a:prstGeom prst="rect">
            <a:avLst/>
          </a:prstGeom>
          <a:noFill/>
          <a:ln/>
        </p:spPr>
        <p:txBody>
          <a:bodyPr wrap="square" lIns="0" tIns="0" rIns="0" bIns="0" rtlCol="0" anchor="ctr"/>
          <a:lstStyle/>
          <a:p>
            <a:pPr indent="0" marL="0">
              <a:buNone/>
            </a:pPr>
            <a:r>
              <a:rPr lang="en-US" sz="230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30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Shahoud Shahid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23i-2515</a:t>
            </a:r>
            <a:endParaRPr lang="en-US" sz="1800" dirty="0"/>
          </a:p>
        </p:txBody>
      </p:sp>
      <p:sp>
        <p:nvSpPr>
          <p:cNvPr id="13" name="Text 11"/>
          <p:cNvSpPr txBox="1"/>
          <p:nvPr/>
        </p:nvSpPr>
        <p:spPr>
          <a:xfrm>
            <a:off x="317296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Muhammad Noor</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23i-2520</a:t>
            </a:r>
            <a:endParaRPr lang="en-US" sz="1800" dirty="0"/>
          </a:p>
        </p:txBody>
      </p:sp>
      <p:sp>
        <p:nvSpPr>
          <p:cNvPr id="14" name="Text 12"/>
          <p:cNvSpPr txBox="1"/>
          <p:nvPr/>
        </p:nvSpPr>
        <p:spPr>
          <a:xfrm>
            <a:off x="577900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Saif Shahzad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23i-2634</a:t>
            </a:r>
            <a:endParaRPr lang="en-US" sz="1800" dirty="0"/>
          </a:p>
        </p:txBody>
      </p:sp>
      <p:sp>
        <p:nvSpPr>
          <p:cNvPr id="15" name="Text 13"/>
          <p:cNvSpPr txBox="1"/>
          <p:nvPr/>
        </p:nvSpPr>
        <p:spPr>
          <a:xfrm>
            <a:off x="566928" y="5907024"/>
            <a:ext cx="6400800" cy="658368"/>
          </a:xfrm>
          <a:prstGeom prst="rect">
            <a:avLst/>
          </a:prstGeom>
          <a:noFill/>
          <a:ln/>
        </p:spPr>
        <p:txBody>
          <a:bodyPr wrap="square" lIns="0" tIns="0" rIns="0" bIns="0" rtlCol="0" anchor="ctr"/>
          <a:lstStyle/>
          <a:p>
            <a:pPr indent="0" marL="0">
              <a:buNone/>
            </a:pPr>
            <a:r>
              <a:rPr lang="en-US" sz="1500" dirty="0">
                <a:solidFill>
                  <a:srgbClr val="A9B0BE"/>
                </a:solidFill>
                <a:latin typeface="Calibri" pitchFamily="34" charset="0"/>
                <a:ea typeface="Calibri" pitchFamily="34" charset="-122"/>
                <a:cs typeface="Calibri" pitchFamily="34" charset="-120"/>
              </a:rPr>
              <a:t>Supervisor   </a:t>
            </a:r>
            <a:pPr indent="0" marL="0">
              <a:buNone/>
            </a:pPr>
            <a:r>
              <a:rPr lang="en-US" sz="1800" b="1" dirty="0">
                <a:solidFill>
                  <a:srgbClr val="F5F6F8"/>
                </a:solidFill>
                <a:latin typeface="Calibri" pitchFamily="34" charset="0"/>
                <a:ea typeface="Calibri" pitchFamily="34" charset="-122"/>
                <a:cs typeface="Calibri" pitchFamily="34" charset="-120"/>
              </a:rPr>
              <a:t>Dr. Adil Majeed</a:t>
            </a:r>
            <a:endParaRPr lang="en-US" sz="1500" dirty="0"/>
          </a:p>
          <a:p>
            <a:pPr indent="0" marL="0">
              <a:buNone/>
            </a:pPr>
            <a:r>
              <a:rPr lang="en-US" sz="1500" dirty="0">
                <a:solidFill>
                  <a:srgbClr val="A9B0BE"/>
                </a:solidFill>
                <a:latin typeface="Calibri" pitchFamily="34" charset="0"/>
                <a:ea typeface="Calibri" pitchFamily="34" charset="-122"/>
                <a:cs typeface="Calibri" pitchFamily="34" charset="-120"/>
              </a:rPr>
              <a:t>FAST School of Computing, NUCES Islamabad</a:t>
            </a:r>
            <a:endParaRPr lang="en-US" sz="15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Problem &amp; Users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2 / 12</a:t>
            </a:r>
            <a:endParaRPr lang="en-US" sz="1300" dirty="0"/>
          </a:p>
        </p:txBody>
      </p:sp>
      <p:sp>
        <p:nvSpPr>
          <p:cNvPr id="10" name="Shape 8"/>
          <p:cNvSpPr/>
          <p:nvPr/>
        </p:nvSpPr>
        <p:spPr>
          <a:xfrm>
            <a:off x="587045" y="1360627"/>
            <a:ext cx="4983480" cy="2487168"/>
          </a:xfrm>
          <a:prstGeom prst="roundRect">
            <a:avLst>
              <a:gd name="adj" fmla="val 2206"/>
            </a:avLst>
          </a:prstGeom>
          <a:solidFill>
            <a:srgbClr val="E4E6EB"/>
          </a:solidFill>
          <a:ln/>
        </p:spPr>
      </p:sp>
      <p:sp>
        <p:nvSpPr>
          <p:cNvPr id="11" name="Shape 9"/>
          <p:cNvSpPr/>
          <p:nvPr/>
        </p:nvSpPr>
        <p:spPr>
          <a:xfrm>
            <a:off x="566928" y="1335024"/>
            <a:ext cx="4983480" cy="2487168"/>
          </a:xfrm>
          <a:prstGeom prst="roundRect">
            <a:avLst>
              <a:gd name="adj" fmla="val 2206"/>
            </a:avLst>
          </a:prstGeom>
          <a:solidFill>
            <a:srgbClr val="F1F2F5"/>
          </a:solidFill>
          <a:ln w="9525">
            <a:solidFill>
              <a:srgbClr val="D9DCE3"/>
            </a:solidFill>
            <a:prstDash val="solid"/>
          </a:ln>
        </p:spPr>
      </p:sp>
      <p:sp>
        <p:nvSpPr>
          <p:cNvPr id="12" name="Shape 10"/>
          <p:cNvSpPr/>
          <p:nvPr/>
        </p:nvSpPr>
        <p:spPr>
          <a:xfrm>
            <a:off x="566928" y="1389888"/>
            <a:ext cx="41148" cy="2377440"/>
          </a:xfrm>
          <a:prstGeom prst="rect">
            <a:avLst/>
          </a:prstGeom>
          <a:solidFill>
            <a:srgbClr val="15707A"/>
          </a:solidFill>
          <a:ln/>
        </p:spPr>
      </p:sp>
      <p:sp>
        <p:nvSpPr>
          <p:cNvPr id="13" name="Text 11"/>
          <p:cNvSpPr txBox="1"/>
          <p:nvPr/>
        </p:nvSpPr>
        <p:spPr>
          <a:xfrm>
            <a:off x="822960" y="1481328"/>
            <a:ext cx="45720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STAKEHOLDERS</a:t>
            </a:r>
            <a:endParaRPr lang="en-US" sz="1800" dirty="0"/>
          </a:p>
        </p:txBody>
      </p:sp>
      <p:sp>
        <p:nvSpPr>
          <p:cNvPr id="14" name="Text 12"/>
          <p:cNvSpPr txBox="1"/>
          <p:nvPr/>
        </p:nvSpPr>
        <p:spPr>
          <a:xfrm>
            <a:off x="822960" y="1828800"/>
            <a:ext cx="4526280" cy="1920240"/>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Primary — an engineering team running multi-agent AI in production</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downstream product teams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auditors needing traceable evidence</a:t>
            </a:r>
            <a:endParaRPr lang="en-US" sz="2000" dirty="0"/>
          </a:p>
        </p:txBody>
      </p:sp>
      <p:sp>
        <p:nvSpPr>
          <p:cNvPr id="15" name="Shape 13"/>
          <p:cNvSpPr/>
          <p:nvPr/>
        </p:nvSpPr>
        <p:spPr>
          <a:xfrm>
            <a:off x="587045" y="3975811"/>
            <a:ext cx="4983480" cy="841248"/>
          </a:xfrm>
          <a:prstGeom prst="roundRect">
            <a:avLst>
              <a:gd name="adj" fmla="val 6522"/>
            </a:avLst>
          </a:prstGeom>
          <a:solidFill>
            <a:srgbClr val="E4E6EB"/>
          </a:solidFill>
          <a:ln/>
        </p:spPr>
      </p:sp>
      <p:sp>
        <p:nvSpPr>
          <p:cNvPr id="16" name="Shape 14"/>
          <p:cNvSpPr/>
          <p:nvPr/>
        </p:nvSpPr>
        <p:spPr>
          <a:xfrm>
            <a:off x="566928" y="3950208"/>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950208"/>
            <a:ext cx="4526280" cy="841248"/>
          </a:xfrm>
          <a:prstGeom prst="rect">
            <a:avLst/>
          </a:prstGeom>
          <a:noFill/>
          <a:ln/>
        </p:spPr>
        <p:txBody>
          <a:bodyPr wrap="square" lIns="0" tIns="0" rIns="0" bIns="0" rtlCol="0" anchor="ctr"/>
          <a:lstStyle/>
          <a:p>
            <a:pPr indent="0" marL="0">
              <a:buNone/>
            </a:pPr>
            <a:r>
              <a:rPr lang="en-US" sz="2000" b="1" dirty="0">
                <a:solidFill>
                  <a:srgbClr val="15707A"/>
                </a:solidFill>
                <a:latin typeface="Calibri" pitchFamily="34" charset="0"/>
                <a:ea typeface="Calibri" pitchFamily="34" charset="-122"/>
                <a:cs typeface="Calibri" pitchFamily="34" charset="-120"/>
              </a:rPr>
              <a:t>SDG 9  </a:t>
            </a:r>
            <a:pPr indent="0" marL="0">
              <a:buNone/>
            </a:pPr>
            <a:r>
              <a:rPr lang="en-US" sz="1700" dirty="0">
                <a:solidFill>
                  <a:srgbClr val="1B202A"/>
                </a:solidFill>
                <a:latin typeface="Calibri" pitchFamily="34" charset="0"/>
                <a:ea typeface="Calibri" pitchFamily="34" charset="-122"/>
                <a:cs typeface="Calibri" pitchFamily="34" charset="-120"/>
              </a:rPr>
              <a:t>Industry, Innovation &amp; Infrastructure — reliability tooling</a:t>
            </a:r>
            <a:endParaRPr lang="en-US" sz="2000" dirty="0"/>
          </a:p>
        </p:txBody>
      </p:sp>
      <p:sp>
        <p:nvSpPr>
          <p:cNvPr id="18" name="Shape 16"/>
          <p:cNvSpPr/>
          <p:nvPr/>
        </p:nvSpPr>
        <p:spPr>
          <a:xfrm>
            <a:off x="587045" y="4963363"/>
            <a:ext cx="4983480" cy="1280160"/>
          </a:xfrm>
          <a:prstGeom prst="roundRect">
            <a:avLst>
              <a:gd name="adj" fmla="val 4286"/>
            </a:avLst>
          </a:prstGeom>
          <a:solidFill>
            <a:srgbClr val="E4E6EB"/>
          </a:solidFill>
          <a:ln/>
        </p:spPr>
      </p:sp>
      <p:sp>
        <p:nvSpPr>
          <p:cNvPr id="19" name="Shape 17"/>
          <p:cNvSpPr/>
          <p:nvPr/>
        </p:nvSpPr>
        <p:spPr>
          <a:xfrm>
            <a:off x="566928" y="4937760"/>
            <a:ext cx="4983480" cy="1280160"/>
          </a:xfrm>
          <a:prstGeom prst="roundRect">
            <a:avLst>
              <a:gd name="adj" fmla="val 4286"/>
            </a:avLst>
          </a:prstGeom>
          <a:solidFill>
            <a:srgbClr val="F6E6E3"/>
          </a:solidFill>
          <a:ln w="9525">
            <a:solidFill>
              <a:srgbClr val="D9DCE3"/>
            </a:solidFill>
            <a:prstDash val="solid"/>
          </a:ln>
        </p:spPr>
      </p:sp>
      <p:sp>
        <p:nvSpPr>
          <p:cNvPr id="20" name="Shape 18"/>
          <p:cNvSpPr/>
          <p:nvPr/>
        </p:nvSpPr>
        <p:spPr>
          <a:xfrm>
            <a:off x="566928" y="4992624"/>
            <a:ext cx="41148" cy="1170432"/>
          </a:xfrm>
          <a:prstGeom prst="rect">
            <a:avLst/>
          </a:prstGeom>
          <a:solidFill>
            <a:srgbClr val="A83A30"/>
          </a:solidFill>
          <a:ln/>
        </p:spPr>
      </p:sp>
      <p:sp>
        <p:nvSpPr>
          <p:cNvPr id="21" name="Text 19"/>
          <p:cNvSpPr txBox="1"/>
          <p:nvPr/>
        </p:nvSpPr>
        <p:spPr>
          <a:xfrm>
            <a:off x="822960" y="5065776"/>
            <a:ext cx="4572000" cy="310896"/>
          </a:xfrm>
          <a:prstGeom prst="rect">
            <a:avLst/>
          </a:prstGeom>
          <a:noFill/>
          <a:ln/>
        </p:spPr>
        <p:txBody>
          <a:bodyPr wrap="square" lIns="0" tIns="0" rIns="0" bIns="0" rtlCol="0" anchor="ctr"/>
          <a:lstStyle/>
          <a:p>
            <a:pPr indent="0" marL="0">
              <a:buNone/>
            </a:pPr>
            <a:r>
              <a:rPr lang="en-US" sz="1800" b="1" spc="60" kern="0" dirty="0">
                <a:solidFill>
                  <a:srgbClr val="A83A30"/>
                </a:solidFill>
                <a:latin typeface="Consolas" pitchFamily="34" charset="0"/>
                <a:ea typeface="Consolas" pitchFamily="34" charset="-122"/>
                <a:cs typeface="Consolas" pitchFamily="34" charset="-120"/>
              </a:rPr>
              <a:t>CONSEQUENCE OF FAILURE</a:t>
            </a:r>
            <a:endParaRPr lang="en-US" sz="1800" dirty="0"/>
          </a:p>
        </p:txBody>
      </p:sp>
      <p:sp>
        <p:nvSpPr>
          <p:cNvPr id="22" name="Text 20"/>
          <p:cNvSpPr txBox="1"/>
          <p:nvPr/>
        </p:nvSpPr>
        <p:spPr>
          <a:xfrm>
            <a:off x="822960" y="5431536"/>
            <a:ext cx="4526280" cy="694944"/>
          </a:xfrm>
          <a:prstGeom prst="rect">
            <a:avLst/>
          </a:prstGeom>
          <a:noFill/>
          <a:ln/>
        </p:spPr>
        <p:txBody>
          <a:bodyPr wrap="square" lIns="0" tIns="0" rIns="0" bIns="0" rtlCol="0" anchor="ctr"/>
          <a:lstStyle/>
          <a:p>
            <a:pPr indent="0" marL="0">
              <a:buNone/>
            </a:pPr>
            <a:r>
              <a:rPr lang="en-US" sz="2000" i="1" dirty="0">
                <a:solidFill>
                  <a:srgbClr val="1B202A"/>
                </a:solidFill>
                <a:latin typeface="Calibri" pitchFamily="34" charset="0"/>
                <a:ea typeface="Calibri" pitchFamily="34" charset="-122"/>
                <a:cs typeface="Calibri" pitchFamily="34" charset="-120"/>
              </a:rPr>
              <a:t>Ships a confident, wrong answer — no crash, no error, no signal.</a:t>
            </a:r>
            <a:endParaRPr lang="en-US" sz="2000" dirty="0"/>
          </a:p>
        </p:txBody>
      </p:sp>
      <p:sp>
        <p:nvSpPr>
          <p:cNvPr id="23" name="Text 21"/>
          <p:cNvSpPr txBox="1"/>
          <p:nvPr/>
        </p:nvSpPr>
        <p:spPr>
          <a:xfrm>
            <a:off x="5870448" y="1389888"/>
            <a:ext cx="5754319"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CURRENT WORKFLOW — WITHOUT GRANITE</a:t>
            </a:r>
            <a:endParaRPr lang="en-US" sz="1800" dirty="0"/>
          </a:p>
        </p:txBody>
      </p:sp>
      <p:sp>
        <p:nvSpPr>
          <p:cNvPr id="24" name="Shape 22"/>
          <p:cNvSpPr/>
          <p:nvPr/>
        </p:nvSpPr>
        <p:spPr>
          <a:xfrm>
            <a:off x="5870448" y="1792224"/>
            <a:ext cx="457200" cy="457200"/>
          </a:xfrm>
          <a:prstGeom prst="ellipse">
            <a:avLst/>
          </a:prstGeom>
          <a:solidFill>
            <a:srgbClr val="E4E9F2"/>
          </a:solidFill>
          <a:ln/>
        </p:spPr>
      </p:sp>
      <p:sp>
        <p:nvSpPr>
          <p:cNvPr id="25" name="Text 23"/>
          <p:cNvSpPr txBox="1"/>
          <p:nvPr/>
        </p:nvSpPr>
        <p:spPr>
          <a:xfrm>
            <a:off x="5870448" y="1792224"/>
            <a:ext cx="457200" cy="457200"/>
          </a:xfrm>
          <a:prstGeom prst="rect">
            <a:avLst/>
          </a:prstGeom>
          <a:noFill/>
          <a:ln/>
        </p:spPr>
        <p:txBody>
          <a:bodyPr wrap="square" lIns="0" tIns="0" rIns="0" bIns="0" rtlCol="0" anchor="ctr"/>
          <a:lstStyle/>
          <a:p>
            <a:pPr algn="ctr" indent="0" marL="0">
              <a:buNone/>
            </a:pPr>
            <a:r>
              <a:rPr lang="en-US" sz="1650" b="1" dirty="0">
                <a:solidFill>
                  <a:srgbClr val="31558F"/>
                </a:solidFill>
                <a:latin typeface="Georgia" pitchFamily="34" charset="0"/>
                <a:ea typeface="Georgia" pitchFamily="34" charset="-122"/>
                <a:cs typeface="Georgia" pitchFamily="34" charset="-120"/>
              </a:rPr>
              <a:t>1</a:t>
            </a:r>
            <a:endParaRPr lang="en-US" sz="1650" dirty="0"/>
          </a:p>
        </p:txBody>
      </p:sp>
      <p:sp>
        <p:nvSpPr>
          <p:cNvPr id="26" name="Text 24"/>
          <p:cNvSpPr txBox="1"/>
          <p:nvPr/>
        </p:nvSpPr>
        <p:spPr>
          <a:xfrm>
            <a:off x="6473952" y="1719072"/>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Trace captured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LangSmith / Langfuse / Braintrust / Arize</a:t>
            </a:r>
            <a:endParaRPr lang="en-US" sz="2000" dirty="0"/>
          </a:p>
        </p:txBody>
      </p:sp>
      <p:sp>
        <p:nvSpPr>
          <p:cNvPr id="27" name="Shape 25"/>
          <p:cNvSpPr/>
          <p:nvPr/>
        </p:nvSpPr>
        <p:spPr>
          <a:xfrm>
            <a:off x="6099048" y="2249424"/>
            <a:ext cx="0" cy="329184"/>
          </a:xfrm>
          <a:prstGeom prst="line">
            <a:avLst/>
          </a:prstGeom>
          <a:noFill/>
          <a:ln w="19050">
            <a:solidFill>
              <a:srgbClr val="D9DCE3"/>
            </a:solidFill>
            <a:prstDash val="dash"/>
          </a:ln>
        </p:spPr>
      </p:sp>
      <p:sp>
        <p:nvSpPr>
          <p:cNvPr id="28" name="Shape 26"/>
          <p:cNvSpPr/>
          <p:nvPr/>
        </p:nvSpPr>
        <p:spPr>
          <a:xfrm>
            <a:off x="5870448" y="2834640"/>
            <a:ext cx="457200" cy="457200"/>
          </a:xfrm>
          <a:prstGeom prst="ellipse">
            <a:avLst/>
          </a:prstGeom>
          <a:solidFill>
            <a:srgbClr val="F6EADD"/>
          </a:solidFill>
          <a:ln/>
        </p:spPr>
      </p:sp>
      <p:sp>
        <p:nvSpPr>
          <p:cNvPr id="29" name="Text 27"/>
          <p:cNvSpPr txBox="1"/>
          <p:nvPr/>
        </p:nvSpPr>
        <p:spPr>
          <a:xfrm>
            <a:off x="5870448" y="2834640"/>
            <a:ext cx="457200" cy="457200"/>
          </a:xfrm>
          <a:prstGeom prst="rect">
            <a:avLst/>
          </a:prstGeom>
          <a:noFill/>
          <a:ln/>
        </p:spPr>
        <p:txBody>
          <a:bodyPr wrap="square" lIns="0" tIns="0" rIns="0" bIns="0" rtlCol="0" anchor="ctr"/>
          <a:lstStyle/>
          <a:p>
            <a:pPr algn="ctr" indent="0" marL="0">
              <a:buNone/>
            </a:pPr>
            <a:r>
              <a:rPr lang="en-US" sz="1650" b="1" dirty="0">
                <a:solidFill>
                  <a:srgbClr val="B05C1C"/>
                </a:solidFill>
                <a:latin typeface="Georgia" pitchFamily="34" charset="0"/>
                <a:ea typeface="Georgia" pitchFamily="34" charset="-122"/>
                <a:cs typeface="Georgia" pitchFamily="34" charset="-120"/>
              </a:rPr>
              <a:t>2</a:t>
            </a:r>
            <a:endParaRPr lang="en-US" sz="1650" dirty="0"/>
          </a:p>
        </p:txBody>
      </p:sp>
      <p:sp>
        <p:nvSpPr>
          <p:cNvPr id="30" name="Text 28"/>
          <p:cNvSpPr txBox="1"/>
          <p:nvPr/>
        </p:nvSpPr>
        <p:spPr>
          <a:xfrm>
            <a:off x="6473952" y="2761488"/>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Human guesses the root cause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no published accuracy</a:t>
            </a:r>
            <a:endParaRPr lang="en-US" sz="2000" dirty="0"/>
          </a:p>
        </p:txBody>
      </p:sp>
      <p:sp>
        <p:nvSpPr>
          <p:cNvPr id="31" name="Shape 29"/>
          <p:cNvSpPr/>
          <p:nvPr/>
        </p:nvSpPr>
        <p:spPr>
          <a:xfrm>
            <a:off x="6099048" y="3291840"/>
            <a:ext cx="0" cy="329184"/>
          </a:xfrm>
          <a:prstGeom prst="line">
            <a:avLst/>
          </a:prstGeom>
          <a:noFill/>
          <a:ln w="19050">
            <a:solidFill>
              <a:srgbClr val="D9DCE3"/>
            </a:solidFill>
            <a:prstDash val="dash"/>
          </a:ln>
        </p:spPr>
      </p:sp>
      <p:sp>
        <p:nvSpPr>
          <p:cNvPr id="32" name="Shape 30"/>
          <p:cNvSpPr/>
          <p:nvPr/>
        </p:nvSpPr>
        <p:spPr>
          <a:xfrm>
            <a:off x="5870448" y="3877056"/>
            <a:ext cx="457200" cy="457200"/>
          </a:xfrm>
          <a:prstGeom prst="ellipse">
            <a:avLst/>
          </a:prstGeom>
          <a:solidFill>
            <a:srgbClr val="F6E6E3"/>
          </a:solidFill>
          <a:ln/>
        </p:spPr>
      </p:sp>
      <p:sp>
        <p:nvSpPr>
          <p:cNvPr id="33" name="Text 31"/>
          <p:cNvSpPr txBox="1"/>
          <p:nvPr/>
        </p:nvSpPr>
        <p:spPr>
          <a:xfrm>
            <a:off x="5870448" y="3877056"/>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3</a:t>
            </a:r>
            <a:endParaRPr lang="en-US" sz="1650" dirty="0"/>
          </a:p>
        </p:txBody>
      </p:sp>
      <p:sp>
        <p:nvSpPr>
          <p:cNvPr id="34" name="Text 32"/>
          <p:cNvSpPr txBox="1"/>
          <p:nvPr/>
        </p:nvSpPr>
        <p:spPr>
          <a:xfrm>
            <a:off x="6473952" y="3803904"/>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silent-failure check</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a confident, wrong answer passes unnoticed</a:t>
            </a:r>
            <a:endParaRPr lang="en-US" sz="2000" dirty="0"/>
          </a:p>
        </p:txBody>
      </p:sp>
      <p:sp>
        <p:nvSpPr>
          <p:cNvPr id="35" name="Shape 33"/>
          <p:cNvSpPr/>
          <p:nvPr/>
        </p:nvSpPr>
        <p:spPr>
          <a:xfrm>
            <a:off x="6099048" y="4334256"/>
            <a:ext cx="0" cy="329184"/>
          </a:xfrm>
          <a:prstGeom prst="line">
            <a:avLst/>
          </a:prstGeom>
          <a:noFill/>
          <a:ln w="19050">
            <a:solidFill>
              <a:srgbClr val="D9DCE3"/>
            </a:solidFill>
            <a:prstDash val="dash"/>
          </a:ln>
        </p:spPr>
      </p:sp>
      <p:sp>
        <p:nvSpPr>
          <p:cNvPr id="36" name="Shape 34"/>
          <p:cNvSpPr/>
          <p:nvPr/>
        </p:nvSpPr>
        <p:spPr>
          <a:xfrm>
            <a:off x="5870448" y="4919472"/>
            <a:ext cx="457200" cy="457200"/>
          </a:xfrm>
          <a:prstGeom prst="ellipse">
            <a:avLst/>
          </a:prstGeom>
          <a:solidFill>
            <a:srgbClr val="F6E6E3"/>
          </a:solidFill>
          <a:ln/>
        </p:spPr>
      </p:sp>
      <p:sp>
        <p:nvSpPr>
          <p:cNvPr id="37" name="Text 35"/>
          <p:cNvSpPr txBox="1"/>
          <p:nvPr/>
        </p:nvSpPr>
        <p:spPr>
          <a:xfrm>
            <a:off x="5870448" y="4919472"/>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4</a:t>
            </a:r>
            <a:endParaRPr lang="en-US" sz="1650" dirty="0"/>
          </a:p>
        </p:txBody>
      </p:sp>
      <p:sp>
        <p:nvSpPr>
          <p:cNvPr id="38" name="Text 36"/>
          <p:cNvSpPr txBox="1"/>
          <p:nvPr/>
        </p:nvSpPr>
        <p:spPr>
          <a:xfrm>
            <a:off x="6473952" y="4846320"/>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way to test a fix first</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field baseline: 14.2% step accuracy (Who&amp;When)</a:t>
            </a:r>
            <a:endParaRPr lang="en-US" sz="2000" dirty="0"/>
          </a:p>
        </p:txBody>
      </p:sp>
      <p:sp>
        <p:nvSpPr>
          <p:cNvPr id="39" name="Shape 37"/>
          <p:cNvSpPr/>
          <p:nvPr/>
        </p:nvSpPr>
        <p:spPr>
          <a:xfrm>
            <a:off x="5890565" y="5768035"/>
            <a:ext cx="5754319" cy="548640"/>
          </a:xfrm>
          <a:prstGeom prst="roundRect">
            <a:avLst>
              <a:gd name="adj" fmla="val 10000"/>
            </a:avLst>
          </a:prstGeom>
          <a:solidFill>
            <a:srgbClr val="E4E6EB"/>
          </a:solidFill>
          <a:ln/>
        </p:spPr>
      </p:sp>
      <p:sp>
        <p:nvSpPr>
          <p:cNvPr id="40" name="Shape 38"/>
          <p:cNvSpPr/>
          <p:nvPr/>
        </p:nvSpPr>
        <p:spPr>
          <a:xfrm>
            <a:off x="5870448" y="5742432"/>
            <a:ext cx="5754319" cy="548640"/>
          </a:xfrm>
          <a:prstGeom prst="roundRect">
            <a:avLst>
              <a:gd name="adj" fmla="val 10000"/>
            </a:avLst>
          </a:prstGeom>
          <a:solidFill>
            <a:srgbClr val="F7EFDC"/>
          </a:solidFill>
          <a:ln w="9525">
            <a:solidFill>
              <a:srgbClr val="D9DCE3"/>
            </a:solidFill>
            <a:prstDash val="solid"/>
          </a:ln>
        </p:spPr>
      </p:sp>
      <p:sp>
        <p:nvSpPr>
          <p:cNvPr id="41" name="Text 39"/>
          <p:cNvSpPr txBox="1"/>
          <p:nvPr/>
        </p:nvSpPr>
        <p:spPr>
          <a:xfrm>
            <a:off x="6053328" y="5742432"/>
            <a:ext cx="5388559" cy="548640"/>
          </a:xfrm>
          <a:prstGeom prst="rect">
            <a:avLst/>
          </a:prstGeom>
          <a:noFill/>
          <a:ln/>
        </p:spPr>
        <p:txBody>
          <a:bodyPr wrap="square" lIns="0" tIns="0" rIns="0" bIns="0" rtlCol="0" anchor="ctr"/>
          <a:lstStyle/>
          <a:p>
            <a:pPr indent="0" marL="0">
              <a:buNone/>
            </a:pPr>
            <a:r>
              <a:rPr lang="en-US" sz="17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700" dirty="0">
                <a:solidFill>
                  <a:srgbClr val="1B202A"/>
                </a:solidFill>
                <a:latin typeface="Calibri" pitchFamily="34" charset="0"/>
                <a:ea typeface="Calibri" pitchFamily="34" charset="-122"/>
                <a:cs typeface="Calibri" pitchFamily="34" charset="-120"/>
              </a:rPr>
              <a:t>literature + 7 commercial vendors</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Existing Solutions &amp; Prior FYP Comparison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3 / 12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35024"/>
          <a:ext cx="11057839" cy="3639312"/>
        </p:xfrm>
        <a:graphic>
          <a:graphicData uri="http://schemas.openxmlformats.org/drawingml/2006/table">
            <a:tbl>
              <a:tblPr/>
              <a:tblGrid>
                <a:gridCol w="2103120"/>
                <a:gridCol w="2240280"/>
                <a:gridCol w="2011680"/>
                <a:gridCol w="2331720"/>
                <a:gridCol w="2352751"/>
              </a:tblGrid>
              <a:tr h="519902">
                <a:tc>
                  <a:txBody>
                    <a:bodyPr/>
                    <a:lstStyle/>
                    <a:p>
                      <a:pPr algn="ctr" indent="0" marL="0">
                        <a:buNone/>
                      </a:pP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Step-level attribution</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(published accuracy)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Silent-failure</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detection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Counterfactual fix-</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testing, 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Framework-</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agnostic</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(ACL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59.5%</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admits</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it cannot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2 archs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LangSmith Engine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Arize Alyx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not published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stack-locked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Langfuse / Braintrust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Phoenix / Maxim / Opik</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human-driven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RAG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Closest prior FYP</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S24-011-D-HDLM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none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partial — text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 replay step</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 — single LLM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Current manual</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workflow</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14.2%</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(Who&amp;When)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Granite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(proposed)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building on</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scoped &amp;</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recovery rate</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CrewAI +</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LangGraph</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073091"/>
            <a:ext cx="5532120" cy="1298448"/>
          </a:xfrm>
          <a:prstGeom prst="roundRect">
            <a:avLst>
              <a:gd name="adj" fmla="val 4225"/>
            </a:avLst>
          </a:prstGeom>
          <a:solidFill>
            <a:srgbClr val="E4E6EB"/>
          </a:solidFill>
          <a:ln/>
        </p:spPr>
      </p:sp>
      <p:sp>
        <p:nvSpPr>
          <p:cNvPr id="12" name="Shape 9"/>
          <p:cNvSpPr/>
          <p:nvPr/>
        </p:nvSpPr>
        <p:spPr>
          <a:xfrm>
            <a:off x="566928" y="5047488"/>
            <a:ext cx="5532120" cy="1298448"/>
          </a:xfrm>
          <a:prstGeom prst="roundRect">
            <a:avLst>
              <a:gd name="adj" fmla="val 4225"/>
            </a:avLst>
          </a:prstGeom>
          <a:solidFill>
            <a:srgbClr val="E6F1EB"/>
          </a:solidFill>
          <a:ln w="9525">
            <a:solidFill>
              <a:srgbClr val="D9DCE3"/>
            </a:solidFill>
            <a:prstDash val="solid"/>
          </a:ln>
        </p:spPr>
      </p:sp>
      <p:sp>
        <p:nvSpPr>
          <p:cNvPr id="13" name="Shape 10"/>
          <p:cNvSpPr/>
          <p:nvPr/>
        </p:nvSpPr>
        <p:spPr>
          <a:xfrm>
            <a:off x="566928" y="5102352"/>
            <a:ext cx="41148" cy="1188720"/>
          </a:xfrm>
          <a:prstGeom prst="rect">
            <a:avLst/>
          </a:prstGeom>
          <a:solidFill>
            <a:srgbClr val="1E7A52"/>
          </a:solidFill>
          <a:ln/>
        </p:spPr>
      </p:sp>
      <p:sp>
        <p:nvSpPr>
          <p:cNvPr id="14" name="Text 11"/>
          <p:cNvSpPr txBox="1"/>
          <p:nvPr/>
        </p:nvSpPr>
        <p:spPr>
          <a:xfrm>
            <a:off x="768096" y="5138928"/>
            <a:ext cx="5120640" cy="310896"/>
          </a:xfrm>
          <a:prstGeom prst="rect">
            <a:avLst/>
          </a:prstGeom>
          <a:noFill/>
          <a:ln/>
        </p:spPr>
        <p:txBody>
          <a:bodyPr wrap="square" lIns="0" tIns="0" rIns="0" bIns="0" rtlCol="0" anchor="ctr"/>
          <a:lstStyle/>
          <a:p>
            <a:pPr indent="0" marL="0">
              <a:buNone/>
            </a:pPr>
            <a:r>
              <a:rPr lang="en-US" sz="1800" b="1" spc="60" kern="0" dirty="0">
                <a:solidFill>
                  <a:srgbClr val="1E7A52"/>
                </a:solidFill>
                <a:latin typeface="Consolas" pitchFamily="34" charset="0"/>
                <a:ea typeface="Consolas" pitchFamily="34" charset="-122"/>
                <a:cs typeface="Consolas" pitchFamily="34" charset="-120"/>
              </a:rPr>
              <a:t>PRIOR-FYP CHECK — CLOSED</a:t>
            </a:r>
            <a:endParaRPr lang="en-US" sz="1800" dirty="0"/>
          </a:p>
        </p:txBody>
      </p:sp>
      <p:sp>
        <p:nvSpPr>
          <p:cNvPr id="15" name="Text 12"/>
          <p:cNvSpPr txBox="1"/>
          <p:nvPr/>
        </p:nvSpPr>
        <p:spPr>
          <a:xfrm>
            <a:off x="768096" y="5486400"/>
            <a:ext cx="5166360"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660 titles, 12 cohorts since 2019. Closest: </a:t>
            </a:r>
            <a:pPr indent="0" marL="0">
              <a:buNone/>
            </a:pPr>
            <a:r>
              <a:rPr lang="en-US" sz="1700" b="1" dirty="0">
                <a:solidFill>
                  <a:srgbClr val="1E7A52"/>
                </a:solidFill>
                <a:latin typeface="Calibri" pitchFamily="34" charset="0"/>
                <a:ea typeface="Calibri" pitchFamily="34" charset="-122"/>
                <a:cs typeface="Calibri" pitchFamily="34" charset="-120"/>
              </a:rPr>
              <a:t>S24-011-D-HDLM</a:t>
            </a:r>
            <a:pPr indent="0" marL="0">
              <a:buNone/>
            </a:pPr>
            <a:r>
              <a:rPr lang="en-US" sz="1700" dirty="0">
                <a:solidFill>
                  <a:srgbClr val="1B202A"/>
                </a:solidFill>
                <a:latin typeface="Calibri" pitchFamily="34" charset="0"/>
                <a:ea typeface="Calibri" pitchFamily="34" charset="-122"/>
                <a:cs typeface="Calibri" pitchFamily="34" charset="-120"/>
              </a:rPr>
              <a:t> — hallucination detection in single-LLM text, ~1 of our 4 stages.</a:t>
            </a:r>
            <a:endParaRPr lang="en-US" sz="1700" dirty="0"/>
          </a:p>
        </p:txBody>
      </p:sp>
      <p:sp>
        <p:nvSpPr>
          <p:cNvPr id="16" name="Shape 13"/>
          <p:cNvSpPr/>
          <p:nvPr/>
        </p:nvSpPr>
        <p:spPr>
          <a:xfrm>
            <a:off x="6302045" y="5073091"/>
            <a:ext cx="5342839" cy="1298448"/>
          </a:xfrm>
          <a:prstGeom prst="roundRect">
            <a:avLst>
              <a:gd name="adj" fmla="val 4225"/>
            </a:avLst>
          </a:prstGeom>
          <a:solidFill>
            <a:srgbClr val="E4E6EB"/>
          </a:solidFill>
          <a:ln/>
        </p:spPr>
      </p:sp>
      <p:sp>
        <p:nvSpPr>
          <p:cNvPr id="17" name="Shape 14"/>
          <p:cNvSpPr/>
          <p:nvPr/>
        </p:nvSpPr>
        <p:spPr>
          <a:xfrm>
            <a:off x="6281928" y="5047488"/>
            <a:ext cx="5342839" cy="1298448"/>
          </a:xfrm>
          <a:prstGeom prst="roundRect">
            <a:avLst>
              <a:gd name="adj" fmla="val 4225"/>
            </a:avLst>
          </a:prstGeom>
          <a:solidFill>
            <a:srgbClr val="F7EFDC"/>
          </a:solidFill>
          <a:ln w="9525">
            <a:solidFill>
              <a:srgbClr val="D9DCE3"/>
            </a:solidFill>
            <a:prstDash val="solid"/>
          </a:ln>
        </p:spPr>
      </p:sp>
      <p:sp>
        <p:nvSpPr>
          <p:cNvPr id="18" name="Shape 15"/>
          <p:cNvSpPr/>
          <p:nvPr/>
        </p:nvSpPr>
        <p:spPr>
          <a:xfrm>
            <a:off x="6281928" y="5102352"/>
            <a:ext cx="41148" cy="1188720"/>
          </a:xfrm>
          <a:prstGeom prst="rect">
            <a:avLst/>
          </a:prstGeom>
          <a:solidFill>
            <a:srgbClr val="A8760F"/>
          </a:solidFill>
          <a:ln/>
        </p:spPr>
      </p:sp>
      <p:sp>
        <p:nvSpPr>
          <p:cNvPr id="19" name="Text 16"/>
          <p:cNvSpPr txBox="1"/>
          <p:nvPr/>
        </p:nvSpPr>
        <p:spPr>
          <a:xfrm>
            <a:off x="6483096" y="5138928"/>
            <a:ext cx="4937760" cy="310896"/>
          </a:xfrm>
          <a:prstGeom prst="rect">
            <a:avLst/>
          </a:prstGeom>
          <a:noFill/>
          <a:ln/>
        </p:spPr>
        <p:txBody>
          <a:bodyPr wrap="square" lIns="0" tIns="0" rIns="0" bIns="0" rtlCol="0" anchor="ctr"/>
          <a:lstStyle/>
          <a:p>
            <a:pPr indent="0" marL="0">
              <a:buNone/>
            </a:pPr>
            <a:r>
              <a:rPr lang="en-US" sz="1800" b="1" spc="60" kern="0" dirty="0">
                <a:solidFill>
                  <a:srgbClr val="A8760F"/>
                </a:solidFill>
                <a:latin typeface="Consolas" pitchFamily="34" charset="0"/>
                <a:ea typeface="Consolas" pitchFamily="34" charset="-122"/>
                <a:cs typeface="Consolas" pitchFamily="34" charset="-120"/>
              </a:rPr>
              <a:t>THE REAL GAP</a:t>
            </a:r>
            <a:endParaRPr lang="en-US" sz="1800" dirty="0"/>
          </a:p>
        </p:txBody>
      </p:sp>
      <p:sp>
        <p:nvSpPr>
          <p:cNvPr id="20" name="Text 17"/>
          <p:cNvSpPr txBox="1"/>
          <p:nvPr/>
        </p:nvSpPr>
        <p:spPr>
          <a:xfrm>
            <a:off x="6483096" y="5486400"/>
            <a:ext cx="4931359"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7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Research &amp; Technical Basis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4 / 12</a:t>
            </a:r>
            <a:endParaRPr lang="en-US" sz="1300" dirty="0"/>
          </a:p>
        </p:txBody>
      </p:sp>
      <p:sp>
        <p:nvSpPr>
          <p:cNvPr id="10" name="Text 8"/>
          <p:cNvSpPr txBox="1"/>
          <p:nvPr/>
        </p:nvSpPr>
        <p:spPr>
          <a:xfrm>
            <a:off x="566928" y="1389888"/>
            <a:ext cx="59436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DECISIONS THE LITERATURE ACTUALLY CHANGED</a:t>
            </a:r>
            <a:endParaRPr lang="en-US" sz="1800" dirty="0"/>
          </a:p>
        </p:txBody>
      </p:sp>
      <p:sp>
        <p:nvSpPr>
          <p:cNvPr id="11" name="Shape 9"/>
          <p:cNvSpPr/>
          <p:nvPr/>
        </p:nvSpPr>
        <p:spPr>
          <a:xfrm>
            <a:off x="566928" y="1737360"/>
            <a:ext cx="365760" cy="365760"/>
          </a:xfrm>
          <a:prstGeom prst="ellipse">
            <a:avLst/>
          </a:prstGeom>
          <a:solidFill>
            <a:srgbClr val="E3BC6E"/>
          </a:solidFill>
          <a:ln/>
        </p:spPr>
      </p:sp>
      <p:sp>
        <p:nvSpPr>
          <p:cNvPr id="12" name="Text 10"/>
          <p:cNvSpPr txBox="1"/>
          <p:nvPr/>
        </p:nvSpPr>
        <p:spPr>
          <a:xfrm>
            <a:off x="566928" y="1737360"/>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3" name="Text 11"/>
          <p:cNvSpPr txBox="1"/>
          <p:nvPr/>
        </p:nvSpPr>
        <p:spPr>
          <a:xfrm>
            <a:off x="1078992" y="1655064"/>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ErrorProbe chosen as baseline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On performance (59.5%), not recency</a:t>
            </a:r>
            <a:endParaRPr lang="en-US" sz="2000" dirty="0"/>
          </a:p>
        </p:txBody>
      </p:sp>
      <p:sp>
        <p:nvSpPr>
          <p:cNvPr id="14" name="Shape 12"/>
          <p:cNvSpPr/>
          <p:nvPr/>
        </p:nvSpPr>
        <p:spPr>
          <a:xfrm>
            <a:off x="566928" y="2798064"/>
            <a:ext cx="365760" cy="365760"/>
          </a:xfrm>
          <a:prstGeom prst="ellipse">
            <a:avLst/>
          </a:prstGeom>
          <a:solidFill>
            <a:srgbClr val="E3BC6E"/>
          </a:solidFill>
          <a:ln/>
        </p:spPr>
      </p:sp>
      <p:sp>
        <p:nvSpPr>
          <p:cNvPr id="15" name="Text 13"/>
          <p:cNvSpPr txBox="1"/>
          <p:nvPr/>
        </p:nvSpPr>
        <p:spPr>
          <a:xfrm>
            <a:off x="566928" y="2798064"/>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6" name="Text 14"/>
          <p:cNvSpPr txBox="1"/>
          <p:nvPr/>
        </p:nvSpPr>
        <p:spPr>
          <a:xfrm>
            <a:off x="1078992" y="2715768"/>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CrewAI + LangGraph committed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Unused by all 7 papers reviewed</a:t>
            </a:r>
            <a:endParaRPr lang="en-US" sz="2000" dirty="0"/>
          </a:p>
        </p:txBody>
      </p:sp>
      <p:sp>
        <p:nvSpPr>
          <p:cNvPr id="17" name="Shape 15"/>
          <p:cNvSpPr/>
          <p:nvPr/>
        </p:nvSpPr>
        <p:spPr>
          <a:xfrm>
            <a:off x="566928" y="3858768"/>
            <a:ext cx="365760" cy="365760"/>
          </a:xfrm>
          <a:prstGeom prst="ellipse">
            <a:avLst/>
          </a:prstGeom>
          <a:solidFill>
            <a:srgbClr val="E3BC6E"/>
          </a:solidFill>
          <a:ln/>
        </p:spPr>
      </p:sp>
      <p:sp>
        <p:nvSpPr>
          <p:cNvPr id="18" name="Text 16"/>
          <p:cNvSpPr txBox="1"/>
          <p:nvPr/>
        </p:nvSpPr>
        <p:spPr>
          <a:xfrm>
            <a:off x="566928" y="3858768"/>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9" name="Text 17"/>
          <p:cNvSpPr txBox="1"/>
          <p:nvPr/>
        </p:nvSpPr>
        <p:spPr>
          <a:xfrm>
            <a:off x="1078992" y="3776472"/>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Constraint-based SED, not LLM-judge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LLM-judge AUROC ≤ 0.65 — barely above chance</a:t>
            </a:r>
            <a:endParaRPr lang="en-US" sz="2000" dirty="0"/>
          </a:p>
        </p:txBody>
      </p:sp>
      <p:sp>
        <p:nvSpPr>
          <p:cNvPr id="20" name="Shape 18"/>
          <p:cNvSpPr/>
          <p:nvPr/>
        </p:nvSpPr>
        <p:spPr>
          <a:xfrm>
            <a:off x="566928" y="4919472"/>
            <a:ext cx="365760" cy="365760"/>
          </a:xfrm>
          <a:prstGeom prst="ellipse">
            <a:avLst/>
          </a:prstGeom>
          <a:solidFill>
            <a:srgbClr val="E3BC6E"/>
          </a:solidFill>
          <a:ln/>
        </p:spPr>
      </p:sp>
      <p:sp>
        <p:nvSpPr>
          <p:cNvPr id="21" name="Text 19"/>
          <p:cNvSpPr txBox="1"/>
          <p:nvPr/>
        </p:nvSpPr>
        <p:spPr>
          <a:xfrm>
            <a:off x="566928" y="4919472"/>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22" name="Text 20"/>
          <p:cNvSpPr txBox="1"/>
          <p:nvPr/>
        </p:nvSpPr>
        <p:spPr>
          <a:xfrm>
            <a:off x="1078992" y="4837176"/>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Single-framework narrowing rejected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Market survey's own advice, declined (R19)</a:t>
            </a:r>
            <a:endParaRPr lang="en-US" sz="2000" dirty="0"/>
          </a:p>
        </p:txBody>
      </p:sp>
      <p:sp>
        <p:nvSpPr>
          <p:cNvPr id="23" name="Text 21"/>
          <p:cNvSpPr txBox="1"/>
          <p:nvPr/>
        </p:nvSpPr>
        <p:spPr>
          <a:xfrm>
            <a:off x="6784848" y="1389888"/>
            <a:ext cx="483991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PUBLISHED STEP-ACCURACY LINEAGE</a:t>
            </a:r>
            <a:endParaRPr lang="en-US" sz="1800" dirty="0"/>
          </a:p>
        </p:txBody>
      </p:sp>
      <p:graphicFrame>
        <p:nvGraphicFramePr>
          <p:cNvPr id="24" name="Chart 0" descr=""/>
          <p:cNvGraphicFramePr/>
          <p:nvPr/>
        </p:nvGraphicFramePr>
        <p:xfrm>
          <a:off x="6784848" y="1700784"/>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712464"/>
            <a:ext cx="4839919" cy="420624"/>
          </a:xfrm>
          <a:prstGeom prst="rect">
            <a:avLst/>
          </a:prstGeom>
          <a:noFill/>
          <a:ln/>
        </p:spPr>
        <p:txBody>
          <a:bodyPr wrap="square" lIns="0" tIns="0" rIns="0" bIns="0" rtlCol="0" anchor="ctr"/>
          <a:lstStyle/>
          <a:p>
            <a:pPr indent="0" marL="0">
              <a:buNone/>
            </a:pPr>
            <a:r>
              <a:rPr lang="en-US" sz="1500" i="1" dirty="0">
                <a:solidFill>
                  <a:srgbClr val="596273"/>
                </a:solidFill>
                <a:latin typeface="Calibri" pitchFamily="34" charset="0"/>
                <a:ea typeface="Calibri" pitchFamily="34" charset="-122"/>
                <a:cs typeface="Calibri" pitchFamily="34" charset="-120"/>
              </a:rPr>
              <a:t>Step accuracy on Who&amp;When, % · AgenTracer is a published 37–43% range — midpoint plotted.</a:t>
            </a:r>
            <a:endParaRPr lang="en-US" sz="1500" dirty="0"/>
          </a:p>
        </p:txBody>
      </p:sp>
      <p:sp>
        <p:nvSpPr>
          <p:cNvPr id="26" name="Shape 23"/>
          <p:cNvSpPr/>
          <p:nvPr/>
        </p:nvSpPr>
        <p:spPr>
          <a:xfrm>
            <a:off x="6804965" y="4195267"/>
            <a:ext cx="4839919" cy="1005840"/>
          </a:xfrm>
          <a:prstGeom prst="roundRect">
            <a:avLst>
              <a:gd name="adj" fmla="val 5455"/>
            </a:avLst>
          </a:prstGeom>
          <a:solidFill>
            <a:srgbClr val="E4E6EB"/>
          </a:solidFill>
          <a:ln/>
        </p:spPr>
      </p:sp>
      <p:sp>
        <p:nvSpPr>
          <p:cNvPr id="27" name="Shape 24"/>
          <p:cNvSpPr/>
          <p:nvPr/>
        </p:nvSpPr>
        <p:spPr>
          <a:xfrm>
            <a:off x="6784848" y="4169664"/>
            <a:ext cx="4839919" cy="1005840"/>
          </a:xfrm>
          <a:prstGeom prst="roundRect">
            <a:avLst>
              <a:gd name="adj" fmla="val 5455"/>
            </a:avLst>
          </a:prstGeom>
          <a:solidFill>
            <a:srgbClr val="F6E6E3"/>
          </a:solidFill>
          <a:ln w="9525">
            <a:solidFill>
              <a:srgbClr val="D9DCE3"/>
            </a:solidFill>
            <a:prstDash val="solid"/>
          </a:ln>
        </p:spPr>
      </p:sp>
      <p:sp>
        <p:nvSpPr>
          <p:cNvPr id="28" name="Shape 25"/>
          <p:cNvSpPr/>
          <p:nvPr/>
        </p:nvSpPr>
        <p:spPr>
          <a:xfrm>
            <a:off x="6784848" y="4224528"/>
            <a:ext cx="41148" cy="896112"/>
          </a:xfrm>
          <a:prstGeom prst="rect">
            <a:avLst/>
          </a:prstGeom>
          <a:solidFill>
            <a:srgbClr val="A83A30"/>
          </a:solidFill>
          <a:ln/>
        </p:spPr>
      </p:sp>
      <p:sp>
        <p:nvSpPr>
          <p:cNvPr id="29" name="Text 26"/>
          <p:cNvSpPr txBox="1"/>
          <p:nvPr/>
        </p:nvSpPr>
        <p:spPr>
          <a:xfrm>
            <a:off x="6986016" y="4169664"/>
            <a:ext cx="4437583" cy="1005840"/>
          </a:xfrm>
          <a:prstGeom prst="rect">
            <a:avLst/>
          </a:prstGeom>
          <a:noFill/>
          <a:ln/>
        </p:spPr>
        <p:txBody>
          <a:bodyPr wrap="square" lIns="0" tIns="0" rIns="0" bIns="0" rtlCol="0" anchor="ctr"/>
          <a:lstStyle/>
          <a:p>
            <a:pPr indent="0" marL="0">
              <a:buNone/>
            </a:pPr>
            <a:r>
              <a:rPr lang="en-US" sz="2000" b="1" dirty="0">
                <a:solidFill>
                  <a:srgbClr val="A83A30"/>
                </a:solidFill>
                <a:latin typeface="Calibri" pitchFamily="34" charset="0"/>
                <a:ea typeface="Calibri" pitchFamily="34" charset="-122"/>
                <a:cs typeface="Calibri" pitchFamily="34" charset="-120"/>
              </a:rPr>
              <a:t>40.5 points still wrong  </a:t>
            </a:r>
            <a:pPr indent="0" marL="0">
              <a:buNone/>
            </a:pPr>
            <a:r>
              <a:rPr lang="en-US" sz="2000" dirty="0">
                <a:solidFill>
                  <a:srgbClr val="1B202A"/>
                </a:solidFill>
                <a:latin typeface="Calibri" pitchFamily="34" charset="0"/>
                <a:ea typeface="Calibri" pitchFamily="34" charset="-122"/>
                <a:cs typeface="Calibri" pitchFamily="34" charset="-120"/>
              </a:rPr>
              <a:t>— misattributes 4 of 10 steps; cannot see silent failures.</a:t>
            </a:r>
            <a:endParaRPr lang="en-US" sz="2000" dirty="0"/>
          </a:p>
        </p:txBody>
      </p:sp>
      <p:sp>
        <p:nvSpPr>
          <p:cNvPr id="30" name="Shape 27"/>
          <p:cNvSpPr/>
          <p:nvPr/>
        </p:nvSpPr>
        <p:spPr>
          <a:xfrm>
            <a:off x="6804965" y="5310835"/>
            <a:ext cx="4839919" cy="1005840"/>
          </a:xfrm>
          <a:prstGeom prst="roundRect">
            <a:avLst>
              <a:gd name="adj" fmla="val 5455"/>
            </a:avLst>
          </a:prstGeom>
          <a:solidFill>
            <a:srgbClr val="E4E6EB"/>
          </a:solidFill>
          <a:ln/>
        </p:spPr>
      </p:sp>
      <p:sp>
        <p:nvSpPr>
          <p:cNvPr id="31" name="Shape 28"/>
          <p:cNvSpPr/>
          <p:nvPr/>
        </p:nvSpPr>
        <p:spPr>
          <a:xfrm>
            <a:off x="6784848" y="5285232"/>
            <a:ext cx="4839919" cy="1005840"/>
          </a:xfrm>
          <a:prstGeom prst="roundRect">
            <a:avLst>
              <a:gd name="adj" fmla="val 5455"/>
            </a:avLst>
          </a:prstGeom>
          <a:solidFill>
            <a:srgbClr val="F1F2F5"/>
          </a:solidFill>
          <a:ln w="9525">
            <a:solidFill>
              <a:srgbClr val="D9DCE3"/>
            </a:solidFill>
            <a:prstDash val="solid"/>
          </a:ln>
        </p:spPr>
      </p:sp>
      <p:sp>
        <p:nvSpPr>
          <p:cNvPr id="32" name="Text 29"/>
          <p:cNvSpPr txBox="1"/>
          <p:nvPr/>
        </p:nvSpPr>
        <p:spPr>
          <a:xfrm>
            <a:off x="6986016" y="5394960"/>
            <a:ext cx="4437583"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BACKBONE-CONFOUND CAVEAT</a:t>
            </a:r>
            <a:endParaRPr lang="en-US" sz="1800" dirty="0"/>
          </a:p>
        </p:txBody>
      </p:sp>
      <p:sp>
        <p:nvSpPr>
          <p:cNvPr id="33" name="Text 30"/>
          <p:cNvSpPr txBox="1"/>
          <p:nvPr/>
        </p:nvSpPr>
        <p:spPr>
          <a:xfrm>
            <a:off x="6986016" y="5705856"/>
            <a:ext cx="4437583" cy="548640"/>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7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Complex Computing Challenge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5 / 12</a:t>
            </a:r>
            <a:endParaRPr lang="en-US" sz="1300" dirty="0"/>
          </a:p>
        </p:txBody>
      </p:sp>
      <p:sp>
        <p:nvSpPr>
          <p:cNvPr id="10" name="Shape 8"/>
          <p:cNvSpPr/>
          <p:nvPr/>
        </p:nvSpPr>
        <p:spPr>
          <a:xfrm>
            <a:off x="566928" y="1353312"/>
            <a:ext cx="11057839" cy="877824"/>
          </a:xfrm>
          <a:prstGeom prst="roundRect">
            <a:avLst>
              <a:gd name="adj" fmla="val 5208"/>
            </a:avLst>
          </a:prstGeom>
          <a:solidFill>
            <a:srgbClr val="E6F1EB"/>
          </a:solidFill>
          <a:ln w="12700">
            <a:solidFill>
              <a:srgbClr val="1E7A52"/>
            </a:solidFill>
            <a:prstDash val="solid"/>
          </a:ln>
        </p:spPr>
      </p:sp>
      <p:sp>
        <p:nvSpPr>
          <p:cNvPr id="11" name="Shape 9"/>
          <p:cNvSpPr/>
          <p:nvPr/>
        </p:nvSpPr>
        <p:spPr>
          <a:xfrm>
            <a:off x="731520" y="1600200"/>
            <a:ext cx="384048" cy="384048"/>
          </a:xfrm>
          <a:prstGeom prst="ellipse">
            <a:avLst/>
          </a:prstGeom>
          <a:solidFill>
            <a:srgbClr val="1E7A52"/>
          </a:solidFill>
          <a:ln/>
        </p:spPr>
      </p:sp>
      <p:sp>
        <p:nvSpPr>
          <p:cNvPr id="12" name="Text 10"/>
          <p:cNvSpPr txBox="1"/>
          <p:nvPr/>
        </p:nvSpPr>
        <p:spPr>
          <a:xfrm>
            <a:off x="731520" y="160020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1</a:t>
            </a:r>
            <a:endParaRPr lang="en-US" sz="1650" dirty="0"/>
          </a:p>
        </p:txBody>
      </p:sp>
      <p:sp>
        <p:nvSpPr>
          <p:cNvPr id="13" name="Text 11"/>
          <p:cNvSpPr txBox="1"/>
          <p:nvPr/>
        </p:nvSpPr>
        <p:spPr>
          <a:xfrm>
            <a:off x="1261872" y="135331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Conflicting requirements</a:t>
            </a:r>
            <a:endParaRPr lang="en-US" sz="2000" dirty="0"/>
          </a:p>
        </p:txBody>
      </p:sp>
      <p:sp>
        <p:nvSpPr>
          <p:cNvPr id="14" name="Shape 12"/>
          <p:cNvSpPr/>
          <p:nvPr/>
        </p:nvSpPr>
        <p:spPr>
          <a:xfrm>
            <a:off x="3858768" y="1499616"/>
            <a:ext cx="0" cy="585216"/>
          </a:xfrm>
          <a:prstGeom prst="line">
            <a:avLst/>
          </a:prstGeom>
          <a:noFill/>
          <a:ln w="12700">
            <a:solidFill>
              <a:srgbClr val="D9DCE3"/>
            </a:solidFill>
            <a:prstDash val="solid"/>
          </a:ln>
        </p:spPr>
      </p:sp>
      <p:sp>
        <p:nvSpPr>
          <p:cNvPr id="15" name="Text 13"/>
          <p:cNvSpPr txBox="1"/>
          <p:nvPr/>
        </p:nvSpPr>
        <p:spPr>
          <a:xfrm>
            <a:off x="4059936" y="135331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Depth vs. latency; privacy vs. completeness</a:t>
            </a:r>
            <a:endParaRPr lang="en-US" sz="1700" dirty="0"/>
          </a:p>
        </p:txBody>
      </p:sp>
      <p:sp>
        <p:nvSpPr>
          <p:cNvPr id="16" name="Shape 14"/>
          <p:cNvSpPr/>
          <p:nvPr/>
        </p:nvSpPr>
        <p:spPr>
          <a:xfrm>
            <a:off x="566928" y="2359152"/>
            <a:ext cx="11057839" cy="877824"/>
          </a:xfrm>
          <a:prstGeom prst="roundRect">
            <a:avLst>
              <a:gd name="adj" fmla="val 5208"/>
            </a:avLst>
          </a:prstGeom>
          <a:solidFill>
            <a:srgbClr val="E6F1EB"/>
          </a:solidFill>
          <a:ln w="12700">
            <a:solidFill>
              <a:srgbClr val="1E7A52"/>
            </a:solidFill>
            <a:prstDash val="solid"/>
          </a:ln>
        </p:spPr>
      </p:sp>
      <p:sp>
        <p:nvSpPr>
          <p:cNvPr id="17" name="Shape 15"/>
          <p:cNvSpPr/>
          <p:nvPr/>
        </p:nvSpPr>
        <p:spPr>
          <a:xfrm>
            <a:off x="731520" y="2606040"/>
            <a:ext cx="384048" cy="384048"/>
          </a:xfrm>
          <a:prstGeom prst="ellipse">
            <a:avLst/>
          </a:prstGeom>
          <a:solidFill>
            <a:srgbClr val="1E7A52"/>
          </a:solidFill>
          <a:ln/>
        </p:spPr>
      </p:sp>
      <p:sp>
        <p:nvSpPr>
          <p:cNvPr id="18" name="Text 16"/>
          <p:cNvSpPr txBox="1"/>
          <p:nvPr/>
        </p:nvSpPr>
        <p:spPr>
          <a:xfrm>
            <a:off x="731520" y="260604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2</a:t>
            </a:r>
            <a:endParaRPr lang="en-US" sz="1650" dirty="0"/>
          </a:p>
        </p:txBody>
      </p:sp>
      <p:sp>
        <p:nvSpPr>
          <p:cNvPr id="19" name="Text 17"/>
          <p:cNvSpPr txBox="1"/>
          <p:nvPr/>
        </p:nvSpPr>
        <p:spPr>
          <a:xfrm>
            <a:off x="1261872" y="235915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No obvious solution</a:t>
            </a:r>
            <a:endParaRPr lang="en-US" sz="2000" dirty="0"/>
          </a:p>
        </p:txBody>
      </p:sp>
      <p:sp>
        <p:nvSpPr>
          <p:cNvPr id="20" name="Shape 18"/>
          <p:cNvSpPr/>
          <p:nvPr/>
        </p:nvSpPr>
        <p:spPr>
          <a:xfrm>
            <a:off x="3858768" y="2505456"/>
            <a:ext cx="0" cy="585216"/>
          </a:xfrm>
          <a:prstGeom prst="line">
            <a:avLst/>
          </a:prstGeom>
          <a:noFill/>
          <a:ln w="12700">
            <a:solidFill>
              <a:srgbClr val="D9DCE3"/>
            </a:solidFill>
            <a:prstDash val="solid"/>
          </a:ln>
        </p:spPr>
      </p:sp>
      <p:sp>
        <p:nvSpPr>
          <p:cNvPr id="21" name="Text 19"/>
          <p:cNvSpPr txBox="1"/>
          <p:nvPr/>
        </p:nvSpPr>
        <p:spPr>
          <a:xfrm>
            <a:off x="4059936" y="235915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Best published: 59.5% after 15 months, 7 papers</a:t>
            </a:r>
            <a:endParaRPr lang="en-US" sz="1700" dirty="0"/>
          </a:p>
        </p:txBody>
      </p:sp>
      <p:sp>
        <p:nvSpPr>
          <p:cNvPr id="22" name="Shape 20"/>
          <p:cNvSpPr/>
          <p:nvPr/>
        </p:nvSpPr>
        <p:spPr>
          <a:xfrm>
            <a:off x="566928" y="3364992"/>
            <a:ext cx="11057839" cy="877824"/>
          </a:xfrm>
          <a:prstGeom prst="roundRect">
            <a:avLst>
              <a:gd name="adj" fmla="val 5208"/>
            </a:avLst>
          </a:prstGeom>
          <a:solidFill>
            <a:srgbClr val="E6F1EB"/>
          </a:solidFill>
          <a:ln w="12700">
            <a:solidFill>
              <a:srgbClr val="1E7A52"/>
            </a:solidFill>
            <a:prstDash val="solid"/>
          </a:ln>
        </p:spPr>
      </p:sp>
      <p:sp>
        <p:nvSpPr>
          <p:cNvPr id="23" name="Shape 21"/>
          <p:cNvSpPr/>
          <p:nvPr/>
        </p:nvSpPr>
        <p:spPr>
          <a:xfrm>
            <a:off x="731520" y="3611880"/>
            <a:ext cx="384048" cy="384048"/>
          </a:xfrm>
          <a:prstGeom prst="ellipse">
            <a:avLst/>
          </a:prstGeom>
          <a:solidFill>
            <a:srgbClr val="1E7A52"/>
          </a:solidFill>
          <a:ln/>
        </p:spPr>
      </p:sp>
      <p:sp>
        <p:nvSpPr>
          <p:cNvPr id="24" name="Text 22"/>
          <p:cNvSpPr txBox="1"/>
          <p:nvPr/>
        </p:nvSpPr>
        <p:spPr>
          <a:xfrm>
            <a:off x="731520" y="361188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3</a:t>
            </a:r>
            <a:endParaRPr lang="en-US" sz="1650" dirty="0"/>
          </a:p>
        </p:txBody>
      </p:sp>
      <p:sp>
        <p:nvSpPr>
          <p:cNvPr id="25" name="Text 23"/>
          <p:cNvSpPr txBox="1"/>
          <p:nvPr/>
        </p:nvSpPr>
        <p:spPr>
          <a:xfrm>
            <a:off x="1261872" y="336499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Depth of knowledge</a:t>
            </a:r>
            <a:endParaRPr lang="en-US" sz="2000" dirty="0"/>
          </a:p>
        </p:txBody>
      </p:sp>
      <p:sp>
        <p:nvSpPr>
          <p:cNvPr id="26" name="Shape 24"/>
          <p:cNvSpPr/>
          <p:nvPr/>
        </p:nvSpPr>
        <p:spPr>
          <a:xfrm>
            <a:off x="3858768" y="3511296"/>
            <a:ext cx="0" cy="585216"/>
          </a:xfrm>
          <a:prstGeom prst="line">
            <a:avLst/>
          </a:prstGeom>
          <a:noFill/>
          <a:ln w="12700">
            <a:solidFill>
              <a:srgbClr val="D9DCE3"/>
            </a:solidFill>
            <a:prstDash val="solid"/>
          </a:ln>
        </p:spPr>
      </p:sp>
      <p:sp>
        <p:nvSpPr>
          <p:cNvPr id="27" name="Text 25"/>
          <p:cNvSpPr txBox="1"/>
          <p:nvPr/>
        </p:nvSpPr>
        <p:spPr>
          <a:xfrm>
            <a:off x="4059936" y="336499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Graph modeling, causal reasoning, tracing</a:t>
            </a:r>
            <a:endParaRPr lang="en-US" sz="1700" dirty="0"/>
          </a:p>
        </p:txBody>
      </p:sp>
      <p:sp>
        <p:nvSpPr>
          <p:cNvPr id="28" name="Shape 26"/>
          <p:cNvSpPr/>
          <p:nvPr/>
        </p:nvSpPr>
        <p:spPr>
          <a:xfrm>
            <a:off x="566928" y="4370832"/>
            <a:ext cx="11057839" cy="877824"/>
          </a:xfrm>
          <a:prstGeom prst="roundRect">
            <a:avLst>
              <a:gd name="adj" fmla="val 5208"/>
            </a:avLst>
          </a:prstGeom>
          <a:solidFill>
            <a:srgbClr val="E6F1EB"/>
          </a:solidFill>
          <a:ln w="12700">
            <a:solidFill>
              <a:srgbClr val="1E7A52"/>
            </a:solidFill>
            <a:prstDash val="solid"/>
          </a:ln>
        </p:spPr>
      </p:sp>
      <p:sp>
        <p:nvSpPr>
          <p:cNvPr id="29" name="Shape 27"/>
          <p:cNvSpPr/>
          <p:nvPr/>
        </p:nvSpPr>
        <p:spPr>
          <a:xfrm>
            <a:off x="731520" y="4617720"/>
            <a:ext cx="384048" cy="384048"/>
          </a:xfrm>
          <a:prstGeom prst="ellipse">
            <a:avLst/>
          </a:prstGeom>
          <a:solidFill>
            <a:srgbClr val="1E7A52"/>
          </a:solidFill>
          <a:ln/>
        </p:spPr>
      </p:sp>
      <p:sp>
        <p:nvSpPr>
          <p:cNvPr id="30" name="Text 28"/>
          <p:cNvSpPr txBox="1"/>
          <p:nvPr/>
        </p:nvSpPr>
        <p:spPr>
          <a:xfrm>
            <a:off x="731520" y="461772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4</a:t>
            </a:r>
            <a:endParaRPr lang="en-US" sz="1650" dirty="0"/>
          </a:p>
        </p:txBody>
      </p:sp>
      <p:sp>
        <p:nvSpPr>
          <p:cNvPr id="31" name="Text 29"/>
          <p:cNvSpPr txBox="1"/>
          <p:nvPr/>
        </p:nvSpPr>
        <p:spPr>
          <a:xfrm>
            <a:off x="1261872" y="437083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Beyond standard practice</a:t>
            </a:r>
            <a:endParaRPr lang="en-US" sz="2000" dirty="0"/>
          </a:p>
        </p:txBody>
      </p:sp>
      <p:sp>
        <p:nvSpPr>
          <p:cNvPr id="32" name="Shape 30"/>
          <p:cNvSpPr/>
          <p:nvPr/>
        </p:nvSpPr>
        <p:spPr>
          <a:xfrm>
            <a:off x="3858768" y="4517136"/>
            <a:ext cx="0" cy="585216"/>
          </a:xfrm>
          <a:prstGeom prst="line">
            <a:avLst/>
          </a:prstGeom>
          <a:noFill/>
          <a:ln w="12700">
            <a:solidFill>
              <a:srgbClr val="D9DCE3"/>
            </a:solidFill>
            <a:prstDash val="solid"/>
          </a:ln>
        </p:spPr>
      </p:sp>
      <p:sp>
        <p:nvSpPr>
          <p:cNvPr id="33" name="Text 31"/>
          <p:cNvSpPr txBox="1"/>
          <p:nvPr/>
        </p:nvSpPr>
        <p:spPr>
          <a:xfrm>
            <a:off x="4059936" y="437083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No framework does attribution + detection + recovery</a:t>
            </a:r>
            <a:endParaRPr lang="en-US" sz="1700" dirty="0"/>
          </a:p>
        </p:txBody>
      </p:sp>
      <p:sp>
        <p:nvSpPr>
          <p:cNvPr id="34" name="Shape 32"/>
          <p:cNvSpPr/>
          <p:nvPr/>
        </p:nvSpPr>
        <p:spPr>
          <a:xfrm>
            <a:off x="566928" y="5376672"/>
            <a:ext cx="11057839" cy="877824"/>
          </a:xfrm>
          <a:prstGeom prst="roundRect">
            <a:avLst>
              <a:gd name="adj" fmla="val 5208"/>
            </a:avLst>
          </a:prstGeom>
          <a:solidFill>
            <a:srgbClr val="E6F1EB"/>
          </a:solidFill>
          <a:ln w="12700">
            <a:solidFill>
              <a:srgbClr val="1E7A52"/>
            </a:solidFill>
            <a:prstDash val="solid"/>
          </a:ln>
        </p:spPr>
      </p:sp>
      <p:sp>
        <p:nvSpPr>
          <p:cNvPr id="35" name="Shape 33"/>
          <p:cNvSpPr/>
          <p:nvPr/>
        </p:nvSpPr>
        <p:spPr>
          <a:xfrm>
            <a:off x="731520" y="5623560"/>
            <a:ext cx="384048" cy="384048"/>
          </a:xfrm>
          <a:prstGeom prst="ellipse">
            <a:avLst/>
          </a:prstGeom>
          <a:solidFill>
            <a:srgbClr val="1E7A52"/>
          </a:solidFill>
          <a:ln/>
        </p:spPr>
      </p:sp>
      <p:sp>
        <p:nvSpPr>
          <p:cNvPr id="36" name="Text 34"/>
          <p:cNvSpPr txBox="1"/>
          <p:nvPr/>
        </p:nvSpPr>
        <p:spPr>
          <a:xfrm>
            <a:off x="731520" y="562356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5</a:t>
            </a:r>
            <a:endParaRPr lang="en-US" sz="1650" dirty="0"/>
          </a:p>
        </p:txBody>
      </p:sp>
      <p:sp>
        <p:nvSpPr>
          <p:cNvPr id="37" name="Text 35"/>
          <p:cNvSpPr txBox="1"/>
          <p:nvPr/>
        </p:nvSpPr>
        <p:spPr>
          <a:xfrm>
            <a:off x="1261872" y="537667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Ill-defined cause</a:t>
            </a:r>
            <a:endParaRPr lang="en-US" sz="2000" dirty="0"/>
          </a:p>
        </p:txBody>
      </p:sp>
      <p:sp>
        <p:nvSpPr>
          <p:cNvPr id="38" name="Shape 36"/>
          <p:cNvSpPr/>
          <p:nvPr/>
        </p:nvSpPr>
        <p:spPr>
          <a:xfrm>
            <a:off x="3858768" y="5522976"/>
            <a:ext cx="0" cy="585216"/>
          </a:xfrm>
          <a:prstGeom prst="line">
            <a:avLst/>
          </a:prstGeom>
          <a:noFill/>
          <a:ln w="12700">
            <a:solidFill>
              <a:srgbClr val="D9DCE3"/>
            </a:solidFill>
            <a:prstDash val="solid"/>
          </a:ln>
        </p:spPr>
      </p:sp>
      <p:sp>
        <p:nvSpPr>
          <p:cNvPr id="39" name="Text 37"/>
          <p:cNvSpPr txBox="1"/>
          <p:nvPr/>
        </p:nvSpPr>
        <p:spPr>
          <a:xfrm>
            <a:off x="4059936" y="537667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3 unknowns: whether, which step, what's correct</a:t>
            </a:r>
            <a:endParaRPr lang="en-US" sz="17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Proposed Solution &amp; Contribution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6 / 12</a:t>
            </a:r>
            <a:endParaRPr lang="en-US" sz="1300" dirty="0"/>
          </a:p>
        </p:txBody>
      </p:sp>
      <p:sp>
        <p:nvSpPr>
          <p:cNvPr id="10" name="Shape 8"/>
          <p:cNvSpPr/>
          <p:nvPr/>
        </p:nvSpPr>
        <p:spPr>
          <a:xfrm>
            <a:off x="587045" y="1324051"/>
            <a:ext cx="11057839" cy="914400"/>
          </a:xfrm>
          <a:prstGeom prst="roundRect">
            <a:avLst>
              <a:gd name="adj" fmla="val 6000"/>
            </a:avLst>
          </a:prstGeom>
          <a:solidFill>
            <a:srgbClr val="E4E6EB"/>
          </a:solidFill>
          <a:ln/>
        </p:spPr>
      </p:sp>
      <p:sp>
        <p:nvSpPr>
          <p:cNvPr id="11" name="Shape 9"/>
          <p:cNvSpPr/>
          <p:nvPr/>
        </p:nvSpPr>
        <p:spPr>
          <a:xfrm>
            <a:off x="566928" y="1298448"/>
            <a:ext cx="11057839" cy="914400"/>
          </a:xfrm>
          <a:prstGeom prst="roundRect">
            <a:avLst>
              <a:gd name="adj" fmla="val 6000"/>
            </a:avLst>
          </a:prstGeom>
          <a:solidFill>
            <a:srgbClr val="F1F2F5"/>
          </a:solidFill>
          <a:ln w="9525">
            <a:solidFill>
              <a:srgbClr val="D9DCE3"/>
            </a:solidFill>
            <a:prstDash val="solid"/>
          </a:ln>
        </p:spPr>
      </p:sp>
      <p:sp>
        <p:nvSpPr>
          <p:cNvPr id="12" name="Shape 10"/>
          <p:cNvSpPr/>
          <p:nvPr/>
        </p:nvSpPr>
        <p:spPr>
          <a:xfrm>
            <a:off x="566928" y="1353312"/>
            <a:ext cx="41148" cy="804672"/>
          </a:xfrm>
          <a:prstGeom prst="rect">
            <a:avLst/>
          </a:prstGeom>
          <a:solidFill>
            <a:srgbClr val="C89B3C"/>
          </a:solidFill>
          <a:ln/>
        </p:spPr>
      </p:sp>
      <p:sp>
        <p:nvSpPr>
          <p:cNvPr id="13" name="Text 11"/>
          <p:cNvSpPr txBox="1"/>
          <p:nvPr/>
        </p:nvSpPr>
        <p:spPr>
          <a:xfrm>
            <a:off x="822960" y="1298448"/>
            <a:ext cx="10545775" cy="91440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Contribution.  </a:t>
            </a:r>
            <a:pPr indent="0" marL="0">
              <a:buNone/>
            </a:pPr>
            <a:r>
              <a:rPr lang="en-US" sz="1700" dirty="0">
                <a:solidFill>
                  <a:srgbClr val="1B202A"/>
                </a:solidFill>
                <a:latin typeface="Calibri" pitchFamily="34" charset="0"/>
                <a:ea typeface="Calibri" pitchFamily="34" charset="-122"/>
                <a:cs typeface="Calibri" pitchFamily="34" charset="-120"/>
              </a:rPr>
              <a:t>Best published method: 59.5% — untested on unseen architectures, blind to silent failures. We build a cross-architecture benchmark and a diagnosis pipeline with constraint-based verification, as a framework-agnostic SDK.</a:t>
            </a:r>
            <a:endParaRPr lang="en-US" sz="2000" dirty="0"/>
          </a:p>
        </p:txBody>
      </p:sp>
      <p:sp>
        <p:nvSpPr>
          <p:cNvPr id="14" name="Shape 12"/>
          <p:cNvSpPr/>
          <p:nvPr/>
        </p:nvSpPr>
        <p:spPr>
          <a:xfrm>
            <a:off x="566928" y="2395728"/>
            <a:ext cx="1691640" cy="896112"/>
          </a:xfrm>
          <a:prstGeom prst="roundRect">
            <a:avLst>
              <a:gd name="adj" fmla="val 5102"/>
            </a:avLst>
          </a:prstGeom>
          <a:solidFill>
            <a:srgbClr val="FBFBFC"/>
          </a:solidFill>
          <a:ln w="13970">
            <a:solidFill>
              <a:srgbClr val="596273"/>
            </a:solidFill>
            <a:prstDash val="solid"/>
          </a:ln>
        </p:spPr>
      </p:sp>
      <p:sp>
        <p:nvSpPr>
          <p:cNvPr id="15" name="Text 13"/>
          <p:cNvSpPr txBox="1"/>
          <p:nvPr/>
        </p:nvSpPr>
        <p:spPr>
          <a:xfrm>
            <a:off x="621792" y="2432304"/>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Target Multi-Agent System</a:t>
            </a:r>
            <a:endParaRPr lang="en-US" sz="1300" dirty="0"/>
          </a:p>
        </p:txBody>
      </p:sp>
      <p:sp>
        <p:nvSpPr>
          <p:cNvPr id="16" name="Text 14"/>
          <p:cNvSpPr txBox="1"/>
          <p:nvPr/>
        </p:nvSpPr>
        <p:spPr>
          <a:xfrm>
            <a:off x="621792" y="3054096"/>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a:t>
            </a:r>
            <a:endParaRPr lang="en-US" sz="1050" dirty="0"/>
          </a:p>
        </p:txBody>
      </p:sp>
      <p:sp>
        <p:nvSpPr>
          <p:cNvPr id="17" name="Shape 15"/>
          <p:cNvSpPr/>
          <p:nvPr/>
        </p:nvSpPr>
        <p:spPr>
          <a:xfrm>
            <a:off x="566928" y="5394960"/>
            <a:ext cx="1691640" cy="896112"/>
          </a:xfrm>
          <a:prstGeom prst="roundRect">
            <a:avLst>
              <a:gd name="adj" fmla="val 5102"/>
            </a:avLst>
          </a:prstGeom>
          <a:solidFill>
            <a:srgbClr val="FBFBFC"/>
          </a:solidFill>
          <a:ln w="13970">
            <a:solidFill>
              <a:srgbClr val="596273"/>
            </a:solidFill>
            <a:prstDash val="solid"/>
          </a:ln>
        </p:spPr>
      </p:sp>
      <p:sp>
        <p:nvSpPr>
          <p:cNvPr id="18" name="Text 16"/>
          <p:cNvSpPr txBox="1"/>
          <p:nvPr/>
        </p:nvSpPr>
        <p:spPr>
          <a:xfrm>
            <a:off x="621792" y="5431536"/>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Operator</a:t>
            </a:r>
            <a:endParaRPr lang="en-US" sz="1300" dirty="0"/>
          </a:p>
        </p:txBody>
      </p:sp>
      <p:sp>
        <p:nvSpPr>
          <p:cNvPr id="19" name="Text 17"/>
          <p:cNvSpPr txBox="1"/>
          <p:nvPr/>
        </p:nvSpPr>
        <p:spPr>
          <a:xfrm>
            <a:off x="621792" y="6053328"/>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engineering team</a:t>
            </a:r>
            <a:endParaRPr lang="en-US" sz="1050" dirty="0"/>
          </a:p>
        </p:txBody>
      </p:sp>
      <p:sp>
        <p:nvSpPr>
          <p:cNvPr id="20" name="Shape 18"/>
          <p:cNvSpPr/>
          <p:nvPr/>
        </p:nvSpPr>
        <p:spPr>
          <a:xfrm>
            <a:off x="1412748" y="3291840"/>
            <a:ext cx="914" cy="2103120"/>
          </a:xfrm>
          <a:prstGeom prst="line">
            <a:avLst/>
          </a:prstGeom>
          <a:noFill/>
          <a:ln w="15875">
            <a:solidFill>
              <a:srgbClr val="596273"/>
            </a:solidFill>
            <a:prstDash val="solid"/>
            <a:tailEnd type="triangle"/>
          </a:ln>
        </p:spPr>
      </p:sp>
      <p:sp>
        <p:nvSpPr>
          <p:cNvPr id="21" name="Shape 19"/>
          <p:cNvSpPr/>
          <p:nvPr/>
        </p:nvSpPr>
        <p:spPr>
          <a:xfrm>
            <a:off x="2514600" y="2286000"/>
            <a:ext cx="7601407" cy="4078224"/>
          </a:xfrm>
          <a:prstGeom prst="roundRect">
            <a:avLst>
              <a:gd name="adj" fmla="val 1794"/>
            </a:avLst>
          </a:prstGeom>
          <a:solidFill>
            <a:srgbClr val="FFFFFF"/>
          </a:solidFill>
          <a:ln w="22225">
            <a:solidFill>
              <a:srgbClr val="8E6A1F"/>
            </a:solidFill>
            <a:prstDash val="dash"/>
          </a:ln>
        </p:spPr>
      </p:sp>
      <p:sp>
        <p:nvSpPr>
          <p:cNvPr id="22" name="Text 20"/>
          <p:cNvSpPr txBox="1"/>
          <p:nvPr/>
        </p:nvSpPr>
        <p:spPr>
          <a:xfrm>
            <a:off x="2660904" y="2331720"/>
            <a:ext cx="4023360" cy="237744"/>
          </a:xfrm>
          <a:prstGeom prst="rect">
            <a:avLst/>
          </a:prstGeom>
          <a:noFill/>
          <a:ln/>
        </p:spPr>
        <p:txBody>
          <a:bodyPr wrap="square" lIns="0" tIns="0" rIns="0" bIns="0" rtlCol="0" anchor="ctr"/>
          <a:lstStyle/>
          <a:p>
            <a:pPr indent="0" marL="0">
              <a:buNone/>
            </a:pPr>
            <a:r>
              <a:rPr lang="en-US" sz="1200" b="1" spc="80" kern="0" dirty="0">
                <a:solidFill>
                  <a:srgbClr val="8E6A1F"/>
                </a:solidFill>
                <a:latin typeface="Consolas" pitchFamily="34" charset="0"/>
                <a:ea typeface="Consolas" pitchFamily="34" charset="-122"/>
                <a:cs typeface="Consolas" pitchFamily="34" charset="-120"/>
              </a:rPr>
              <a:t>GRANITE — SYSTEM BOUNDARY</a:t>
            </a:r>
            <a:endParaRPr lang="en-US" sz="1200" dirty="0"/>
          </a:p>
        </p:txBody>
      </p:sp>
      <p:sp>
        <p:nvSpPr>
          <p:cNvPr id="23" name="Shape 21"/>
          <p:cNvSpPr/>
          <p:nvPr/>
        </p:nvSpPr>
        <p:spPr>
          <a:xfrm>
            <a:off x="2258568" y="2834640"/>
            <a:ext cx="256032" cy="914"/>
          </a:xfrm>
          <a:prstGeom prst="line">
            <a:avLst/>
          </a:prstGeom>
          <a:noFill/>
          <a:ln w="15875">
            <a:solidFill>
              <a:srgbClr val="596273"/>
            </a:solidFill>
            <a:prstDash val="solid"/>
            <a:tailEnd type="triangle"/>
          </a:ln>
        </p:spPr>
      </p:sp>
      <p:sp>
        <p:nvSpPr>
          <p:cNvPr id="24" name="Shape 22"/>
          <p:cNvSpPr/>
          <p:nvPr/>
        </p:nvSpPr>
        <p:spPr>
          <a:xfrm>
            <a:off x="2651760" y="2560320"/>
            <a:ext cx="7327087" cy="914400"/>
          </a:xfrm>
          <a:prstGeom prst="roundRect">
            <a:avLst>
              <a:gd name="adj" fmla="val 6000"/>
            </a:avLst>
          </a:prstGeom>
          <a:solidFill>
            <a:srgbClr val="E3EFF1"/>
          </a:solidFill>
          <a:ln w="15240">
            <a:solidFill>
              <a:srgbClr val="15707A"/>
            </a:solidFill>
            <a:prstDash val="solid"/>
          </a:ln>
        </p:spPr>
      </p:sp>
      <p:sp>
        <p:nvSpPr>
          <p:cNvPr id="25" name="Text 23"/>
          <p:cNvSpPr txBox="1"/>
          <p:nvPr/>
        </p:nvSpPr>
        <p:spPr>
          <a:xfrm>
            <a:off x="2779776" y="2596896"/>
            <a:ext cx="3657600" cy="219456"/>
          </a:xfrm>
          <a:prstGeom prst="rect">
            <a:avLst/>
          </a:prstGeom>
          <a:noFill/>
          <a:ln/>
        </p:spPr>
        <p:txBody>
          <a:bodyPr wrap="square" lIns="0" tIns="0" rIns="0" bIns="0" rtlCol="0" anchor="ctr"/>
          <a:lstStyle/>
          <a:p>
            <a:pPr indent="0" marL="0">
              <a:buNone/>
            </a:pPr>
            <a:r>
              <a:rPr lang="en-US" sz="1200" b="1" spc="50" kern="0" dirty="0">
                <a:solidFill>
                  <a:srgbClr val="15707A"/>
                </a:solidFill>
                <a:latin typeface="Consolas" pitchFamily="34" charset="0"/>
                <a:ea typeface="Consolas" pitchFamily="34" charset="-122"/>
                <a:cs typeface="Consolas" pitchFamily="34" charset="-120"/>
              </a:rPr>
              <a:t>LANE A — DATA / BENCHMARK</a:t>
            </a:r>
            <a:endParaRPr lang="en-US" sz="1200" dirty="0"/>
          </a:p>
        </p:txBody>
      </p:sp>
      <p:sp>
        <p:nvSpPr>
          <p:cNvPr id="26" name="Shape 24"/>
          <p:cNvSpPr/>
          <p:nvPr/>
        </p:nvSpPr>
        <p:spPr>
          <a:xfrm>
            <a:off x="2788920" y="2834640"/>
            <a:ext cx="2423160" cy="566928"/>
          </a:xfrm>
          <a:prstGeom prst="roundRect">
            <a:avLst>
              <a:gd name="adj" fmla="val 8065"/>
            </a:avLst>
          </a:prstGeom>
          <a:solidFill>
            <a:srgbClr val="FFFFFF"/>
          </a:solidFill>
          <a:ln w="13970">
            <a:solidFill>
              <a:srgbClr val="15707A"/>
            </a:solidFill>
            <a:prstDash val="solid"/>
          </a:ln>
        </p:spPr>
      </p:sp>
      <p:sp>
        <p:nvSpPr>
          <p:cNvPr id="27" name="Text 25"/>
          <p:cNvSpPr txBox="1"/>
          <p:nvPr/>
        </p:nvSpPr>
        <p:spPr>
          <a:xfrm>
            <a:off x="2843784" y="2871216"/>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Framework Adapters</a:t>
            </a:r>
            <a:endParaRPr lang="en-US" sz="1300" dirty="0"/>
          </a:p>
        </p:txBody>
      </p:sp>
      <p:sp>
        <p:nvSpPr>
          <p:cNvPr id="28" name="Text 26"/>
          <p:cNvSpPr txBox="1"/>
          <p:nvPr/>
        </p:nvSpPr>
        <p:spPr>
          <a:xfrm>
            <a:off x="2843784" y="3163824"/>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 hooks</a:t>
            </a:r>
            <a:endParaRPr lang="en-US" sz="1050" dirty="0"/>
          </a:p>
        </p:txBody>
      </p:sp>
      <p:sp>
        <p:nvSpPr>
          <p:cNvPr id="29" name="Shape 27"/>
          <p:cNvSpPr/>
          <p:nvPr/>
        </p:nvSpPr>
        <p:spPr>
          <a:xfrm>
            <a:off x="5340096" y="2834640"/>
            <a:ext cx="2606040" cy="566928"/>
          </a:xfrm>
          <a:prstGeom prst="roundRect">
            <a:avLst>
              <a:gd name="adj" fmla="val 8065"/>
            </a:avLst>
          </a:prstGeom>
          <a:solidFill>
            <a:srgbClr val="FFFFFF"/>
          </a:solidFill>
          <a:ln w="13970">
            <a:solidFill>
              <a:srgbClr val="15707A"/>
            </a:solidFill>
            <a:prstDash val="solid"/>
          </a:ln>
        </p:spPr>
      </p:sp>
      <p:sp>
        <p:nvSpPr>
          <p:cNvPr id="30" name="Text 28"/>
          <p:cNvSpPr txBox="1"/>
          <p:nvPr/>
        </p:nvSpPr>
        <p:spPr>
          <a:xfrm>
            <a:off x="5394960" y="2871216"/>
            <a:ext cx="24963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Fault Injection Operators</a:t>
            </a:r>
            <a:endParaRPr lang="en-US" sz="1300" dirty="0"/>
          </a:p>
        </p:txBody>
      </p:sp>
      <p:sp>
        <p:nvSpPr>
          <p:cNvPr id="31" name="Text 29"/>
          <p:cNvSpPr txBox="1"/>
          <p:nvPr/>
        </p:nvSpPr>
        <p:spPr>
          <a:xfrm>
            <a:off x="5394960" y="3163824"/>
            <a:ext cx="24963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rule-based · 0% API</a:t>
            </a:r>
            <a:endParaRPr lang="en-US" sz="1050" dirty="0"/>
          </a:p>
        </p:txBody>
      </p:sp>
      <p:sp>
        <p:nvSpPr>
          <p:cNvPr id="32" name="Shape 30"/>
          <p:cNvSpPr/>
          <p:nvPr/>
        </p:nvSpPr>
        <p:spPr>
          <a:xfrm>
            <a:off x="8074152" y="2907792"/>
            <a:ext cx="1691640" cy="493776"/>
          </a:xfrm>
          <a:prstGeom prst="roundRect">
            <a:avLst>
              <a:gd name="adj" fmla="val 7407"/>
            </a:avLst>
          </a:prstGeom>
          <a:solidFill>
            <a:srgbClr val="FFFFFF"/>
          </a:solidFill>
          <a:ln w="13970">
            <a:solidFill>
              <a:srgbClr val="15707A"/>
            </a:solidFill>
            <a:prstDash val="solid"/>
          </a:ln>
        </p:spPr>
      </p:sp>
      <p:sp>
        <p:nvSpPr>
          <p:cNvPr id="33" name="Shape 31"/>
          <p:cNvSpPr/>
          <p:nvPr/>
        </p:nvSpPr>
        <p:spPr>
          <a:xfrm>
            <a:off x="8074152" y="2834640"/>
            <a:ext cx="1691640" cy="146304"/>
          </a:xfrm>
          <a:prstGeom prst="ellipse">
            <a:avLst/>
          </a:prstGeom>
          <a:solidFill>
            <a:srgbClr val="FFFFFF"/>
          </a:solidFill>
          <a:ln w="13970">
            <a:solidFill>
              <a:srgbClr val="15707A"/>
            </a:solidFill>
            <a:prstDash val="solid"/>
          </a:ln>
        </p:spPr>
      </p:sp>
      <p:sp>
        <p:nvSpPr>
          <p:cNvPr id="34" name="Text 32"/>
          <p:cNvSpPr txBox="1"/>
          <p:nvPr/>
        </p:nvSpPr>
        <p:spPr>
          <a:xfrm>
            <a:off x="8110728" y="2999232"/>
            <a:ext cx="1618488" cy="274320"/>
          </a:xfrm>
          <a:prstGeom prst="rect">
            <a:avLst/>
          </a:prstGeom>
          <a:noFill/>
          <a:ln/>
        </p:spPr>
        <p:txBody>
          <a:bodyPr wrap="square" lIns="0" tIns="0" rIns="0" bIns="0" rtlCol="0" anchor="ctr"/>
          <a:lstStyle/>
          <a:p>
            <a:pPr algn="ctr" indent="0" marL="0">
              <a:buNone/>
            </a:pPr>
            <a:r>
              <a:rPr lang="en-US" sz="1250" b="1" dirty="0">
                <a:solidFill>
                  <a:srgbClr val="1B202A"/>
                </a:solidFill>
                <a:latin typeface="Calibri" pitchFamily="34" charset="0"/>
                <a:ea typeface="Calibri" pitchFamily="34" charset="-122"/>
                <a:cs typeface="Calibri" pitchFamily="34" charset="-120"/>
              </a:rPr>
              <a:t>Benchmark Store</a:t>
            </a:r>
            <a:endParaRPr lang="en-US" sz="1250" dirty="0"/>
          </a:p>
        </p:txBody>
      </p:sp>
      <p:sp>
        <p:nvSpPr>
          <p:cNvPr id="35" name="Shape 33"/>
          <p:cNvSpPr/>
          <p:nvPr/>
        </p:nvSpPr>
        <p:spPr>
          <a:xfrm>
            <a:off x="5212080" y="3118104"/>
            <a:ext cx="128016" cy="914"/>
          </a:xfrm>
          <a:prstGeom prst="line">
            <a:avLst/>
          </a:prstGeom>
          <a:noFill/>
          <a:ln w="15875">
            <a:solidFill>
              <a:srgbClr val="15707A"/>
            </a:solidFill>
            <a:prstDash val="solid"/>
            <a:tailEnd type="triangle"/>
          </a:ln>
        </p:spPr>
      </p:sp>
      <p:sp>
        <p:nvSpPr>
          <p:cNvPr id="36" name="Shape 34"/>
          <p:cNvSpPr/>
          <p:nvPr/>
        </p:nvSpPr>
        <p:spPr>
          <a:xfrm>
            <a:off x="7946136" y="3118104"/>
            <a:ext cx="128016" cy="914"/>
          </a:xfrm>
          <a:prstGeom prst="line">
            <a:avLst/>
          </a:prstGeom>
          <a:noFill/>
          <a:ln w="15875">
            <a:solidFill>
              <a:srgbClr val="15707A"/>
            </a:solidFill>
            <a:prstDash val="solid"/>
            <a:tailEnd type="triangle"/>
          </a:ln>
        </p:spPr>
      </p:sp>
      <p:sp>
        <p:nvSpPr>
          <p:cNvPr id="37" name="Shape 35"/>
          <p:cNvSpPr/>
          <p:nvPr/>
        </p:nvSpPr>
        <p:spPr>
          <a:xfrm>
            <a:off x="2651760" y="3602736"/>
            <a:ext cx="7327087" cy="1389888"/>
          </a:xfrm>
          <a:prstGeom prst="roundRect">
            <a:avLst>
              <a:gd name="adj" fmla="val 3947"/>
            </a:avLst>
          </a:prstGeom>
          <a:solidFill>
            <a:srgbClr val="F6EADD"/>
          </a:solidFill>
          <a:ln w="15240">
            <a:solidFill>
              <a:srgbClr val="B05C1C"/>
            </a:solidFill>
            <a:prstDash val="solid"/>
          </a:ln>
        </p:spPr>
      </p:sp>
      <p:sp>
        <p:nvSpPr>
          <p:cNvPr id="38" name="Text 36"/>
          <p:cNvSpPr txBox="1"/>
          <p:nvPr/>
        </p:nvSpPr>
        <p:spPr>
          <a:xfrm>
            <a:off x="2779776" y="3639312"/>
            <a:ext cx="3657600" cy="219456"/>
          </a:xfrm>
          <a:prstGeom prst="rect">
            <a:avLst/>
          </a:prstGeom>
          <a:noFill/>
          <a:ln/>
        </p:spPr>
        <p:txBody>
          <a:bodyPr wrap="square" lIns="0" tIns="0" rIns="0" bIns="0" rtlCol="0" anchor="ctr"/>
          <a:lstStyle/>
          <a:p>
            <a:pPr indent="0" marL="0">
              <a:buNone/>
            </a:pPr>
            <a:r>
              <a:rPr lang="en-US" sz="1200" b="1" spc="50" kern="0" dirty="0">
                <a:solidFill>
                  <a:srgbClr val="B05C1C"/>
                </a:solidFill>
                <a:latin typeface="Consolas" pitchFamily="34" charset="0"/>
                <a:ea typeface="Consolas" pitchFamily="34" charset="-122"/>
                <a:cs typeface="Consolas" pitchFamily="34" charset="-120"/>
              </a:rPr>
              <a:t>LANE B — DIAGNOSIS</a:t>
            </a:r>
            <a:endParaRPr lang="en-US" sz="1200" dirty="0"/>
          </a:p>
        </p:txBody>
      </p:sp>
      <p:sp>
        <p:nvSpPr>
          <p:cNvPr id="39" name="Shape 37"/>
          <p:cNvSpPr/>
          <p:nvPr/>
        </p:nvSpPr>
        <p:spPr>
          <a:xfrm>
            <a:off x="4000500" y="3483864"/>
            <a:ext cx="914" cy="109728"/>
          </a:xfrm>
          <a:prstGeom prst="line">
            <a:avLst/>
          </a:prstGeom>
          <a:noFill/>
          <a:ln w="15875">
            <a:solidFill>
              <a:srgbClr val="596273"/>
            </a:solidFill>
            <a:prstDash val="solid"/>
            <a:tailEnd type="triangle"/>
          </a:ln>
        </p:spPr>
      </p:sp>
      <p:sp>
        <p:nvSpPr>
          <p:cNvPr id="40" name="Shape 38"/>
          <p:cNvSpPr/>
          <p:nvPr/>
        </p:nvSpPr>
        <p:spPr>
          <a:xfrm>
            <a:off x="2788920" y="3877056"/>
            <a:ext cx="2423160" cy="566928"/>
          </a:xfrm>
          <a:prstGeom prst="roundRect">
            <a:avLst>
              <a:gd name="adj" fmla="val 8065"/>
            </a:avLst>
          </a:prstGeom>
          <a:solidFill>
            <a:srgbClr val="FFFFFF"/>
          </a:solidFill>
          <a:ln w="13970">
            <a:solidFill>
              <a:srgbClr val="B05C1C"/>
            </a:solidFill>
            <a:prstDash val="solid"/>
          </a:ln>
        </p:spPr>
      </p:sp>
      <p:sp>
        <p:nvSpPr>
          <p:cNvPr id="41" name="Text 39"/>
          <p:cNvSpPr txBox="1"/>
          <p:nvPr/>
        </p:nvSpPr>
        <p:spPr>
          <a:xfrm>
            <a:off x="2843784" y="3913632"/>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Trace Normalizer</a:t>
            </a:r>
            <a:endParaRPr lang="en-US" sz="1300" dirty="0"/>
          </a:p>
        </p:txBody>
      </p:sp>
      <p:sp>
        <p:nvSpPr>
          <p:cNvPr id="42" name="Text 40"/>
          <p:cNvSpPr txBox="1"/>
          <p:nvPr/>
        </p:nvSpPr>
        <p:spPr>
          <a:xfrm>
            <a:off x="2843784" y="4206240"/>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standard schema in</a:t>
            </a:r>
            <a:endParaRPr lang="en-US" sz="1050" dirty="0"/>
          </a:p>
        </p:txBody>
      </p:sp>
      <p:sp>
        <p:nvSpPr>
          <p:cNvPr id="43" name="Shape 41"/>
          <p:cNvSpPr/>
          <p:nvPr/>
        </p:nvSpPr>
        <p:spPr>
          <a:xfrm>
            <a:off x="5376672" y="3877056"/>
            <a:ext cx="3017520" cy="566928"/>
          </a:xfrm>
          <a:prstGeom prst="roundRect">
            <a:avLst>
              <a:gd name="adj" fmla="val 8065"/>
            </a:avLst>
          </a:prstGeom>
          <a:solidFill>
            <a:srgbClr val="FFFFFF"/>
          </a:solidFill>
          <a:ln w="13970">
            <a:solidFill>
              <a:srgbClr val="B05C1C"/>
            </a:solidFill>
            <a:prstDash val="solid"/>
          </a:ln>
        </p:spPr>
      </p:sp>
      <p:sp>
        <p:nvSpPr>
          <p:cNvPr id="44" name="Text 42"/>
          <p:cNvSpPr txBox="1"/>
          <p:nvPr/>
        </p:nvSpPr>
        <p:spPr>
          <a:xfrm>
            <a:off x="5431536" y="3913632"/>
            <a:ext cx="290779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Execution Graph Builder</a:t>
            </a:r>
            <a:endParaRPr lang="en-US" sz="1300" dirty="0"/>
          </a:p>
        </p:txBody>
      </p:sp>
      <p:sp>
        <p:nvSpPr>
          <p:cNvPr id="45" name="Text 43"/>
          <p:cNvSpPr txBox="1"/>
          <p:nvPr/>
        </p:nvSpPr>
        <p:spPr>
          <a:xfrm>
            <a:off x="5431536" y="4206240"/>
            <a:ext cx="290779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0% API</a:t>
            </a:r>
            <a:endParaRPr lang="en-US" sz="1050" dirty="0"/>
          </a:p>
        </p:txBody>
      </p:sp>
      <p:sp>
        <p:nvSpPr>
          <p:cNvPr id="46" name="Shape 44"/>
          <p:cNvSpPr/>
          <p:nvPr/>
        </p:nvSpPr>
        <p:spPr>
          <a:xfrm>
            <a:off x="5212080" y="4160520"/>
            <a:ext cx="164592" cy="914"/>
          </a:xfrm>
          <a:prstGeom prst="line">
            <a:avLst/>
          </a:prstGeom>
          <a:noFill/>
          <a:ln w="15875">
            <a:solidFill>
              <a:srgbClr val="B05C1C"/>
            </a:solidFill>
            <a:prstDash val="solid"/>
            <a:tailEnd type="triangle"/>
          </a:ln>
        </p:spPr>
      </p:sp>
      <p:sp>
        <p:nvSpPr>
          <p:cNvPr id="47" name="Shape 45"/>
          <p:cNvSpPr/>
          <p:nvPr/>
        </p:nvSpPr>
        <p:spPr>
          <a:xfrm>
            <a:off x="2788920" y="4498848"/>
            <a:ext cx="3749040" cy="420624"/>
          </a:xfrm>
          <a:prstGeom prst="roundRect">
            <a:avLst>
              <a:gd name="adj" fmla="val 10870"/>
            </a:avLst>
          </a:prstGeom>
          <a:solidFill>
            <a:srgbClr val="FFFFFF"/>
          </a:solidFill>
          <a:ln w="13970">
            <a:solidFill>
              <a:srgbClr val="B05C1C"/>
            </a:solidFill>
            <a:prstDash val="solid"/>
          </a:ln>
        </p:spPr>
      </p:sp>
      <p:sp>
        <p:nvSpPr>
          <p:cNvPr id="48" name="Text 46"/>
          <p:cNvSpPr txBox="1"/>
          <p:nvPr/>
        </p:nvSpPr>
        <p:spPr>
          <a:xfrm>
            <a:off x="2843784" y="4535424"/>
            <a:ext cx="3639312"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Semantic Error Diagnostic — unconditional</a:t>
            </a:r>
            <a:endParaRPr lang="en-US" sz="1300" dirty="0"/>
          </a:p>
        </p:txBody>
      </p:sp>
      <p:sp>
        <p:nvSpPr>
          <p:cNvPr id="49" name="Shape 47"/>
          <p:cNvSpPr/>
          <p:nvPr/>
        </p:nvSpPr>
        <p:spPr>
          <a:xfrm>
            <a:off x="6675120" y="4498848"/>
            <a:ext cx="3166567" cy="420624"/>
          </a:xfrm>
          <a:prstGeom prst="roundRect">
            <a:avLst>
              <a:gd name="adj" fmla="val 10870"/>
            </a:avLst>
          </a:prstGeom>
          <a:solidFill>
            <a:srgbClr val="FFFFFF"/>
          </a:solidFill>
          <a:ln w="13970">
            <a:solidFill>
              <a:srgbClr val="B05C1C"/>
            </a:solidFill>
            <a:prstDash val="solid"/>
          </a:ln>
        </p:spPr>
      </p:sp>
      <p:sp>
        <p:nvSpPr>
          <p:cNvPr id="50" name="Text 48"/>
          <p:cNvSpPr txBox="1"/>
          <p:nvPr/>
        </p:nvSpPr>
        <p:spPr>
          <a:xfrm>
            <a:off x="6729984" y="4535424"/>
            <a:ext cx="3056839"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Backward Causal Tracer</a:t>
            </a:r>
            <a:endParaRPr lang="en-US" sz="1300" dirty="0"/>
          </a:p>
        </p:txBody>
      </p:sp>
      <p:sp>
        <p:nvSpPr>
          <p:cNvPr id="51" name="Shape 49"/>
          <p:cNvSpPr/>
          <p:nvPr/>
        </p:nvSpPr>
        <p:spPr>
          <a:xfrm flipH="1">
            <a:off x="6313018" y="4443984"/>
            <a:ext cx="331013" cy="54864"/>
          </a:xfrm>
          <a:prstGeom prst="line">
            <a:avLst/>
          </a:prstGeom>
          <a:noFill/>
          <a:ln w="15875">
            <a:solidFill>
              <a:srgbClr val="596273"/>
            </a:solidFill>
            <a:prstDash val="solid"/>
            <a:tailEnd type="triangle"/>
          </a:ln>
        </p:spPr>
      </p:sp>
      <p:sp>
        <p:nvSpPr>
          <p:cNvPr id="52" name="Shape 50"/>
          <p:cNvSpPr/>
          <p:nvPr/>
        </p:nvSpPr>
        <p:spPr>
          <a:xfrm flipH="1">
            <a:off x="6960111" y="4443984"/>
            <a:ext cx="166723" cy="54864"/>
          </a:xfrm>
          <a:prstGeom prst="line">
            <a:avLst/>
          </a:prstGeom>
          <a:noFill/>
          <a:ln w="15875">
            <a:solidFill>
              <a:srgbClr val="596273"/>
            </a:solidFill>
            <a:prstDash val="solid"/>
            <a:tailEnd type="triangle"/>
          </a:ln>
        </p:spPr>
      </p:sp>
      <p:sp>
        <p:nvSpPr>
          <p:cNvPr id="53" name="Shape 51"/>
          <p:cNvSpPr/>
          <p:nvPr/>
        </p:nvSpPr>
        <p:spPr>
          <a:xfrm>
            <a:off x="2651760" y="5120640"/>
            <a:ext cx="7327087" cy="1152144"/>
          </a:xfrm>
          <a:prstGeom prst="roundRect">
            <a:avLst>
              <a:gd name="adj" fmla="val 4762"/>
            </a:avLst>
          </a:prstGeom>
          <a:solidFill>
            <a:srgbClr val="E4E9F2"/>
          </a:solidFill>
          <a:ln w="15240">
            <a:solidFill>
              <a:srgbClr val="31558F"/>
            </a:solidFill>
            <a:prstDash val="solid"/>
          </a:ln>
        </p:spPr>
      </p:sp>
      <p:sp>
        <p:nvSpPr>
          <p:cNvPr id="54" name="Text 52"/>
          <p:cNvSpPr txBox="1"/>
          <p:nvPr/>
        </p:nvSpPr>
        <p:spPr>
          <a:xfrm>
            <a:off x="2779776" y="5157216"/>
            <a:ext cx="3657600" cy="219456"/>
          </a:xfrm>
          <a:prstGeom prst="rect">
            <a:avLst/>
          </a:prstGeom>
          <a:noFill/>
          <a:ln/>
        </p:spPr>
        <p:txBody>
          <a:bodyPr wrap="square" lIns="0" tIns="0" rIns="0" bIns="0" rtlCol="0" anchor="ctr"/>
          <a:lstStyle/>
          <a:p>
            <a:pPr indent="0" marL="0">
              <a:buNone/>
            </a:pPr>
            <a:r>
              <a:rPr lang="en-US" sz="1200" b="1" spc="50" kern="0" dirty="0">
                <a:solidFill>
                  <a:srgbClr val="31558F"/>
                </a:solidFill>
                <a:latin typeface="Consolas" pitchFamily="34" charset="0"/>
                <a:ea typeface="Consolas" pitchFamily="34" charset="-122"/>
                <a:cs typeface="Consolas" pitchFamily="34" charset="-120"/>
              </a:rPr>
              <a:t>LANE C — PLATFORM</a:t>
            </a:r>
            <a:endParaRPr lang="en-US" sz="1200" dirty="0"/>
          </a:p>
        </p:txBody>
      </p:sp>
      <p:sp>
        <p:nvSpPr>
          <p:cNvPr id="55" name="Shape 53"/>
          <p:cNvSpPr/>
          <p:nvPr/>
        </p:nvSpPr>
        <p:spPr>
          <a:xfrm>
            <a:off x="2788920" y="5394960"/>
            <a:ext cx="2057400" cy="566928"/>
          </a:xfrm>
          <a:prstGeom prst="roundRect">
            <a:avLst>
              <a:gd name="adj" fmla="val 8065"/>
            </a:avLst>
          </a:prstGeom>
          <a:solidFill>
            <a:srgbClr val="FFFFFF"/>
          </a:solidFill>
          <a:ln w="13970">
            <a:solidFill>
              <a:srgbClr val="31558F"/>
            </a:solidFill>
            <a:prstDash val="solid"/>
          </a:ln>
        </p:spPr>
      </p:sp>
      <p:sp>
        <p:nvSpPr>
          <p:cNvPr id="56" name="Text 54"/>
          <p:cNvSpPr txBox="1"/>
          <p:nvPr/>
        </p:nvSpPr>
        <p:spPr>
          <a:xfrm>
            <a:off x="2843784" y="5431536"/>
            <a:ext cx="194767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Repair Agent</a:t>
            </a:r>
            <a:endParaRPr lang="en-US" sz="1300" dirty="0"/>
          </a:p>
        </p:txBody>
      </p:sp>
      <p:sp>
        <p:nvSpPr>
          <p:cNvPr id="57" name="Text 55"/>
          <p:cNvSpPr txBox="1"/>
          <p:nvPr/>
        </p:nvSpPr>
        <p:spPr>
          <a:xfrm>
            <a:off x="2843784" y="5724144"/>
            <a:ext cx="194767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candidate fix</a:t>
            </a:r>
            <a:endParaRPr lang="en-US" sz="1050" dirty="0"/>
          </a:p>
        </p:txBody>
      </p:sp>
      <p:sp>
        <p:nvSpPr>
          <p:cNvPr id="58" name="Shape 56"/>
          <p:cNvSpPr/>
          <p:nvPr/>
        </p:nvSpPr>
        <p:spPr>
          <a:xfrm>
            <a:off x="4974336" y="5394960"/>
            <a:ext cx="2697480" cy="566928"/>
          </a:xfrm>
          <a:prstGeom prst="roundRect">
            <a:avLst>
              <a:gd name="adj" fmla="val 8065"/>
            </a:avLst>
          </a:prstGeom>
          <a:solidFill>
            <a:srgbClr val="FFFFFF"/>
          </a:solidFill>
          <a:ln w="13970">
            <a:solidFill>
              <a:srgbClr val="31558F"/>
            </a:solidFill>
            <a:prstDash val="solid"/>
          </a:ln>
        </p:spPr>
      </p:sp>
      <p:sp>
        <p:nvSpPr>
          <p:cNvPr id="59" name="Text 57"/>
          <p:cNvSpPr txBox="1"/>
          <p:nvPr/>
        </p:nvSpPr>
        <p:spPr>
          <a:xfrm>
            <a:off x="5029200" y="5431536"/>
            <a:ext cx="258775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Verified Automatic Repair</a:t>
            </a:r>
            <a:endParaRPr lang="en-US" sz="1300" dirty="0"/>
          </a:p>
        </p:txBody>
      </p:sp>
      <p:sp>
        <p:nvSpPr>
          <p:cNvPr id="60" name="Text 58"/>
          <p:cNvSpPr txBox="1"/>
          <p:nvPr/>
        </p:nvSpPr>
        <p:spPr>
          <a:xfrm>
            <a:off x="5029200" y="5724144"/>
            <a:ext cx="258775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controlled replay, N runs</a:t>
            </a:r>
            <a:endParaRPr lang="en-US" sz="1050" dirty="0"/>
          </a:p>
        </p:txBody>
      </p:sp>
      <p:sp>
        <p:nvSpPr>
          <p:cNvPr id="61" name="Shape 59"/>
          <p:cNvSpPr/>
          <p:nvPr/>
        </p:nvSpPr>
        <p:spPr>
          <a:xfrm>
            <a:off x="7799832" y="5394960"/>
            <a:ext cx="2041855" cy="566928"/>
          </a:xfrm>
          <a:prstGeom prst="roundRect">
            <a:avLst>
              <a:gd name="adj" fmla="val 8065"/>
            </a:avLst>
          </a:prstGeom>
          <a:solidFill>
            <a:srgbClr val="FFFFFF"/>
          </a:solidFill>
          <a:ln w="13970">
            <a:solidFill>
              <a:srgbClr val="31558F"/>
            </a:solidFill>
            <a:prstDash val="solid"/>
          </a:ln>
        </p:spPr>
      </p:sp>
      <p:sp>
        <p:nvSpPr>
          <p:cNvPr id="62" name="Text 60"/>
          <p:cNvSpPr txBox="1"/>
          <p:nvPr/>
        </p:nvSpPr>
        <p:spPr>
          <a:xfrm>
            <a:off x="7854696" y="5431536"/>
            <a:ext cx="1932127"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Backend API</a:t>
            </a:r>
            <a:endParaRPr lang="en-US" sz="1300" dirty="0"/>
          </a:p>
        </p:txBody>
      </p:sp>
      <p:sp>
        <p:nvSpPr>
          <p:cNvPr id="63" name="Text 61"/>
          <p:cNvSpPr txBox="1"/>
          <p:nvPr/>
        </p:nvSpPr>
        <p:spPr>
          <a:xfrm>
            <a:off x="7854696" y="5724144"/>
            <a:ext cx="1932127"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FastAPI</a:t>
            </a:r>
            <a:endParaRPr lang="en-US" sz="1050" dirty="0"/>
          </a:p>
        </p:txBody>
      </p:sp>
      <p:sp>
        <p:nvSpPr>
          <p:cNvPr id="64" name="Shape 62"/>
          <p:cNvSpPr/>
          <p:nvPr/>
        </p:nvSpPr>
        <p:spPr>
          <a:xfrm>
            <a:off x="4846320" y="5678424"/>
            <a:ext cx="128016" cy="914"/>
          </a:xfrm>
          <a:prstGeom prst="line">
            <a:avLst/>
          </a:prstGeom>
          <a:noFill/>
          <a:ln w="15875">
            <a:solidFill>
              <a:srgbClr val="31558F"/>
            </a:solidFill>
            <a:prstDash val="solid"/>
            <a:tailEnd type="triangle"/>
          </a:ln>
        </p:spPr>
      </p:sp>
      <p:sp>
        <p:nvSpPr>
          <p:cNvPr id="65" name="Shape 63"/>
          <p:cNvSpPr/>
          <p:nvPr/>
        </p:nvSpPr>
        <p:spPr>
          <a:xfrm>
            <a:off x="7671816" y="5678424"/>
            <a:ext cx="128016" cy="914"/>
          </a:xfrm>
          <a:prstGeom prst="line">
            <a:avLst/>
          </a:prstGeom>
          <a:noFill/>
          <a:ln w="15875">
            <a:solidFill>
              <a:srgbClr val="31558F"/>
            </a:solidFill>
            <a:prstDash val="solid"/>
            <a:tailEnd type="triangle"/>
          </a:ln>
        </p:spPr>
      </p:sp>
      <p:sp>
        <p:nvSpPr>
          <p:cNvPr id="66" name="Text 64"/>
          <p:cNvSpPr txBox="1"/>
          <p:nvPr/>
        </p:nvSpPr>
        <p:spPr>
          <a:xfrm>
            <a:off x="2788920" y="5998464"/>
            <a:ext cx="7052767" cy="237744"/>
          </a:xfrm>
          <a:prstGeom prst="rect">
            <a:avLst/>
          </a:prstGeom>
          <a:noFill/>
          <a:ln/>
        </p:spPr>
        <p:txBody>
          <a:bodyPr wrap="square" lIns="0" tIns="0" rIns="0" bIns="0" rtlCol="0" anchor="ctr"/>
          <a:lstStyle/>
          <a:p>
            <a:pPr indent="0" marL="0">
              <a:buNone/>
            </a:pPr>
            <a:r>
              <a:rPr lang="en-US" sz="1250" b="1" i="1" dirty="0">
                <a:solidFill>
                  <a:srgbClr val="A8760F"/>
                </a:solidFill>
                <a:latin typeface="Calibri" pitchFamily="34" charset="0"/>
                <a:ea typeface="Calibri" pitchFamily="34" charset="-122"/>
                <a:cs typeface="Calibri" pitchFamily="34" charset="-120"/>
              </a:rPr>
              <a:t>Tier 2 (gated): </a:t>
            </a:r>
            <a:pPr indent="0" marL="0">
              <a:buNone/>
            </a:pPr>
            <a:r>
              <a:rPr lang="en-US" sz="1250" i="1" dirty="0">
                <a:solidFill>
                  <a:srgbClr val="1B202A"/>
                </a:solidFill>
                <a:latin typeface="Calibri" pitchFamily="34" charset="0"/>
                <a:ea typeface="Calibri" pitchFamily="34" charset="-122"/>
                <a:cs typeface="Calibri" pitchFamily="34" charset="-120"/>
              </a:rPr>
              <a:t>Recovery Controller + Verified Repair Memory   ·   Postgres   ·   Dashboard</a:t>
            </a:r>
            <a:endParaRPr lang="en-US" sz="1250" dirty="0"/>
          </a:p>
        </p:txBody>
      </p:sp>
      <p:sp>
        <p:nvSpPr>
          <p:cNvPr id="67" name="Shape 65"/>
          <p:cNvSpPr/>
          <p:nvPr/>
        </p:nvSpPr>
        <p:spPr>
          <a:xfrm>
            <a:off x="6315304" y="5001768"/>
            <a:ext cx="914" cy="109728"/>
          </a:xfrm>
          <a:prstGeom prst="line">
            <a:avLst/>
          </a:prstGeom>
          <a:noFill/>
          <a:ln w="15875">
            <a:solidFill>
              <a:srgbClr val="596273"/>
            </a:solidFill>
            <a:prstDash val="solid"/>
            <a:tailEnd type="triangle"/>
          </a:ln>
        </p:spPr>
      </p:sp>
      <p:sp>
        <p:nvSpPr>
          <p:cNvPr id="68" name="Shape 66"/>
          <p:cNvSpPr/>
          <p:nvPr/>
        </p:nvSpPr>
        <p:spPr>
          <a:xfrm>
            <a:off x="10298887" y="3758184"/>
            <a:ext cx="1325880" cy="1133856"/>
          </a:xfrm>
          <a:prstGeom prst="roundRect">
            <a:avLst>
              <a:gd name="adj" fmla="val 4839"/>
            </a:avLst>
          </a:prstGeom>
          <a:solidFill>
            <a:srgbClr val="FBF3E3"/>
          </a:solidFill>
          <a:ln w="19050">
            <a:solidFill>
              <a:srgbClr val="8E6A1F"/>
            </a:solidFill>
            <a:prstDash val="dash"/>
          </a:ln>
        </p:spPr>
      </p:sp>
      <p:sp>
        <p:nvSpPr>
          <p:cNvPr id="69" name="Text 67"/>
          <p:cNvSpPr txBox="1"/>
          <p:nvPr/>
        </p:nvSpPr>
        <p:spPr>
          <a:xfrm>
            <a:off x="10344607" y="3794760"/>
            <a:ext cx="1234440" cy="1060704"/>
          </a:xfrm>
          <a:prstGeom prst="rect">
            <a:avLst/>
          </a:prstGeom>
          <a:noFill/>
          <a:ln/>
        </p:spPr>
        <p:txBody>
          <a:bodyPr wrap="square" lIns="0" tIns="0" rIns="0" bIns="0" rtlCol="0" anchor="ctr"/>
          <a:lstStyle/>
          <a:p>
            <a:pPr algn="ctr" indent="0" marL="0">
              <a:buNone/>
            </a:pPr>
            <a:r>
              <a:rPr lang="en-US" sz="1500" b="1" dirty="0">
                <a:solidFill>
                  <a:srgbClr val="8E6A1F"/>
                </a:solidFill>
                <a:latin typeface="Calibri" pitchFamily="34" charset="0"/>
                <a:ea typeface="Calibri" pitchFamily="34" charset="-122"/>
                <a:cs typeface="Calibri" pitchFamily="34" charset="-120"/>
              </a:rPr>
              <a:t>LLM API</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core-assist only</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~15–20% of components</a:t>
            </a:r>
            <a:endParaRPr lang="en-US" sz="1500" dirty="0"/>
          </a:p>
        </p:txBody>
      </p:sp>
      <p:sp>
        <p:nvSpPr>
          <p:cNvPr id="70" name="Shape 68"/>
          <p:cNvSpPr/>
          <p:nvPr/>
        </p:nvSpPr>
        <p:spPr>
          <a:xfrm flipV="1">
            <a:off x="10116007" y="4105656"/>
            <a:ext cx="182880" cy="45720"/>
          </a:xfrm>
          <a:prstGeom prst="line">
            <a:avLst/>
          </a:prstGeom>
          <a:noFill/>
          <a:ln w="15875">
            <a:solidFill>
              <a:srgbClr val="C89B3C"/>
            </a:solidFill>
            <a:prstDash val="dash"/>
            <a:tailEnd type="triangle"/>
          </a:ln>
        </p:spPr>
      </p:sp>
      <p:sp>
        <p:nvSpPr>
          <p:cNvPr id="71" name="Shape 69"/>
          <p:cNvSpPr/>
          <p:nvPr/>
        </p:nvSpPr>
        <p:spPr>
          <a:xfrm flipV="1">
            <a:off x="10116007" y="4544568"/>
            <a:ext cx="182880" cy="1124712"/>
          </a:xfrm>
          <a:prstGeom prst="line">
            <a:avLst/>
          </a:prstGeom>
          <a:noFill/>
          <a:ln w="15875">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POC / Feasibility Evidence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7 / 12</a:t>
            </a:r>
            <a:endParaRPr lang="en-US" sz="1300" dirty="0"/>
          </a:p>
        </p:txBody>
      </p:sp>
      <p:sp>
        <p:nvSpPr>
          <p:cNvPr id="10" name="Text 8"/>
          <p:cNvSpPr txBox="1"/>
          <p:nvPr/>
        </p:nvSpPr>
        <p:spPr>
          <a:xfrm>
            <a:off x="56692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71.4%</a:t>
            </a:r>
            <a:endParaRPr lang="en-US" sz="2600" dirty="0"/>
          </a:p>
        </p:txBody>
      </p:sp>
      <p:sp>
        <p:nvSpPr>
          <p:cNvPr id="11" name="Text 9"/>
          <p:cNvSpPr txBox="1"/>
          <p:nvPr/>
        </p:nvSpPr>
        <p:spPr>
          <a:xfrm>
            <a:off x="56692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agent accuracy (5 runs)</a:t>
            </a:r>
            <a:endParaRPr lang="en-US" sz="1500" dirty="0"/>
          </a:p>
        </p:txBody>
      </p:sp>
      <p:sp>
        <p:nvSpPr>
          <p:cNvPr id="12" name="Text 10"/>
          <p:cNvSpPr txBox="1"/>
          <p:nvPr/>
        </p:nvSpPr>
        <p:spPr>
          <a:xfrm>
            <a:off x="333138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13.2%</a:t>
            </a:r>
            <a:endParaRPr lang="en-US" sz="2600" dirty="0"/>
          </a:p>
        </p:txBody>
      </p:sp>
      <p:sp>
        <p:nvSpPr>
          <p:cNvPr id="13" name="Text 11"/>
          <p:cNvSpPr txBox="1"/>
          <p:nvPr/>
        </p:nvSpPr>
        <p:spPr>
          <a:xfrm>
            <a:off x="333138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step accuracy (5 runs)</a:t>
            </a:r>
            <a:endParaRPr lang="en-US" sz="1500" dirty="0"/>
          </a:p>
        </p:txBody>
      </p:sp>
      <p:sp>
        <p:nvSpPr>
          <p:cNvPr id="14" name="Text 12"/>
          <p:cNvSpPr txBox="1"/>
          <p:nvPr/>
        </p:nvSpPr>
        <p:spPr>
          <a:xfrm>
            <a:off x="609584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4 / 6</a:t>
            </a:r>
            <a:endParaRPr lang="en-US" sz="2600" dirty="0"/>
          </a:p>
        </p:txBody>
      </p:sp>
      <p:sp>
        <p:nvSpPr>
          <p:cNvPr id="15" name="Text 13"/>
          <p:cNvSpPr txBox="1"/>
          <p:nvPr/>
        </p:nvSpPr>
        <p:spPr>
          <a:xfrm>
            <a:off x="609584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Repair Agent success</a:t>
            </a:r>
            <a:endParaRPr lang="en-US" sz="1500" dirty="0"/>
          </a:p>
        </p:txBody>
      </p:sp>
      <p:sp>
        <p:nvSpPr>
          <p:cNvPr id="16" name="Text 14"/>
          <p:cNvSpPr txBox="1"/>
          <p:nvPr/>
        </p:nvSpPr>
        <p:spPr>
          <a:xfrm>
            <a:off x="8860307"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8 / 8</a:t>
            </a:r>
            <a:endParaRPr lang="en-US" sz="2600" dirty="0"/>
          </a:p>
        </p:txBody>
      </p:sp>
      <p:sp>
        <p:nvSpPr>
          <p:cNvPr id="17" name="Text 15"/>
          <p:cNvSpPr txBox="1"/>
          <p:nvPr/>
        </p:nvSpPr>
        <p:spPr>
          <a:xfrm>
            <a:off x="8860307"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spikes with real evidence</a:t>
            </a:r>
            <a:endParaRPr lang="en-US" sz="1500" dirty="0"/>
          </a:p>
        </p:txBody>
      </p:sp>
      <p:sp>
        <p:nvSpPr>
          <p:cNvPr id="18" name="Shape 16"/>
          <p:cNvSpPr/>
          <p:nvPr/>
        </p:nvSpPr>
        <p:spPr>
          <a:xfrm>
            <a:off x="566928" y="2048256"/>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76272"/>
          <a:ext cx="11057839" cy="4114800"/>
        </p:xfrm>
        <a:graphic>
          <a:graphicData uri="http://schemas.openxmlformats.org/drawingml/2006/table">
            <a:tbl>
              <a:tblPr/>
              <a:tblGrid>
                <a:gridCol w="713232"/>
                <a:gridCol w="2468880"/>
                <a:gridCol w="1874520"/>
                <a:gridCol w="6001207"/>
              </a:tblGrid>
              <a:tr h="457200">
                <a:tc>
                  <a:txBody>
                    <a:bodyPr/>
                    <a:lstStyle/>
                    <a:p>
                      <a:pPr algn="ctr" indent="0" marL="0">
                        <a:buNone/>
                      </a:pPr>
                      <a:r>
                        <a:rPr lang="en-US" sz="1550" b="1" dirty="0">
                          <a:solidFill>
                            <a:srgbClr val="F5F6F8"/>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Spike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Status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Result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1</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ErrorProbe reproduction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agent 62.5–85.7%, step 0–25% — 5 real runs, a range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2</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CrewAI instrumentation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3 nodes, 2 clean edges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3/3b</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Fault injection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1 case self-corrected — kept as a finding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4</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Semantic Error Diagnostic</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Near-miss ($20.00 vs $19.75) caught, zero false positives — seeded test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5</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Counterfactual replay</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97.2 corrupted → 108.0 recovered, recovery_success = true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6</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Cyclic graph handling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Bound disabled → hits the 10,000-step safety cap</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7</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Preventive classifier</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b="1" dirty="0">
                          <a:solidFill>
                            <a:srgbClr val="A8760F"/>
                          </a:solidFill>
                          <a:latin typeface="Calibri" pitchFamily="34" charset="0"/>
                          <a:ea typeface="Calibri" pitchFamily="34" charset="-122"/>
                          <a:cs typeface="Calibri" pitchFamily="34" charset="-120"/>
                        </a:rPr>
                        <a:t>HONEST NEGATIVE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 / R / F1 = 0.25, near-random — reported, not hidden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8</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Repair Agent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4/6 success; both failures share one fixable cause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Evaluation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8 / 12</a:t>
            </a:r>
            <a:endParaRPr lang="en-US" sz="1300" dirty="0"/>
          </a:p>
        </p:txBody>
      </p:sp>
      <p:sp>
        <p:nvSpPr>
          <p:cNvPr id="10" name="Shape 8"/>
          <p:cNvSpPr/>
          <p:nvPr/>
        </p:nvSpPr>
        <p:spPr>
          <a:xfrm>
            <a:off x="587045" y="1305763"/>
            <a:ext cx="11057839" cy="731520"/>
          </a:xfrm>
          <a:prstGeom prst="roundRect">
            <a:avLst>
              <a:gd name="adj" fmla="val 7500"/>
            </a:avLst>
          </a:prstGeom>
          <a:solidFill>
            <a:srgbClr val="E4E6EB"/>
          </a:solidFill>
          <a:ln/>
        </p:spPr>
      </p:sp>
      <p:sp>
        <p:nvSpPr>
          <p:cNvPr id="11" name="Shape 9"/>
          <p:cNvSpPr/>
          <p:nvPr/>
        </p:nvSpPr>
        <p:spPr>
          <a:xfrm>
            <a:off x="566928" y="1280160"/>
            <a:ext cx="11057839" cy="731520"/>
          </a:xfrm>
          <a:prstGeom prst="roundRect">
            <a:avLst>
              <a:gd name="adj" fmla="val 7500"/>
            </a:avLst>
          </a:prstGeom>
          <a:solidFill>
            <a:srgbClr val="F1F2F5"/>
          </a:solidFill>
          <a:ln w="9525">
            <a:solidFill>
              <a:srgbClr val="D9DCE3"/>
            </a:solidFill>
            <a:prstDash val="solid"/>
          </a:ln>
        </p:spPr>
      </p:sp>
      <p:sp>
        <p:nvSpPr>
          <p:cNvPr id="12" name="Shape 10"/>
          <p:cNvSpPr/>
          <p:nvPr/>
        </p:nvSpPr>
        <p:spPr>
          <a:xfrm>
            <a:off x="566928" y="1335024"/>
            <a:ext cx="41148" cy="621792"/>
          </a:xfrm>
          <a:prstGeom prst="rect">
            <a:avLst/>
          </a:prstGeom>
          <a:solidFill>
            <a:srgbClr val="C89B3C"/>
          </a:solidFill>
          <a:ln/>
        </p:spPr>
      </p:sp>
      <p:sp>
        <p:nvSpPr>
          <p:cNvPr id="13" name="Text 11"/>
          <p:cNvSpPr txBox="1"/>
          <p:nvPr/>
        </p:nvSpPr>
        <p:spPr>
          <a:xfrm>
            <a:off x="804672" y="1280160"/>
            <a:ext cx="10582351" cy="73152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2000" dirty="0">
                <a:solidFill>
                  <a:srgbClr val="1B202A"/>
                </a:solidFill>
                <a:latin typeface="Calibri" pitchFamily="34" charset="0"/>
                <a:ea typeface="Calibri" pitchFamily="34" charset="-122"/>
                <a:cs typeface="Calibri" pitchFamily="34" charset="-120"/>
              </a:rPr>
              <a:t>The reproduction is accepted within ±10 points of ErrorProbe’s published 59.5% on a comparable-class backbone — decided before any result exists.</a:t>
            </a:r>
            <a:endParaRPr lang="en-US" sz="2000" dirty="0"/>
          </a:p>
        </p:txBody>
      </p:sp>
      <p:sp>
        <p:nvSpPr>
          <p:cNvPr id="14" name="Text 12"/>
          <p:cNvSpPr txBox="1"/>
          <p:nvPr/>
        </p:nvSpPr>
        <p:spPr>
          <a:xfrm>
            <a:off x="56692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METRICS</a:t>
            </a:r>
            <a:endParaRPr lang="en-US" sz="1800" dirty="0"/>
          </a:p>
        </p:txBody>
      </p:sp>
      <p:sp>
        <p:nvSpPr>
          <p:cNvPr id="15" name="Text 13"/>
          <p:cNvSpPr txBox="1"/>
          <p:nvPr/>
        </p:nvSpPr>
        <p:spPr>
          <a:xfrm>
            <a:off x="566928" y="2487168"/>
            <a:ext cx="5391760" cy="290779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Agent-level and step-level accuracy</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Propagation-path F1</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Silent-failure precision / recall</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Abstention rate on unverifiable claims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False-positive rate on clean controls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Recovery rate · repair success rate</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Latency overhead — the NFR, target &lt; 50%</a:t>
            </a:r>
            <a:endParaRPr lang="en-US" sz="2000" dirty="0"/>
          </a:p>
        </p:txBody>
      </p:sp>
      <p:sp>
        <p:nvSpPr>
          <p:cNvPr id="16" name="Text 14"/>
          <p:cNvSpPr txBox="1"/>
          <p:nvPr/>
        </p:nvSpPr>
        <p:spPr>
          <a:xfrm>
            <a:off x="623300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SUCCESS BANDS</a:t>
            </a:r>
            <a:endParaRPr lang="en-US" sz="1800" dirty="0"/>
          </a:p>
        </p:txBody>
      </p:sp>
      <p:sp>
        <p:nvSpPr>
          <p:cNvPr id="17" name="Shape 15"/>
          <p:cNvSpPr/>
          <p:nvPr/>
        </p:nvSpPr>
        <p:spPr>
          <a:xfrm>
            <a:off x="6253124" y="2512771"/>
            <a:ext cx="5391760" cy="932688"/>
          </a:xfrm>
          <a:prstGeom prst="roundRect">
            <a:avLst>
              <a:gd name="adj" fmla="val 5882"/>
            </a:avLst>
          </a:prstGeom>
          <a:solidFill>
            <a:srgbClr val="E4E6EB"/>
          </a:solidFill>
          <a:ln/>
        </p:spPr>
      </p:sp>
      <p:sp>
        <p:nvSpPr>
          <p:cNvPr id="18" name="Shape 16"/>
          <p:cNvSpPr/>
          <p:nvPr/>
        </p:nvSpPr>
        <p:spPr>
          <a:xfrm>
            <a:off x="6233008" y="2487168"/>
            <a:ext cx="5391760" cy="932688"/>
          </a:xfrm>
          <a:prstGeom prst="roundRect">
            <a:avLst>
              <a:gd name="adj" fmla="val 5882"/>
            </a:avLst>
          </a:prstGeom>
          <a:solidFill>
            <a:srgbClr val="F7EFDC"/>
          </a:solidFill>
          <a:ln w="9525">
            <a:solidFill>
              <a:srgbClr val="D9DCE3"/>
            </a:solidFill>
            <a:prstDash val="solid"/>
          </a:ln>
        </p:spPr>
      </p:sp>
      <p:sp>
        <p:nvSpPr>
          <p:cNvPr id="19" name="Shape 17"/>
          <p:cNvSpPr/>
          <p:nvPr/>
        </p:nvSpPr>
        <p:spPr>
          <a:xfrm>
            <a:off x="6233008" y="2542032"/>
            <a:ext cx="41148" cy="822960"/>
          </a:xfrm>
          <a:prstGeom prst="rect">
            <a:avLst/>
          </a:prstGeom>
          <a:solidFill>
            <a:srgbClr val="A8760F"/>
          </a:solidFill>
          <a:ln/>
        </p:spPr>
      </p:sp>
      <p:sp>
        <p:nvSpPr>
          <p:cNvPr id="20" name="Text 18"/>
          <p:cNvSpPr txBox="1"/>
          <p:nvPr/>
        </p:nvSpPr>
        <p:spPr>
          <a:xfrm>
            <a:off x="6397600" y="2551176"/>
            <a:ext cx="5062576" cy="292608"/>
          </a:xfrm>
          <a:prstGeom prst="rect">
            <a:avLst/>
          </a:prstGeom>
          <a:noFill/>
          <a:ln/>
        </p:spPr>
        <p:txBody>
          <a:bodyPr wrap="square" lIns="0" tIns="0" rIns="0" bIns="0" rtlCol="0" anchor="ctr"/>
          <a:lstStyle/>
          <a:p>
            <a:pPr indent="0" marL="0">
              <a:buNone/>
            </a:pPr>
            <a:r>
              <a:rPr lang="en-US" sz="2000" b="1" dirty="0">
                <a:solidFill>
                  <a:srgbClr val="A8760F"/>
                </a:solidFill>
                <a:latin typeface="Georgia" pitchFamily="34" charset="0"/>
                <a:ea typeface="Georgia" pitchFamily="34" charset="-122"/>
                <a:cs typeface="Georgia" pitchFamily="34" charset="-120"/>
              </a:rPr>
              <a:t>Acceptable</a:t>
            </a:r>
            <a:endParaRPr lang="en-US" sz="2000" dirty="0"/>
          </a:p>
        </p:txBody>
      </p:sp>
      <p:sp>
        <p:nvSpPr>
          <p:cNvPr id="21" name="Text 19"/>
          <p:cNvSpPr txBox="1"/>
          <p:nvPr/>
        </p:nvSpPr>
        <p:spPr>
          <a:xfrm>
            <a:off x="6397600" y="2871216"/>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Parity on Who&amp;When, plus any cross-architecture result</a:t>
            </a:r>
            <a:endParaRPr lang="en-US" sz="1700" dirty="0"/>
          </a:p>
        </p:txBody>
      </p:sp>
      <p:sp>
        <p:nvSpPr>
          <p:cNvPr id="22" name="Shape 20"/>
          <p:cNvSpPr/>
          <p:nvPr/>
        </p:nvSpPr>
        <p:spPr>
          <a:xfrm>
            <a:off x="6253124" y="3500323"/>
            <a:ext cx="5391760" cy="932688"/>
          </a:xfrm>
          <a:prstGeom prst="roundRect">
            <a:avLst>
              <a:gd name="adj" fmla="val 5882"/>
            </a:avLst>
          </a:prstGeom>
          <a:solidFill>
            <a:srgbClr val="E4E6EB"/>
          </a:solidFill>
          <a:ln/>
        </p:spPr>
      </p:sp>
      <p:sp>
        <p:nvSpPr>
          <p:cNvPr id="23" name="Shape 21"/>
          <p:cNvSpPr/>
          <p:nvPr/>
        </p:nvSpPr>
        <p:spPr>
          <a:xfrm>
            <a:off x="6233008" y="3474720"/>
            <a:ext cx="5391760" cy="932688"/>
          </a:xfrm>
          <a:prstGeom prst="roundRect">
            <a:avLst>
              <a:gd name="adj" fmla="val 5882"/>
            </a:avLst>
          </a:prstGeom>
          <a:solidFill>
            <a:srgbClr val="E3EFF1"/>
          </a:solidFill>
          <a:ln w="9525">
            <a:solidFill>
              <a:srgbClr val="D9DCE3"/>
            </a:solidFill>
            <a:prstDash val="solid"/>
          </a:ln>
        </p:spPr>
      </p:sp>
      <p:sp>
        <p:nvSpPr>
          <p:cNvPr id="24" name="Shape 22"/>
          <p:cNvSpPr/>
          <p:nvPr/>
        </p:nvSpPr>
        <p:spPr>
          <a:xfrm>
            <a:off x="6233008" y="3529584"/>
            <a:ext cx="41148" cy="822960"/>
          </a:xfrm>
          <a:prstGeom prst="rect">
            <a:avLst/>
          </a:prstGeom>
          <a:solidFill>
            <a:srgbClr val="15707A"/>
          </a:solidFill>
          <a:ln/>
        </p:spPr>
      </p:sp>
      <p:sp>
        <p:nvSpPr>
          <p:cNvPr id="25" name="Text 23"/>
          <p:cNvSpPr txBox="1"/>
          <p:nvPr/>
        </p:nvSpPr>
        <p:spPr>
          <a:xfrm>
            <a:off x="6397600" y="3538728"/>
            <a:ext cx="5062576" cy="292608"/>
          </a:xfrm>
          <a:prstGeom prst="rect">
            <a:avLst/>
          </a:prstGeom>
          <a:noFill/>
          <a:ln/>
        </p:spPr>
        <p:txBody>
          <a:bodyPr wrap="square" lIns="0" tIns="0" rIns="0" bIns="0" rtlCol="0" anchor="ctr"/>
          <a:lstStyle/>
          <a:p>
            <a:pPr indent="0" marL="0">
              <a:buNone/>
            </a:pPr>
            <a:r>
              <a:rPr lang="en-US" sz="2000" b="1" dirty="0">
                <a:solidFill>
                  <a:srgbClr val="15707A"/>
                </a:solidFill>
                <a:latin typeface="Georgia" pitchFamily="34" charset="0"/>
                <a:ea typeface="Georgia" pitchFamily="34" charset="-122"/>
                <a:cs typeface="Georgia" pitchFamily="34" charset="-120"/>
              </a:rPr>
              <a:t>Strong</a:t>
            </a:r>
            <a:endParaRPr lang="en-US" sz="2000" dirty="0"/>
          </a:p>
        </p:txBody>
      </p:sp>
      <p:sp>
        <p:nvSpPr>
          <p:cNvPr id="26" name="Text 24"/>
          <p:cNvSpPr txBox="1"/>
          <p:nvPr/>
        </p:nvSpPr>
        <p:spPr>
          <a:xfrm>
            <a:off x="6397600" y="3858768"/>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Beats the baseline on unseen architectures, &gt;70% SF recall</a:t>
            </a:r>
            <a:endParaRPr lang="en-US" sz="1700" dirty="0"/>
          </a:p>
        </p:txBody>
      </p:sp>
      <p:sp>
        <p:nvSpPr>
          <p:cNvPr id="27" name="Shape 25"/>
          <p:cNvSpPr/>
          <p:nvPr/>
        </p:nvSpPr>
        <p:spPr>
          <a:xfrm>
            <a:off x="6253124" y="4487875"/>
            <a:ext cx="5391760" cy="932688"/>
          </a:xfrm>
          <a:prstGeom prst="roundRect">
            <a:avLst>
              <a:gd name="adj" fmla="val 5882"/>
            </a:avLst>
          </a:prstGeom>
          <a:solidFill>
            <a:srgbClr val="E4E6EB"/>
          </a:solidFill>
          <a:ln/>
        </p:spPr>
      </p:sp>
      <p:sp>
        <p:nvSpPr>
          <p:cNvPr id="28" name="Shape 26"/>
          <p:cNvSpPr/>
          <p:nvPr/>
        </p:nvSpPr>
        <p:spPr>
          <a:xfrm>
            <a:off x="6233008" y="4462272"/>
            <a:ext cx="5391760" cy="932688"/>
          </a:xfrm>
          <a:prstGeom prst="roundRect">
            <a:avLst>
              <a:gd name="adj" fmla="val 5882"/>
            </a:avLst>
          </a:prstGeom>
          <a:solidFill>
            <a:srgbClr val="E6F1EB"/>
          </a:solidFill>
          <a:ln w="9525">
            <a:solidFill>
              <a:srgbClr val="D9DCE3"/>
            </a:solidFill>
            <a:prstDash val="solid"/>
          </a:ln>
        </p:spPr>
      </p:sp>
      <p:sp>
        <p:nvSpPr>
          <p:cNvPr id="29" name="Shape 27"/>
          <p:cNvSpPr/>
          <p:nvPr/>
        </p:nvSpPr>
        <p:spPr>
          <a:xfrm>
            <a:off x="6233008" y="4517136"/>
            <a:ext cx="41148" cy="822960"/>
          </a:xfrm>
          <a:prstGeom prst="rect">
            <a:avLst/>
          </a:prstGeom>
          <a:solidFill>
            <a:srgbClr val="1E7A52"/>
          </a:solidFill>
          <a:ln/>
        </p:spPr>
      </p:sp>
      <p:sp>
        <p:nvSpPr>
          <p:cNvPr id="30" name="Text 28"/>
          <p:cNvSpPr txBox="1"/>
          <p:nvPr/>
        </p:nvSpPr>
        <p:spPr>
          <a:xfrm>
            <a:off x="6397600" y="4526280"/>
            <a:ext cx="5062576" cy="292608"/>
          </a:xfrm>
          <a:prstGeom prst="rect">
            <a:avLst/>
          </a:prstGeom>
          <a:noFill/>
          <a:ln/>
        </p:spPr>
        <p:txBody>
          <a:bodyPr wrap="square" lIns="0" tIns="0" rIns="0" bIns="0" rtlCol="0" anchor="ctr"/>
          <a:lstStyle/>
          <a:p>
            <a:pPr indent="0" marL="0">
              <a:buNone/>
            </a:pPr>
            <a:r>
              <a:rPr lang="en-US" sz="2000" b="1" dirty="0">
                <a:solidFill>
                  <a:srgbClr val="1E7A52"/>
                </a:solidFill>
                <a:latin typeface="Georgia" pitchFamily="34" charset="0"/>
                <a:ea typeface="Georgia" pitchFamily="34" charset="-122"/>
                <a:cs typeface="Georgia" pitchFamily="34" charset="-120"/>
              </a:rPr>
              <a:t>Exceptional</a:t>
            </a:r>
            <a:endParaRPr lang="en-US" sz="2000" dirty="0"/>
          </a:p>
        </p:txBody>
      </p:sp>
      <p:sp>
        <p:nvSpPr>
          <p:cNvPr id="31" name="Text 29"/>
          <p:cNvSpPr txBox="1"/>
          <p:nvPr/>
        </p:nvSpPr>
        <p:spPr>
          <a:xfrm>
            <a:off x="6397600" y="4846320"/>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Strong, plus &gt;50% verified-repair recovery rate</a:t>
            </a:r>
            <a:endParaRPr lang="en-US" sz="1700" dirty="0"/>
          </a:p>
        </p:txBody>
      </p:sp>
      <p:sp>
        <p:nvSpPr>
          <p:cNvPr id="32" name="Shape 30"/>
          <p:cNvSpPr/>
          <p:nvPr/>
        </p:nvSpPr>
        <p:spPr>
          <a:xfrm>
            <a:off x="587045" y="5457139"/>
            <a:ext cx="11057839" cy="786384"/>
          </a:xfrm>
          <a:prstGeom prst="roundRect">
            <a:avLst>
              <a:gd name="adj" fmla="val 6977"/>
            </a:avLst>
          </a:prstGeom>
          <a:solidFill>
            <a:srgbClr val="E4E6EB"/>
          </a:solidFill>
          <a:ln/>
        </p:spPr>
      </p:sp>
      <p:sp>
        <p:nvSpPr>
          <p:cNvPr id="33" name="Shape 31"/>
          <p:cNvSpPr/>
          <p:nvPr/>
        </p:nvSpPr>
        <p:spPr>
          <a:xfrm>
            <a:off x="566928" y="5431536"/>
            <a:ext cx="11057839" cy="786384"/>
          </a:xfrm>
          <a:prstGeom prst="roundRect">
            <a:avLst>
              <a:gd name="adj" fmla="val 6977"/>
            </a:avLst>
          </a:prstGeom>
          <a:solidFill>
            <a:srgbClr val="F1F2F5"/>
          </a:solidFill>
          <a:ln w="9525">
            <a:solidFill>
              <a:srgbClr val="D9DCE3"/>
            </a:solidFill>
            <a:prstDash val="solid"/>
          </a:ln>
        </p:spPr>
      </p:sp>
      <p:sp>
        <p:nvSpPr>
          <p:cNvPr id="34" name="Shape 32"/>
          <p:cNvSpPr/>
          <p:nvPr/>
        </p:nvSpPr>
        <p:spPr>
          <a:xfrm>
            <a:off x="566928" y="5486400"/>
            <a:ext cx="41148" cy="676656"/>
          </a:xfrm>
          <a:prstGeom prst="rect">
            <a:avLst/>
          </a:prstGeom>
          <a:solidFill>
            <a:srgbClr val="15707A"/>
          </a:solidFill>
          <a:ln/>
        </p:spPr>
      </p:sp>
      <p:sp>
        <p:nvSpPr>
          <p:cNvPr id="35" name="Text 33"/>
          <p:cNvSpPr txBox="1"/>
          <p:nvPr/>
        </p:nvSpPr>
        <p:spPr>
          <a:xfrm>
            <a:off x="786384" y="5431536"/>
            <a:ext cx="10618927" cy="786384"/>
          </a:xfrm>
          <a:prstGeom prst="rect">
            <a:avLst/>
          </a:prstGeom>
          <a:noFill/>
          <a:ln/>
        </p:spPr>
        <p:txBody>
          <a:bodyPr wrap="square" lIns="0" tIns="0" rIns="0" bIns="0" rtlCol="0" anchor="ctr"/>
          <a:lstStyle/>
          <a:p>
            <a:pPr indent="0" marL="0">
              <a:buNone/>
            </a:pPr>
            <a:r>
              <a:rPr lang="en-US" sz="1700" b="1" dirty="0">
                <a:solidFill>
                  <a:srgbClr val="15707A"/>
                </a:solidFill>
                <a:latin typeface="Calibri" pitchFamily="34" charset="0"/>
                <a:ea typeface="Calibri" pitchFamily="34" charset="-122"/>
                <a:cs typeface="Calibri" pitchFamily="34" charset="-120"/>
              </a:rPr>
              <a:t>Data: </a:t>
            </a:r>
            <a:pPr indent="0" marL="0">
              <a:buNone/>
            </a:pPr>
            <a:r>
              <a:rPr lang="en-US" sz="1700" dirty="0">
                <a:solidFill>
                  <a:srgbClr val="1B202A"/>
                </a:solidFill>
                <a:latin typeface="Calibri" pitchFamily="34" charset="0"/>
                <a:ea typeface="Calibri" pitchFamily="34" charset="-122"/>
                <a:cs typeface="Calibri" pitchFamily="34" charset="-120"/>
              </a:rPr>
              <a:t>Who&amp;When (184 cases) · our own cross-architecture benchmark · GSM8K · tau-bench · clean controls.    </a:t>
            </a:r>
            <a:pPr indent="0" marL="0">
              <a:buNone/>
            </a:pPr>
            <a:r>
              <a:rPr lang="en-US" sz="1700" b="1" dirty="0">
                <a:solidFill>
                  <a:srgbClr val="15707A"/>
                </a:solidFill>
                <a:latin typeface="Calibri" pitchFamily="34" charset="0"/>
                <a:ea typeface="Calibri" pitchFamily="34" charset="-122"/>
                <a:cs typeface="Calibri" pitchFamily="34" charset="-120"/>
              </a:rPr>
              <a:t>Protocol: </a:t>
            </a:r>
            <a:pPr indent="0" marL="0">
              <a:buNone/>
            </a:pPr>
            <a:r>
              <a:rPr lang="en-US" sz="170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Risks &amp; Fallbacks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9 / 12</a:t>
            </a:r>
            <a:endParaRPr lang="en-US" sz="1300" dirty="0"/>
          </a:p>
        </p:txBody>
      </p:sp>
      <p:sp>
        <p:nvSpPr>
          <p:cNvPr id="10" name="Text 8"/>
          <p:cNvSpPr txBox="1"/>
          <p:nvPr/>
        </p:nvSpPr>
        <p:spPr>
          <a:xfrm>
            <a:off x="566928" y="1298448"/>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TOP RISKS → STATED FALLBACK</a:t>
            </a:r>
            <a:endParaRPr lang="en-US" sz="1800" dirty="0"/>
          </a:p>
        </p:txBody>
      </p:sp>
      <p:sp>
        <p:nvSpPr>
          <p:cNvPr id="11" name="Shape 9"/>
          <p:cNvSpPr/>
          <p:nvPr/>
        </p:nvSpPr>
        <p:spPr>
          <a:xfrm>
            <a:off x="566928" y="1664208"/>
            <a:ext cx="11057839" cy="896112"/>
          </a:xfrm>
          <a:prstGeom prst="roundRect">
            <a:avLst>
              <a:gd name="adj" fmla="val 5102"/>
            </a:avLst>
          </a:prstGeom>
          <a:solidFill>
            <a:srgbClr val="FFFFFF"/>
          </a:solidFill>
          <a:ln w="19050">
            <a:solidFill>
              <a:srgbClr val="A8760F"/>
            </a:solidFill>
            <a:prstDash val="solid"/>
          </a:ln>
        </p:spPr>
      </p:sp>
      <p:sp>
        <p:nvSpPr>
          <p:cNvPr id="12" name="Shape 10"/>
          <p:cNvSpPr/>
          <p:nvPr/>
        </p:nvSpPr>
        <p:spPr>
          <a:xfrm>
            <a:off x="566928" y="1755648"/>
            <a:ext cx="45720" cy="713232"/>
          </a:xfrm>
          <a:prstGeom prst="rect">
            <a:avLst/>
          </a:prstGeom>
          <a:solidFill>
            <a:srgbClr val="A8760F"/>
          </a:solidFill>
          <a:ln/>
        </p:spPr>
      </p:sp>
      <p:sp>
        <p:nvSpPr>
          <p:cNvPr id="13" name="Text 11"/>
          <p:cNvSpPr txBox="1"/>
          <p:nvPr/>
        </p:nvSpPr>
        <p:spPr>
          <a:xfrm>
            <a:off x="804672" y="1664208"/>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Reproduction misses the ±10-point band</a:t>
            </a:r>
            <a:endParaRPr lang="en-US" sz="1700" dirty="0"/>
          </a:p>
        </p:txBody>
      </p:sp>
      <p:sp>
        <p:nvSpPr>
          <p:cNvPr id="14" name="Shape 12"/>
          <p:cNvSpPr/>
          <p:nvPr/>
        </p:nvSpPr>
        <p:spPr>
          <a:xfrm>
            <a:off x="4233672" y="1828800"/>
            <a:ext cx="0" cy="566928"/>
          </a:xfrm>
          <a:prstGeom prst="line">
            <a:avLst/>
          </a:prstGeom>
          <a:noFill/>
          <a:ln w="12700">
            <a:solidFill>
              <a:srgbClr val="D9DCE3"/>
            </a:solidFill>
            <a:prstDash val="solid"/>
          </a:ln>
        </p:spPr>
      </p:sp>
      <p:sp>
        <p:nvSpPr>
          <p:cNvPr id="15" name="Text 13"/>
          <p:cNvSpPr txBox="1"/>
          <p:nvPr/>
        </p:nvSpPr>
        <p:spPr>
          <a:xfrm>
            <a:off x="4334256" y="1664208"/>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Report both numbers — declared in advance, an expected outcome rather than a failure</a:t>
            </a:r>
            <a:endParaRPr lang="en-US" sz="1700" dirty="0"/>
          </a:p>
        </p:txBody>
      </p:sp>
      <p:sp>
        <p:nvSpPr>
          <p:cNvPr id="16" name="Shape 14"/>
          <p:cNvSpPr/>
          <p:nvPr/>
        </p:nvSpPr>
        <p:spPr>
          <a:xfrm>
            <a:off x="566928" y="2679192"/>
            <a:ext cx="11057839" cy="896112"/>
          </a:xfrm>
          <a:prstGeom prst="roundRect">
            <a:avLst>
              <a:gd name="adj" fmla="val 5102"/>
            </a:avLst>
          </a:prstGeom>
          <a:solidFill>
            <a:srgbClr val="FFFFFF"/>
          </a:solidFill>
          <a:ln w="19050">
            <a:solidFill>
              <a:srgbClr val="B05C1C"/>
            </a:solidFill>
            <a:prstDash val="solid"/>
          </a:ln>
        </p:spPr>
      </p:sp>
      <p:sp>
        <p:nvSpPr>
          <p:cNvPr id="17" name="Shape 15"/>
          <p:cNvSpPr/>
          <p:nvPr/>
        </p:nvSpPr>
        <p:spPr>
          <a:xfrm>
            <a:off x="566928" y="2770632"/>
            <a:ext cx="45720" cy="713232"/>
          </a:xfrm>
          <a:prstGeom prst="rect">
            <a:avLst/>
          </a:prstGeom>
          <a:solidFill>
            <a:srgbClr val="B05C1C"/>
          </a:solidFill>
          <a:ln/>
        </p:spPr>
      </p:sp>
      <p:sp>
        <p:nvSpPr>
          <p:cNvPr id="18" name="Text 16"/>
          <p:cNvSpPr txBox="1"/>
          <p:nvPr/>
        </p:nvSpPr>
        <p:spPr>
          <a:xfrm>
            <a:off x="804672" y="2679192"/>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Tier-2 gates fail at Mid-1</a:t>
            </a:r>
            <a:endParaRPr lang="en-US" sz="1700" dirty="0"/>
          </a:p>
        </p:txBody>
      </p:sp>
      <p:sp>
        <p:nvSpPr>
          <p:cNvPr id="19" name="Shape 17"/>
          <p:cNvSpPr/>
          <p:nvPr/>
        </p:nvSpPr>
        <p:spPr>
          <a:xfrm>
            <a:off x="4233672" y="2843784"/>
            <a:ext cx="0" cy="566928"/>
          </a:xfrm>
          <a:prstGeom prst="line">
            <a:avLst/>
          </a:prstGeom>
          <a:noFill/>
          <a:ln w="12700">
            <a:solidFill>
              <a:srgbClr val="D9DCE3"/>
            </a:solidFill>
            <a:prstDash val="solid"/>
          </a:ln>
        </p:spPr>
      </p:sp>
      <p:sp>
        <p:nvSpPr>
          <p:cNvPr id="20" name="Text 18"/>
          <p:cNvSpPr txBox="1"/>
          <p:nvPr/>
        </p:nvSpPr>
        <p:spPr>
          <a:xfrm>
            <a:off x="4334256" y="2679192"/>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Tier 1 already delivers the core contribution; Tier 2 ships as a memory on/off ablation</a:t>
            </a:r>
            <a:endParaRPr lang="en-US" sz="1700" dirty="0"/>
          </a:p>
        </p:txBody>
      </p:sp>
      <p:sp>
        <p:nvSpPr>
          <p:cNvPr id="21" name="Shape 19"/>
          <p:cNvSpPr/>
          <p:nvPr/>
        </p:nvSpPr>
        <p:spPr>
          <a:xfrm>
            <a:off x="566928" y="3694176"/>
            <a:ext cx="11057839" cy="896112"/>
          </a:xfrm>
          <a:prstGeom prst="roundRect">
            <a:avLst>
              <a:gd name="adj" fmla="val 5102"/>
            </a:avLst>
          </a:prstGeom>
          <a:solidFill>
            <a:srgbClr val="FFFFFF"/>
          </a:solidFill>
          <a:ln w="19050">
            <a:solidFill>
              <a:srgbClr val="15707A"/>
            </a:solidFill>
            <a:prstDash val="solid"/>
          </a:ln>
        </p:spPr>
      </p:sp>
      <p:sp>
        <p:nvSpPr>
          <p:cNvPr id="22" name="Shape 20"/>
          <p:cNvSpPr/>
          <p:nvPr/>
        </p:nvSpPr>
        <p:spPr>
          <a:xfrm>
            <a:off x="566928" y="3785616"/>
            <a:ext cx="45720" cy="713232"/>
          </a:xfrm>
          <a:prstGeom prst="rect">
            <a:avLst/>
          </a:prstGeom>
          <a:solidFill>
            <a:srgbClr val="15707A"/>
          </a:solidFill>
          <a:ln/>
        </p:spPr>
      </p:sp>
      <p:sp>
        <p:nvSpPr>
          <p:cNvPr id="23" name="Text 21"/>
          <p:cNvSpPr txBox="1"/>
          <p:nvPr/>
        </p:nvSpPr>
        <p:spPr>
          <a:xfrm>
            <a:off x="804672" y="3694176"/>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Benchmark scale stalls below 500</a:t>
            </a:r>
            <a:endParaRPr lang="en-US" sz="1700" dirty="0"/>
          </a:p>
        </p:txBody>
      </p:sp>
      <p:sp>
        <p:nvSpPr>
          <p:cNvPr id="24" name="Shape 22"/>
          <p:cNvSpPr/>
          <p:nvPr/>
        </p:nvSpPr>
        <p:spPr>
          <a:xfrm>
            <a:off x="4233672" y="3858768"/>
            <a:ext cx="0" cy="566928"/>
          </a:xfrm>
          <a:prstGeom prst="line">
            <a:avLst/>
          </a:prstGeom>
          <a:noFill/>
          <a:ln w="12700">
            <a:solidFill>
              <a:srgbClr val="D9DCE3"/>
            </a:solidFill>
            <a:prstDash val="solid"/>
          </a:ln>
        </p:spPr>
      </p:sp>
      <p:sp>
        <p:nvSpPr>
          <p:cNvPr id="25" name="Text 23"/>
          <p:cNvSpPr txBox="1"/>
          <p:nvPr/>
        </p:nvSpPr>
        <p:spPr>
          <a:xfrm>
            <a:off x="4334256" y="3694176"/>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Hard floor of 500 cases; 300 cases with statistics beats 1,000 without</a:t>
            </a:r>
            <a:endParaRPr lang="en-US" sz="1700" dirty="0"/>
          </a:p>
        </p:txBody>
      </p:sp>
      <p:sp>
        <p:nvSpPr>
          <p:cNvPr id="26" name="Shape 24"/>
          <p:cNvSpPr/>
          <p:nvPr/>
        </p:nvSpPr>
        <p:spPr>
          <a:xfrm>
            <a:off x="566928" y="4709160"/>
            <a:ext cx="11057839" cy="896112"/>
          </a:xfrm>
          <a:prstGeom prst="roundRect">
            <a:avLst>
              <a:gd name="adj" fmla="val 5102"/>
            </a:avLst>
          </a:prstGeom>
          <a:solidFill>
            <a:srgbClr val="FFFFFF"/>
          </a:solidFill>
          <a:ln w="19050">
            <a:solidFill>
              <a:srgbClr val="31558F"/>
            </a:solidFill>
            <a:prstDash val="solid"/>
          </a:ln>
        </p:spPr>
      </p:sp>
      <p:sp>
        <p:nvSpPr>
          <p:cNvPr id="27" name="Shape 25"/>
          <p:cNvSpPr/>
          <p:nvPr/>
        </p:nvSpPr>
        <p:spPr>
          <a:xfrm>
            <a:off x="566928" y="4800600"/>
            <a:ext cx="45720" cy="713232"/>
          </a:xfrm>
          <a:prstGeom prst="rect">
            <a:avLst/>
          </a:prstGeom>
          <a:solidFill>
            <a:srgbClr val="31558F"/>
          </a:solidFill>
          <a:ln/>
        </p:spPr>
      </p:sp>
      <p:sp>
        <p:nvSpPr>
          <p:cNvPr id="28" name="Text 26"/>
          <p:cNvSpPr txBox="1"/>
          <p:nvPr/>
        </p:nvSpPr>
        <p:spPr>
          <a:xfrm>
            <a:off x="804672" y="4709160"/>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Backbone confound across papers</a:t>
            </a:r>
            <a:endParaRPr lang="en-US" sz="1700" dirty="0"/>
          </a:p>
        </p:txBody>
      </p:sp>
      <p:sp>
        <p:nvSpPr>
          <p:cNvPr id="29" name="Shape 27"/>
          <p:cNvSpPr/>
          <p:nvPr/>
        </p:nvSpPr>
        <p:spPr>
          <a:xfrm>
            <a:off x="4233672" y="4873752"/>
            <a:ext cx="0" cy="566928"/>
          </a:xfrm>
          <a:prstGeom prst="line">
            <a:avLst/>
          </a:prstGeom>
          <a:noFill/>
          <a:ln w="12700">
            <a:solidFill>
              <a:srgbClr val="D9DCE3"/>
            </a:solidFill>
            <a:prstDash val="solid"/>
          </a:ln>
        </p:spPr>
      </p:sp>
      <p:sp>
        <p:nvSpPr>
          <p:cNvPr id="30" name="Text 28"/>
          <p:cNvSpPr txBox="1"/>
          <p:nvPr/>
        </p:nvSpPr>
        <p:spPr>
          <a:xfrm>
            <a:off x="4334256" y="4709160"/>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Controlled inside our own experiments; if a win partly reflects backbone strength, both numbers are reported</a:t>
            </a:r>
            <a:endParaRPr lang="en-US" sz="1700" dirty="0"/>
          </a:p>
        </p:txBody>
      </p:sp>
      <p:sp>
        <p:nvSpPr>
          <p:cNvPr id="31" name="Shape 29"/>
          <p:cNvSpPr/>
          <p:nvPr/>
        </p:nvSpPr>
        <p:spPr>
          <a:xfrm>
            <a:off x="587045" y="5749747"/>
            <a:ext cx="11057839" cy="603504"/>
          </a:xfrm>
          <a:prstGeom prst="roundRect">
            <a:avLst>
              <a:gd name="adj" fmla="val 9091"/>
            </a:avLst>
          </a:prstGeom>
          <a:solidFill>
            <a:srgbClr val="E4E6EB"/>
          </a:solidFill>
          <a:ln/>
        </p:spPr>
      </p:sp>
      <p:sp>
        <p:nvSpPr>
          <p:cNvPr id="32" name="Shape 30"/>
          <p:cNvSpPr/>
          <p:nvPr/>
        </p:nvSpPr>
        <p:spPr>
          <a:xfrm>
            <a:off x="566928" y="5724144"/>
            <a:ext cx="11057839" cy="603504"/>
          </a:xfrm>
          <a:prstGeom prst="roundRect">
            <a:avLst>
              <a:gd name="adj" fmla="val 9091"/>
            </a:avLst>
          </a:prstGeom>
          <a:solidFill>
            <a:srgbClr val="E4E9F2"/>
          </a:solidFill>
          <a:ln w="9525">
            <a:solidFill>
              <a:srgbClr val="D9DCE3"/>
            </a:solidFill>
            <a:prstDash val="solid"/>
          </a:ln>
        </p:spPr>
      </p:sp>
      <p:sp>
        <p:nvSpPr>
          <p:cNvPr id="33" name="Shape 31"/>
          <p:cNvSpPr/>
          <p:nvPr/>
        </p:nvSpPr>
        <p:spPr>
          <a:xfrm>
            <a:off x="566928" y="5779008"/>
            <a:ext cx="41148" cy="493776"/>
          </a:xfrm>
          <a:prstGeom prst="rect">
            <a:avLst/>
          </a:prstGeom>
          <a:solidFill>
            <a:srgbClr val="31558F"/>
          </a:solidFill>
          <a:ln/>
        </p:spPr>
      </p:sp>
      <p:sp>
        <p:nvSpPr>
          <p:cNvPr id="34" name="Text 32"/>
          <p:cNvSpPr txBox="1"/>
          <p:nvPr/>
        </p:nvSpPr>
        <p:spPr>
          <a:xfrm>
            <a:off x="786384" y="5724144"/>
            <a:ext cx="10618927" cy="603504"/>
          </a:xfrm>
          <a:prstGeom prst="rect">
            <a:avLst/>
          </a:prstGeom>
          <a:noFill/>
          <a:ln/>
        </p:spPr>
        <p:txBody>
          <a:bodyPr wrap="square" lIns="0" tIns="0" rIns="0" bIns="0" rtlCol="0" anchor="ctr"/>
          <a:lstStyle/>
          <a:p>
            <a:pPr indent="0" marL="0">
              <a:buNone/>
            </a:pPr>
            <a:r>
              <a:rPr lang="en-US" sz="1700" b="1" dirty="0">
                <a:solidFill>
                  <a:srgbClr val="31558F"/>
                </a:solidFill>
                <a:latin typeface="Calibri" pitchFamily="34" charset="0"/>
                <a:ea typeface="Calibri" pitchFamily="34" charset="-122"/>
                <a:cs typeface="Calibri" pitchFamily="34" charset="-120"/>
              </a:rPr>
              <a:t>GenAI boundary:  </a:t>
            </a:r>
            <a:pPr indent="0" marL="0">
              <a:buNone/>
            </a:pPr>
            <a:r>
              <a:rPr lang="en-US" sz="1700" dirty="0">
                <a:solidFill>
                  <a:srgbClr val="1B202A"/>
                </a:solidFill>
                <a:latin typeface="Calibri" pitchFamily="34" charset="0"/>
                <a:ea typeface="Calibri" pitchFamily="34" charset="-122"/>
                <a:cs typeface="Calibri" pitchFamily="34" charset="-120"/>
              </a:rPr>
              <a:t>every external component is classified Support / Core-assist / Core-replacement — nothing we claim sits in core-replacement, and the contribution survives swapping the LLM.</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Work Division &amp; Iteration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10 / 12</a:t>
            </a:r>
            <a:endParaRPr lang="en-US" sz="1300" dirty="0"/>
          </a:p>
        </p:txBody>
      </p:sp>
      <p:sp>
        <p:nvSpPr>
          <p:cNvPr id="10" name="Shape 8"/>
          <p:cNvSpPr/>
          <p:nvPr/>
        </p:nvSpPr>
        <p:spPr>
          <a:xfrm>
            <a:off x="587045" y="1269187"/>
            <a:ext cx="3551834" cy="2999232"/>
          </a:xfrm>
          <a:prstGeom prst="roundRect">
            <a:avLst>
              <a:gd name="adj" fmla="val 1829"/>
            </a:avLst>
          </a:prstGeom>
          <a:solidFill>
            <a:srgbClr val="E4E6EB"/>
          </a:solidFill>
          <a:ln/>
        </p:spPr>
      </p:sp>
      <p:sp>
        <p:nvSpPr>
          <p:cNvPr id="11" name="Shape 9"/>
          <p:cNvSpPr/>
          <p:nvPr/>
        </p:nvSpPr>
        <p:spPr>
          <a:xfrm>
            <a:off x="566928" y="1243584"/>
            <a:ext cx="3551834" cy="2999232"/>
          </a:xfrm>
          <a:prstGeom prst="roundRect">
            <a:avLst>
              <a:gd name="adj" fmla="val 1829"/>
            </a:avLst>
          </a:prstGeom>
          <a:solidFill>
            <a:srgbClr val="E3EFF1"/>
          </a:solidFill>
          <a:ln w="9525">
            <a:solidFill>
              <a:srgbClr val="D9DCE3"/>
            </a:solidFill>
            <a:prstDash val="solid"/>
          </a:ln>
        </p:spPr>
      </p:sp>
      <p:sp>
        <p:nvSpPr>
          <p:cNvPr id="12" name="Shape 10"/>
          <p:cNvSpPr/>
          <p:nvPr/>
        </p:nvSpPr>
        <p:spPr>
          <a:xfrm>
            <a:off x="566928" y="1298448"/>
            <a:ext cx="41148" cy="2889504"/>
          </a:xfrm>
          <a:prstGeom prst="rect">
            <a:avLst/>
          </a:prstGeom>
          <a:solidFill>
            <a:srgbClr val="15707A"/>
          </a:solidFill>
          <a:ln/>
        </p:spPr>
      </p:sp>
      <p:sp>
        <p:nvSpPr>
          <p:cNvPr id="13" name="Text 11"/>
          <p:cNvSpPr txBox="1"/>
          <p:nvPr/>
        </p:nvSpPr>
        <p:spPr>
          <a:xfrm>
            <a:off x="749808"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Shahoud Shahid</a:t>
            </a:r>
            <a:pPr indent="0" marL="0">
              <a:buNone/>
            </a:pPr>
            <a:r>
              <a:rPr lang="en-US" sz="1300" dirty="0">
                <a:solidFill>
                  <a:srgbClr val="596273"/>
                </a:solidFill>
                <a:latin typeface="Consolas" pitchFamily="34" charset="0"/>
                <a:ea typeface="Consolas" pitchFamily="34" charset="-122"/>
                <a:cs typeface="Consolas" pitchFamily="34" charset="-120"/>
              </a:rPr>
              <a:t>  23i-2515</a:t>
            </a:r>
            <a:endParaRPr lang="en-US" sz="1900" dirty="0"/>
          </a:p>
        </p:txBody>
      </p:sp>
      <p:sp>
        <p:nvSpPr>
          <p:cNvPr id="14" name="Shape 12"/>
          <p:cNvSpPr/>
          <p:nvPr/>
        </p:nvSpPr>
        <p:spPr>
          <a:xfrm>
            <a:off x="749808" y="1773936"/>
            <a:ext cx="2286000" cy="329184"/>
          </a:xfrm>
          <a:prstGeom prst="roundRect">
            <a:avLst>
              <a:gd name="adj" fmla="val 50000"/>
            </a:avLst>
          </a:prstGeom>
          <a:solidFill>
            <a:srgbClr val="15707A"/>
          </a:solidFill>
          <a:ln/>
        </p:spPr>
      </p:sp>
      <p:sp>
        <p:nvSpPr>
          <p:cNvPr id="15" name="Text 13"/>
          <p:cNvSpPr txBox="1"/>
          <p:nvPr/>
        </p:nvSpPr>
        <p:spPr>
          <a:xfrm>
            <a:off x="749808"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DATA / BENCHMARK</a:t>
            </a:r>
            <a:endParaRPr lang="en-US" sz="1500" dirty="0"/>
          </a:p>
        </p:txBody>
      </p:sp>
      <p:sp>
        <p:nvSpPr>
          <p:cNvPr id="16" name="Text 14"/>
          <p:cNvSpPr txBox="1"/>
          <p:nvPr/>
        </p:nvSpPr>
        <p:spPr>
          <a:xfrm>
            <a:off x="749808"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Framework instrumentation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Fault injection + labelling</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Benchmark build &amp; release</a:t>
            </a:r>
            <a:endParaRPr lang="en-US" sz="1700" dirty="0"/>
          </a:p>
        </p:txBody>
      </p:sp>
      <p:sp>
        <p:nvSpPr>
          <p:cNvPr id="17" name="Shape 15"/>
          <p:cNvSpPr/>
          <p:nvPr/>
        </p:nvSpPr>
        <p:spPr>
          <a:xfrm>
            <a:off x="749808" y="3602736"/>
            <a:ext cx="3186074" cy="0"/>
          </a:xfrm>
          <a:prstGeom prst="line">
            <a:avLst/>
          </a:prstGeom>
          <a:noFill/>
          <a:ln w="9525">
            <a:solidFill>
              <a:srgbClr val="15707A"/>
            </a:solidFill>
            <a:prstDash val="solid"/>
          </a:ln>
        </p:spPr>
      </p:sp>
      <p:sp>
        <p:nvSpPr>
          <p:cNvPr id="18" name="Text 16"/>
          <p:cNvSpPr txBox="1"/>
          <p:nvPr/>
        </p:nvSpPr>
        <p:spPr>
          <a:xfrm>
            <a:off x="749808"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benchmark — the core claim is untestable</a:t>
            </a:r>
            <a:endParaRPr lang="en-US" sz="1400" dirty="0"/>
          </a:p>
        </p:txBody>
      </p:sp>
      <p:sp>
        <p:nvSpPr>
          <p:cNvPr id="19" name="Shape 17"/>
          <p:cNvSpPr/>
          <p:nvPr/>
        </p:nvSpPr>
        <p:spPr>
          <a:xfrm>
            <a:off x="4340047" y="1269187"/>
            <a:ext cx="3551834" cy="2999232"/>
          </a:xfrm>
          <a:prstGeom prst="roundRect">
            <a:avLst>
              <a:gd name="adj" fmla="val 1829"/>
            </a:avLst>
          </a:prstGeom>
          <a:solidFill>
            <a:srgbClr val="E4E6EB"/>
          </a:solidFill>
          <a:ln/>
        </p:spPr>
      </p:sp>
      <p:sp>
        <p:nvSpPr>
          <p:cNvPr id="20" name="Shape 18"/>
          <p:cNvSpPr/>
          <p:nvPr/>
        </p:nvSpPr>
        <p:spPr>
          <a:xfrm>
            <a:off x="4319930" y="1243584"/>
            <a:ext cx="3551834" cy="2999232"/>
          </a:xfrm>
          <a:prstGeom prst="roundRect">
            <a:avLst>
              <a:gd name="adj" fmla="val 1829"/>
            </a:avLst>
          </a:prstGeom>
          <a:solidFill>
            <a:srgbClr val="F6EADD"/>
          </a:solidFill>
          <a:ln w="9525">
            <a:solidFill>
              <a:srgbClr val="D9DCE3"/>
            </a:solidFill>
            <a:prstDash val="solid"/>
          </a:ln>
        </p:spPr>
      </p:sp>
      <p:sp>
        <p:nvSpPr>
          <p:cNvPr id="21" name="Shape 19"/>
          <p:cNvSpPr/>
          <p:nvPr/>
        </p:nvSpPr>
        <p:spPr>
          <a:xfrm>
            <a:off x="4319930" y="1298448"/>
            <a:ext cx="41148" cy="2889504"/>
          </a:xfrm>
          <a:prstGeom prst="rect">
            <a:avLst/>
          </a:prstGeom>
          <a:solidFill>
            <a:srgbClr val="B05C1C"/>
          </a:solidFill>
          <a:ln/>
        </p:spPr>
      </p:sp>
      <p:sp>
        <p:nvSpPr>
          <p:cNvPr id="22" name="Text 20"/>
          <p:cNvSpPr txBox="1"/>
          <p:nvPr/>
        </p:nvSpPr>
        <p:spPr>
          <a:xfrm>
            <a:off x="4502810"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Muhammad Noor</a:t>
            </a:r>
            <a:pPr indent="0" marL="0">
              <a:buNone/>
            </a:pPr>
            <a:r>
              <a:rPr lang="en-US" sz="1300" dirty="0">
                <a:solidFill>
                  <a:srgbClr val="596273"/>
                </a:solidFill>
                <a:latin typeface="Consolas" pitchFamily="34" charset="0"/>
                <a:ea typeface="Consolas" pitchFamily="34" charset="-122"/>
                <a:cs typeface="Consolas" pitchFamily="34" charset="-120"/>
              </a:rPr>
              <a:t>  23i-2520</a:t>
            </a:r>
            <a:endParaRPr lang="en-US" sz="1900" dirty="0"/>
          </a:p>
        </p:txBody>
      </p:sp>
      <p:sp>
        <p:nvSpPr>
          <p:cNvPr id="23" name="Shape 21"/>
          <p:cNvSpPr/>
          <p:nvPr/>
        </p:nvSpPr>
        <p:spPr>
          <a:xfrm>
            <a:off x="4502810" y="1773936"/>
            <a:ext cx="2286000" cy="329184"/>
          </a:xfrm>
          <a:prstGeom prst="roundRect">
            <a:avLst>
              <a:gd name="adj" fmla="val 50000"/>
            </a:avLst>
          </a:prstGeom>
          <a:solidFill>
            <a:srgbClr val="B05C1C"/>
          </a:solidFill>
          <a:ln/>
        </p:spPr>
      </p:sp>
      <p:sp>
        <p:nvSpPr>
          <p:cNvPr id="24" name="Text 22"/>
          <p:cNvSpPr txBox="1"/>
          <p:nvPr/>
        </p:nvSpPr>
        <p:spPr>
          <a:xfrm>
            <a:off x="4502810"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DIAGNOSIS ENGINE</a:t>
            </a:r>
            <a:endParaRPr lang="en-US" sz="1500" dirty="0"/>
          </a:p>
        </p:txBody>
      </p:sp>
      <p:sp>
        <p:nvSpPr>
          <p:cNvPr id="25" name="Text 23"/>
          <p:cNvSpPr txBox="1"/>
          <p:nvPr/>
        </p:nvSpPr>
        <p:spPr>
          <a:xfrm>
            <a:off x="4502810"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Graph + trace normalization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ErrorProbe baseline reproduction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SED + backward causal tracing</a:t>
            </a:r>
            <a:endParaRPr lang="en-US" sz="1700" dirty="0"/>
          </a:p>
        </p:txBody>
      </p:sp>
      <p:sp>
        <p:nvSpPr>
          <p:cNvPr id="26" name="Shape 24"/>
          <p:cNvSpPr/>
          <p:nvPr/>
        </p:nvSpPr>
        <p:spPr>
          <a:xfrm>
            <a:off x="4502810" y="3602736"/>
            <a:ext cx="3186074" cy="0"/>
          </a:xfrm>
          <a:prstGeom prst="line">
            <a:avLst/>
          </a:prstGeom>
          <a:noFill/>
          <a:ln w="9525">
            <a:solidFill>
              <a:srgbClr val="B05C1C"/>
            </a:solidFill>
            <a:prstDash val="solid"/>
          </a:ln>
        </p:spPr>
      </p:sp>
      <p:sp>
        <p:nvSpPr>
          <p:cNvPr id="27" name="Text 25"/>
          <p:cNvSpPr txBox="1"/>
          <p:nvPr/>
        </p:nvSpPr>
        <p:spPr>
          <a:xfrm>
            <a:off x="4502810"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attribution, no silent-failure detection</a:t>
            </a:r>
            <a:endParaRPr lang="en-US" sz="1400" dirty="0"/>
          </a:p>
        </p:txBody>
      </p:sp>
      <p:sp>
        <p:nvSpPr>
          <p:cNvPr id="28" name="Shape 26"/>
          <p:cNvSpPr/>
          <p:nvPr/>
        </p:nvSpPr>
        <p:spPr>
          <a:xfrm>
            <a:off x="8093050" y="1269187"/>
            <a:ext cx="3551834" cy="2999232"/>
          </a:xfrm>
          <a:prstGeom prst="roundRect">
            <a:avLst>
              <a:gd name="adj" fmla="val 1829"/>
            </a:avLst>
          </a:prstGeom>
          <a:solidFill>
            <a:srgbClr val="E4E6EB"/>
          </a:solidFill>
          <a:ln/>
        </p:spPr>
      </p:sp>
      <p:sp>
        <p:nvSpPr>
          <p:cNvPr id="29" name="Shape 27"/>
          <p:cNvSpPr/>
          <p:nvPr/>
        </p:nvSpPr>
        <p:spPr>
          <a:xfrm>
            <a:off x="8072933" y="1243584"/>
            <a:ext cx="3551834" cy="2999232"/>
          </a:xfrm>
          <a:prstGeom prst="roundRect">
            <a:avLst>
              <a:gd name="adj" fmla="val 1829"/>
            </a:avLst>
          </a:prstGeom>
          <a:solidFill>
            <a:srgbClr val="E4E9F2"/>
          </a:solidFill>
          <a:ln w="9525">
            <a:solidFill>
              <a:srgbClr val="D9DCE3"/>
            </a:solidFill>
            <a:prstDash val="solid"/>
          </a:ln>
        </p:spPr>
      </p:sp>
      <p:sp>
        <p:nvSpPr>
          <p:cNvPr id="30" name="Shape 28"/>
          <p:cNvSpPr/>
          <p:nvPr/>
        </p:nvSpPr>
        <p:spPr>
          <a:xfrm>
            <a:off x="8072933" y="1298448"/>
            <a:ext cx="41148" cy="2889504"/>
          </a:xfrm>
          <a:prstGeom prst="rect">
            <a:avLst/>
          </a:prstGeom>
          <a:solidFill>
            <a:srgbClr val="31558F"/>
          </a:solidFill>
          <a:ln/>
        </p:spPr>
      </p:sp>
      <p:sp>
        <p:nvSpPr>
          <p:cNvPr id="31" name="Text 29"/>
          <p:cNvSpPr txBox="1"/>
          <p:nvPr/>
        </p:nvSpPr>
        <p:spPr>
          <a:xfrm>
            <a:off x="8255813"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Saif Shahzad</a:t>
            </a:r>
            <a:pPr indent="0" marL="0">
              <a:buNone/>
            </a:pPr>
            <a:r>
              <a:rPr lang="en-US" sz="1300" dirty="0">
                <a:solidFill>
                  <a:srgbClr val="596273"/>
                </a:solidFill>
                <a:latin typeface="Consolas" pitchFamily="34" charset="0"/>
                <a:ea typeface="Consolas" pitchFamily="34" charset="-122"/>
                <a:cs typeface="Consolas" pitchFamily="34" charset="-120"/>
              </a:rPr>
              <a:t>  23i-2634</a:t>
            </a:r>
            <a:endParaRPr lang="en-US" sz="1900" dirty="0"/>
          </a:p>
        </p:txBody>
      </p:sp>
      <p:sp>
        <p:nvSpPr>
          <p:cNvPr id="32" name="Shape 30"/>
          <p:cNvSpPr/>
          <p:nvPr/>
        </p:nvSpPr>
        <p:spPr>
          <a:xfrm>
            <a:off x="8255813" y="1773936"/>
            <a:ext cx="2286000" cy="329184"/>
          </a:xfrm>
          <a:prstGeom prst="roundRect">
            <a:avLst>
              <a:gd name="adj" fmla="val 50000"/>
            </a:avLst>
          </a:prstGeom>
          <a:solidFill>
            <a:srgbClr val="31558F"/>
          </a:solidFill>
          <a:ln/>
        </p:spPr>
      </p:sp>
      <p:sp>
        <p:nvSpPr>
          <p:cNvPr id="33" name="Text 31"/>
          <p:cNvSpPr txBox="1"/>
          <p:nvPr/>
        </p:nvSpPr>
        <p:spPr>
          <a:xfrm>
            <a:off x="8255813"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PLATFORM</a:t>
            </a:r>
            <a:endParaRPr lang="en-US" sz="1500" dirty="0"/>
          </a:p>
        </p:txBody>
      </p:sp>
      <p:sp>
        <p:nvSpPr>
          <p:cNvPr id="34" name="Text 32"/>
          <p:cNvSpPr txBox="1"/>
          <p:nvPr/>
        </p:nvSpPr>
        <p:spPr>
          <a:xfrm>
            <a:off x="8255813"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Counterfactual replay + recovery</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SDK, FastAPI, Postgres</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Dashboard + deployment</a:t>
            </a:r>
            <a:endParaRPr lang="en-US" sz="1700" dirty="0"/>
          </a:p>
        </p:txBody>
      </p:sp>
      <p:sp>
        <p:nvSpPr>
          <p:cNvPr id="35" name="Shape 33"/>
          <p:cNvSpPr/>
          <p:nvPr/>
        </p:nvSpPr>
        <p:spPr>
          <a:xfrm>
            <a:off x="8255813" y="3602736"/>
            <a:ext cx="3186074" cy="0"/>
          </a:xfrm>
          <a:prstGeom prst="line">
            <a:avLst/>
          </a:prstGeom>
          <a:noFill/>
          <a:ln w="9525">
            <a:solidFill>
              <a:srgbClr val="31558F"/>
            </a:solidFill>
            <a:prstDash val="solid"/>
          </a:ln>
        </p:spPr>
      </p:sp>
      <p:sp>
        <p:nvSpPr>
          <p:cNvPr id="36" name="Text 34"/>
          <p:cNvSpPr txBox="1"/>
          <p:nvPr/>
        </p:nvSpPr>
        <p:spPr>
          <a:xfrm>
            <a:off x="8255813"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nothing is installable outside the dev machine</a:t>
            </a:r>
            <a:endParaRPr lang="en-US" sz="1400" dirty="0"/>
          </a:p>
        </p:txBody>
      </p:sp>
      <p:sp>
        <p:nvSpPr>
          <p:cNvPr id="37" name="Text 35"/>
          <p:cNvSpPr txBox="1"/>
          <p:nvPr/>
        </p:nvSpPr>
        <p:spPr>
          <a:xfrm>
            <a:off x="566928" y="444398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FYP-1 → FYP-2 MILESTONES</a:t>
            </a:r>
            <a:endParaRPr lang="en-US" sz="1800" dirty="0"/>
          </a:p>
        </p:txBody>
      </p:sp>
      <p:sp>
        <p:nvSpPr>
          <p:cNvPr id="38" name="Shape 36"/>
          <p:cNvSpPr/>
          <p:nvPr/>
        </p:nvSpPr>
        <p:spPr>
          <a:xfrm>
            <a:off x="1672712" y="4974336"/>
            <a:ext cx="8846271" cy="0"/>
          </a:xfrm>
          <a:prstGeom prst="line">
            <a:avLst/>
          </a:prstGeom>
          <a:noFill/>
          <a:ln w="25400">
            <a:solidFill>
              <a:srgbClr val="C89B3C"/>
            </a:solidFill>
            <a:prstDash val="solid"/>
          </a:ln>
        </p:spPr>
      </p:sp>
      <p:sp>
        <p:nvSpPr>
          <p:cNvPr id="39" name="Shape 37"/>
          <p:cNvSpPr/>
          <p:nvPr/>
        </p:nvSpPr>
        <p:spPr>
          <a:xfrm>
            <a:off x="1535552" y="4837176"/>
            <a:ext cx="274320" cy="274320"/>
          </a:xfrm>
          <a:prstGeom prst="ellipse">
            <a:avLst/>
          </a:prstGeom>
          <a:solidFill>
            <a:srgbClr val="C89B3C"/>
          </a:solidFill>
          <a:ln w="25400">
            <a:solidFill>
              <a:srgbClr val="C89B3C"/>
            </a:solidFill>
            <a:prstDash val="solid"/>
          </a:ln>
        </p:spPr>
      </p:sp>
      <p:sp>
        <p:nvSpPr>
          <p:cNvPr id="40" name="Text 38"/>
          <p:cNvSpPr txBox="1"/>
          <p:nvPr/>
        </p:nvSpPr>
        <p:spPr>
          <a:xfrm>
            <a:off x="621792"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M1</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Scope locked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approved</a:t>
            </a:r>
            <a:endParaRPr lang="en-US" sz="1500" dirty="0"/>
          </a:p>
        </p:txBody>
      </p:sp>
      <p:sp>
        <p:nvSpPr>
          <p:cNvPr id="41" name="Shape 39"/>
          <p:cNvSpPr/>
          <p:nvPr/>
        </p:nvSpPr>
        <p:spPr>
          <a:xfrm>
            <a:off x="3747120" y="4837176"/>
            <a:ext cx="274320" cy="274320"/>
          </a:xfrm>
          <a:prstGeom prst="ellipse">
            <a:avLst/>
          </a:prstGeom>
          <a:solidFill>
            <a:srgbClr val="FBFBFC"/>
          </a:solidFill>
          <a:ln w="25400">
            <a:solidFill>
              <a:srgbClr val="C89B3C"/>
            </a:solidFill>
            <a:prstDash val="solid"/>
          </a:ln>
        </p:spPr>
      </p:sp>
      <p:sp>
        <p:nvSpPr>
          <p:cNvPr id="42" name="Text 40"/>
          <p:cNvSpPr txBox="1"/>
          <p:nvPr/>
        </p:nvSpPr>
        <p:spPr>
          <a:xfrm>
            <a:off x="2833360"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M2</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Baseline reproduced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 Tier-2 gates</a:t>
            </a:r>
            <a:endParaRPr lang="en-US" sz="1500" dirty="0"/>
          </a:p>
        </p:txBody>
      </p:sp>
      <p:sp>
        <p:nvSpPr>
          <p:cNvPr id="43" name="Shape 41"/>
          <p:cNvSpPr/>
          <p:nvPr/>
        </p:nvSpPr>
        <p:spPr>
          <a:xfrm>
            <a:off x="5958688" y="4837176"/>
            <a:ext cx="274320" cy="274320"/>
          </a:xfrm>
          <a:prstGeom prst="ellipse">
            <a:avLst/>
          </a:prstGeom>
          <a:solidFill>
            <a:srgbClr val="FBFBFC"/>
          </a:solidFill>
          <a:ln w="25400">
            <a:solidFill>
              <a:srgbClr val="C89B3C"/>
            </a:solidFill>
            <a:prstDash val="solid"/>
          </a:ln>
        </p:spPr>
      </p:sp>
      <p:sp>
        <p:nvSpPr>
          <p:cNvPr id="44" name="Text 42"/>
          <p:cNvSpPr txBox="1"/>
          <p:nvPr/>
        </p:nvSpPr>
        <p:spPr>
          <a:xfrm>
            <a:off x="5044928"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M3</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Core integrated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end to end</a:t>
            </a:r>
            <a:endParaRPr lang="en-US" sz="1500" dirty="0"/>
          </a:p>
        </p:txBody>
      </p:sp>
      <p:sp>
        <p:nvSpPr>
          <p:cNvPr id="45" name="Shape 43"/>
          <p:cNvSpPr/>
          <p:nvPr/>
        </p:nvSpPr>
        <p:spPr>
          <a:xfrm>
            <a:off x="8170255" y="4837176"/>
            <a:ext cx="274320" cy="274320"/>
          </a:xfrm>
          <a:prstGeom prst="ellipse">
            <a:avLst/>
          </a:prstGeom>
          <a:solidFill>
            <a:srgbClr val="FBFBFC"/>
          </a:solidFill>
          <a:ln w="25400">
            <a:solidFill>
              <a:srgbClr val="C89B3C"/>
            </a:solidFill>
            <a:prstDash val="solid"/>
          </a:ln>
        </p:spPr>
      </p:sp>
      <p:sp>
        <p:nvSpPr>
          <p:cNvPr id="46" name="Text 44"/>
          <p:cNvSpPr txBox="1"/>
          <p:nvPr/>
        </p:nvSpPr>
        <p:spPr>
          <a:xfrm>
            <a:off x="7256496"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M4</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Benchmark released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≥500 cases</a:t>
            </a:r>
            <a:endParaRPr lang="en-US" sz="1500" dirty="0"/>
          </a:p>
        </p:txBody>
      </p:sp>
      <p:sp>
        <p:nvSpPr>
          <p:cNvPr id="47" name="Shape 45"/>
          <p:cNvSpPr/>
          <p:nvPr/>
        </p:nvSpPr>
        <p:spPr>
          <a:xfrm>
            <a:off x="10381823" y="4837176"/>
            <a:ext cx="274320" cy="274320"/>
          </a:xfrm>
          <a:prstGeom prst="ellipse">
            <a:avLst/>
          </a:prstGeom>
          <a:solidFill>
            <a:srgbClr val="FBFBFC"/>
          </a:solidFill>
          <a:ln w="25400">
            <a:solidFill>
              <a:srgbClr val="C89B3C"/>
            </a:solidFill>
            <a:prstDash val="solid"/>
          </a:ln>
        </p:spPr>
      </p:sp>
      <p:sp>
        <p:nvSpPr>
          <p:cNvPr id="48" name="Text 46"/>
          <p:cNvSpPr txBox="1"/>
          <p:nvPr/>
        </p:nvSpPr>
        <p:spPr>
          <a:xfrm>
            <a:off x="9468063"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M5</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Full evaluation</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deployed</a:t>
            </a:r>
            <a:endParaRPr lang="en-US" sz="15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DEI, Ethics &amp; Legal</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11 / 12</a:t>
            </a:r>
            <a:endParaRPr lang="en-US" sz="1300" dirty="0"/>
          </a:p>
        </p:txBody>
      </p:sp>
      <p:sp>
        <p:nvSpPr>
          <p:cNvPr id="10" name="Text 8"/>
          <p:cNvSpPr txBox="1"/>
          <p:nvPr/>
        </p:nvSpPr>
        <p:spPr>
          <a:xfrm>
            <a:off x="566928" y="133502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COMMITMENTS THE PANEL CAN HOLD US TO</a:t>
            </a:r>
            <a:endParaRPr lang="en-US" sz="1800" dirty="0"/>
          </a:p>
        </p:txBody>
      </p:sp>
      <p:sp>
        <p:nvSpPr>
          <p:cNvPr id="11" name="Shape 9"/>
          <p:cNvSpPr/>
          <p:nvPr/>
        </p:nvSpPr>
        <p:spPr>
          <a:xfrm>
            <a:off x="566928" y="1792224"/>
            <a:ext cx="11057839" cy="1408176"/>
          </a:xfrm>
          <a:prstGeom prst="roundRect">
            <a:avLst>
              <a:gd name="adj" fmla="val 3247"/>
            </a:avLst>
          </a:prstGeom>
          <a:solidFill>
            <a:srgbClr val="FFFFFF"/>
          </a:solidFill>
          <a:ln w="19050">
            <a:solidFill>
              <a:srgbClr val="15707A"/>
            </a:solidFill>
            <a:prstDash val="solid"/>
          </a:ln>
        </p:spPr>
      </p:sp>
      <p:sp>
        <p:nvSpPr>
          <p:cNvPr id="12" name="Shape 10"/>
          <p:cNvSpPr/>
          <p:nvPr/>
        </p:nvSpPr>
        <p:spPr>
          <a:xfrm>
            <a:off x="566928" y="1883664"/>
            <a:ext cx="45720" cy="1225296"/>
          </a:xfrm>
          <a:prstGeom prst="rect">
            <a:avLst/>
          </a:prstGeom>
          <a:solidFill>
            <a:srgbClr val="15707A"/>
          </a:solidFill>
          <a:ln/>
        </p:spPr>
      </p:sp>
      <p:sp>
        <p:nvSpPr>
          <p:cNvPr id="13" name="Text 11"/>
          <p:cNvSpPr txBox="1"/>
          <p:nvPr/>
        </p:nvSpPr>
        <p:spPr>
          <a:xfrm>
            <a:off x="786384" y="1792224"/>
            <a:ext cx="1472184" cy="1408176"/>
          </a:xfrm>
          <a:prstGeom prst="rect">
            <a:avLst/>
          </a:prstGeom>
          <a:noFill/>
          <a:ln/>
        </p:spPr>
        <p:txBody>
          <a:bodyPr wrap="square" lIns="0" tIns="0" rIns="0" bIns="0" rtlCol="0" anchor="ctr"/>
          <a:lstStyle/>
          <a:p>
            <a:pPr indent="0" marL="0">
              <a:buNone/>
            </a:pPr>
            <a:r>
              <a:rPr lang="en-US" sz="1800" b="1" spc="50" kern="0" dirty="0">
                <a:solidFill>
                  <a:srgbClr val="15707A"/>
                </a:solidFill>
                <a:latin typeface="Consolas" pitchFamily="34" charset="0"/>
                <a:ea typeface="Consolas" pitchFamily="34" charset="-122"/>
                <a:cs typeface="Consolas" pitchFamily="34" charset="-120"/>
              </a:rPr>
              <a:t>DEI</a:t>
            </a:r>
            <a:endParaRPr lang="en-US" sz="1800" dirty="0"/>
          </a:p>
        </p:txBody>
      </p:sp>
      <p:sp>
        <p:nvSpPr>
          <p:cNvPr id="14" name="Shape 12"/>
          <p:cNvSpPr/>
          <p:nvPr/>
        </p:nvSpPr>
        <p:spPr>
          <a:xfrm>
            <a:off x="2359152" y="1975104"/>
            <a:ext cx="0" cy="1042416"/>
          </a:xfrm>
          <a:prstGeom prst="line">
            <a:avLst/>
          </a:prstGeom>
          <a:noFill/>
          <a:ln w="12700">
            <a:solidFill>
              <a:srgbClr val="D9DCE3"/>
            </a:solidFill>
            <a:prstDash val="solid"/>
          </a:ln>
        </p:spPr>
      </p:sp>
      <p:sp>
        <p:nvSpPr>
          <p:cNvPr id="15" name="Text 13"/>
          <p:cNvSpPr txBox="1"/>
          <p:nvPr/>
        </p:nvSpPr>
        <p:spPr>
          <a:xfrm>
            <a:off x="2459736" y="179222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700" dirty="0"/>
          </a:p>
        </p:txBody>
      </p:sp>
      <p:sp>
        <p:nvSpPr>
          <p:cNvPr id="16" name="Shape 14"/>
          <p:cNvSpPr/>
          <p:nvPr/>
        </p:nvSpPr>
        <p:spPr>
          <a:xfrm>
            <a:off x="566928" y="3346704"/>
            <a:ext cx="11057839" cy="1408176"/>
          </a:xfrm>
          <a:prstGeom prst="roundRect">
            <a:avLst>
              <a:gd name="adj" fmla="val 3247"/>
            </a:avLst>
          </a:prstGeom>
          <a:solidFill>
            <a:srgbClr val="FFFFFF"/>
          </a:solidFill>
          <a:ln w="19050">
            <a:solidFill>
              <a:srgbClr val="A83A30"/>
            </a:solidFill>
            <a:prstDash val="solid"/>
          </a:ln>
        </p:spPr>
      </p:sp>
      <p:sp>
        <p:nvSpPr>
          <p:cNvPr id="17" name="Shape 15"/>
          <p:cNvSpPr/>
          <p:nvPr/>
        </p:nvSpPr>
        <p:spPr>
          <a:xfrm>
            <a:off x="566928" y="3438144"/>
            <a:ext cx="45720" cy="1225296"/>
          </a:xfrm>
          <a:prstGeom prst="rect">
            <a:avLst/>
          </a:prstGeom>
          <a:solidFill>
            <a:srgbClr val="A83A30"/>
          </a:solidFill>
          <a:ln/>
        </p:spPr>
      </p:sp>
      <p:sp>
        <p:nvSpPr>
          <p:cNvPr id="18" name="Text 16"/>
          <p:cNvSpPr txBox="1"/>
          <p:nvPr/>
        </p:nvSpPr>
        <p:spPr>
          <a:xfrm>
            <a:off x="786384" y="3346704"/>
            <a:ext cx="1472184" cy="1408176"/>
          </a:xfrm>
          <a:prstGeom prst="rect">
            <a:avLst/>
          </a:prstGeom>
          <a:noFill/>
          <a:ln/>
        </p:spPr>
        <p:txBody>
          <a:bodyPr wrap="square" lIns="0" tIns="0" rIns="0" bIns="0" rtlCol="0" anchor="ctr"/>
          <a:lstStyle/>
          <a:p>
            <a:pPr indent="0" marL="0">
              <a:buNone/>
            </a:pPr>
            <a:r>
              <a:rPr lang="en-US" sz="1800" b="1" spc="50" kern="0" dirty="0">
                <a:solidFill>
                  <a:srgbClr val="A83A30"/>
                </a:solidFill>
                <a:latin typeface="Consolas" pitchFamily="34" charset="0"/>
                <a:ea typeface="Consolas" pitchFamily="34" charset="-122"/>
                <a:cs typeface="Consolas" pitchFamily="34" charset="-120"/>
              </a:rPr>
              <a:t>ETHICAL</a:t>
            </a:r>
            <a:endParaRPr lang="en-US" sz="1800" dirty="0"/>
          </a:p>
        </p:txBody>
      </p:sp>
      <p:sp>
        <p:nvSpPr>
          <p:cNvPr id="19" name="Shape 17"/>
          <p:cNvSpPr/>
          <p:nvPr/>
        </p:nvSpPr>
        <p:spPr>
          <a:xfrm>
            <a:off x="2359152" y="3529584"/>
            <a:ext cx="0" cy="1042416"/>
          </a:xfrm>
          <a:prstGeom prst="line">
            <a:avLst/>
          </a:prstGeom>
          <a:noFill/>
          <a:ln w="12700">
            <a:solidFill>
              <a:srgbClr val="D9DCE3"/>
            </a:solidFill>
            <a:prstDash val="solid"/>
          </a:ln>
        </p:spPr>
      </p:sp>
      <p:sp>
        <p:nvSpPr>
          <p:cNvPr id="20" name="Text 18"/>
          <p:cNvSpPr txBox="1"/>
          <p:nvPr/>
        </p:nvSpPr>
        <p:spPr>
          <a:xfrm>
            <a:off x="2459736" y="334670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700" dirty="0"/>
          </a:p>
        </p:txBody>
      </p:sp>
      <p:sp>
        <p:nvSpPr>
          <p:cNvPr id="21" name="Shape 19"/>
          <p:cNvSpPr/>
          <p:nvPr/>
        </p:nvSpPr>
        <p:spPr>
          <a:xfrm>
            <a:off x="566928" y="4901184"/>
            <a:ext cx="11057839" cy="1408176"/>
          </a:xfrm>
          <a:prstGeom prst="roundRect">
            <a:avLst>
              <a:gd name="adj" fmla="val 3247"/>
            </a:avLst>
          </a:prstGeom>
          <a:solidFill>
            <a:srgbClr val="FFFFFF"/>
          </a:solidFill>
          <a:ln w="19050">
            <a:solidFill>
              <a:srgbClr val="31558F"/>
            </a:solidFill>
            <a:prstDash val="solid"/>
          </a:ln>
        </p:spPr>
      </p:sp>
      <p:sp>
        <p:nvSpPr>
          <p:cNvPr id="22" name="Shape 20"/>
          <p:cNvSpPr/>
          <p:nvPr/>
        </p:nvSpPr>
        <p:spPr>
          <a:xfrm>
            <a:off x="566928" y="4992624"/>
            <a:ext cx="45720" cy="1225296"/>
          </a:xfrm>
          <a:prstGeom prst="rect">
            <a:avLst/>
          </a:prstGeom>
          <a:solidFill>
            <a:srgbClr val="31558F"/>
          </a:solidFill>
          <a:ln/>
        </p:spPr>
      </p:sp>
      <p:sp>
        <p:nvSpPr>
          <p:cNvPr id="23" name="Text 21"/>
          <p:cNvSpPr txBox="1"/>
          <p:nvPr/>
        </p:nvSpPr>
        <p:spPr>
          <a:xfrm>
            <a:off x="786384" y="4901184"/>
            <a:ext cx="1472184" cy="1408176"/>
          </a:xfrm>
          <a:prstGeom prst="rect">
            <a:avLst/>
          </a:prstGeom>
          <a:noFill/>
          <a:ln/>
        </p:spPr>
        <p:txBody>
          <a:bodyPr wrap="square" lIns="0" tIns="0" rIns="0" bIns="0" rtlCol="0" anchor="ctr"/>
          <a:lstStyle/>
          <a:p>
            <a:pPr indent="0" marL="0">
              <a:buNone/>
            </a:pPr>
            <a:r>
              <a:rPr lang="en-US" sz="1800" b="1" spc="50" kern="0" dirty="0">
                <a:solidFill>
                  <a:srgbClr val="31558F"/>
                </a:solidFill>
                <a:latin typeface="Consolas" pitchFamily="34" charset="0"/>
                <a:ea typeface="Consolas" pitchFamily="34" charset="-122"/>
                <a:cs typeface="Consolas" pitchFamily="34" charset="-120"/>
              </a:rPr>
              <a:t>LEGAL</a:t>
            </a:r>
            <a:endParaRPr lang="en-US" sz="1800" dirty="0"/>
          </a:p>
        </p:txBody>
      </p:sp>
      <p:sp>
        <p:nvSpPr>
          <p:cNvPr id="24" name="Shape 22"/>
          <p:cNvSpPr/>
          <p:nvPr/>
        </p:nvSpPr>
        <p:spPr>
          <a:xfrm>
            <a:off x="2359152" y="5084064"/>
            <a:ext cx="0" cy="1042416"/>
          </a:xfrm>
          <a:prstGeom prst="line">
            <a:avLst/>
          </a:prstGeom>
          <a:noFill/>
          <a:ln w="12700">
            <a:solidFill>
              <a:srgbClr val="D9DCE3"/>
            </a:solidFill>
            <a:prstDash val="solid"/>
          </a:ln>
        </p:spPr>
      </p:sp>
      <p:sp>
        <p:nvSpPr>
          <p:cNvPr id="25" name="Text 23"/>
          <p:cNvSpPr txBox="1"/>
          <p:nvPr/>
        </p:nvSpPr>
        <p:spPr>
          <a:xfrm>
            <a:off x="2459736" y="490118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7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GRANITE  ·  PROPOSAL DEFENSE</a:t>
            </a:r>
            <a:endParaRPr lang="en-US" sz="1650" dirty="0"/>
          </a:p>
        </p:txBody>
      </p:sp>
      <p:sp>
        <p:nvSpPr>
          <p:cNvPr id="7" name="Text 5"/>
          <p:cNvSpPr txBox="1"/>
          <p:nvPr/>
        </p:nvSpPr>
        <p:spPr>
          <a:xfrm>
            <a:off x="566928" y="1700784"/>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Thank you</a:t>
            </a:r>
            <a:endParaRPr lang="en-US" sz="6950" dirty="0"/>
          </a:p>
        </p:txBody>
      </p:sp>
      <p:sp>
        <p:nvSpPr>
          <p:cNvPr id="8" name="Text 6"/>
          <p:cNvSpPr txBox="1"/>
          <p:nvPr/>
        </p:nvSpPr>
        <p:spPr>
          <a:xfrm>
            <a:off x="566928" y="2798064"/>
            <a:ext cx="7863840" cy="731520"/>
          </a:xfrm>
          <a:prstGeom prst="rect">
            <a:avLst/>
          </a:prstGeom>
          <a:noFill/>
          <a:ln/>
        </p:spPr>
        <p:txBody>
          <a:bodyPr wrap="square" lIns="0" tIns="0" rIns="0" bIns="0" rtlCol="0" anchor="ctr"/>
          <a:lstStyle/>
          <a:p>
            <a:pPr indent="0" marL="0">
              <a:buNone/>
            </a:pPr>
            <a:r>
              <a:rPr lang="en-US" sz="2100" i="1" dirty="0">
                <a:solidFill>
                  <a:srgbClr val="A9B0BE"/>
                </a:solidFill>
                <a:latin typeface="Calibri" pitchFamily="34" charset="0"/>
                <a:ea typeface="Calibri" pitchFamily="34" charset="-122"/>
                <a:cs typeface="Calibri" pitchFamily="34" charset="-120"/>
              </a:rPr>
              <a:t>Questions welcome — every figure on these slides is recomputable from a file in the repository, and we are happy to open any one of them.</a:t>
            </a:r>
            <a:endParaRPr lang="en-US" sz="2100" dirty="0"/>
          </a:p>
        </p:txBody>
      </p:sp>
      <p:sp>
        <p:nvSpPr>
          <p:cNvPr id="9" name="Shape 7"/>
          <p:cNvSpPr/>
          <p:nvPr/>
        </p:nvSpPr>
        <p:spPr>
          <a:xfrm>
            <a:off x="566928" y="3712464"/>
            <a:ext cx="1005840" cy="32004"/>
          </a:xfrm>
          <a:prstGeom prst="rect">
            <a:avLst/>
          </a:prstGeom>
          <a:solidFill>
            <a:srgbClr val="C89B3C"/>
          </a:solidFill>
          <a:ln/>
        </p:spPr>
      </p:sp>
      <p:sp>
        <p:nvSpPr>
          <p:cNvPr id="10" name="Text 8"/>
          <p:cNvSpPr txBox="1"/>
          <p:nvPr/>
        </p:nvSpPr>
        <p:spPr>
          <a:xfrm>
            <a:off x="566928" y="3931920"/>
            <a:ext cx="8412480" cy="914400"/>
          </a:xfrm>
          <a:prstGeom prst="rect">
            <a:avLst/>
          </a:prstGeom>
          <a:noFill/>
          <a:ln/>
        </p:spPr>
        <p:txBody>
          <a:bodyPr wrap="square" lIns="0" tIns="0" rIns="0" bIns="0" rtlCol="0" anchor="ctr"/>
          <a:lstStyle/>
          <a:p>
            <a:pPr indent="0" marL="0">
              <a:buNone/>
            </a:pPr>
            <a:r>
              <a:rPr lang="en-US" sz="2300" i="1" dirty="0">
                <a:solidFill>
                  <a:srgbClr val="F5F6F8"/>
                </a:solidFill>
                <a:latin typeface="Georgia" pitchFamily="34" charset="0"/>
                <a:ea typeface="Georgia" pitchFamily="34" charset="-122"/>
                <a:cs typeface="Georgia" pitchFamily="34" charset="-120"/>
              </a:rPr>
              <a:t>Attribution, silent-failure detection and verified repair — measured as one pipeline, on architectures no prior paper tested.</a:t>
            </a:r>
            <a:endParaRPr lang="en-US" sz="2300" dirty="0"/>
          </a:p>
        </p:txBody>
      </p:sp>
      <p:sp>
        <p:nvSpPr>
          <p:cNvPr id="11" name="Shape 9"/>
          <p:cNvSpPr/>
          <p:nvPr/>
        </p:nvSpPr>
        <p:spPr>
          <a:xfrm>
            <a:off x="566928" y="5138928"/>
            <a:ext cx="7680960" cy="0"/>
          </a:xfrm>
          <a:prstGeom prst="line">
            <a:avLst/>
          </a:prstGeom>
          <a:noFill/>
          <a:ln w="12700">
            <a:solidFill>
              <a:srgbClr val="2C3340"/>
            </a:solidFill>
            <a:prstDash val="solid"/>
          </a:ln>
        </p:spPr>
      </p:sp>
      <p:sp>
        <p:nvSpPr>
          <p:cNvPr id="12" name="Text 10"/>
          <p:cNvSpPr txBox="1"/>
          <p:nvPr/>
        </p:nvSpPr>
        <p:spPr>
          <a:xfrm>
            <a:off x="566928" y="5266944"/>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Shahoud Shahid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23i-2515</a:t>
            </a:r>
            <a:endParaRPr lang="en-US" sz="1800" dirty="0"/>
          </a:p>
        </p:txBody>
      </p:sp>
      <p:sp>
        <p:nvSpPr>
          <p:cNvPr id="13" name="Text 11"/>
          <p:cNvSpPr txBox="1"/>
          <p:nvPr/>
        </p:nvSpPr>
        <p:spPr>
          <a:xfrm>
            <a:off x="3172968" y="5266944"/>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Muhammad Noor</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23i-2520</a:t>
            </a:r>
            <a:endParaRPr lang="en-US" sz="1800" dirty="0"/>
          </a:p>
        </p:txBody>
      </p:sp>
      <p:sp>
        <p:nvSpPr>
          <p:cNvPr id="14" name="Text 12"/>
          <p:cNvSpPr txBox="1"/>
          <p:nvPr/>
        </p:nvSpPr>
        <p:spPr>
          <a:xfrm>
            <a:off x="5779008" y="5266944"/>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Saif Shahzad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23i-2634</a:t>
            </a:r>
            <a:endParaRPr lang="en-US" sz="1800" dirty="0"/>
          </a:p>
        </p:txBody>
      </p:sp>
      <p:sp>
        <p:nvSpPr>
          <p:cNvPr id="15" name="Text 13"/>
          <p:cNvSpPr txBox="1"/>
          <p:nvPr/>
        </p:nvSpPr>
        <p:spPr>
          <a:xfrm>
            <a:off x="566928" y="6016752"/>
            <a:ext cx="6400800" cy="658368"/>
          </a:xfrm>
          <a:prstGeom prst="rect">
            <a:avLst/>
          </a:prstGeom>
          <a:noFill/>
          <a:ln/>
        </p:spPr>
        <p:txBody>
          <a:bodyPr wrap="square" lIns="0" tIns="0" rIns="0" bIns="0" rtlCol="0" anchor="ctr"/>
          <a:lstStyle/>
          <a:p>
            <a:pPr indent="0" marL="0">
              <a:buNone/>
            </a:pPr>
            <a:r>
              <a:rPr lang="en-US" sz="1500" dirty="0">
                <a:solidFill>
                  <a:srgbClr val="A9B0BE"/>
                </a:solidFill>
                <a:latin typeface="Calibri" pitchFamily="34" charset="0"/>
                <a:ea typeface="Calibri" pitchFamily="34" charset="-122"/>
                <a:cs typeface="Calibri" pitchFamily="34" charset="-120"/>
              </a:rPr>
              <a:t>Supervisor   </a:t>
            </a:r>
            <a:pPr indent="0" marL="0">
              <a:buNone/>
            </a:pPr>
            <a:r>
              <a:rPr lang="en-US" sz="1800" b="1" dirty="0">
                <a:solidFill>
                  <a:srgbClr val="F5F6F8"/>
                </a:solidFill>
                <a:latin typeface="Calibri" pitchFamily="34" charset="0"/>
                <a:ea typeface="Calibri" pitchFamily="34" charset="-122"/>
                <a:cs typeface="Calibri" pitchFamily="34" charset="-120"/>
              </a:rPr>
              <a:t>Dr. Adil Majeed</a:t>
            </a:r>
            <a:endParaRPr lang="en-US" sz="1500" dirty="0"/>
          </a:p>
          <a:p>
            <a:pPr indent="0" marL="0">
              <a:buNone/>
            </a:pPr>
            <a:r>
              <a:rPr lang="en-US" sz="1500" dirty="0">
                <a:solidFill>
                  <a:srgbClr val="A9B0BE"/>
                </a:solidFill>
                <a:latin typeface="Calibri" pitchFamily="34" charset="0"/>
                <a:ea typeface="Calibri" pitchFamily="34" charset="-122"/>
                <a:cs typeface="Calibri" pitchFamily="34" charset="-120"/>
              </a:rPr>
              <a:t>FAST School of Computing, NUCES Islamabad</a:t>
            </a:r>
            <a:endParaRPr lang="en-US" sz="15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2026-09-10T17:00:23Z</dcterms:created>
  <dcterms:modified xsi:type="dcterms:W3CDTF">2026-09-10T17:00:23Z</dcterms:modified>
</cp:coreProperties>
</file>