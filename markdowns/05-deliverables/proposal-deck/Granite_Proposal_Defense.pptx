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houd Shahid" userId="3c9cab93-14e5-4819-b0da-9c888b27567f" providerId="ADAL" clId="{F3DB6A94-22EA-4126-B191-698C38F207E8}"/>
    <pc:docChg chg="modSld">
      <pc:chgData name="Shahoud Shahid" userId="3c9cab93-14e5-4819-b0da-9c888b27567f" providerId="ADAL" clId="{F3DB6A94-22EA-4126-B191-698C38F207E8}" dt="2026-09-07T03:23:42.200" v="0" actId="14734"/>
      <pc:docMkLst>
        <pc:docMk/>
      </pc:docMkLst>
      <pc:sldChg chg="modSp mod">
        <pc:chgData name="Shahoud Shahid" userId="3c9cab93-14e5-4819-b0da-9c888b27567f" providerId="ADAL" clId="{F3DB6A94-22EA-4126-B191-698C38F207E8}" dt="2026-09-07T03:23:42.200" v="0" actId="14734"/>
        <pc:sldMkLst>
          <pc:docMk/>
          <pc:sldMk cId="0" sldId="258"/>
        </pc:sldMkLst>
        <pc:graphicFrameChg chg="modGraphic">
          <ac:chgData name="Shahoud Shahid" userId="3c9cab93-14e5-4819-b0da-9c888b27567f" providerId="ADAL" clId="{F3DB6A94-22EA-4126-B191-698C38F207E8}" dt="2026-09-07T03:23:42.200" v="0" actId="14734"/>
          <ac:graphicFrameMkLst>
            <pc:docMk/>
            <pc:sldMk cId="0" sldId="258"/>
            <ac:graphicFrameMk id="6" creationId="{00000000-0000-0000-0000-00000000000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Step accuracy</c:v>
                </c:pt>
              </c:strCache>
            </c:strRef>
          </c:tx>
          <c:spPr>
            <a:solidFill>
              <a:srgbClr val="B87F3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20232B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Who&amp;When
(single-LLM)</c:v>
                </c:pt>
                <c:pt idx="1">
                  <c:v>AgenTracer</c:v>
                </c:pt>
                <c:pt idx="2">
                  <c:v>ErrorProbe
(chosen baseline)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14.2</c:v>
                </c:pt>
                <c:pt idx="1">
                  <c:v>40</c:v>
                </c:pt>
                <c:pt idx="2">
                  <c:v>59.5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76-41D4-8290-C45D7D1030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2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D8DA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1485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one-line problem exactly as written — WHO (teams running multi-agent systems), WHAT fails (attribution + silent failures), WHY it matters (nobody can verify a fix), in one breath. Do not explain the title word-by-word — slide 6 does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stakeholder line is what turns CCP characteristic #6 from weak to clear — name who was actually contacted, or say plainly this is still in progress and name the date it closes. 14.2% is the field's own measured baseline for 'a human reads the trace' — the number the whole project is trying to beat.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 the correction story: an early draft said 'nobody automates this' — direct vendor checks proved that stale, corrected on the record (R9). The gap is the combination, not any single missing feature — say this before being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backbone-confound caveat before being asked. Name that credible unpublished preprints exist in adjacent territory and the team made a recorded decision not to chase every one — the strategy is beating a peer-reviewed baseline, not pre-empting unpublished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characteristic 9's resolution aloud if asked why this is complex — the strongest, most concrete sentence in the plan. The guide's own worked examples clear 6–9 characteristics; this clears 8, ahead of most benchmark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unprompted: 'controlled, not deterministic' — the replay protocol is deterministic, LLM-step variance is measured over N replays, never assumed away (R25). Say unprompted: the Semantic Error Diagnostic abstains where no checkable constraint exists, and the abstention rate is reported as a metric. If asked for the full SRS/use-case/SSD/test-plan detail behind this diagram, point to the architecture atlas's new 'Requirements &amp; Design' tab and the underlying files in markdowns/01-planning-and-scope/.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Spike 7's negative result and Spike 8's failure analysis — quote the guide's own words on this directly. Every number on this slide is real, computed from files in this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false-positive-rate-on-clean-controls metric is absent from every paper in the reviewed corpus and every platform checked — say this is the field's gap, not just ours. The acceptance band was declared before the full reproduction runs — that ordering is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this slide as confidence, not confession: decision rules were pre-registered before results exist — exactly what the guide's change-control section asks for. If feasibility is pressed, point at slide 10's effort-budget number, don't just reassure verbally.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member states their own subsystem in one sentence, aloud — the panel is applying the guide's four ownership questions, and hearing three distinct voices early sets that tone. The DEI line is a real, checkable commitment, not a decorative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722815" y="822960"/>
            <a:ext cx="1005840" cy="1005840"/>
          </a:xfrm>
          <a:prstGeom prst="rect">
            <a:avLst/>
          </a:prstGeom>
          <a:solidFill>
            <a:srgbClr val="B87F3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 rot="2700000">
            <a:off x="9978847" y="1078992"/>
            <a:ext cx="493776" cy="493776"/>
          </a:xfrm>
          <a:prstGeom prst="rect">
            <a:avLst/>
          </a:prstGeom>
          <a:solidFill>
            <a:srgbClr val="1B1E25"/>
          </a:solidFill>
          <a:ln w="12700">
            <a:solidFill>
              <a:srgbClr val="D9A15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A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F26-060 · PROPOSAL DEFENSE · STREAM A — RESEARCH-DERIVED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9164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Granite</a:t>
            </a:r>
            <a:endParaRPr lang="en-US" sz="6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697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Self-Healing Multi-Agent System for Semantic Error Diagnosis, Verified Repair and Recovery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3429000"/>
            <a:ext cx="7863840" cy="0"/>
          </a:xfrm>
          <a:prstGeom prst="line">
            <a:avLst/>
          </a:prstGeom>
          <a:noFill/>
          <a:ln w="12700">
            <a:solidFill>
              <a:srgbClr val="3A3F4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 txBox="1"/>
          <p:nvPr/>
        </p:nvSpPr>
        <p:spPr>
          <a:xfrm>
            <a:off x="502920" y="36118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 multi-agent AI system fails — including when the wrong answer looks completely right — no published method can reliably say which agent caused it, and none can verify a fix before trusting it.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074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Shahoud Shahid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23i-2515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5074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Noor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23i-2520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715000" y="5074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Saif Shahzad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23i-2634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4983480"/>
            <a:ext cx="7863840" cy="0"/>
          </a:xfrm>
          <a:prstGeom prst="line">
            <a:avLst/>
          </a:prstGeom>
          <a:noFill/>
          <a:ln w="9525">
            <a:solidFill>
              <a:srgbClr val="3A3F4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 txBox="1"/>
          <p:nvPr/>
        </p:nvSpPr>
        <p:spPr>
          <a:xfrm>
            <a:off x="502920" y="5943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 </a:t>
            </a:r>
            <a:r>
              <a:rPr lang="en-US" sz="12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Adil Majeed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School of Computing, NUCES Islamabad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HAS THIS, AND WHERE IT BREAKS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Stakeholders, Problem &amp; Current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457200" cy="32004"/>
          </a:xfrm>
          <a:prstGeom prst="rect">
            <a:avLst/>
          </a:prstGeom>
          <a:solidFill>
            <a:srgbClr val="B87F3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 txBox="1"/>
          <p:nvPr/>
        </p:nvSpPr>
        <p:spPr>
          <a:xfrm>
            <a:off x="9448495" y="6473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10  ·  F26-060-Granite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029200" cy="2331720"/>
          </a:xfrm>
          <a:prstGeom prst="roundRect">
            <a:avLst>
              <a:gd name="adj" fmla="val 3137"/>
            </a:avLst>
          </a:prstGeom>
          <a:solidFill>
            <a:srgbClr val="F0F1F4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 txBox="1"/>
          <p:nvPr/>
        </p:nvSpPr>
        <p:spPr>
          <a:xfrm>
            <a:off x="731520" y="1572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STAKEHOLDERS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874520"/>
            <a:ext cx="4572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— an engineering team operating a multi-agent AI system in or near production (grounded in a customer-support / retail workflow, our active benchmark substrate)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— downstream product teams consuming the diagnosis output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— auditors / compliance reviewers who need traceable evidence of what went wrong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88620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E4F0F1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 txBox="1"/>
          <p:nvPr/>
        </p:nvSpPr>
        <p:spPr>
          <a:xfrm>
            <a:off x="731520" y="4023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9  </a:t>
            </a:r>
            <a:r>
              <a:rPr lang="en-US" sz="11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Industry, Innovation &amp; Infrastructure (target 9.5) — reliability tooling for a new industrial category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4937760"/>
            <a:ext cx="5029200" cy="1371600"/>
          </a:xfrm>
          <a:prstGeom prst="roundRect">
            <a:avLst>
              <a:gd name="adj" fmla="val 5333"/>
            </a:avLst>
          </a:prstGeom>
          <a:solidFill>
            <a:srgbClr val="F5E5E2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 txBox="1"/>
          <p:nvPr/>
        </p:nvSpPr>
        <p:spPr>
          <a:xfrm>
            <a:off x="731520" y="5074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A63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CONSEQUENCE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32180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silent failure ships a confident, wrong answer to an end user — undetected.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1417320"/>
            <a:ext cx="5836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WORKFLOW — NO GRANITE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52160" y="1828800"/>
            <a:ext cx="384048" cy="384048"/>
          </a:xfrm>
          <a:prstGeom prst="ellipse">
            <a:avLst/>
          </a:prstGeom>
          <a:solidFill>
            <a:srgbClr val="E4EA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 txBox="1"/>
          <p:nvPr/>
        </p:nvSpPr>
        <p:spPr>
          <a:xfrm>
            <a:off x="585216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82512" y="1801368"/>
            <a:ext cx="5287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platform captures the trace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/ Langfuse / Braintrust / Arize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44184" y="2212848"/>
            <a:ext cx="0" cy="384048"/>
          </a:xfrm>
          <a:prstGeom prst="line">
            <a:avLst/>
          </a:prstGeom>
          <a:noFill/>
          <a:ln w="19050">
            <a:solidFill>
              <a:srgbClr val="D8DAE1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5852160" y="2907792"/>
            <a:ext cx="384048" cy="384048"/>
          </a:xfrm>
          <a:prstGeom prst="ellipse">
            <a:avLst/>
          </a:prstGeom>
          <a:solidFill>
            <a:srgbClr val="F5E9D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 txBox="1"/>
          <p:nvPr/>
        </p:nvSpPr>
        <p:spPr>
          <a:xfrm>
            <a:off x="585216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56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82512" y="2880360"/>
            <a:ext cx="5287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reads the trace and guesses the root cause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attribution with published accuracy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44184" y="3291840"/>
            <a:ext cx="0" cy="384048"/>
          </a:xfrm>
          <a:prstGeom prst="line">
            <a:avLst/>
          </a:prstGeom>
          <a:noFill/>
          <a:ln w="19050">
            <a:solidFill>
              <a:srgbClr val="D8DAE1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5852160" y="3986784"/>
            <a:ext cx="384048" cy="384048"/>
          </a:xfrm>
          <a:prstGeom prst="ellipse">
            <a:avLst/>
          </a:prstGeom>
          <a:solidFill>
            <a:srgbClr val="F5E5E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 txBox="1"/>
          <p:nvPr/>
        </p:nvSpPr>
        <p:spPr>
          <a:xfrm>
            <a:off x="585216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63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382512" y="3959352"/>
            <a:ext cx="5287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silent-failure check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confident, well-formed, wrong answer with no error signal passes unnoticed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044184" y="4370832"/>
            <a:ext cx="0" cy="384048"/>
          </a:xfrm>
          <a:prstGeom prst="line">
            <a:avLst/>
          </a:prstGeom>
          <a:noFill/>
          <a:ln w="19050">
            <a:solidFill>
              <a:srgbClr val="D8DAE1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5852160" y="5065776"/>
            <a:ext cx="384048" cy="384048"/>
          </a:xfrm>
          <a:prstGeom prst="ellipse">
            <a:avLst/>
          </a:prstGeom>
          <a:solidFill>
            <a:srgbClr val="F5E5E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 txBox="1"/>
          <p:nvPr/>
        </p:nvSpPr>
        <p:spPr>
          <a:xfrm>
            <a:off x="5852160" y="5065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63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382512" y="5038344"/>
            <a:ext cx="5287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test a fix before redeploying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baseline: single-model guess scores 14.2% step accuracy (Who&amp;When)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PROVING THE GAP IS STRUCTURAL, NOT A MISSING FEATURE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&amp; Prior FYP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457200" cy="32004"/>
          </a:xfrm>
          <a:prstGeom prst="rect">
            <a:avLst/>
          </a:prstGeom>
          <a:solidFill>
            <a:srgbClr val="B87F3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 txBox="1"/>
          <p:nvPr/>
        </p:nvSpPr>
        <p:spPr>
          <a:xfrm>
            <a:off x="9448495" y="6473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10  ·  F26-060-Granite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822506"/>
              </p:ext>
            </p:extLst>
          </p:nvPr>
        </p:nvGraphicFramePr>
        <p:xfrm>
          <a:off x="522514" y="1417320"/>
          <a:ext cx="10633166" cy="4160520"/>
        </p:xfrm>
        <a:graphic>
          <a:graphicData uri="http://schemas.openxmlformats.org/drawingml/2006/table">
            <a:tbl>
              <a:tblPr/>
              <a:tblGrid>
                <a:gridCol w="1397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4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approach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4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Step-level attribution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4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(published accuracy)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4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Silent-failure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4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4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Counterfactual fix-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4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testing, measured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4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Framework-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4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agnostic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ErrorProbe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(ACL 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3-stage LLM diagnosis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memory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admits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cannot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2 archs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 Engine 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Arize Alyx (2026)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RCA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fix drafting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published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confirmed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confirmed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stack-locked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Langfuse / Braintrust 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Phoenix / Maxim / Opik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 capture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eval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human-driven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RAG-groundedness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Closest prior FYP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(S24-011-D-HDLM,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2024)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i="1" dirty="0">
                          <a:solidFill>
                            <a:srgbClr val="8A8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 detection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i="1" dirty="0">
                          <a:solidFill>
                            <a:srgbClr val="8A8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single-LLM 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i="1" dirty="0">
                          <a:solidFill>
                            <a:srgbClr val="8A8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i="1" dirty="0">
                          <a:solidFill>
                            <a:srgbClr val="8A8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attribution at 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i="1" dirty="0">
                          <a:solidFill>
                            <a:srgbClr val="8A8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— single-LLM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i="1" dirty="0">
                          <a:solidFill>
                            <a:srgbClr val="8A8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only, not agent traces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i="1" dirty="0">
                          <a:solidFill>
                            <a:srgbClr val="8A8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no repair/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i="1" dirty="0">
                          <a:solidFill>
                            <a:srgbClr val="8A8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replay step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i="1" dirty="0">
                          <a:solidFill>
                            <a:srgbClr val="8A8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— not 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i="1" dirty="0">
                          <a:solidFill>
                            <a:srgbClr val="8A8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system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manual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reads,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(Who&amp;When)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Granite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(proposed)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Constraint-based 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verified repair loop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 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ErrorProbe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scoped &amp;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recovery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 N replays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CrewAI 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LangGraph, unseen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715000"/>
            <a:ext cx="11185855" cy="777240"/>
          </a:xfrm>
          <a:prstGeom prst="roundRect">
            <a:avLst>
              <a:gd name="adj" fmla="val 9412"/>
            </a:avLst>
          </a:prstGeom>
          <a:solidFill>
            <a:srgbClr val="F5EDDA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 txBox="1"/>
          <p:nvPr/>
        </p:nvSpPr>
        <p:spPr>
          <a:xfrm>
            <a:off x="731520" y="585216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gap:  </a:t>
            </a:r>
            <a:r>
              <a:rPr lang="en-US" sz="11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checked — academic or commercial — confirms step-level attribution accuracy together with general silent-failure detection and counterfactual fix verification and cross-architecture generalization, evaluated as one pipeline.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9+ PAPERS READ IN FULL — DECISIONS, NOT DECORATION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&amp; Technical Basis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457200" cy="32004"/>
          </a:xfrm>
          <a:prstGeom prst="rect">
            <a:avLst/>
          </a:prstGeom>
          <a:solidFill>
            <a:srgbClr val="B87F3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 txBox="1"/>
          <p:nvPr/>
        </p:nvSpPr>
        <p:spPr>
          <a:xfrm>
            <a:off x="9448495" y="6473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10  ·  F26-060-Granite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1732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DECISIONS THE LITERATURE INFLUENCED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274320" cy="274320"/>
          </a:xfrm>
          <a:prstGeom prst="ellipse">
            <a:avLst/>
          </a:prstGeom>
          <a:solidFill>
            <a:srgbClr val="D9A15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 txBox="1"/>
          <p:nvPr/>
        </p:nvSpPr>
        <p:spPr>
          <a:xfrm>
            <a:off x="50292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E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1682496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ErrorProbe chosen as baseline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performance (59.5%, beats its ancestors on their own benchmarks), not recency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761488"/>
            <a:ext cx="274320" cy="274320"/>
          </a:xfrm>
          <a:prstGeom prst="ellipse">
            <a:avLst/>
          </a:prstGeom>
          <a:solidFill>
            <a:srgbClr val="D9A15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 txBox="1"/>
          <p:nvPr/>
        </p:nvSpPr>
        <p:spPr>
          <a:xfrm>
            <a:off x="502920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E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706624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+ LangGraph committed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used by any of the 9 papers reviewed — the actual test of generalization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785616"/>
            <a:ext cx="274320" cy="274320"/>
          </a:xfrm>
          <a:prstGeom prst="ellipse">
            <a:avLst/>
          </a:prstGeom>
          <a:solidFill>
            <a:srgbClr val="D9A15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 txBox="1"/>
          <p:nvPr/>
        </p:nvSpPr>
        <p:spPr>
          <a:xfrm>
            <a:off x="502920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E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730752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Constraint-based SED, not LLM-judge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“From Confident Closing to Silent Failure” (arXiv:2606.09863): LLM-judge AUROC ≤ 0.65 on tau2-bench/AppWorld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809744"/>
            <a:ext cx="274320" cy="274320"/>
          </a:xfrm>
          <a:prstGeom prst="ellipse">
            <a:avLst/>
          </a:prstGeom>
          <a:solidFill>
            <a:srgbClr val="D9A15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 txBox="1"/>
          <p:nvPr/>
        </p:nvSpPr>
        <p:spPr>
          <a:xfrm>
            <a:off x="502920" y="4809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E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75488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Single-framework narrowing rejected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survey's own advice, declined — would delete the cross-architecture research question (R19)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1417320"/>
            <a:ext cx="4830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PUBLISHED STEP-ACCURACY LINEAGE</a:t>
            </a:r>
            <a:endParaRPr lang="en-US" sz="10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6858000" y="1737360"/>
          <a:ext cx="4830775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6858000" y="4114800"/>
            <a:ext cx="4830775" cy="914400"/>
          </a:xfrm>
          <a:prstGeom prst="roundRect">
            <a:avLst>
              <a:gd name="adj" fmla="val 8000"/>
            </a:avLst>
          </a:prstGeom>
          <a:solidFill>
            <a:srgbClr val="F5E5E2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19"/>
          <p:cNvSpPr txBox="1"/>
          <p:nvPr/>
        </p:nvSpPr>
        <p:spPr>
          <a:xfrm>
            <a:off x="7040880" y="4233672"/>
            <a:ext cx="4465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6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40.5 points still wrong  </a:t>
            </a:r>
            <a:r>
              <a:rPr lang="en-US" sz="11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best published method misattributes the origin step 4 times in 10, and confesses it cannot see silent failures at all.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858000" y="5212080"/>
            <a:ext cx="4830775" cy="1051560"/>
          </a:xfrm>
          <a:prstGeom prst="roundRect">
            <a:avLst>
              <a:gd name="adj" fmla="val 6957"/>
            </a:avLst>
          </a:prstGeom>
          <a:solidFill>
            <a:srgbClr val="F0F1F4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1"/>
          <p:cNvSpPr txBox="1"/>
          <p:nvPr/>
        </p:nvSpPr>
        <p:spPr>
          <a:xfrm>
            <a:off x="7040880" y="5330952"/>
            <a:ext cx="4465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BACKBONE-CONFOUND CAVEAT (stated up front)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7040880" y="5559552"/>
            <a:ext cx="4465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Cross-paper comparisons use different LLM backbones — a win partly reflects backbone strength. Controlled for within Granite's own experiments (R4).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OF 9 CHARACTERISTICS CLEAR, EVIDENCED NOT ASSERTED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Computing Problem — Seoul Accord Justification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457200" cy="32004"/>
          </a:xfrm>
          <a:prstGeom prst="rect">
            <a:avLst/>
          </a:prstGeom>
          <a:solidFill>
            <a:srgbClr val="B87F3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 txBox="1"/>
          <p:nvPr/>
        </p:nvSpPr>
        <p:spPr>
          <a:xfrm>
            <a:off x="9448495" y="6473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10  ·  F26-060-Granite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545738" cy="1252728"/>
          </a:xfrm>
          <a:prstGeom prst="roundRect">
            <a:avLst>
              <a:gd name="adj" fmla="val 5839"/>
            </a:avLst>
          </a:prstGeom>
          <a:solidFill>
            <a:srgbClr val="E7F1EA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667512" y="1563624"/>
            <a:ext cx="329184" cy="329184"/>
          </a:xfrm>
          <a:prstGeom prst="ellipse">
            <a:avLst/>
          </a:prstGeom>
          <a:solidFill>
            <a:srgbClr val="2F7A4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 txBox="1"/>
          <p:nvPr/>
        </p:nvSpPr>
        <p:spPr>
          <a:xfrm>
            <a:off x="667512" y="1563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545336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Conflicting requirements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1947672"/>
            <a:ext cx="3225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depth vs. latency; trace completeness vs. privacy; generalization vs. specialization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3225698" y="2450592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2F7A4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 txBox="1"/>
          <p:nvPr/>
        </p:nvSpPr>
        <p:spPr>
          <a:xfrm>
            <a:off x="3225698" y="24505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31538" y="1417320"/>
            <a:ext cx="3545738" cy="1252728"/>
          </a:xfrm>
          <a:prstGeom prst="roundRect">
            <a:avLst>
              <a:gd name="adj" fmla="val 5839"/>
            </a:avLst>
          </a:prstGeom>
          <a:solidFill>
            <a:srgbClr val="E7F1EA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4396130" y="1563624"/>
            <a:ext cx="329184" cy="329184"/>
          </a:xfrm>
          <a:prstGeom prst="ellipse">
            <a:avLst/>
          </a:prstGeom>
          <a:solidFill>
            <a:srgbClr val="2F7A4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 txBox="1"/>
          <p:nvPr/>
        </p:nvSpPr>
        <p:spPr>
          <a:xfrm>
            <a:off x="4396130" y="1563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25898" y="1545336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obvious solution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396130" y="1947672"/>
            <a:ext cx="3225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published step accuracy still 59.5% after 15 months, 7 papers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6954317" y="2450592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2F7A4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 txBox="1"/>
          <p:nvPr/>
        </p:nvSpPr>
        <p:spPr>
          <a:xfrm>
            <a:off x="6954317" y="24505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960157" y="1417320"/>
            <a:ext cx="3545738" cy="1252728"/>
          </a:xfrm>
          <a:prstGeom prst="roundRect">
            <a:avLst>
              <a:gd name="adj" fmla="val 5839"/>
            </a:avLst>
          </a:prstGeom>
          <a:solidFill>
            <a:srgbClr val="E7F1EA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8124749" y="1563624"/>
            <a:ext cx="329184" cy="329184"/>
          </a:xfrm>
          <a:prstGeom prst="ellipse">
            <a:avLst/>
          </a:prstGeom>
          <a:solidFill>
            <a:srgbClr val="2F7A4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 txBox="1"/>
          <p:nvPr/>
        </p:nvSpPr>
        <p:spPr>
          <a:xfrm>
            <a:off x="8124749" y="1563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554517" y="1545336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 of knowledge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124749" y="1947672"/>
            <a:ext cx="3225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Execution-graph modeling, causal/counterfactual reasoning, distributed tracing, eval methodology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10682935" y="2450592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2F7A4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 txBox="1"/>
          <p:nvPr/>
        </p:nvSpPr>
        <p:spPr>
          <a:xfrm>
            <a:off x="10682935" y="24505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2834640"/>
            <a:ext cx="3545738" cy="1252728"/>
          </a:xfrm>
          <a:prstGeom prst="roundRect">
            <a:avLst>
              <a:gd name="adj" fmla="val 5839"/>
            </a:avLst>
          </a:prstGeom>
          <a:solidFill>
            <a:srgbClr val="E7F1EA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667512" y="2980944"/>
            <a:ext cx="329184" cy="329184"/>
          </a:xfrm>
          <a:prstGeom prst="ellipse">
            <a:avLst/>
          </a:prstGeom>
          <a:solidFill>
            <a:srgbClr val="2F7A4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 txBox="1"/>
          <p:nvPr/>
        </p:nvSpPr>
        <p:spPr>
          <a:xfrm>
            <a:off x="667512" y="2980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2962656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Unfamiliar issues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67512" y="3364992"/>
            <a:ext cx="3225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error manifestation, LLM non-determinism, cross-architecture generalization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3225698" y="3867912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2F7A4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 txBox="1"/>
          <p:nvPr/>
        </p:nvSpPr>
        <p:spPr>
          <a:xfrm>
            <a:off x="3225698" y="38679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231538" y="2834640"/>
            <a:ext cx="3545738" cy="1252728"/>
          </a:xfrm>
          <a:prstGeom prst="roundRect">
            <a:avLst>
              <a:gd name="adj" fmla="val 5839"/>
            </a:avLst>
          </a:prstGeom>
          <a:solidFill>
            <a:srgbClr val="E7F1EA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Shape 33"/>
          <p:cNvSpPr/>
          <p:nvPr/>
        </p:nvSpPr>
        <p:spPr>
          <a:xfrm>
            <a:off x="4396130" y="2980944"/>
            <a:ext cx="329184" cy="329184"/>
          </a:xfrm>
          <a:prstGeom prst="ellipse">
            <a:avLst/>
          </a:prstGeom>
          <a:solidFill>
            <a:srgbClr val="2F7A4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 txBox="1"/>
          <p:nvPr/>
        </p:nvSpPr>
        <p:spPr>
          <a:xfrm>
            <a:off x="4396130" y="2980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825898" y="2962656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standard practice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4396130" y="3364992"/>
            <a:ext cx="3225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off-the-shelf framework solves attribution + silent-failure detection + recovery</a:t>
            </a:r>
            <a:endParaRPr lang="en-US" sz="970" dirty="0"/>
          </a:p>
        </p:txBody>
      </p:sp>
      <p:sp>
        <p:nvSpPr>
          <p:cNvPr id="39" name="Shape 37"/>
          <p:cNvSpPr/>
          <p:nvPr/>
        </p:nvSpPr>
        <p:spPr>
          <a:xfrm>
            <a:off x="6954317" y="3867912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2F7A4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0" name="Text 38"/>
          <p:cNvSpPr txBox="1"/>
          <p:nvPr/>
        </p:nvSpPr>
        <p:spPr>
          <a:xfrm>
            <a:off x="6954317" y="38679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960157" y="2834640"/>
            <a:ext cx="3545738" cy="1252728"/>
          </a:xfrm>
          <a:prstGeom prst="roundRect">
            <a:avLst>
              <a:gd name="adj" fmla="val 5839"/>
            </a:avLst>
          </a:prstGeom>
          <a:solidFill>
            <a:srgbClr val="F5EDDA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2" name="Shape 40"/>
          <p:cNvSpPr/>
          <p:nvPr/>
        </p:nvSpPr>
        <p:spPr>
          <a:xfrm>
            <a:off x="8124749" y="2980944"/>
            <a:ext cx="329184" cy="329184"/>
          </a:xfrm>
          <a:prstGeom prst="ellipse">
            <a:avLst/>
          </a:prstGeom>
          <a:solidFill>
            <a:srgbClr val="9A6B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3" name="Text 41"/>
          <p:cNvSpPr txBox="1"/>
          <p:nvPr/>
        </p:nvSpPr>
        <p:spPr>
          <a:xfrm>
            <a:off x="8124749" y="2980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8554517" y="2962656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Diverse stakeholders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8124749" y="3364992"/>
            <a:ext cx="3225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Operators, product teams, auditors named; real contact still open</a:t>
            </a:r>
            <a:endParaRPr lang="en-US" sz="970" dirty="0"/>
          </a:p>
        </p:txBody>
      </p:sp>
      <p:sp>
        <p:nvSpPr>
          <p:cNvPr id="46" name="Shape 44"/>
          <p:cNvSpPr/>
          <p:nvPr/>
        </p:nvSpPr>
        <p:spPr>
          <a:xfrm>
            <a:off x="10682935" y="3867912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9A6B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7" name="Text 45"/>
          <p:cNvSpPr txBox="1"/>
          <p:nvPr/>
        </p:nvSpPr>
        <p:spPr>
          <a:xfrm>
            <a:off x="10682935" y="38679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WEAK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02920" y="4251960"/>
            <a:ext cx="3545738" cy="1252728"/>
          </a:xfrm>
          <a:prstGeom prst="roundRect">
            <a:avLst>
              <a:gd name="adj" fmla="val 5839"/>
            </a:avLst>
          </a:prstGeom>
          <a:solidFill>
            <a:srgbClr val="E7F1EA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9" name="Shape 47"/>
          <p:cNvSpPr/>
          <p:nvPr/>
        </p:nvSpPr>
        <p:spPr>
          <a:xfrm>
            <a:off x="667512" y="4398264"/>
            <a:ext cx="329184" cy="329184"/>
          </a:xfrm>
          <a:prstGeom prst="ellipse">
            <a:avLst/>
          </a:prstGeom>
          <a:solidFill>
            <a:srgbClr val="2F7A4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0" name="Text 48"/>
          <p:cNvSpPr txBox="1"/>
          <p:nvPr/>
        </p:nvSpPr>
        <p:spPr>
          <a:xfrm>
            <a:off x="667512" y="4398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1097280" y="4379976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Significant consequences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667512" y="4782312"/>
            <a:ext cx="3225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silent failure ships a wrong answer, undetected</a:t>
            </a:r>
            <a:endParaRPr lang="en-US" sz="970" dirty="0"/>
          </a:p>
        </p:txBody>
      </p:sp>
      <p:sp>
        <p:nvSpPr>
          <p:cNvPr id="53" name="Shape 51"/>
          <p:cNvSpPr/>
          <p:nvPr/>
        </p:nvSpPr>
        <p:spPr>
          <a:xfrm>
            <a:off x="3225698" y="5285232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2F7A4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4" name="Text 52"/>
          <p:cNvSpPr txBox="1"/>
          <p:nvPr/>
        </p:nvSpPr>
        <p:spPr>
          <a:xfrm>
            <a:off x="3225698" y="52852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231538" y="4251960"/>
            <a:ext cx="3545738" cy="1252728"/>
          </a:xfrm>
          <a:prstGeom prst="roundRect">
            <a:avLst>
              <a:gd name="adj" fmla="val 5839"/>
            </a:avLst>
          </a:prstGeom>
          <a:solidFill>
            <a:srgbClr val="E7F1EA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6" name="Shape 54"/>
          <p:cNvSpPr/>
          <p:nvPr/>
        </p:nvSpPr>
        <p:spPr>
          <a:xfrm>
            <a:off x="4396130" y="4398264"/>
            <a:ext cx="329184" cy="329184"/>
          </a:xfrm>
          <a:prstGeom prst="ellipse">
            <a:avLst/>
          </a:prstGeom>
          <a:solidFill>
            <a:srgbClr val="2F7A4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7" name="Text 55"/>
          <p:cNvSpPr txBox="1"/>
          <p:nvPr/>
        </p:nvSpPr>
        <p:spPr>
          <a:xfrm>
            <a:off x="4396130" y="4398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4825898" y="4379976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Interdependence</a:t>
            </a:r>
            <a:endParaRPr lang="en-US" sz="1250" dirty="0"/>
          </a:p>
        </p:txBody>
      </p:sp>
      <p:sp>
        <p:nvSpPr>
          <p:cNvPr id="59" name="Text 57"/>
          <p:cNvSpPr txBox="1"/>
          <p:nvPr/>
        </p:nvSpPr>
        <p:spPr>
          <a:xfrm>
            <a:off x="4396130" y="4782312"/>
            <a:ext cx="3225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propagate through interdependent agents — the execution graph models this directly</a:t>
            </a:r>
            <a:endParaRPr lang="en-US" sz="970" dirty="0"/>
          </a:p>
        </p:txBody>
      </p:sp>
      <p:sp>
        <p:nvSpPr>
          <p:cNvPr id="60" name="Shape 58"/>
          <p:cNvSpPr/>
          <p:nvPr/>
        </p:nvSpPr>
        <p:spPr>
          <a:xfrm>
            <a:off x="6954317" y="5285232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2F7A4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1" name="Text 59"/>
          <p:cNvSpPr txBox="1"/>
          <p:nvPr/>
        </p:nvSpPr>
        <p:spPr>
          <a:xfrm>
            <a:off x="6954317" y="52852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960157" y="4251960"/>
            <a:ext cx="3545738" cy="1252728"/>
          </a:xfrm>
          <a:prstGeom prst="roundRect">
            <a:avLst>
              <a:gd name="adj" fmla="val 5839"/>
            </a:avLst>
          </a:prstGeom>
          <a:solidFill>
            <a:srgbClr val="E7F1EA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3" name="Shape 61"/>
          <p:cNvSpPr/>
          <p:nvPr/>
        </p:nvSpPr>
        <p:spPr>
          <a:xfrm>
            <a:off x="8124749" y="4398264"/>
            <a:ext cx="329184" cy="329184"/>
          </a:xfrm>
          <a:prstGeom prst="ellipse">
            <a:avLst/>
          </a:prstGeom>
          <a:solidFill>
            <a:srgbClr val="2F7A4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4" name="Text 62"/>
          <p:cNvSpPr txBox="1"/>
          <p:nvPr/>
        </p:nvSpPr>
        <p:spPr>
          <a:xfrm>
            <a:off x="8124749" y="4398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8554517" y="4379976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Ill-defined cause</a:t>
            </a:r>
            <a:endParaRPr lang="en-US" sz="1250" dirty="0"/>
          </a:p>
        </p:txBody>
      </p:sp>
      <p:sp>
        <p:nvSpPr>
          <p:cNvPr id="66" name="Text 64"/>
          <p:cNvSpPr txBox="1"/>
          <p:nvPr/>
        </p:nvSpPr>
        <p:spPr>
          <a:xfrm>
            <a:off x="8124749" y="4782312"/>
            <a:ext cx="3225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genuine unknowns at diagnosis time: whether, which agent/step, what the correct behavior was</a:t>
            </a:r>
            <a:endParaRPr lang="en-US" sz="970" dirty="0"/>
          </a:p>
        </p:txBody>
      </p:sp>
      <p:sp>
        <p:nvSpPr>
          <p:cNvPr id="67" name="Shape 65"/>
          <p:cNvSpPr/>
          <p:nvPr/>
        </p:nvSpPr>
        <p:spPr>
          <a:xfrm>
            <a:off x="10682935" y="5285232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2F7A4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8" name="Text 66"/>
          <p:cNvSpPr txBox="1"/>
          <p:nvPr/>
        </p:nvSpPr>
        <p:spPr>
          <a:xfrm>
            <a:off x="10682935" y="52852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ACTUALLY BEING BUILT, AND WHERE THE BOUNDARY SITS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 &amp; Contribution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457200" cy="32004"/>
          </a:xfrm>
          <a:prstGeom prst="rect">
            <a:avLst/>
          </a:prstGeom>
          <a:solidFill>
            <a:srgbClr val="B87F3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 txBox="1"/>
          <p:nvPr/>
        </p:nvSpPr>
        <p:spPr>
          <a:xfrm>
            <a:off x="9448495" y="6473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10  ·  F26-060-Granite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5855" cy="914400"/>
          </a:xfrm>
          <a:prstGeom prst="roundRect">
            <a:avLst>
              <a:gd name="adj" fmla="val 8000"/>
            </a:avLst>
          </a:prstGeom>
          <a:solidFill>
            <a:srgbClr val="F0F1F4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 txBox="1"/>
          <p:nvPr/>
        </p:nvSpPr>
        <p:spPr>
          <a:xfrm>
            <a:off x="731520" y="1554480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A5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Contribution.  </a:t>
            </a:r>
            <a:r>
              <a:rPr lang="en-US" sz="11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methods reach up to 59.5% step accuracy but remain weak under two conditions: none is evaluated on an architecture absent from its own benchmark construction, and the strongest admits it cannot catch silent failures. We are building a cross-architecture fault-injection benchmark and a diagnosis pipeline with constraint-based silent-failure verification, packaged as a framework-agnostic testing SDK.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5B6270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 txBox="1"/>
          <p:nvPr/>
        </p:nvSpPr>
        <p:spPr>
          <a:xfrm>
            <a:off x="594360" y="2770632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System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/ LangGraph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484632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5B6270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 txBox="1"/>
          <p:nvPr/>
        </p:nvSpPr>
        <p:spPr>
          <a:xfrm>
            <a:off x="594360" y="4919472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team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0" y="2514600"/>
            <a:ext cx="7498080" cy="3337560"/>
          </a:xfrm>
          <a:prstGeom prst="roundRect">
            <a:avLst>
              <a:gd name="adj" fmla="val 2740"/>
            </a:avLst>
          </a:prstGeom>
          <a:solidFill>
            <a:srgbClr val="FDFDFE"/>
          </a:solidFill>
          <a:ln w="12700">
            <a:solidFill>
              <a:srgbClr val="5B6270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 txBox="1"/>
          <p:nvPr/>
        </p:nvSpPr>
        <p:spPr>
          <a:xfrm>
            <a:off x="2423160" y="2560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GRANITE — SYSTEM BOUNDARY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23160" y="2807208"/>
            <a:ext cx="5760720" cy="786384"/>
          </a:xfrm>
          <a:prstGeom prst="roundRect">
            <a:avLst>
              <a:gd name="adj" fmla="val 6977"/>
            </a:avLst>
          </a:prstGeom>
          <a:solidFill>
            <a:srgbClr val="E4F0F1"/>
          </a:solidFill>
          <a:ln w="12700">
            <a:solidFill>
              <a:srgbClr val="1F7D8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 txBox="1"/>
          <p:nvPr/>
        </p:nvSpPr>
        <p:spPr>
          <a:xfrm>
            <a:off x="2560320" y="28620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7D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LANE A — DATA / BENCHMARK · SHAHOUD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30815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Adapters   ·   Fault Injection   ·   Benchmark Store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166360" y="3593592"/>
            <a:ext cx="0" cy="109728"/>
          </a:xfrm>
          <a:prstGeom prst="line">
            <a:avLst/>
          </a:prstGeom>
          <a:noFill/>
          <a:ln w="15875">
            <a:solidFill>
              <a:srgbClr val="5B6270"/>
            </a:solidFill>
            <a:prstDash val="solid"/>
            <a:tailEnd type="triangle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2423160" y="3703320"/>
            <a:ext cx="5760720" cy="786384"/>
          </a:xfrm>
          <a:prstGeom prst="roundRect">
            <a:avLst>
              <a:gd name="adj" fmla="val 6977"/>
            </a:avLst>
          </a:prstGeom>
          <a:solidFill>
            <a:srgbClr val="F5E9DD"/>
          </a:solidFill>
          <a:ln w="12700">
            <a:solidFill>
              <a:srgbClr val="B5601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 txBox="1"/>
          <p:nvPr/>
        </p:nvSpPr>
        <p:spPr>
          <a:xfrm>
            <a:off x="2560320" y="3758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56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LANE B — DIAGNOSIS · NOOR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2560320" y="3977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Normalizer → Graph Builder → Semantic Error Diagnostic + Backward Causal Tracer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166360" y="4489704"/>
            <a:ext cx="0" cy="109728"/>
          </a:xfrm>
          <a:prstGeom prst="line">
            <a:avLst/>
          </a:prstGeom>
          <a:noFill/>
          <a:ln w="15875">
            <a:solidFill>
              <a:srgbClr val="5B6270"/>
            </a:solidFill>
            <a:prstDash val="solid"/>
            <a:tailEnd type="triangle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2423160" y="4599432"/>
            <a:ext cx="5760720" cy="786384"/>
          </a:xfrm>
          <a:prstGeom prst="roundRect">
            <a:avLst>
              <a:gd name="adj" fmla="val 6977"/>
            </a:avLst>
          </a:prstGeom>
          <a:solidFill>
            <a:srgbClr val="E4EAF3"/>
          </a:solidFill>
          <a:ln w="12700">
            <a:solidFill>
              <a:srgbClr val="2F5F9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 txBox="1"/>
          <p:nvPr/>
        </p:nvSpPr>
        <p:spPr>
          <a:xfrm>
            <a:off x="2560320" y="46542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F5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LANE C — PLATFORM · SAIF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2560320" y="487375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Agent → Verified Automatic Repair → Recovery Controller / Memory (Tier 2) → API → Dashboard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366760" y="2834640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FBF1E2"/>
          </a:solidFill>
          <a:ln w="12700">
            <a:solidFill>
              <a:srgbClr val="B87F31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 txBox="1"/>
          <p:nvPr/>
        </p:nvSpPr>
        <p:spPr>
          <a:xfrm>
            <a:off x="8430768" y="2907792"/>
            <a:ext cx="1152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5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</a:t>
            </a:r>
            <a:endParaRPr lang="en-US" sz="100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core-assist only</a:t>
            </a:r>
            <a:endParaRPr lang="en-US" sz="100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~15–20% of components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2286000" y="594360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scope: 10 committed mechanisms (Tier 1 + gated Tier 2)   ·   Out of scope: message queues, Kubernetes/multi-region, full RBAC, DR infra, multi-tenant billing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2286000" y="616305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traceable spec behind this diagram: Use Case Model + diagram, 3 System Sequence Diagrams, SRS, Test Plan, Software Development Plan, wireframes — architecture atlas, tab “Requirements &amp; Design”</a:t>
            </a:r>
            <a:endParaRPr lang="en-US" sz="8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“SHOW THE EVIDENCE — DO NOT MERELY DESCRIBE THAT IT EXISTS”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 / Feasibility Evidence — Mandatory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457200" cy="32004"/>
          </a:xfrm>
          <a:prstGeom prst="rect">
            <a:avLst/>
          </a:prstGeom>
          <a:solidFill>
            <a:srgbClr val="B87F3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 txBox="1"/>
          <p:nvPr/>
        </p:nvSpPr>
        <p:spPr>
          <a:xfrm>
            <a:off x="9448495" y="6473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10  ·  F26-060-Granite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71600"/>
            <a:ext cx="261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A5F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71.4%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874520"/>
            <a:ext cx="252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accuracy, mean of 5 real runs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299384" y="1371600"/>
            <a:ext cx="261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A5F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13.2%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299384" y="1874520"/>
            <a:ext cx="252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accuracy, mean of 5 real runs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095848" y="1371600"/>
            <a:ext cx="261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A5F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6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095848" y="1874520"/>
            <a:ext cx="252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Agent success rate (Spike 8)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892311" y="1371600"/>
            <a:ext cx="261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A5F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8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892311" y="1874520"/>
            <a:ext cx="252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spikes with real, on-disk evidence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331720"/>
            <a:ext cx="11185855" cy="0"/>
          </a:xfrm>
          <a:prstGeom prst="line">
            <a:avLst/>
          </a:prstGeom>
          <a:noFill/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514600"/>
          <a:ext cx="11185855" cy="324612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2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4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Spike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ErrorProbe reproduction (simplified)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F7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62.5–85.7% (mean 71.4%) · step 0–25% (mean 13.2%) — 5 real runs, range not a point estimate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CrewAI instrumentation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F7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trace: 3 nodes, 2 correctly-ordered edges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3/3b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injection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F7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truth unambiguous; one case self-corrected by the agent — kept as a finding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Error Diagnostic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F7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Catches known-wrong values incl. a near-miss ($20.00 vs $19.75), zero false positives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Controlled counterfactual replay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F7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Corrupted trace 97.2 → recovered 108.0, recovery_success = true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Cyclic graph handling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F7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 proven load-bearing: control run with it disabled hit the 10,000-step safety cap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Preventive classifier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9A6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DEMONSTRATED — honest negative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/ recall / F1 = 0.25, near-random — real finding, not hidden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 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F7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4/6 repair success; both failures share one precisely diagnosed, fixable cause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02920" y="5897880"/>
            <a:ext cx="11185855" cy="594360"/>
          </a:xfrm>
          <a:prstGeom prst="roundRect">
            <a:avLst>
              <a:gd name="adj" fmla="val 12308"/>
            </a:avLst>
          </a:prstGeom>
          <a:solidFill>
            <a:srgbClr val="F5EDDA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4"/>
          <p:cNvSpPr txBox="1"/>
          <p:nvPr/>
        </p:nvSpPr>
        <p:spPr>
          <a:xfrm>
            <a:off x="685800" y="6016752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progress: </a:t>
            </a:r>
            <a:r>
              <a:rPr lang="en-US" sz="10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3-stage reproduction (top FYP-1 priority).   </a:t>
            </a:r>
            <a:r>
              <a:rPr lang="en-US" sz="10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Planned: </a:t>
            </a:r>
            <a:r>
              <a:rPr lang="en-US" sz="10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Controller + Verified Repair Memory Tier-2 gates — pre-registered Mid-1 criteria, not yet run.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THRESHOLDS DECIDED BEFORE ANY RESULT EXISTS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457200" cy="32004"/>
          </a:xfrm>
          <a:prstGeom prst="rect">
            <a:avLst/>
          </a:prstGeom>
          <a:solidFill>
            <a:srgbClr val="B87F3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 txBox="1"/>
          <p:nvPr/>
        </p:nvSpPr>
        <p:spPr>
          <a:xfrm>
            <a:off x="9448495" y="6473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10  ·  F26-060-Granite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5855" cy="777240"/>
          </a:xfrm>
          <a:prstGeom prst="roundRect">
            <a:avLst>
              <a:gd name="adj" fmla="val 9412"/>
            </a:avLst>
          </a:prstGeom>
          <a:solidFill>
            <a:srgbClr val="F0F1F4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 txBox="1"/>
          <p:nvPr/>
        </p:nvSpPr>
        <p:spPr>
          <a:xfrm>
            <a:off x="731520" y="15361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5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acceptance band.  </a:t>
            </a:r>
            <a:r>
              <a:rPr lang="en-US" sz="11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accepted within ±10 points of ErrorProbe's published 59.5% on a comparable-class backbone (Sonnet 5). Outside the band: both numbers reported transparently, per Annex A.2.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37744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670048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/ step accuracy · propagation-path F1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Silent-failure precision / recall + coverage (abstention rate)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false-positive rate on 15–20% clean controls — absent from every paper and platform reviewed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rate · recovery rate · repair success rate · false repair rate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latency overhead — the measurable NFR, target &lt; 50%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4434840"/>
            <a:ext cx="6949440" cy="1188720"/>
          </a:xfrm>
          <a:prstGeom prst="roundRect">
            <a:avLst>
              <a:gd name="adj" fmla="val 6154"/>
            </a:avLst>
          </a:prstGeom>
          <a:solidFill>
            <a:srgbClr val="F0F1F4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 txBox="1"/>
          <p:nvPr/>
        </p:nvSpPr>
        <p:spPr>
          <a:xfrm>
            <a:off x="685800" y="454456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STATISTICAL PROTOCOL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773168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95% CIs · fixed seeds · N=5 replay variance · 4-item pre-declared ablation matrix · human-baseline comparison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5742432"/>
            <a:ext cx="6949440" cy="777240"/>
          </a:xfrm>
          <a:prstGeom prst="roundRect">
            <a:avLst>
              <a:gd name="adj" fmla="val 9412"/>
            </a:avLst>
          </a:prstGeom>
          <a:solidFill>
            <a:srgbClr val="F5E5E2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 txBox="1"/>
          <p:nvPr/>
        </p:nvSpPr>
        <p:spPr>
          <a:xfrm>
            <a:off x="685800" y="58521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6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support: </a:t>
            </a:r>
            <a:r>
              <a:rPr lang="en-US" sz="10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production-scale reliability claims beyond the tested frameworks and task domains — stated up front, not extracted under questioning.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726680" y="2377440"/>
            <a:ext cx="3962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 BANDS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26680" y="2670048"/>
            <a:ext cx="3962095" cy="777240"/>
          </a:xfrm>
          <a:prstGeom prst="roundRect">
            <a:avLst>
              <a:gd name="adj" fmla="val 9412"/>
            </a:avLst>
          </a:prstGeom>
          <a:solidFill>
            <a:srgbClr val="F5E5E2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 txBox="1"/>
          <p:nvPr/>
        </p:nvSpPr>
        <p:spPr>
          <a:xfrm>
            <a:off x="7891272" y="2743200"/>
            <a:ext cx="36329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63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891272" y="3017520"/>
            <a:ext cx="36329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measurable improvement over baseline anywhere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726680" y="3566160"/>
            <a:ext cx="3962095" cy="777240"/>
          </a:xfrm>
          <a:prstGeom prst="roundRect">
            <a:avLst>
              <a:gd name="adj" fmla="val 9412"/>
            </a:avLst>
          </a:prstGeom>
          <a:solidFill>
            <a:srgbClr val="F5EDDA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 txBox="1"/>
          <p:nvPr/>
        </p:nvSpPr>
        <p:spPr>
          <a:xfrm>
            <a:off x="7891272" y="3639312"/>
            <a:ext cx="36329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6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Acceptable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891272" y="3913632"/>
            <a:ext cx="36329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on Who&amp;When + any cross-arch result + nonzero-coverage detection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726680" y="4462272"/>
            <a:ext cx="3962095" cy="777240"/>
          </a:xfrm>
          <a:prstGeom prst="roundRect">
            <a:avLst>
              <a:gd name="adj" fmla="val 9412"/>
            </a:avLst>
          </a:prstGeom>
          <a:solidFill>
            <a:srgbClr val="E4F0F1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 txBox="1"/>
          <p:nvPr/>
        </p:nvSpPr>
        <p:spPr>
          <a:xfrm>
            <a:off x="7891272" y="4535424"/>
            <a:ext cx="36329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D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891272" y="4809744"/>
            <a:ext cx="36329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baseline on unseen architectures, &gt;70% silent-failure recall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726680" y="5358384"/>
            <a:ext cx="3962095" cy="777240"/>
          </a:xfrm>
          <a:prstGeom prst="roundRect">
            <a:avLst>
              <a:gd name="adj" fmla="val 9412"/>
            </a:avLst>
          </a:prstGeom>
          <a:solidFill>
            <a:srgbClr val="E7F1EA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 txBox="1"/>
          <p:nvPr/>
        </p:nvSpPr>
        <p:spPr>
          <a:xfrm>
            <a:off x="7891272" y="5431536"/>
            <a:ext cx="36329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7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Exceptional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891272" y="5705856"/>
            <a:ext cx="36329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+ &gt;50% verified-repair recovery at low false-repair rate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MAJOR RISK ALREADY HAS A STATED FALLBACK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Scope, Risks &amp; Dependencies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457200" cy="32004"/>
          </a:xfrm>
          <a:prstGeom prst="rect">
            <a:avLst/>
          </a:prstGeom>
          <a:solidFill>
            <a:srgbClr val="B87F3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 txBox="1"/>
          <p:nvPr/>
        </p:nvSpPr>
        <p:spPr>
          <a:xfrm>
            <a:off x="9448495" y="6473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10  ·  F26-060-Granite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17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COMMITTED CORE — 10 ITEMS, TWO EVIDENCE TIERS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5943600" cy="960120"/>
          </a:xfrm>
          <a:prstGeom prst="roundRect">
            <a:avLst>
              <a:gd name="adj" fmla="val 7619"/>
            </a:avLst>
          </a:prstGeom>
          <a:solidFill>
            <a:srgbClr val="E7F1EA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 txBox="1"/>
          <p:nvPr/>
        </p:nvSpPr>
        <p:spPr>
          <a:xfrm>
            <a:off x="667512" y="1773936"/>
            <a:ext cx="5614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7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1 — evidence-backed, unconditional  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1984248"/>
            <a:ext cx="5614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Fault-injection harness · cross-arch benchmark · Culprit Agent · Error Step Localization · Verification Agent · Semantic Error Diagnostic · Repair Agent · Verified Automatic Repair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502920" y="2743200"/>
            <a:ext cx="5943600" cy="777240"/>
          </a:xfrm>
          <a:prstGeom prst="roundRect">
            <a:avLst>
              <a:gd name="adj" fmla="val 9412"/>
            </a:avLst>
          </a:prstGeom>
          <a:solidFill>
            <a:srgbClr val="F5EDDA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 txBox="1"/>
          <p:nvPr/>
        </p:nvSpPr>
        <p:spPr>
          <a:xfrm>
            <a:off x="667512" y="2825496"/>
            <a:ext cx="5614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A6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2 — gated, pre-registered Mid-1 criteria  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3035808"/>
            <a:ext cx="5614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Controller (no POC yet) · Verified Repair Memory (one real test, failed — 0/8, stated honestly)</a:t>
            </a:r>
            <a:endParaRPr lang="en-US" sz="97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3657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extensions, gated behind the core — built only after it works.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977640"/>
            <a:ext cx="5943600" cy="914400"/>
          </a:xfrm>
          <a:prstGeom prst="roundRect">
            <a:avLst>
              <a:gd name="adj" fmla="val 8000"/>
            </a:avLst>
          </a:prstGeom>
          <a:solidFill>
            <a:srgbClr val="F0F1F4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 txBox="1"/>
          <p:nvPr/>
        </p:nvSpPr>
        <p:spPr>
          <a:xfrm>
            <a:off x="685800" y="411480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5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— committed</a:t>
            </a:r>
            <a:endParaRPr lang="en-US" sz="1600" dirty="0"/>
          </a:p>
          <a:p>
            <a:pPr marL="0" indent="0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Ollama for every model call, incl. reproduction &amp; evaluation. Paid comparable-class backbone priced at ≈$353/≈$881 ceiling and explicitly not chosen.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50749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5303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React/TypeScript · Postgres · Docker · CrewAI · LangGraph · Ollama · GitHub Actions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5760720"/>
            <a:ext cx="5943600" cy="731520"/>
          </a:xfrm>
          <a:prstGeom prst="roundRect">
            <a:avLst>
              <a:gd name="adj" fmla="val 10000"/>
            </a:avLst>
          </a:prstGeom>
          <a:solidFill>
            <a:srgbClr val="F5E5E2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 txBox="1"/>
          <p:nvPr/>
        </p:nvSpPr>
        <p:spPr>
          <a:xfrm>
            <a:off x="667512" y="5870448"/>
            <a:ext cx="5614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A6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Ethical: </a:t>
            </a:r>
            <a:r>
              <a:rPr lang="en-US" sz="93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advisory-only diagnosis, human-gated fix approval; consent required for real trace data; injection restricted to own/consenting systems.</a:t>
            </a:r>
            <a:endParaRPr lang="en-US" sz="93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1417320"/>
            <a:ext cx="49679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RISKS → FALLBACK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20840" y="1737360"/>
            <a:ext cx="4967935" cy="777240"/>
          </a:xfrm>
          <a:prstGeom prst="roundRect">
            <a:avLst>
              <a:gd name="adj" fmla="val 9412"/>
            </a:avLst>
          </a:prstGeom>
          <a:solidFill>
            <a:srgbClr val="F0F1F4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 txBox="1"/>
          <p:nvPr/>
        </p:nvSpPr>
        <p:spPr>
          <a:xfrm>
            <a:off x="6885432" y="1810512"/>
            <a:ext cx="46387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misses ±10pt band — now expected (local, not comparable-class, backbone)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885432" y="2121408"/>
            <a:ext cx="46387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2F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dual-reporting, Annex A.2 — the anticipated path, not a failure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6720840" y="2633472"/>
            <a:ext cx="4967935" cy="777240"/>
          </a:xfrm>
          <a:prstGeom prst="roundRect">
            <a:avLst>
              <a:gd name="adj" fmla="val 9412"/>
            </a:avLst>
          </a:prstGeom>
          <a:solidFill>
            <a:srgbClr val="F0F1F4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 txBox="1"/>
          <p:nvPr/>
        </p:nvSpPr>
        <p:spPr>
          <a:xfrm>
            <a:off x="6885432" y="2706624"/>
            <a:ext cx="46387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Controller gate fails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885432" y="3017520"/>
            <a:ext cx="46387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2F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via controlled replay — Tier 1 already delivers it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6720840" y="3529584"/>
            <a:ext cx="4967935" cy="777240"/>
          </a:xfrm>
          <a:prstGeom prst="roundRect">
            <a:avLst>
              <a:gd name="adj" fmla="val 9412"/>
            </a:avLst>
          </a:prstGeom>
          <a:solidFill>
            <a:srgbClr val="F0F1F4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 txBox="1"/>
          <p:nvPr/>
        </p:nvSpPr>
        <p:spPr>
          <a:xfrm>
            <a:off x="6885432" y="3602736"/>
            <a:ext cx="46387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VRM re-test fails again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885432" y="3913632"/>
            <a:ext cx="46387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2F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as a memory-on/off ablation — a legitimate contribution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6720840" y="4425696"/>
            <a:ext cx="4967935" cy="777240"/>
          </a:xfrm>
          <a:prstGeom prst="roundRect">
            <a:avLst>
              <a:gd name="adj" fmla="val 9412"/>
            </a:avLst>
          </a:prstGeom>
          <a:solidFill>
            <a:srgbClr val="F0F1F4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 txBox="1"/>
          <p:nvPr/>
        </p:nvSpPr>
        <p:spPr>
          <a:xfrm>
            <a:off x="6885432" y="4498848"/>
            <a:ext cx="46387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scale stalls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885432" y="4809744"/>
            <a:ext cx="46387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2F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of 500; 300-with-statistics beats 1,000-without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6720840" y="5321808"/>
            <a:ext cx="4967935" cy="777240"/>
          </a:xfrm>
          <a:prstGeom prst="roundRect">
            <a:avLst>
              <a:gd name="adj" fmla="val 9412"/>
            </a:avLst>
          </a:prstGeom>
          <a:solidFill>
            <a:srgbClr val="F0F1F4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 txBox="1"/>
          <p:nvPr/>
        </p:nvSpPr>
        <p:spPr>
          <a:xfrm>
            <a:off x="6885432" y="5394960"/>
            <a:ext cx="46387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unavailable at runtime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885432" y="5705856"/>
            <a:ext cx="46387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2F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degraded state, not a crash</a:t>
            </a:r>
            <a:endParaRPr lang="en-US" sz="9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OWNERSHIP, TIMELINE, AND THE COMPLIANCE LINES THE GUIDE NAMES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Team, Iterations, DEI &amp; Ethics/Legal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457200" cy="32004"/>
          </a:xfrm>
          <a:prstGeom prst="rect">
            <a:avLst/>
          </a:prstGeom>
          <a:solidFill>
            <a:srgbClr val="B87F3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 txBox="1"/>
          <p:nvPr/>
        </p:nvSpPr>
        <p:spPr>
          <a:xfrm>
            <a:off x="9448495" y="6473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10  ·  F26-060-Granite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606698" cy="1600200"/>
          </a:xfrm>
          <a:prstGeom prst="roundRect">
            <a:avLst>
              <a:gd name="adj" fmla="val 4571"/>
            </a:avLst>
          </a:prstGeom>
          <a:solidFill>
            <a:srgbClr val="E4F0F1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 txBox="1"/>
          <p:nvPr/>
        </p:nvSpPr>
        <p:spPr>
          <a:xfrm>
            <a:off x="667512" y="1536192"/>
            <a:ext cx="32775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Shahoud Shahid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7512" y="181051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1F7D8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 txBox="1"/>
          <p:nvPr/>
        </p:nvSpPr>
        <p:spPr>
          <a:xfrm>
            <a:off x="667512" y="18105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/ BENCHMARK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148840"/>
            <a:ext cx="32775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Instrumentation (CrewAI, LangGraph), injection operators, benchmark, licensing/release</a:t>
            </a:r>
            <a:endParaRPr lang="en-US" sz="93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697480"/>
            <a:ext cx="3277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removed: no cross-architecture benchmark exists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2498" y="1417320"/>
            <a:ext cx="3606698" cy="1600200"/>
          </a:xfrm>
          <a:prstGeom prst="roundRect">
            <a:avLst>
              <a:gd name="adj" fmla="val 4571"/>
            </a:avLst>
          </a:prstGeom>
          <a:solidFill>
            <a:srgbClr val="F5E9DD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 txBox="1"/>
          <p:nvPr/>
        </p:nvSpPr>
        <p:spPr>
          <a:xfrm>
            <a:off x="4457090" y="1536192"/>
            <a:ext cx="32775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Muhammad Noor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57090" y="181051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B5601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 txBox="1"/>
          <p:nvPr/>
        </p:nvSpPr>
        <p:spPr>
          <a:xfrm>
            <a:off x="4457090" y="18105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DIAGNOSIS ENGINE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457090" y="2148840"/>
            <a:ext cx="32775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graph, ErrorProbe reproduction, Semantic Error Diagnostic, causal tracing</a:t>
            </a:r>
            <a:endParaRPr lang="en-US" sz="930" dirty="0"/>
          </a:p>
        </p:txBody>
      </p:sp>
      <p:sp>
        <p:nvSpPr>
          <p:cNvPr id="17" name="Text 15"/>
          <p:cNvSpPr txBox="1"/>
          <p:nvPr/>
        </p:nvSpPr>
        <p:spPr>
          <a:xfrm>
            <a:off x="4457090" y="2697480"/>
            <a:ext cx="3277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removed: no attribution algorithm, no silent-failure detection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082077" y="1417320"/>
            <a:ext cx="3606698" cy="1600200"/>
          </a:xfrm>
          <a:prstGeom prst="roundRect">
            <a:avLst>
              <a:gd name="adj" fmla="val 4571"/>
            </a:avLst>
          </a:prstGeom>
          <a:solidFill>
            <a:srgbClr val="E4EAF3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 txBox="1"/>
          <p:nvPr/>
        </p:nvSpPr>
        <p:spPr>
          <a:xfrm>
            <a:off x="8246669" y="1536192"/>
            <a:ext cx="32775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Saif Shahzad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46669" y="181051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2F5F9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 txBox="1"/>
          <p:nvPr/>
        </p:nvSpPr>
        <p:spPr>
          <a:xfrm>
            <a:off x="8246669" y="18105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46669" y="2148840"/>
            <a:ext cx="32775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Replay/recovery engine, SDK, backend, dashboard, deployment</a:t>
            </a:r>
            <a:endParaRPr lang="en-US" sz="930" dirty="0"/>
          </a:p>
        </p:txBody>
      </p:sp>
      <p:sp>
        <p:nvSpPr>
          <p:cNvPr id="23" name="Text 21"/>
          <p:cNvSpPr txBox="1"/>
          <p:nvPr/>
        </p:nvSpPr>
        <p:spPr>
          <a:xfrm>
            <a:off x="8246669" y="2697480"/>
            <a:ext cx="3277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removed: nothing is installable outside the dev machine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3246120"/>
            <a:ext cx="111858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FYP-1 → FYP-2 MILESTONES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621506" y="3794760"/>
            <a:ext cx="8948684" cy="0"/>
          </a:xfrm>
          <a:prstGeom prst="line">
            <a:avLst/>
          </a:prstGeom>
          <a:noFill/>
          <a:ln w="25400">
            <a:solidFill>
              <a:srgbClr val="B87F3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1539210" y="3712464"/>
            <a:ext cx="164592" cy="164592"/>
          </a:xfrm>
          <a:prstGeom prst="ellipse">
            <a:avLst/>
          </a:prstGeom>
          <a:solidFill>
            <a:srgbClr val="B87F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 txBox="1"/>
          <p:nvPr/>
        </p:nvSpPr>
        <p:spPr>
          <a:xfrm>
            <a:off x="594360" y="3931920"/>
            <a:ext cx="20542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Defense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3776381" y="3712464"/>
            <a:ext cx="164592" cy="164592"/>
          </a:xfrm>
          <a:prstGeom prst="ellipse">
            <a:avLst/>
          </a:prstGeom>
          <a:solidFill>
            <a:srgbClr val="B87F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 txBox="1"/>
          <p:nvPr/>
        </p:nvSpPr>
        <p:spPr>
          <a:xfrm>
            <a:off x="2831531" y="3931920"/>
            <a:ext cx="20542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2/3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Mid-1: reproduction +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Tier-2 gates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6013552" y="3712464"/>
            <a:ext cx="164592" cy="164592"/>
          </a:xfrm>
          <a:prstGeom prst="ellipse">
            <a:avLst/>
          </a:prstGeom>
          <a:solidFill>
            <a:srgbClr val="B87F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 txBox="1"/>
          <p:nvPr/>
        </p:nvSpPr>
        <p:spPr>
          <a:xfrm>
            <a:off x="5068702" y="3931920"/>
            <a:ext cx="20542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Final-1: integrated core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8250723" y="3712464"/>
            <a:ext cx="164592" cy="164592"/>
          </a:xfrm>
          <a:prstGeom prst="ellipse">
            <a:avLst/>
          </a:prstGeom>
          <a:solidFill>
            <a:srgbClr val="B87F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 txBox="1"/>
          <p:nvPr/>
        </p:nvSpPr>
        <p:spPr>
          <a:xfrm>
            <a:off x="7305873" y="3931920"/>
            <a:ext cx="20542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4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Mid-2: benchmark ≥500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10487894" y="3712464"/>
            <a:ext cx="164592" cy="164592"/>
          </a:xfrm>
          <a:prstGeom prst="ellipse">
            <a:avLst/>
          </a:prstGeom>
          <a:solidFill>
            <a:srgbClr val="B87F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 txBox="1"/>
          <p:nvPr/>
        </p:nvSpPr>
        <p:spPr>
          <a:xfrm>
            <a:off x="9543044" y="3931920"/>
            <a:ext cx="20542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5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Final-2: full eval + release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502920" y="4526280"/>
            <a:ext cx="11185855" cy="36576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 txBox="1"/>
          <p:nvPr/>
        </p:nvSpPr>
        <p:spPr>
          <a:xfrm>
            <a:off x="685800" y="456285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2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Effort budget: 490h (FYP-1) + 640h (FYP-2) = 1,130h budgeted against 1,130h capacity (3 × ~15h/wk × ~28 weeks)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2920" y="5074920"/>
            <a:ext cx="3606698" cy="1234440"/>
          </a:xfrm>
          <a:prstGeom prst="roundRect">
            <a:avLst>
              <a:gd name="adj" fmla="val 5926"/>
            </a:avLst>
          </a:prstGeom>
          <a:solidFill>
            <a:srgbClr val="E4F0F1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9" name="Text 37"/>
          <p:cNvSpPr txBox="1"/>
          <p:nvPr/>
        </p:nvSpPr>
        <p:spPr>
          <a:xfrm>
            <a:off x="667512" y="5184648"/>
            <a:ext cx="32775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F7D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DEI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667512" y="5458968"/>
            <a:ext cx="32775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release (MIT/CC BY 4.0) puts enterprise-grade diagnostic tooling within reach of resource-constrained teams</a:t>
            </a:r>
            <a:endParaRPr lang="en-US" sz="9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pairs color with text, not color alone — WCAG check owed by Final-1</a:t>
            </a:r>
            <a:endParaRPr lang="en-US" sz="9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claims stated as English-only, not generalized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292498" y="5074920"/>
            <a:ext cx="3606698" cy="1234440"/>
          </a:xfrm>
          <a:prstGeom prst="roundRect">
            <a:avLst>
              <a:gd name="adj" fmla="val 5926"/>
            </a:avLst>
          </a:prstGeom>
          <a:solidFill>
            <a:srgbClr val="F5E5E2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2" name="Text 40"/>
          <p:cNvSpPr txBox="1"/>
          <p:nvPr/>
        </p:nvSpPr>
        <p:spPr>
          <a:xfrm>
            <a:off x="4457090" y="5184648"/>
            <a:ext cx="32775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A63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ETHICAL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4457090" y="5458968"/>
            <a:ext cx="32775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output is advisory, not autonomous — human-gated fix approval</a:t>
            </a:r>
            <a:endParaRPr lang="en-US" sz="9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consent required for any real user's trace data</a:t>
            </a:r>
            <a:endParaRPr lang="en-US" sz="9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fault injection restricted to own/consenting systems only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082077" y="5074920"/>
            <a:ext cx="3606698" cy="1234440"/>
          </a:xfrm>
          <a:prstGeom prst="roundRect">
            <a:avLst>
              <a:gd name="adj" fmla="val 5926"/>
            </a:avLst>
          </a:prstGeom>
          <a:solidFill>
            <a:srgbClr val="E4EAF3"/>
          </a:solidFill>
          <a:ln w="9525">
            <a:solidFill>
              <a:srgbClr val="D8DA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5" name="Text 43"/>
          <p:cNvSpPr txBox="1"/>
          <p:nvPr/>
        </p:nvSpPr>
        <p:spPr>
          <a:xfrm>
            <a:off x="8246669" y="5184648"/>
            <a:ext cx="32775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F5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 / PROFESSIONAL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8246669" y="5458968"/>
            <a:ext cx="32775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Who&amp;When (MIT) · GSM8K (MIT) · tau-bench retail (MIT) — all license-confirmed</a:t>
            </a:r>
            <a:endParaRPr lang="en-US" sz="9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usage disclosed per-session (19 sessions logged), countersigned by supervisor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2592</Words>
  <Application>Microsoft Office PowerPoint</Application>
  <PresentationFormat>Widescreen</PresentationFormat>
  <Paragraphs>341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FAST School of Computing, NUCES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Granite — Proposal Defense</dc:title>
  <dc:subject>PptxGenJS Presentation</dc:subject>
  <dc:creator>Granite — F26-060</dc:creator>
  <cp:lastModifiedBy>Shahoud Shahid</cp:lastModifiedBy>
  <cp:revision>1</cp:revision>
  <dcterms:created xsi:type="dcterms:W3CDTF">2026-09-06T19:46:22Z</dcterms:created>
  <dcterms:modified xsi:type="dcterms:W3CDTF">2026-09-07T03:23:51Z</dcterms:modified>
</cp:coreProperties>
</file>