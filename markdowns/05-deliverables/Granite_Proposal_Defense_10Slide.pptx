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559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EXHIBIT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5848" y="274320"/>
            <a:ext cx="559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&amp; PROBLEM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Granite — A Self-Healing Multi-Agent System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Semantic Error Diagnosis, Verified Repair &amp; Recovery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502920" cy="27432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80015" y="6492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Granite  ·  F26-060  ·  1/10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5855" cy="1371600"/>
          </a:xfrm>
          <a:prstGeom prst="roundRect">
            <a:avLst>
              <a:gd name="adj" fmla="val 4000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16736"/>
            <a:ext cx="32004" cy="1188720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" y="1316736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ONE-LINE PROBLEM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591056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a multi-agent AI system fails — including when the wrong answer looks completely right — no published method can reliably say which agent caused it, and none can verify a fix before trusting it.”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779776"/>
            <a:ext cx="2686736" cy="3621024"/>
          </a:xfrm>
          <a:prstGeom prst="roundRect">
            <a:avLst>
              <a:gd name="adj" fmla="val 2042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871216"/>
            <a:ext cx="32004" cy="3438144"/>
          </a:xfrm>
          <a:prstGeom prst="rect">
            <a:avLst/>
          </a:prstGeom>
          <a:solidFill>
            <a:srgbClr val="4FB3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7512" y="2871216"/>
            <a:ext cx="241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145536"/>
            <a:ext cx="232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F26-060-Granite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557016"/>
            <a:ext cx="232097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 — Research-derived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5960" y="2779776"/>
            <a:ext cx="2686736" cy="3621024"/>
          </a:xfrm>
          <a:prstGeom prst="roundRect">
            <a:avLst>
              <a:gd name="adj" fmla="val 2042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5960" y="2871216"/>
            <a:ext cx="32004" cy="3438144"/>
          </a:xfrm>
          <a:prstGeom prst="rect">
            <a:avLst/>
          </a:prstGeom>
          <a:solidFill>
            <a:srgbClr val="E08A5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00552" y="2871216"/>
            <a:ext cx="241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518840" y="3145536"/>
            <a:ext cx="232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Adil Majeed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69000" y="2779776"/>
            <a:ext cx="2686736" cy="3621024"/>
          </a:xfrm>
          <a:prstGeom prst="roundRect">
            <a:avLst>
              <a:gd name="adj" fmla="val 2042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69000" y="2871216"/>
            <a:ext cx="32004" cy="3438144"/>
          </a:xfrm>
          <a:prstGeom prst="rect">
            <a:avLst/>
          </a:prstGeom>
          <a:solidFill>
            <a:srgbClr val="6EA8E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33592" y="2871216"/>
            <a:ext cx="241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351880" y="3145536"/>
            <a:ext cx="232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Shahoud Shahid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351880" y="3557016"/>
            <a:ext cx="232097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Noor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Saif Shahzad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02039" y="2779776"/>
            <a:ext cx="2686736" cy="3621024"/>
          </a:xfrm>
          <a:prstGeom prst="roundRect">
            <a:avLst>
              <a:gd name="adj" fmla="val 2042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2039" y="2871216"/>
            <a:ext cx="32004" cy="3438144"/>
          </a:xfrm>
          <a:prstGeom prst="rect">
            <a:avLst/>
          </a:prstGeom>
          <a:solidFill>
            <a:srgbClr val="57C98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66631" y="2871216"/>
            <a:ext cx="241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SDG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184919" y="3145536"/>
            <a:ext cx="232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184919" y="3557016"/>
            <a:ext cx="232097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Innovation &amp;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559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EXHIBIT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5848" y="274320"/>
            <a:ext cx="559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STAKEHOLDERS &amp; WORKFLOW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Has This Problem — And Where It Breaks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704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engineering teams running multi-agent systems near production (tau-bench retail). Auditors and downstream product teams depend on the diagnosis output.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502920" cy="27432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80015" y="6492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Granite  ·  F26-060  ·  2/10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1376172" cy="310896"/>
          </a:xfrm>
          <a:prstGeom prst="roundRect">
            <a:avLst>
              <a:gd name="adj" fmla="val 14706"/>
            </a:avLst>
          </a:prstGeom>
          <a:solidFill>
            <a:srgbClr val="1E2333"/>
          </a:solidFill>
          <a:ln w="6350">
            <a:solidFill>
              <a:srgbClr val="2B31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627632"/>
            <a:ext cx="13761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 trace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897380" y="1627632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90"/>
                </a:solidFill>
              </a:rPr>
              <a:t>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98548" y="1627632"/>
            <a:ext cx="1220724" cy="310896"/>
          </a:xfrm>
          <a:prstGeom prst="roundRect">
            <a:avLst>
              <a:gd name="adj" fmla="val 14706"/>
            </a:avLst>
          </a:prstGeom>
          <a:solidFill>
            <a:srgbClr val="1E2333"/>
          </a:solidFill>
          <a:ln w="6350">
            <a:solidFill>
              <a:srgbClr val="2B31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98548" y="1627632"/>
            <a:ext cx="1220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reads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337560" y="1627632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90"/>
                </a:solidFill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38728" y="1627632"/>
            <a:ext cx="1764792" cy="310896"/>
          </a:xfrm>
          <a:prstGeom prst="roundRect">
            <a:avLst>
              <a:gd name="adj" fmla="val 14706"/>
            </a:avLst>
          </a:prstGeom>
          <a:solidFill>
            <a:srgbClr val="1E2333"/>
          </a:solidFill>
          <a:ln w="6350">
            <a:solidFill>
              <a:srgbClr val="2B31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38728" y="1627632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Guesses root cause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41264" y="164592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3A1E1E"/>
          </a:solidFill>
          <a:ln w="9525">
            <a:solidFill>
              <a:srgbClr val="E370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41264" y="16413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3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unmeasured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2139696"/>
            <a:ext cx="6487796" cy="4261104"/>
          </a:xfrm>
          <a:prstGeom prst="roundRect">
            <a:avLst>
              <a:gd name="adj" fmla="val 1288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231136"/>
            <a:ext cx="32004" cy="4078224"/>
          </a:xfrm>
          <a:prstGeom prst="rect">
            <a:avLst/>
          </a:prstGeom>
          <a:solidFill>
            <a:srgbClr val="E3707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7512" y="2231136"/>
            <a:ext cx="6213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IT FAILS TODAY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2505456"/>
            <a:ext cx="6122036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attribution with published accuracy. No systematic check for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confident, well-formed, wrong answer with no error signal. No way to test a fix before redeploying.
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0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0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silent failure ships an incorrect answer to an end user, undetected.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37020" y="2139696"/>
            <a:ext cx="4551755" cy="4261104"/>
          </a:xfrm>
          <a:prstGeom prst="roundRect">
            <a:avLst>
              <a:gd name="adj" fmla="val 1288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7020" y="2231136"/>
            <a:ext cx="32004" cy="4078224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01612" y="2231136"/>
            <a:ext cx="42774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 BASELINE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319900" y="2505456"/>
            <a:ext cx="41859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14.2%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7319900" y="3054096"/>
            <a:ext cx="4094555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accuracy (Who&amp;When) — “just reading the trace.” The number this project has to beat.</a:t>
            </a:r>
            <a:endParaRPr lang="en-US" sz="1000" dirty="0"/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559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EXHIBIT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5848" y="274320"/>
            <a:ext cx="559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EXISTING SOLUTIONS &amp; GAP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Is Structural, Not a Missing Feature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502920" cy="27432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80015" y="6492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Granite  ·  F26-060  ·  3/10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25296"/>
          <a:ext cx="11185855" cy="2377440"/>
        </p:xfrm>
        <a:graphic>
          <a:graphicData uri="http://schemas.openxmlformats.org/drawingml/2006/table">
            <a:tbl>
              <a:tblPr/>
              <a:tblGrid>
                <a:gridCol w="2684605"/>
                <a:gridCol w="2125312"/>
                <a:gridCol w="2237171"/>
                <a:gridCol w="2125312"/>
                <a:gridCol w="2013454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Silent-failure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Fix-verify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Framework-agnostic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33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ErrorProbe (ACL 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admits it cannot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arch.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 / Arize (26)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unpublished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unconfirmed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stack-locked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 / Braintrust / etc.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human-driven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RAG-groundedness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workflow (today)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7C9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Granite (proposed)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7C9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on 59.5%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7C9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scoped + 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7C9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rate, N replays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7C9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CrewAI+LangGraph, unseen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2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3785616"/>
            <a:ext cx="11185855" cy="2615184"/>
          </a:xfrm>
          <a:prstGeom prst="roundRect">
            <a:avLst>
              <a:gd name="adj" fmla="val 2098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3877056"/>
            <a:ext cx="32004" cy="2432304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7512" y="3877056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GAP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04088" y="4114800"/>
            <a:ext cx="10783519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checked confirms attribution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0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silent-failure detection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0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verification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0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cross-architecture generalization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evaluated as one pipeline.</a:t>
            </a:r>
            <a:endParaRPr lang="en-US" sz="1250" dirty="0"/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559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EXHIBIT 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5848" y="274320"/>
            <a:ext cx="559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&amp; TECHNICAL BASIS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For Decisions, Not Decoration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502920" cy="27432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80015" y="6492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Granite  ·  F26-060  ·  4/10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5145493" cy="5175504"/>
          </a:xfrm>
          <a:prstGeom prst="roundRect">
            <a:avLst>
              <a:gd name="adj" fmla="val 1066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16736"/>
            <a:ext cx="32004" cy="4992624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" y="1316736"/>
            <a:ext cx="48711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LINEAGE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31902" y="4649541"/>
            <a:ext cx="640080" cy="836859"/>
          </a:xfrm>
          <a:prstGeom prst="roundRect">
            <a:avLst>
              <a:gd name="adj" fmla="val 5714"/>
            </a:avLst>
          </a:prstGeom>
          <a:solidFill>
            <a:srgbClr val="D9A1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9022" y="4375221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14.2%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3302" y="55595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Who&amp;When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ICML 25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55627" y="4193073"/>
            <a:ext cx="640080" cy="1293327"/>
          </a:xfrm>
          <a:prstGeom prst="roundRect">
            <a:avLst>
              <a:gd name="adj" fmla="val 5714"/>
            </a:avLst>
          </a:prstGeom>
          <a:solidFill>
            <a:srgbClr val="D9A1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572747" y="3918753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527027" y="55595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AgenTracer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ICLR 26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79351" y="1682496"/>
            <a:ext cx="640080" cy="3803904"/>
          </a:xfrm>
          <a:prstGeom prst="roundRect">
            <a:avLst>
              <a:gd name="adj" fmla="val 5714"/>
            </a:avLst>
          </a:prstGeom>
          <a:solidFill>
            <a:srgbClr val="D9A1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96471" y="14081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59.5%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150751" y="55595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ErrorProbe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ACL 26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94717" y="1225296"/>
            <a:ext cx="5894058" cy="5175504"/>
          </a:xfrm>
          <a:prstGeom prst="roundRect">
            <a:avLst>
              <a:gd name="adj" fmla="val 1060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94717" y="1316736"/>
            <a:ext cx="32004" cy="4992624"/>
          </a:xfrm>
          <a:prstGeom prst="rect">
            <a:avLst/>
          </a:prstGeom>
          <a:solidFill>
            <a:srgbClr val="4FB3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59309" y="1316736"/>
            <a:ext cx="56197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DECISIONS, NOT DEFAULTS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977597" y="1591056"/>
            <a:ext cx="5528298" cy="4672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ErrorProbe chosen as baseline on 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not recency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+ LangGraph committed — used by 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9 papers reviewed: the actual generalization test.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Constraint-based SED chosen — LLM judges score ≤0.65 AUROC on this task.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Single-framework scope-narrowing explicitly 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E3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(R19).</a:t>
            </a:r>
            <a:endParaRPr lang="en-US" sz="1100" dirty="0"/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559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EXHIBIT 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5848" y="274320"/>
            <a:ext cx="559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COMPUTING / CCP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of 9 Seoul Accord Characteristics — Clear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502920" cy="27432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80015" y="6492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Granite  ·  F26-060  ·  5/10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393952"/>
            <a:ext cx="237744" cy="237744"/>
          </a:xfrm>
          <a:prstGeom prst="ellipse">
            <a:avLst/>
          </a:prstGeom>
          <a:solidFill>
            <a:srgbClr val="1C3327"/>
          </a:solidFill>
          <a:ln w="12700">
            <a:solidFill>
              <a:srgbClr val="57C9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384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7C98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1348232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Conflicting requirements</a:t>
            </a:r>
            <a:pPr indent="0" marL="0">
              <a:buNone/>
            </a:pPr>
            <a:r>
              <a:rPr lang="en-US" sz="11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Diagnostic depth vs. latency; trace completeness vs. privacy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969008"/>
            <a:ext cx="237744" cy="237744"/>
          </a:xfrm>
          <a:prstGeom prst="ellipse">
            <a:avLst/>
          </a:prstGeom>
          <a:solidFill>
            <a:srgbClr val="1C3327"/>
          </a:solidFill>
          <a:ln w="12700">
            <a:solidFill>
              <a:srgbClr val="57C9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9598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7C98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" y="192328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 obvious solution</a:t>
            </a:r>
            <a:pPr indent="0" marL="0">
              <a:buNone/>
            </a:pPr>
            <a:r>
              <a:rPr lang="en-US" sz="11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Best published step accuracy still 59.5% after 7 papers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544064"/>
            <a:ext cx="237744" cy="237744"/>
          </a:xfrm>
          <a:prstGeom prst="ellipse">
            <a:avLst/>
          </a:prstGeom>
          <a:solidFill>
            <a:srgbClr val="1C3327"/>
          </a:solidFill>
          <a:ln w="12700">
            <a:solidFill>
              <a:srgbClr val="57C9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534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7C98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" y="2498344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Depth of knowledge</a:t>
            </a:r>
            <a:pPr indent="0" marL="0">
              <a:buNone/>
            </a:pPr>
            <a:r>
              <a:rPr lang="en-US" sz="11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Execution-graph modeling, causal/counterfactual reasoning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119120"/>
            <a:ext cx="237744" cy="237744"/>
          </a:xfrm>
          <a:prstGeom prst="ellipse">
            <a:avLst/>
          </a:prstGeom>
          <a:solidFill>
            <a:srgbClr val="1C3327"/>
          </a:solidFill>
          <a:ln w="12700">
            <a:solidFill>
              <a:srgbClr val="57C9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1099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7C98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" y="3073400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Unfamiliar issues</a:t>
            </a:r>
            <a:pPr indent="0" marL="0">
              <a:buNone/>
            </a:pPr>
            <a:r>
              <a:rPr lang="en-US" sz="11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Delayed error manifestation, LLM non-determinism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694176"/>
            <a:ext cx="237744" cy="237744"/>
          </a:xfrm>
          <a:prstGeom prst="ellipse">
            <a:avLst/>
          </a:prstGeom>
          <a:solidFill>
            <a:srgbClr val="1C3327"/>
          </a:solidFill>
          <a:ln w="12700">
            <a:solidFill>
              <a:srgbClr val="57C9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3685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7C98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" y="3648456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Beyond standard practice</a:t>
            </a:r>
            <a:pPr indent="0" marL="0">
              <a:buNone/>
            </a:pPr>
            <a:r>
              <a:rPr lang="en-US" sz="11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No off-the-shelf equivalent solves this combination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269232"/>
            <a:ext cx="237744" cy="237744"/>
          </a:xfrm>
          <a:prstGeom prst="ellipse">
            <a:avLst/>
          </a:prstGeom>
          <a:solidFill>
            <a:srgbClr val="352A14"/>
          </a:solidFill>
          <a:ln w="12700">
            <a:solidFill>
              <a:srgbClr val="E0B5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4260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B555"/>
                </a:solidFill>
              </a:rPr>
              <a:t>!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" y="4223512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Diverse stakeholders</a:t>
            </a:r>
            <a:pPr indent="0" marL="0">
              <a:buNone/>
            </a:pPr>
            <a:r>
              <a:rPr lang="en-US" sz="11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Operators, product teams, auditors named — contact pending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844288"/>
            <a:ext cx="237744" cy="237744"/>
          </a:xfrm>
          <a:prstGeom prst="ellipse">
            <a:avLst/>
          </a:prstGeom>
          <a:solidFill>
            <a:srgbClr val="1C3327"/>
          </a:solidFill>
          <a:ln w="12700">
            <a:solidFill>
              <a:srgbClr val="57C9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4835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7C98F"/>
                </a:solidFill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50392" y="479856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Significant consequences</a:t>
            </a:r>
            <a:pPr indent="0" marL="0">
              <a:buNone/>
            </a:pPr>
            <a:r>
              <a:rPr lang="en-US" sz="11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 missed silent failure ships a wrong answer, undetected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5419344"/>
            <a:ext cx="237744" cy="237744"/>
          </a:xfrm>
          <a:prstGeom prst="ellipse">
            <a:avLst/>
          </a:prstGeom>
          <a:solidFill>
            <a:srgbClr val="1C3327"/>
          </a:solidFill>
          <a:ln w="12700">
            <a:solidFill>
              <a:srgbClr val="57C9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2920" y="5410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7C98F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50392" y="5373624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Interdependence</a:t>
            </a:r>
            <a:pPr indent="0" marL="0">
              <a:buNone/>
            </a:pPr>
            <a:r>
              <a:rPr lang="en-US" sz="11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execution graph models exactly this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5994400"/>
            <a:ext cx="237744" cy="237744"/>
          </a:xfrm>
          <a:prstGeom prst="ellipse">
            <a:avLst/>
          </a:prstGeom>
          <a:solidFill>
            <a:srgbClr val="1C3327"/>
          </a:solidFill>
          <a:ln w="12700">
            <a:solidFill>
              <a:srgbClr val="57C9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2920" y="59852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7C98F"/>
                </a:solidFill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50392" y="5948680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Ill-defined cause</a:t>
            </a:r>
            <a:pPr indent="0" marL="0">
              <a:buNone/>
            </a:pPr>
            <a:r>
              <a:rPr lang="en-US" sz="11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3 unknowns: did it fail, which agent/step, correct behavior</a:t>
            </a:r>
            <a:endParaRPr lang="en-US" sz="1100" dirty="0"/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559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EXHIBIT 06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5848" y="274320"/>
            <a:ext cx="559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PROPOSED SOLUTION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Actually Being Built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502920" cy="27432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80015" y="6492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Granite  ·  F26-060  ·  6/10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5855" cy="1417320"/>
          </a:xfrm>
          <a:prstGeom prst="roundRect">
            <a:avLst>
              <a:gd name="adj" fmla="val 3871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16736"/>
            <a:ext cx="32004" cy="1234440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" y="1316736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CONTRIBUTION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554480"/>
            <a:ext cx="108200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methods reach up to 59.5% step accuracy but remain weak under two conditions: none is evaluated on an architecture absent from its own benchmark construction, and the strongest method admits it cannot catch silent failures. We are building a cross-architecture fault-injection benchmark and a diagnosis pipeline with constraint-based silent-failure verification, packaged as a framework-agnostic testing SDK.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11185855" cy="777240"/>
          </a:xfrm>
          <a:prstGeom prst="roundRect">
            <a:avLst>
              <a:gd name="adj" fmla="val 7059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880360"/>
            <a:ext cx="32004" cy="594360"/>
          </a:xfrm>
          <a:prstGeom prst="rect">
            <a:avLst/>
          </a:prstGeom>
          <a:solidFill>
            <a:srgbClr val="6EA8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7512" y="2880360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3172968"/>
            <a:ext cx="603504" cy="274320"/>
          </a:xfrm>
          <a:prstGeom prst="roundRect">
            <a:avLst>
              <a:gd name="adj" fmla="val 16667"/>
            </a:avLst>
          </a:prstGeom>
          <a:solidFill>
            <a:srgbClr val="1E2333"/>
          </a:solidFill>
          <a:ln w="6350">
            <a:solidFill>
              <a:srgbClr val="2B31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17296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1289304" y="31729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390"/>
                </a:solidFill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490472" y="3172968"/>
            <a:ext cx="1261872" cy="274320"/>
          </a:xfrm>
          <a:prstGeom prst="roundRect">
            <a:avLst>
              <a:gd name="adj" fmla="val 16667"/>
            </a:avLst>
          </a:prstGeom>
          <a:solidFill>
            <a:srgbClr val="1E2333"/>
          </a:solidFill>
          <a:ln w="6350">
            <a:solidFill>
              <a:srgbClr val="2B31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90472" y="31729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 graph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2752344" y="31729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390"/>
                </a:solidFill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53512" y="3172968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1E2333"/>
          </a:solidFill>
          <a:ln w="6350">
            <a:solidFill>
              <a:srgbClr val="2B314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53512" y="3172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Error Diagnostic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4873752" y="31729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390"/>
                </a:solidFill>
              </a:rPr>
              <a:t>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74920" y="3172968"/>
            <a:ext cx="1064362" cy="274320"/>
          </a:xfrm>
          <a:prstGeom prst="roundRect">
            <a:avLst>
              <a:gd name="adj" fmla="val 16667"/>
            </a:avLst>
          </a:prstGeom>
          <a:solidFill>
            <a:srgbClr val="1E2333"/>
          </a:solidFill>
          <a:ln w="6350">
            <a:solidFill>
              <a:srgbClr val="2B314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74920" y="3172968"/>
            <a:ext cx="1064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causal trace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6139282" y="31729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390"/>
                </a:solidFill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40450" y="3172968"/>
            <a:ext cx="1064362" cy="274320"/>
          </a:xfrm>
          <a:prstGeom prst="roundRect">
            <a:avLst>
              <a:gd name="adj" fmla="val 16667"/>
            </a:avLst>
          </a:prstGeom>
          <a:solidFill>
            <a:srgbClr val="1E2333"/>
          </a:solidFill>
          <a:ln w="6350">
            <a:solidFill>
              <a:srgbClr val="2B314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40450" y="3172968"/>
            <a:ext cx="1064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Repair Agent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7404811" y="31729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390"/>
                </a:solidFill>
              </a:rPr>
              <a:t>→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05979" y="3172968"/>
            <a:ext cx="1261872" cy="274320"/>
          </a:xfrm>
          <a:prstGeom prst="roundRect">
            <a:avLst>
              <a:gd name="adj" fmla="val 16667"/>
            </a:avLst>
          </a:prstGeom>
          <a:solidFill>
            <a:srgbClr val="1E2333"/>
          </a:solidFill>
          <a:ln w="6350">
            <a:solidFill>
              <a:srgbClr val="2B314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05979" y="31729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replay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867851" y="31729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390"/>
                </a:solidFill>
              </a:rPr>
              <a:t>→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069019" y="3172968"/>
            <a:ext cx="1656893" cy="274320"/>
          </a:xfrm>
          <a:prstGeom prst="roundRect">
            <a:avLst>
              <a:gd name="adj" fmla="val 16667"/>
            </a:avLst>
          </a:prstGeom>
          <a:solidFill>
            <a:srgbClr val="1E2333"/>
          </a:solidFill>
          <a:ln w="6350">
            <a:solidFill>
              <a:srgbClr val="2B314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69019" y="3172968"/>
            <a:ext cx="16568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confidence-gated rec.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02920" y="3712464"/>
            <a:ext cx="5519776" cy="2688336"/>
          </a:xfrm>
          <a:prstGeom prst="roundRect">
            <a:avLst>
              <a:gd name="adj" fmla="val 2041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803904"/>
            <a:ext cx="32004" cy="2505456"/>
          </a:xfrm>
          <a:prstGeom prst="rect">
            <a:avLst/>
          </a:prstGeom>
          <a:solidFill>
            <a:srgbClr val="57C98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7512" y="3803904"/>
            <a:ext cx="524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SCOPE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4041648"/>
            <a:ext cx="51540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committed mechanisms (Tier 1 unconditional + Tier 2 gated). Deployment: single Docker container.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69000" y="3712464"/>
            <a:ext cx="5519776" cy="2688336"/>
          </a:xfrm>
          <a:prstGeom prst="roundRect">
            <a:avLst>
              <a:gd name="adj" fmla="val 2041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69000" y="3803904"/>
            <a:ext cx="32004" cy="2505456"/>
          </a:xfrm>
          <a:prstGeom prst="rect">
            <a:avLst/>
          </a:prstGeom>
          <a:solidFill>
            <a:srgbClr val="E3707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333592" y="3803904"/>
            <a:ext cx="524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OF SCOPE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351880" y="4041648"/>
            <a:ext cx="51540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queues, Kubernetes/multi-region, full RBAC, disaster-recovery infra, multi-tenant billing.</a:t>
            </a:r>
            <a:endParaRPr lang="en-US" sz="1050" dirty="0"/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559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EXHIBIT 07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5848" y="274320"/>
            <a:ext cx="559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 / FEASIBILITY EVIDENCE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Real Spikes — Including Two Honest Negatives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502920" cy="27432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80015" y="6492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Granite  ·  F26-060  ·  7/10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5855" cy="1691640"/>
          </a:xfrm>
          <a:prstGeom prst="roundRect">
            <a:avLst>
              <a:gd name="adj" fmla="val 3243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16736"/>
            <a:ext cx="32004" cy="1508760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" y="1316736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EXHIBIT — ONE REAL DIAGNOSIS RUN (RECOVERED STATE)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32608" y="1636776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1E2333"/>
          </a:solidFill>
          <a:ln w="19050">
            <a:solidFill>
              <a:srgbClr val="57C9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32608" y="17739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PriceExtractor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032608" y="2075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100.00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888840" y="1865376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7C98F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27168" y="1636776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1E2333"/>
          </a:solidFill>
          <a:ln w="19050">
            <a:solidFill>
              <a:srgbClr val="57C9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27168" y="17739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TaxCalculator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227168" y="2075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108.00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083400" y="1865376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7C98F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21728" y="1636776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1E2333"/>
          </a:solidFill>
          <a:ln w="19050">
            <a:solidFill>
              <a:srgbClr val="57C9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21728" y="17739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421728" y="2075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= true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2523744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injected: PriceExtractor silently corrupted $100.00 → $90.00 → wrong total $97.20. SED flags the mismatch → causal trace localizes PriceExtractor → Repair Agent proposes $100.00 → replayed: 97.20 → 108.00, recovery_success = true.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063240"/>
          <a:ext cx="11185855" cy="3337560"/>
        </p:xfrm>
        <a:graphic>
          <a:graphicData uri="http://schemas.openxmlformats.org/drawingml/2006/table">
            <a:tbl>
              <a:tblPr/>
              <a:tblGrid>
                <a:gridCol w="2684605"/>
                <a:gridCol w="2013454"/>
                <a:gridCol w="6487796"/>
              </a:tblGrid>
              <a:tr h="370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3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ErrorProbe repro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C9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demonstrated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71.4% mean · step 13.2% mean (5 runs)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CrewAI instrumentation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C9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demonstrated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3-node, 2-edge trace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3/3b · Fault injection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C9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demonstrated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 unambiguous; one self-correction kept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Semantic Error Diagnostic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C9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demonstrated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$20.00 vs $19.75 near-miss caught, zero false positives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Counterfactual replay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C9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demonstrated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 → 108.0 recovered, recovery_success = 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Cyclic graph handling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C9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demonstrated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 proven load-bearing vs. 10,000-step 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Preventive classifier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B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honest negative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P/R/F1 = 0.25, near-random — reported, not hidden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· Repair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C9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demonstrated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repair_success_rate 4/6 (0.667)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</a:tbl>
          </a:graphicData>
        </a:graphic>
      </p:graphicFrame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559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EXHIBIT 08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5848" y="274320"/>
            <a:ext cx="559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 PLAN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Success, Defined Before The Data Exists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502920" cy="27432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80015" y="6492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Granite  ·  F26-060  ·  8/10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6487796" cy="5175504"/>
          </a:xfrm>
          <a:prstGeom prst="roundRect">
            <a:avLst>
              <a:gd name="adj" fmla="val 1060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16736"/>
            <a:ext cx="32004" cy="4992624"/>
          </a:xfrm>
          <a:prstGeom prst="rect">
            <a:avLst/>
          </a:prstGeom>
          <a:solidFill>
            <a:srgbClr val="6EA8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" y="1316736"/>
            <a:ext cx="6213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BASELINE, DATA &amp; METRICS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591056"/>
            <a:ext cx="6122036" cy="4672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ErrorProbe reproduced — pre-registered ±10pt band around 59.5%.
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Who&amp;When (184) + new benchmark, floor 500 / stretch 1,000, 15–20% clean controls.
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propagation F1 · silent-fail P/R+coverage · FP rate on clean controls · recovery rate · false repair rate · latency overhead (&lt;50%)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37020" y="1225296"/>
            <a:ext cx="4551755" cy="5175504"/>
          </a:xfrm>
          <a:prstGeom prst="roundRect">
            <a:avLst>
              <a:gd name="adj" fmla="val 1205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7020" y="1316736"/>
            <a:ext cx="32004" cy="4992624"/>
          </a:xfrm>
          <a:prstGeom prst="rect">
            <a:avLst/>
          </a:prstGeom>
          <a:solidFill>
            <a:srgbClr val="E0B55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01612" y="1316736"/>
            <a:ext cx="42774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 BANDS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9900" y="1609344"/>
            <a:ext cx="3911675" cy="365760"/>
          </a:xfrm>
          <a:prstGeom prst="roundRect">
            <a:avLst>
              <a:gd name="adj" fmla="val 15000"/>
            </a:avLst>
          </a:prstGeom>
          <a:noFill/>
          <a:ln w="15875">
            <a:solidFill>
              <a:srgbClr val="E370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9900" y="1609344"/>
            <a:ext cx="3911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9900" y="2084832"/>
            <a:ext cx="3911675" cy="365760"/>
          </a:xfrm>
          <a:prstGeom prst="roundRect">
            <a:avLst>
              <a:gd name="adj" fmla="val 15000"/>
            </a:avLst>
          </a:prstGeom>
          <a:noFill/>
          <a:ln w="15875">
            <a:solidFill>
              <a:srgbClr val="6B73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9900" y="2084832"/>
            <a:ext cx="3911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9900" y="2560320"/>
            <a:ext cx="3911675" cy="365760"/>
          </a:xfrm>
          <a:prstGeom prst="roundRect">
            <a:avLst>
              <a:gd name="adj" fmla="val 15000"/>
            </a:avLst>
          </a:prstGeom>
          <a:noFill/>
          <a:ln w="15875">
            <a:solidFill>
              <a:srgbClr val="4FB3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9900" y="2560320"/>
            <a:ext cx="3911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9900" y="3035808"/>
            <a:ext cx="3911675" cy="365760"/>
          </a:xfrm>
          <a:prstGeom prst="roundRect">
            <a:avLst>
              <a:gd name="adj" fmla="val 15000"/>
            </a:avLst>
          </a:prstGeom>
          <a:noFill/>
          <a:ln w="15875">
            <a:solidFill>
              <a:srgbClr val="57C9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9900" y="3035808"/>
            <a:ext cx="3911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7C9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exceptional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319900" y="3557016"/>
            <a:ext cx="3911675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FP-rate-on-clean-controls appears in zero reviewed papers or platforms.</a:t>
            </a:r>
            <a:endParaRPr lang="en-US" sz="950" dirty="0"/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559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EXHIBIT 09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5848" y="274320"/>
            <a:ext cx="559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SCOPE, RISK &amp; $0 RESOURCING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Risk Has A Recorded Fallback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502920" cy="27432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80015" y="6492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Granite  ·  F26-060  ·  9/10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4698059" cy="5175504"/>
          </a:xfrm>
          <a:prstGeom prst="roundRect">
            <a:avLst>
              <a:gd name="adj" fmla="val 1168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16736"/>
            <a:ext cx="32004" cy="4992624"/>
          </a:xfrm>
          <a:prstGeom prst="rect">
            <a:avLst/>
          </a:prstGeom>
          <a:solidFill>
            <a:srgbClr val="E0B55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" y="1316736"/>
            <a:ext cx="44237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&amp; RESOURCING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1609344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1C3327"/>
          </a:solidFill>
          <a:ln w="9525">
            <a:solidFill>
              <a:srgbClr val="57C9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60477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7C9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1 · 8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64208" y="1609344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352A14"/>
          </a:solidFill>
          <a:ln w="9525">
            <a:solidFill>
              <a:srgbClr val="E0B5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64208" y="160477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B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2 · 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1901952"/>
            <a:ext cx="43322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Tier-1 item has a real spike. Tier 2 gated — Recovery Controller (no PoC yet), Verified Repair Memory (failed its one test, stated honestly).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980944"/>
            <a:ext cx="4332299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 </a:t>
            </a:r>
            <a:pPr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0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local Ollama, full project. Paid alt priced (≈$353–$881) and rejected.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47283" y="1225296"/>
            <a:ext cx="6341492" cy="5175504"/>
          </a:xfrm>
          <a:prstGeom prst="roundRect">
            <a:avLst>
              <a:gd name="adj" fmla="val 1060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7283" y="1316736"/>
            <a:ext cx="32004" cy="4992624"/>
          </a:xfrm>
          <a:prstGeom prst="rect">
            <a:avLst/>
          </a:prstGeom>
          <a:solidFill>
            <a:srgbClr val="E3707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11875" y="1316736"/>
            <a:ext cx="6067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RISKS + FALLBACK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0163" y="1591056"/>
          <a:ext cx="5975732" cy="4672584"/>
        </p:xfrm>
        <a:graphic>
          <a:graphicData uri="http://schemas.openxmlformats.org/drawingml/2006/table">
            <a:tbl>
              <a:tblPr/>
              <a:tblGrid>
                <a:gridCol w="2509807"/>
                <a:gridCol w="3465925"/>
              </a:tblGrid>
              <a:tr h="934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33"/>
                    </a:solidFill>
                  </a:tcPr>
                </a:tc>
              </a:tr>
              <a:tr h="934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 the ±10pt 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 dual-reporting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934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Controller gate fails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via replay — Tier 1 delivers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934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Memory fails again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Ships as memory on/off ablation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934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API down at runtime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Documented degraded state, not a crash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</a:tbl>
          </a:graphicData>
        </a:graphic>
      </p:graphicFrame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559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EXHIBIT 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5848" y="274320"/>
            <a:ext cx="559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TEAM, TIMELINE &amp; DEI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People, Ownership &amp; The Compliance Lines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502920" cy="27432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80015" y="6492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Granite  ·  F26-060  ·  10/10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5855" cy="2286000"/>
          </a:xfrm>
          <a:prstGeom prst="roundRect">
            <a:avLst>
              <a:gd name="adj" fmla="val 2400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16736"/>
            <a:ext cx="32004" cy="2103120"/>
          </a:xfrm>
          <a:prstGeom prst="rect">
            <a:avLst/>
          </a:prstGeom>
          <a:solidFill>
            <a:srgbClr val="57C9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" y="1316736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04088" y="16093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4FB3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4088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591056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Shahoud — Data/Benchmark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1837944"/>
            <a:ext cx="10271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removed: no cross-architecture benchmark exists.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04088" y="22311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08A5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4088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21284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 — Diagnosis Engine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459736"/>
            <a:ext cx="10271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removed: no attribution algorithm, no SED.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04088" y="2852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EA8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4088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2834640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Saif — Platform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081528"/>
            <a:ext cx="10271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removed: nothing installs outside the dev machine.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657600"/>
            <a:ext cx="11185855" cy="2743200"/>
          </a:xfrm>
          <a:prstGeom prst="roundRect">
            <a:avLst>
              <a:gd name="adj" fmla="val 2000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749040"/>
            <a:ext cx="32004" cy="2560320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7512" y="3749040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EFFORT BUDGET — 1,130H CAPACITY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" y="4069080"/>
            <a:ext cx="4691900" cy="310896"/>
          </a:xfrm>
          <a:prstGeom prst="rect">
            <a:avLst/>
          </a:prstGeom>
          <a:solidFill>
            <a:srgbClr val="4FB3C4"/>
          </a:solidFill>
          <a:ln/>
        </p:spPr>
      </p:sp>
      <p:sp>
        <p:nvSpPr>
          <p:cNvPr id="26" name="Shape 24"/>
          <p:cNvSpPr/>
          <p:nvPr/>
        </p:nvSpPr>
        <p:spPr>
          <a:xfrm>
            <a:off x="5377700" y="4069080"/>
            <a:ext cx="6128196" cy="310896"/>
          </a:xfrm>
          <a:prstGeom prst="rect">
            <a:avLst/>
          </a:prstGeom>
          <a:solidFill>
            <a:srgbClr val="E08A5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4434840"/>
            <a:ext cx="4691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FYP-1 · 490h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377700" y="4434840"/>
            <a:ext cx="6128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FYP-2 · 640h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4745736"/>
            <a:ext cx="10820095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DEI: MIT/CC BY 4.0 release; color paired with text (WCAG owed Final-1). Ethics: advisory-only, human-gated fixes, informed consent for real trace data.</a:t>
            </a:r>
            <a:endParaRPr lang="en-US" sz="1000" dirty="0"/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FAST School of Computing, NUCES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Granite — Proposal Defense</dc:title>
  <dc:subject>PptxGenJS Presentation</dc:subject>
  <dc:creator>Granite — F26-060</dc:creator>
  <cp:lastModifiedBy>Granite — F26-060</cp:lastModifiedBy>
  <cp:revision>1</cp:revision>
  <dcterms:created xsi:type="dcterms:W3CDTF">2026-09-05T06:44:37Z</dcterms:created>
  <dcterms:modified xsi:type="dcterms:W3CDTF">2026-09-05T06:44:37Z</dcterms:modified>
</cp:coreProperties>
</file>